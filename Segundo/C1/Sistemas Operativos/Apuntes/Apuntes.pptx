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8"/>
  </p:notesMasterIdLst>
  <p:handoutMasterIdLst>
    <p:handoutMasterId r:id="rId19"/>
  </p:handoutMasterIdLst>
  <p:sldIdLst>
    <p:sldId id="256" r:id="rId5"/>
    <p:sldId id="336" r:id="rId6"/>
    <p:sldId id="341" r:id="rId7"/>
    <p:sldId id="339" r:id="rId8"/>
    <p:sldId id="340" r:id="rId9"/>
    <p:sldId id="346" r:id="rId10"/>
    <p:sldId id="347" r:id="rId11"/>
    <p:sldId id="348" r:id="rId12"/>
    <p:sldId id="349" r:id="rId13"/>
    <p:sldId id="343" r:id="rId14"/>
    <p:sldId id="342" r:id="rId15"/>
    <p:sldId id="344" r:id="rId16"/>
    <p:sldId id="345" r:id="rId17"/>
  </p:sldIdLst>
  <p:sldSz cx="9144000" cy="5143500" type="screen16x9"/>
  <p:notesSz cx="6858000" cy="9144000"/>
  <p:defaultTextStyle>
    <a:defPPr>
      <a:defRPr lang="es-E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D4C92"/>
    <a:srgbClr val="0D4B92"/>
    <a:srgbClr val="0C4B91"/>
    <a:srgbClr val="2C34A3"/>
    <a:srgbClr val="ED7D31"/>
    <a:srgbClr val="E8BA00"/>
    <a:srgbClr val="E79DE2"/>
    <a:srgbClr val="F6B72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BEDCB5C-585D-4527-B449-EE1ED881D223}" v="3" dt="2019-09-14T13:44:41.891"/>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4" autoAdjust="0"/>
    <p:restoredTop sz="90196" autoAdjust="0"/>
  </p:normalViewPr>
  <p:slideViewPr>
    <p:cSldViewPr snapToGrid="0" showGuides="1">
      <p:cViewPr varScale="1">
        <p:scale>
          <a:sx n="98" d="100"/>
          <a:sy n="98" d="100"/>
        </p:scale>
        <p:origin x="1046" y="77"/>
      </p:cViewPr>
      <p:guideLst>
        <p:guide orient="horz" pos="1620"/>
        <p:guide pos="2880"/>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p:scale>
          <a:sx n="52" d="100"/>
          <a:sy n="52" d="100"/>
        </p:scale>
        <p:origin x="2608" y="-7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8110F86B-BA5B-456A-9F15-1001DA431AB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4" name="Marcador de pie de página 3">
            <a:extLst>
              <a:ext uri="{FF2B5EF4-FFF2-40B4-BE49-F238E27FC236}">
                <a16:creationId xmlns:a16="http://schemas.microsoft.com/office/drawing/2014/main" id="{8D0B463B-5C76-4972-A160-AB124013E32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A52D53BC-EDAA-4129-A929-3C6EABA6580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09F88C2-1804-4662-92F3-C7C5F0CE9812}" type="slidenum">
              <a:rPr lang="es-ES" smtClean="0"/>
              <a:pPr/>
              <a:t>‹Nº›</a:t>
            </a:fld>
            <a:endParaRPr lang="es-ES"/>
          </a:p>
        </p:txBody>
      </p:sp>
    </p:spTree>
    <p:extLst>
      <p:ext uri="{BB962C8B-B14F-4D97-AF65-F5344CB8AC3E}">
        <p14:creationId xmlns:p14="http://schemas.microsoft.com/office/powerpoint/2010/main" val="282159425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8B4FE8B-16C8-4AC4-B2E8-25ABD55C296B}" type="datetimeFigureOut">
              <a:rPr lang="es-ES" smtClean="0"/>
              <a:pPr/>
              <a:t>18/11/2024</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525962-8DFE-4459-9D66-AC5413CC5D6A}" type="slidenum">
              <a:rPr lang="es-ES" smtClean="0"/>
              <a:pPr/>
              <a:t>‹Nº›</a:t>
            </a:fld>
            <a:endParaRPr lang="es-ES"/>
          </a:p>
        </p:txBody>
      </p:sp>
    </p:spTree>
    <p:extLst>
      <p:ext uri="{BB962C8B-B14F-4D97-AF65-F5344CB8AC3E}">
        <p14:creationId xmlns:p14="http://schemas.microsoft.com/office/powerpoint/2010/main" val="4838593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fld id="{99525962-8DFE-4459-9D66-AC5413CC5D6A}" type="slidenum">
              <a:rPr lang="es-ES" smtClean="0"/>
              <a:pPr/>
              <a:t>1</a:t>
            </a:fld>
            <a:endParaRPr lang="es-ES"/>
          </a:p>
        </p:txBody>
      </p:sp>
    </p:spTree>
    <p:extLst>
      <p:ext uri="{BB962C8B-B14F-4D97-AF65-F5344CB8AC3E}">
        <p14:creationId xmlns:p14="http://schemas.microsoft.com/office/powerpoint/2010/main" val="98973371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762396" y="1454706"/>
            <a:ext cx="6115731" cy="2139553"/>
          </a:xfrm>
        </p:spPr>
        <p:txBody>
          <a:bodyPr anchor="b"/>
          <a:lstStyle>
            <a:lvl1pPr>
              <a:defRPr sz="4800">
                <a:solidFill>
                  <a:schemeClr val="accent1">
                    <a:lumMod val="50000"/>
                  </a:schemeClr>
                </a:solidFill>
              </a:defRPr>
            </a:lvl1pPr>
          </a:lstStyle>
          <a:p>
            <a:r>
              <a:rPr lang="es-ES" dirty="0"/>
              <a:t>Haga clic para modificar el estilo de título del patrón</a:t>
            </a:r>
            <a:endParaRPr lang="en-US" dirty="0"/>
          </a:p>
        </p:txBody>
      </p:sp>
      <p:sp>
        <p:nvSpPr>
          <p:cNvPr id="3" name="Text Placeholder 2"/>
          <p:cNvSpPr>
            <a:spLocks noGrp="1"/>
          </p:cNvSpPr>
          <p:nvPr>
            <p:ph type="body" idx="1"/>
          </p:nvPr>
        </p:nvSpPr>
        <p:spPr>
          <a:xfrm>
            <a:off x="1762396" y="3614500"/>
            <a:ext cx="6115732" cy="1125140"/>
          </a:xfrm>
        </p:spPr>
        <p:txBody>
          <a:bodyPr>
            <a:normAutofit/>
          </a:bodyPr>
          <a:lstStyle>
            <a:lvl1pPr marL="0" indent="0">
              <a:buNone/>
              <a:defRPr sz="24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s-ES"/>
              <a:t>Haga clic para modificar el estilo de texto del patrón</a:t>
            </a:r>
          </a:p>
        </p:txBody>
      </p:sp>
      <p:pic>
        <p:nvPicPr>
          <p:cNvPr id="2050" name="Picture 2" descr="Imagen relacionada">
            <a:extLst>
              <a:ext uri="{FF2B5EF4-FFF2-40B4-BE49-F238E27FC236}">
                <a16:creationId xmlns:a16="http://schemas.microsoft.com/office/drawing/2014/main" id="{DE157B29-00A7-4167-8C14-2765A1C6B71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675112" y="170447"/>
            <a:ext cx="3169752" cy="633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77557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3 Marcador de pie de página">
            <a:extLst>
              <a:ext uri="{FF2B5EF4-FFF2-40B4-BE49-F238E27FC236}">
                <a16:creationId xmlns:a16="http://schemas.microsoft.com/office/drawing/2014/main" id="{749EC5CE-810F-4117-BBA0-B107EC391EF1}"/>
              </a:ext>
            </a:extLst>
          </p:cNvPr>
          <p:cNvSpPr>
            <a:spLocks noGrp="1"/>
          </p:cNvSpPr>
          <p:nvPr>
            <p:ph type="ftr" sz="quarter" idx="4294967295"/>
          </p:nvPr>
        </p:nvSpPr>
        <p:spPr>
          <a:xfrm>
            <a:off x="6589986" y="1588"/>
            <a:ext cx="2340883" cy="366274"/>
          </a:xfrm>
          <a:prstGeom prst="rect">
            <a:avLst/>
          </a:prstGeom>
        </p:spPr>
        <p:txBody>
          <a:bodyPr/>
          <a:lstStyle>
            <a:lvl1pPr algn="r">
              <a:defRPr sz="1050" b="1">
                <a:solidFill>
                  <a:schemeClr val="bg2">
                    <a:lumMod val="75000"/>
                  </a:schemeClr>
                </a:solidFill>
              </a:defRPr>
            </a:lvl1pPr>
          </a:lstStyle>
          <a:p>
            <a:r>
              <a:rPr lang="es-ES"/>
              <a:t>SSOO 2020-2021 Javier Gª Algarra</a:t>
            </a:r>
            <a:endParaRPr lang="es-ES" dirty="0"/>
          </a:p>
        </p:txBody>
      </p:sp>
    </p:spTree>
    <p:extLst>
      <p:ext uri="{BB962C8B-B14F-4D97-AF65-F5344CB8AC3E}">
        <p14:creationId xmlns:p14="http://schemas.microsoft.com/office/powerpoint/2010/main" val="16730751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En blanco">
    <p:bg>
      <p:bgPr>
        <a:solidFill>
          <a:schemeClr val="bg1"/>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ACB7F4CB-D1D8-4D85-8594-EC8EE5026D45}"/>
              </a:ext>
            </a:extLst>
          </p:cNvPr>
          <p:cNvSpPr txBox="1"/>
          <p:nvPr userDrawn="1"/>
        </p:nvSpPr>
        <p:spPr>
          <a:xfrm rot="16200000">
            <a:off x="-605643" y="230543"/>
            <a:ext cx="1380564" cy="169277"/>
          </a:xfrm>
          <a:prstGeom prst="rect">
            <a:avLst/>
          </a:prstGeom>
          <a:noFill/>
        </p:spPr>
        <p:txBody>
          <a:bodyPr wrap="square" rtlCol="0">
            <a:spAutoFit/>
          </a:bodyPr>
          <a:lstStyle/>
          <a:p>
            <a:r>
              <a:rPr lang="es-ES" sz="500" dirty="0">
                <a:solidFill>
                  <a:schemeClr val="bg2">
                    <a:lumMod val="90000"/>
                  </a:schemeClr>
                </a:solidFill>
              </a:rPr>
              <a:t>SSOO Javier García Algarra 2020</a:t>
            </a:r>
          </a:p>
        </p:txBody>
      </p:sp>
    </p:spTree>
    <p:extLst>
      <p:ext uri="{BB962C8B-B14F-4D97-AF65-F5344CB8AC3E}">
        <p14:creationId xmlns:p14="http://schemas.microsoft.com/office/powerpoint/2010/main" val="19166475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ítulo y objetos">
    <p:spTree>
      <p:nvGrpSpPr>
        <p:cNvPr id="1" name=""/>
        <p:cNvGrpSpPr/>
        <p:nvPr/>
      </p:nvGrpSpPr>
      <p:grpSpPr>
        <a:xfrm>
          <a:off x="0" y="0"/>
          <a:ext cx="0" cy="0"/>
          <a:chOff x="0" y="0"/>
          <a:chExt cx="0" cy="0"/>
        </a:xfrm>
      </p:grpSpPr>
      <p:sp>
        <p:nvSpPr>
          <p:cNvPr id="20" name="Rectangle 9"/>
          <p:cNvSpPr/>
          <p:nvPr userDrawn="1"/>
        </p:nvSpPr>
        <p:spPr>
          <a:xfrm>
            <a:off x="8435268" y="160384"/>
            <a:ext cx="86236" cy="59406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21" name="Rectangle 10"/>
          <p:cNvSpPr/>
          <p:nvPr userDrawn="1"/>
        </p:nvSpPr>
        <p:spPr>
          <a:xfrm>
            <a:off x="8569419" y="160384"/>
            <a:ext cx="576072" cy="59406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3" name="Content Placeholder 2"/>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0" name="Footer Placeholder 4"/>
          <p:cNvSpPr>
            <a:spLocks noGrp="1"/>
          </p:cNvSpPr>
          <p:nvPr>
            <p:ph type="ftr" sz="quarter" idx="3"/>
          </p:nvPr>
        </p:nvSpPr>
        <p:spPr>
          <a:xfrm>
            <a:off x="4554487" y="357504"/>
            <a:ext cx="3600400" cy="225920"/>
          </a:xfrm>
          <a:prstGeom prst="rect">
            <a:avLst/>
          </a:prstGeom>
        </p:spPr>
        <p:txBody>
          <a:bodyPr vert="horz" lIns="91440" tIns="0" rIns="91440" bIns="45720" rtlCol="0" anchor="ctr"/>
          <a:lstStyle>
            <a:lvl1pPr algn="r">
              <a:defRPr sz="900">
                <a:solidFill>
                  <a:schemeClr val="tx2">
                    <a:lumMod val="75000"/>
                  </a:schemeClr>
                </a:solidFill>
              </a:defRPr>
            </a:lvl1pPr>
          </a:lstStyle>
          <a:p>
            <a:r>
              <a:rPr lang="es-ES" dirty="0"/>
              <a:t>Python Elemental </a:t>
            </a:r>
          </a:p>
        </p:txBody>
      </p:sp>
      <p:sp>
        <p:nvSpPr>
          <p:cNvPr id="16" name="15 Título"/>
          <p:cNvSpPr>
            <a:spLocks noGrp="1"/>
          </p:cNvSpPr>
          <p:nvPr>
            <p:ph type="title"/>
          </p:nvPr>
        </p:nvSpPr>
        <p:spPr/>
        <p:txBody>
          <a:bodyPr/>
          <a:lstStyle>
            <a:lvl1pPr>
              <a:defRPr>
                <a:solidFill>
                  <a:schemeClr val="tx2">
                    <a:lumMod val="75000"/>
                  </a:schemeClr>
                </a:solidFill>
              </a:defRPr>
            </a:lvl1pPr>
          </a:lstStyle>
          <a:p>
            <a:r>
              <a:rPr lang="es-ES" dirty="0"/>
              <a:t>Haga clic para modificar el estilo de título del patrón</a:t>
            </a:r>
          </a:p>
        </p:txBody>
      </p:sp>
      <p:sp>
        <p:nvSpPr>
          <p:cNvPr id="18" name="5 Marcador de número de diapositiva"/>
          <p:cNvSpPr txBox="1">
            <a:spLocks/>
          </p:cNvSpPr>
          <p:nvPr userDrawn="1"/>
        </p:nvSpPr>
        <p:spPr>
          <a:xfrm>
            <a:off x="8532439" y="303498"/>
            <a:ext cx="596305" cy="273844"/>
          </a:xfrm>
          <a:prstGeom prst="rect">
            <a:avLst/>
          </a:prstGeom>
        </p:spPr>
        <p:txBody>
          <a:bodyPr anchor="ctr"/>
          <a:lstStyle>
            <a:defPPr>
              <a:defRPr lang="es-ES"/>
            </a:defPPr>
            <a:lvl1pPr marL="0" algn="l" defTabSz="914400" rtl="0" eaLnBrk="1" latinLnBrk="0" hangingPunct="1">
              <a:defRPr sz="1800" b="1"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BD5034FA-E3E3-464F-AB21-ECE51F6ED024}" type="slidenum">
              <a:rPr lang="es-ES" sz="1050" b="0" smtClean="0"/>
              <a:pPr algn="ctr"/>
              <a:t>‹Nº›</a:t>
            </a:fld>
            <a:endParaRPr lang="es-ES" sz="1050" b="0" dirty="0"/>
          </a:p>
        </p:txBody>
      </p:sp>
      <p:pic>
        <p:nvPicPr>
          <p:cNvPr id="11" name="Picture 2" descr="C:\Users\eva.perandones\Downloads\Logo azul.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7505" y="224440"/>
            <a:ext cx="1654895" cy="465953"/>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11 Conector recto"/>
          <p:cNvCxnSpPr/>
          <p:nvPr userDrawn="1"/>
        </p:nvCxnSpPr>
        <p:spPr>
          <a:xfrm>
            <a:off x="251521" y="1491630"/>
            <a:ext cx="8605935" cy="0"/>
          </a:xfrm>
          <a:prstGeom prst="line">
            <a:avLst/>
          </a:prstGeom>
        </p:spPr>
        <p:style>
          <a:lnRef idx="1">
            <a:schemeClr val="accent5"/>
          </a:lnRef>
          <a:fillRef idx="0">
            <a:schemeClr val="accent5"/>
          </a:fillRef>
          <a:effectRef idx="0">
            <a:schemeClr val="accent5"/>
          </a:effectRef>
          <a:fontRef idx="minor">
            <a:schemeClr val="tx1"/>
          </a:fontRef>
        </p:style>
      </p:cxnSp>
    </p:spTree>
    <p:extLst>
      <p:ext uri="{BB962C8B-B14F-4D97-AF65-F5344CB8AC3E}">
        <p14:creationId xmlns:p14="http://schemas.microsoft.com/office/powerpoint/2010/main" val="151231797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B742270A-C90A-439D-BA55-8EC057654CEF}"/>
              </a:ext>
            </a:extLst>
          </p:cNvPr>
          <p:cNvSpPr/>
          <p:nvPr userDrawn="1"/>
        </p:nvSpPr>
        <p:spPr>
          <a:xfrm>
            <a:off x="-8120" y="0"/>
            <a:ext cx="1211493" cy="5143499"/>
          </a:xfrm>
          <a:prstGeom prst="rect">
            <a:avLst/>
          </a:prstGeom>
          <a:solidFill>
            <a:srgbClr val="0D4B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bg1"/>
              </a:solidFill>
            </a:endParaRPr>
          </a:p>
        </p:txBody>
      </p:sp>
      <p:sp>
        <p:nvSpPr>
          <p:cNvPr id="2" name="Title Placeholder 1"/>
          <p:cNvSpPr>
            <a:spLocks noGrp="1"/>
          </p:cNvSpPr>
          <p:nvPr>
            <p:ph type="title"/>
          </p:nvPr>
        </p:nvSpPr>
        <p:spPr>
          <a:xfrm>
            <a:off x="1521110" y="228599"/>
            <a:ext cx="7367620" cy="1053399"/>
          </a:xfrm>
          <a:prstGeom prst="rect">
            <a:avLst/>
          </a:prstGeom>
        </p:spPr>
        <p:txBody>
          <a:bodyPr vert="horz" lIns="91440" tIns="45720" rIns="91440" bIns="45720" rtlCol="0" anchor="b" anchorCtr="0">
            <a:noAutofit/>
          </a:bodyPr>
          <a:lstStyle/>
          <a:p>
            <a:r>
              <a:rPr lang="es-ES" dirty="0"/>
              <a:t>Haga clic para modificar el estilo de título del patrón</a:t>
            </a:r>
            <a:endParaRPr lang="en-US" dirty="0"/>
          </a:p>
        </p:txBody>
      </p:sp>
      <p:sp>
        <p:nvSpPr>
          <p:cNvPr id="3" name="Text Placeholder 2"/>
          <p:cNvSpPr>
            <a:spLocks noGrp="1"/>
          </p:cNvSpPr>
          <p:nvPr>
            <p:ph type="body" idx="1"/>
          </p:nvPr>
        </p:nvSpPr>
        <p:spPr>
          <a:xfrm>
            <a:off x="1521110" y="1369219"/>
            <a:ext cx="7367620" cy="3263504"/>
          </a:xfrm>
          <a:prstGeom prst="rect">
            <a:avLst/>
          </a:prstGeom>
        </p:spPr>
        <p:txBody>
          <a:bodyPr vert="horz" lIns="91440" tIns="45720" rIns="91440" bIns="45720" rtlCol="0">
            <a:normAutofit/>
          </a:bodyPr>
          <a:lstStyle/>
          <a:p>
            <a:pPr lvl="0"/>
            <a:r>
              <a:rPr lang="es-ES" dirty="0"/>
              <a:t>Haga clic para modificar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pic>
        <p:nvPicPr>
          <p:cNvPr id="8" name="Picture 2" descr="Resultado de imagen de u-tad logo png">
            <a:extLst>
              <a:ext uri="{FF2B5EF4-FFF2-40B4-BE49-F238E27FC236}">
                <a16:creationId xmlns:a16="http://schemas.microsoft.com/office/drawing/2014/main" id="{99A48252-F53C-4310-A655-6882B7787FD7}"/>
              </a:ext>
            </a:extLst>
          </p:cNvPr>
          <p:cNvPicPr>
            <a:picLocks noChangeAspect="1" noChangeArrowheads="1"/>
          </p:cNvPicPr>
          <p:nvPr userDrawn="1"/>
        </p:nvPicPr>
        <p:blipFill rotWithShape="1">
          <a:blip r:embed="rId6">
            <a:extLst>
              <a:ext uri="{28A0092B-C50C-407E-A947-70E740481C1C}">
                <a14:useLocalDpi xmlns:a14="http://schemas.microsoft.com/office/drawing/2010/main" val="0"/>
              </a:ext>
            </a:extLst>
          </a:blip>
          <a:srcRect l="-1" t="10627" r="4269" b="35524"/>
          <a:stretch/>
        </p:blipFill>
        <p:spPr bwMode="auto">
          <a:xfrm>
            <a:off x="-8121" y="4398808"/>
            <a:ext cx="1211493" cy="681465"/>
          </a:xfrm>
          <a:prstGeom prst="rect">
            <a:avLst/>
          </a:prstGeom>
          <a:solidFill>
            <a:srgbClr val="0C4B91"/>
          </a:solidFill>
        </p:spPr>
      </p:pic>
    </p:spTree>
    <p:extLst>
      <p:ext uri="{BB962C8B-B14F-4D97-AF65-F5344CB8AC3E}">
        <p14:creationId xmlns:p14="http://schemas.microsoft.com/office/powerpoint/2010/main" val="3893326617"/>
      </p:ext>
    </p:extLst>
  </p:cSld>
  <p:clrMap bg1="lt1" tx1="dk1" bg2="lt2" tx2="dk2" accent1="accent1" accent2="accent2" accent3="accent3" accent4="accent4" accent5="accent5" accent6="accent6" hlink="hlink" folHlink="folHlink"/>
  <p:sldLayoutIdLst>
    <p:sldLayoutId id="2147483663" r:id="rId1"/>
    <p:sldLayoutId id="2147483666" r:id="rId2"/>
    <p:sldLayoutId id="2147483667" r:id="rId3"/>
    <p:sldLayoutId id="2147483668" r:id="rId4"/>
  </p:sldLayoutIdLst>
  <p:txStyles>
    <p:titleStyle>
      <a:lvl1pPr algn="l" defTabSz="685800" rtl="0" eaLnBrk="1" latinLnBrk="0" hangingPunct="1">
        <a:lnSpc>
          <a:spcPct val="90000"/>
        </a:lnSpc>
        <a:spcBef>
          <a:spcPct val="0"/>
        </a:spcBef>
        <a:buNone/>
        <a:defRPr sz="3600" b="0" kern="1200" cap="none" spc="0">
          <a:ln w="0"/>
          <a:solidFill>
            <a:schemeClr val="accent1"/>
          </a:solidFill>
          <a:effectLst>
            <a:outerShdw blurRad="38100" dist="19050" dir="2700000" algn="tl" rotWithShape="0">
              <a:schemeClr val="dk1">
                <a:alpha val="40000"/>
              </a:schemeClr>
            </a:outerShdw>
          </a:effectLst>
          <a:latin typeface="+mj-lt"/>
          <a:ea typeface="+mj-ea"/>
          <a:cs typeface="Arial" panose="020B0604020202020204" pitchFamily="34" charset="0"/>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400" kern="1200">
          <a:solidFill>
            <a:schemeClr val="tx1"/>
          </a:solidFill>
          <a:latin typeface="+mj-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2000" kern="1200">
          <a:solidFill>
            <a:schemeClr val="tx1"/>
          </a:solidFill>
          <a:latin typeface="+mj-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600" kern="1200">
          <a:solidFill>
            <a:schemeClr val="tx1"/>
          </a:solidFill>
          <a:latin typeface="+mj-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j-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j-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javier.algarra@u-tad.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hyperlink" Target="http://creativecommons.org/licenses/by/4.0/" TargetMode="External"/><Relationship Id="rId4" Type="http://schemas.openxmlformats.org/officeDocument/2006/relationships/hyperlink" Target="mailto:miguel.mesas@u-tad.com"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6" name="Título 5"/>
          <p:cNvSpPr>
            <a:spLocks noGrp="1"/>
          </p:cNvSpPr>
          <p:nvPr>
            <p:ph type="title"/>
          </p:nvPr>
        </p:nvSpPr>
        <p:spPr>
          <a:xfrm>
            <a:off x="1569019" y="1405583"/>
            <a:ext cx="7104201" cy="1520969"/>
          </a:xfrm>
        </p:spPr>
        <p:txBody>
          <a:bodyPr/>
          <a:lstStyle/>
          <a:p>
            <a:pPr algn="ctr"/>
            <a:br>
              <a:rPr lang="es-ES" sz="1200" dirty="0"/>
            </a:br>
            <a:br>
              <a:rPr lang="es-ES" sz="4000" dirty="0"/>
            </a:br>
            <a:br>
              <a:rPr lang="es-ES" sz="4000" dirty="0"/>
            </a:br>
            <a:br>
              <a:rPr lang="es-ES" sz="4000" dirty="0"/>
            </a:br>
            <a:br>
              <a:rPr lang="es-ES" sz="4000" dirty="0"/>
            </a:br>
            <a:r>
              <a:rPr lang="es-ES" sz="2000" dirty="0"/>
              <a:t>Sistemas Operativos</a:t>
            </a:r>
            <a:br>
              <a:rPr lang="es-ES" sz="4000" dirty="0"/>
            </a:br>
            <a:br>
              <a:rPr lang="es-ES" sz="4000" dirty="0"/>
            </a:br>
            <a:r>
              <a:rPr lang="es-ES" sz="4000" dirty="0"/>
              <a:t>9. </a:t>
            </a:r>
            <a:r>
              <a:rPr lang="es-ES" sz="4000" dirty="0" err="1"/>
              <a:t>Tests</a:t>
            </a:r>
            <a:endParaRPr lang="es-ES" sz="4000" b="1" dirty="0"/>
          </a:p>
        </p:txBody>
      </p:sp>
      <p:sp>
        <p:nvSpPr>
          <p:cNvPr id="7" name="Marcador de texto 6"/>
          <p:cNvSpPr>
            <a:spLocks noGrp="1"/>
          </p:cNvSpPr>
          <p:nvPr>
            <p:ph type="body" idx="1"/>
          </p:nvPr>
        </p:nvSpPr>
        <p:spPr>
          <a:xfrm>
            <a:off x="1762396" y="2977432"/>
            <a:ext cx="6910824" cy="1418043"/>
          </a:xfrm>
        </p:spPr>
        <p:txBody>
          <a:bodyPr>
            <a:normAutofit fontScale="62500" lnSpcReduction="20000"/>
          </a:bodyPr>
          <a:lstStyle/>
          <a:p>
            <a:pPr algn="r"/>
            <a:endParaRPr lang="es-ES" sz="1800" dirty="0"/>
          </a:p>
          <a:p>
            <a:pPr algn="r"/>
            <a:r>
              <a:rPr lang="es-ES" sz="1800" dirty="0"/>
              <a:t>Javier García Algarra</a:t>
            </a:r>
          </a:p>
          <a:p>
            <a:pPr algn="r"/>
            <a:r>
              <a:rPr lang="es-ES" sz="1800" dirty="0">
                <a:hlinkClick r:id="rId3"/>
              </a:rPr>
              <a:t>javier.algarra@u-tad.com</a:t>
            </a:r>
            <a:endParaRPr lang="es-ES" sz="1800" dirty="0"/>
          </a:p>
          <a:p>
            <a:pPr algn="r"/>
            <a:r>
              <a:rPr lang="es-ES" sz="1800" dirty="0"/>
              <a:t>Miguel Ángel Mesas </a:t>
            </a:r>
          </a:p>
          <a:p>
            <a:pPr algn="r"/>
            <a:r>
              <a:rPr lang="es-ES" sz="1800" dirty="0">
                <a:hlinkClick r:id="rId4"/>
              </a:rPr>
              <a:t>miguel.mesas@u-tad.com</a:t>
            </a:r>
            <a:endParaRPr lang="es-ES" sz="1800" dirty="0"/>
          </a:p>
          <a:p>
            <a:pPr algn="r"/>
            <a:r>
              <a:rPr lang="es-ES" sz="1800" dirty="0"/>
              <a:t>2021-2022</a:t>
            </a:r>
          </a:p>
        </p:txBody>
      </p:sp>
      <p:sp>
        <p:nvSpPr>
          <p:cNvPr id="9" name="Rectangle 1">
            <a:extLst>
              <a:ext uri="{FF2B5EF4-FFF2-40B4-BE49-F238E27FC236}">
                <a16:creationId xmlns:a16="http://schemas.microsoft.com/office/drawing/2014/main" id="{2067DBC0-8C2B-4E0B-BE3C-2840A2E7DFA9}"/>
              </a:ext>
            </a:extLst>
          </p:cNvPr>
          <p:cNvSpPr>
            <a:spLocks noChangeArrowheads="1"/>
          </p:cNvSpPr>
          <p:nvPr/>
        </p:nvSpPr>
        <p:spPr bwMode="auto">
          <a:xfrm>
            <a:off x="1174205" y="4666446"/>
            <a:ext cx="9144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u="sng" dirty="0">
                <a:solidFill>
                  <a:srgbClr val="0066CC"/>
                </a:solidFill>
                <a:latin typeface="Times New Roman" panose="02020603050405020304" pitchFamily="18" charset="0"/>
                <a:cs typeface="Times New Roman" panose="02020603050405020304" pitchFamily="18" charset="0"/>
              </a:rPr>
              <a:t> </a:t>
            </a:r>
            <a:br>
              <a:rPr kumimoji="0" lang="es-ES" altLang="es-ES" sz="600" b="0" i="0" u="none" strike="noStrike" cap="none" normalizeH="0" baseline="0" dirty="0">
                <a:ln>
                  <a:noFill/>
                </a:ln>
                <a:solidFill>
                  <a:schemeClr val="tx1"/>
                </a:solidFill>
                <a:effectLst/>
              </a:rPr>
            </a:br>
            <a:r>
              <a:rPr lang="es-ES" altLang="es-ES" sz="800" dirty="0">
                <a:solidFill>
                  <a:srgbClr val="000000"/>
                </a:solidFill>
                <a:latin typeface="+mj-lt"/>
                <a:cs typeface="Times New Roman" panose="02020603050405020304" pitchFamily="18" charset="0"/>
              </a:rPr>
              <a:t>Sistemas Operativos </a:t>
            </a:r>
            <a:r>
              <a:rPr kumimoji="0" lang="es-ES" altLang="es-ES" sz="800" b="0" i="0" u="none" strike="noStrike" cap="none" normalizeH="0" baseline="0" dirty="0" err="1">
                <a:ln>
                  <a:noFill/>
                </a:ln>
                <a:solidFill>
                  <a:srgbClr val="000000"/>
                </a:solidFill>
                <a:effectLst/>
                <a:latin typeface="+mj-lt"/>
                <a:cs typeface="Times New Roman" panose="02020603050405020304" pitchFamily="18" charset="0"/>
              </a:rPr>
              <a:t>by</a:t>
            </a:r>
            <a:r>
              <a:rPr kumimoji="0" lang="es-ES" altLang="es-ES" sz="800" b="0" i="0" u="none" strike="noStrike" cap="none" normalizeH="0" baseline="0" dirty="0">
                <a:ln>
                  <a:noFill/>
                </a:ln>
                <a:solidFill>
                  <a:srgbClr val="000000"/>
                </a:solidFill>
                <a:effectLst/>
                <a:latin typeface="+mj-lt"/>
                <a:cs typeface="Times New Roman" panose="02020603050405020304" pitchFamily="18" charset="0"/>
              </a:rPr>
              <a:t> Javier García Algarra </a:t>
            </a:r>
            <a:r>
              <a:rPr kumimoji="0" lang="es-ES" altLang="es-ES" sz="800" b="0" i="0" u="none" strike="noStrike" cap="none" normalizeH="0" baseline="0" dirty="0" err="1">
                <a:ln>
                  <a:noFill/>
                </a:ln>
                <a:solidFill>
                  <a:srgbClr val="000000"/>
                </a:solidFill>
                <a:effectLst/>
                <a:latin typeface="+mj-lt"/>
                <a:cs typeface="Times New Roman" panose="02020603050405020304" pitchFamily="18" charset="0"/>
              </a:rPr>
              <a:t>is</a:t>
            </a:r>
            <a:r>
              <a:rPr kumimoji="0" lang="es-ES" altLang="es-ES" sz="800" b="0" i="0" u="none" strike="noStrike" cap="none" normalizeH="0" baseline="0" dirty="0">
                <a:ln>
                  <a:noFill/>
                </a:ln>
                <a:solidFill>
                  <a:srgbClr val="000000"/>
                </a:solidFill>
                <a:effectLst/>
                <a:latin typeface="+mj-lt"/>
                <a:cs typeface="Times New Roman" panose="02020603050405020304" pitchFamily="18" charset="0"/>
              </a:rPr>
              <a:t> </a:t>
            </a:r>
            <a:r>
              <a:rPr kumimoji="0" lang="es-ES" altLang="es-ES" sz="800" b="0" i="0" u="none" strike="noStrike" cap="none" normalizeH="0" baseline="0" dirty="0" err="1">
                <a:ln>
                  <a:noFill/>
                </a:ln>
                <a:solidFill>
                  <a:srgbClr val="000000"/>
                </a:solidFill>
                <a:effectLst/>
                <a:latin typeface="+mj-lt"/>
                <a:cs typeface="Times New Roman" panose="02020603050405020304" pitchFamily="18" charset="0"/>
              </a:rPr>
              <a:t>licensed</a:t>
            </a:r>
            <a:r>
              <a:rPr kumimoji="0" lang="es-ES" altLang="es-ES" sz="800" b="0" i="0" u="none" strike="noStrike" cap="none" normalizeH="0" baseline="0" dirty="0">
                <a:ln>
                  <a:noFill/>
                </a:ln>
                <a:solidFill>
                  <a:srgbClr val="000000"/>
                </a:solidFill>
                <a:effectLst/>
                <a:latin typeface="+mj-lt"/>
                <a:cs typeface="Times New Roman" panose="02020603050405020304" pitchFamily="18" charset="0"/>
              </a:rPr>
              <a:t> </a:t>
            </a:r>
            <a:r>
              <a:rPr kumimoji="0" lang="es-ES" altLang="es-ES" sz="800" b="0" i="0" u="none" strike="noStrike" cap="none" normalizeH="0" baseline="0" dirty="0" err="1">
                <a:ln>
                  <a:noFill/>
                </a:ln>
                <a:solidFill>
                  <a:srgbClr val="000000"/>
                </a:solidFill>
                <a:effectLst/>
                <a:latin typeface="+mj-lt"/>
                <a:cs typeface="Times New Roman" panose="02020603050405020304" pitchFamily="18" charset="0"/>
              </a:rPr>
              <a:t>under</a:t>
            </a:r>
            <a:r>
              <a:rPr kumimoji="0" lang="es-ES" altLang="es-ES" sz="800" b="0" i="0" u="none" strike="noStrike" cap="none" normalizeH="0" baseline="0" dirty="0">
                <a:ln>
                  <a:noFill/>
                </a:ln>
                <a:solidFill>
                  <a:srgbClr val="000000"/>
                </a:solidFill>
                <a:effectLst/>
                <a:latin typeface="+mj-lt"/>
                <a:cs typeface="Times New Roman" panose="02020603050405020304" pitchFamily="18" charset="0"/>
              </a:rPr>
              <a:t> a </a:t>
            </a:r>
            <a:r>
              <a:rPr kumimoji="0" lang="es-ES" altLang="es-ES" sz="800" b="0" i="0" u="sng" strike="noStrike" cap="none" normalizeH="0" baseline="0" dirty="0" err="1">
                <a:ln>
                  <a:noFill/>
                </a:ln>
                <a:solidFill>
                  <a:srgbClr val="0066CC"/>
                </a:solidFill>
                <a:effectLst/>
                <a:latin typeface="+mj-lt"/>
                <a:cs typeface="Times New Roman" panose="02020603050405020304" pitchFamily="18" charset="0"/>
                <a:hlinkClick r:id="rId5"/>
              </a:rPr>
              <a:t>Creative</a:t>
            </a:r>
            <a:r>
              <a:rPr kumimoji="0" lang="es-ES" altLang="es-ES" sz="800" b="0" i="0" u="sng" strike="noStrike" cap="none" normalizeH="0" baseline="0" dirty="0">
                <a:ln>
                  <a:noFill/>
                </a:ln>
                <a:solidFill>
                  <a:srgbClr val="0066CC"/>
                </a:solidFill>
                <a:effectLst/>
                <a:latin typeface="+mj-lt"/>
                <a:cs typeface="Times New Roman" panose="02020603050405020304" pitchFamily="18" charset="0"/>
                <a:hlinkClick r:id="rId5"/>
              </a:rPr>
              <a:t> </a:t>
            </a:r>
            <a:r>
              <a:rPr kumimoji="0" lang="es-ES" altLang="es-ES" sz="800" b="0" i="0" u="sng" strike="noStrike" cap="none" normalizeH="0" baseline="0" dirty="0" err="1">
                <a:ln>
                  <a:noFill/>
                </a:ln>
                <a:solidFill>
                  <a:srgbClr val="0066CC"/>
                </a:solidFill>
                <a:effectLst/>
                <a:latin typeface="+mj-lt"/>
                <a:cs typeface="Times New Roman" panose="02020603050405020304" pitchFamily="18" charset="0"/>
                <a:hlinkClick r:id="rId5"/>
              </a:rPr>
              <a:t>Commons</a:t>
            </a:r>
            <a:r>
              <a:rPr kumimoji="0" lang="es-ES" altLang="es-ES" sz="800" b="0" i="0" u="sng" strike="noStrike" cap="none" normalizeH="0" baseline="0" dirty="0">
                <a:ln>
                  <a:noFill/>
                </a:ln>
                <a:solidFill>
                  <a:srgbClr val="0066CC"/>
                </a:solidFill>
                <a:effectLst/>
                <a:latin typeface="+mj-lt"/>
                <a:cs typeface="Times New Roman" panose="02020603050405020304" pitchFamily="18" charset="0"/>
                <a:hlinkClick r:id="rId5"/>
              </a:rPr>
              <a:t> Reconocimiento 4.0 Internacional </a:t>
            </a:r>
            <a:r>
              <a:rPr kumimoji="0" lang="es-ES" altLang="es-ES" sz="800" b="0" i="0" u="sng" strike="noStrike" cap="none" normalizeH="0" baseline="0" dirty="0" err="1">
                <a:ln>
                  <a:noFill/>
                </a:ln>
                <a:solidFill>
                  <a:srgbClr val="0066CC"/>
                </a:solidFill>
                <a:effectLst/>
                <a:latin typeface="+mj-lt"/>
                <a:cs typeface="Times New Roman" panose="02020603050405020304" pitchFamily="18" charset="0"/>
                <a:hlinkClick r:id="rId5"/>
              </a:rPr>
              <a:t>License</a:t>
            </a:r>
            <a:r>
              <a:rPr kumimoji="0" lang="es-ES" altLang="es-ES" sz="800" b="0" i="0" u="none" strike="noStrike" cap="none" normalizeH="0" baseline="0" dirty="0">
                <a:ln>
                  <a:noFill/>
                </a:ln>
                <a:solidFill>
                  <a:srgbClr val="000000"/>
                </a:solidFill>
                <a:effectLst/>
                <a:latin typeface="+mj-lt"/>
                <a:cs typeface="Times New Roman" panose="02020603050405020304" pitchFamily="18" charset="0"/>
              </a:rPr>
              <a:t>. </a:t>
            </a:r>
            <a:endParaRPr kumimoji="0" lang="es-ES" altLang="es-ES" sz="900" b="0" i="0" u="sng" strike="noStrike" cap="none" normalizeH="0" baseline="0" dirty="0">
              <a:ln>
                <a:noFill/>
              </a:ln>
              <a:solidFill>
                <a:srgbClr val="0066CC"/>
              </a:solidFill>
              <a:effectLst/>
              <a:latin typeface="+mj-lt"/>
              <a:cs typeface="Times New Roman" panose="02020603050405020304" pitchFamily="18" charset="0"/>
            </a:endParaRPr>
          </a:p>
        </p:txBody>
      </p:sp>
      <p:pic>
        <p:nvPicPr>
          <p:cNvPr id="10" name="Picture 2" descr="Licencia de Creative Commons">
            <a:hlinkClick r:id="rId5"/>
            <a:extLst>
              <a:ext uri="{FF2B5EF4-FFF2-40B4-BE49-F238E27FC236}">
                <a16:creationId xmlns:a16="http://schemas.microsoft.com/office/drawing/2014/main" id="{B07F3E68-2BCF-4EC0-B981-29542191BC1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65898" y="4722447"/>
            <a:ext cx="762000" cy="142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21580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CuadroTexto"/>
          <p:cNvSpPr txBox="1"/>
          <p:nvPr/>
        </p:nvSpPr>
        <p:spPr>
          <a:xfrm rot="10800000" flipV="1">
            <a:off x="1167897" y="96179"/>
            <a:ext cx="7976103" cy="5093702"/>
          </a:xfrm>
          <a:prstGeom prst="rect">
            <a:avLst/>
          </a:prstGeom>
          <a:noFill/>
        </p:spPr>
        <p:txBody>
          <a:bodyPr wrap="square" rtlCol="0">
            <a:spAutoFit/>
          </a:bodyPr>
          <a:lstStyle/>
          <a:p>
            <a:pPr marL="342900" indent="-342900">
              <a:buAutoNum type="arabicPeriod"/>
            </a:pPr>
            <a:r>
              <a:rPr lang="es-ES" sz="1300" dirty="0"/>
              <a:t>Interfaz no estándar de un dispositivo de E/S con la que se comunica con el Sistema Operativo </a:t>
            </a:r>
          </a:p>
          <a:p>
            <a:pPr marL="342900" indent="-342900"/>
            <a:r>
              <a:rPr lang="es-ES" sz="1300" dirty="0"/>
              <a:t>		</a:t>
            </a:r>
            <a:r>
              <a:rPr lang="es-ES" sz="1300" b="1" dirty="0"/>
              <a:t>Controlador </a:t>
            </a:r>
          </a:p>
          <a:p>
            <a:pPr marL="342900" indent="-342900">
              <a:buAutoNum type="arabicPeriod" startAt="2"/>
            </a:pPr>
            <a:r>
              <a:rPr lang="es-ES" sz="1300" dirty="0"/>
              <a:t>El ejecutable de un programa se llama también</a:t>
            </a:r>
          </a:p>
          <a:p>
            <a:pPr marL="342900" indent="-342900"/>
            <a:r>
              <a:rPr lang="es-ES" sz="1300" dirty="0"/>
              <a:t>		</a:t>
            </a:r>
            <a:r>
              <a:rPr lang="es-ES" sz="1300" b="1" dirty="0"/>
              <a:t>Texto</a:t>
            </a:r>
            <a:r>
              <a:rPr lang="es-ES" sz="1300" dirty="0"/>
              <a:t> </a:t>
            </a:r>
          </a:p>
          <a:p>
            <a:pPr marL="342900" indent="-342900">
              <a:buAutoNum type="arabicPeriod" startAt="3"/>
            </a:pPr>
            <a:r>
              <a:rPr lang="es-ES" sz="1300" dirty="0"/>
              <a:t>Un proceso es… </a:t>
            </a:r>
          </a:p>
          <a:p>
            <a:pPr lvl="2"/>
            <a:r>
              <a:rPr lang="es-ES" sz="1300" b="1" dirty="0"/>
              <a:t>Una instancias ejecutable que incluye datos y metadatos</a:t>
            </a:r>
            <a:endParaRPr lang="es-ES" sz="1300" dirty="0"/>
          </a:p>
          <a:p>
            <a:pPr marL="342900" indent="-342900">
              <a:buAutoNum type="arabicPeriod" startAt="3"/>
            </a:pPr>
            <a:r>
              <a:rPr lang="es-ES" sz="1300" dirty="0"/>
              <a:t>Cuando se produce una interrupción la dirección de la siguiente instrucción del programa interrumpido… </a:t>
            </a:r>
          </a:p>
          <a:p>
            <a:pPr lvl="1"/>
            <a:r>
              <a:rPr lang="es-ES" sz="1300" dirty="0"/>
              <a:t>	</a:t>
            </a:r>
            <a:r>
              <a:rPr lang="es-ES" sz="1300" b="1" dirty="0"/>
              <a:t>se guarda en el </a:t>
            </a:r>
            <a:r>
              <a:rPr lang="es-ES" sz="1300" b="1" dirty="0" err="1"/>
              <a:t>stack</a:t>
            </a:r>
            <a:r>
              <a:rPr lang="es-ES" sz="1300" b="1" dirty="0"/>
              <a:t> por la CPU </a:t>
            </a:r>
            <a:endParaRPr lang="es-ES" sz="1300" dirty="0"/>
          </a:p>
          <a:p>
            <a:pPr marL="342900" indent="-342900">
              <a:buAutoNum type="arabicPeriod" startAt="3"/>
            </a:pPr>
            <a:r>
              <a:rPr lang="es-ES" sz="1300" dirty="0"/>
              <a:t>Primer micro de la familia Intel con modo supervisor </a:t>
            </a:r>
          </a:p>
          <a:p>
            <a:pPr lvl="2"/>
            <a:r>
              <a:rPr lang="es-ES" sz="1300" b="1" dirty="0"/>
              <a:t>80286</a:t>
            </a:r>
            <a:endParaRPr lang="es-ES" sz="1300" dirty="0"/>
          </a:p>
          <a:p>
            <a:pPr marL="342900" indent="-342900">
              <a:buAutoNum type="arabicPeriod" startAt="3"/>
            </a:pPr>
            <a:r>
              <a:rPr lang="es-ES" sz="1300" dirty="0"/>
              <a:t>¿Qué es el POSIX? </a:t>
            </a:r>
          </a:p>
          <a:p>
            <a:pPr lvl="2"/>
            <a:r>
              <a:rPr lang="es-ES" sz="1300" b="1" dirty="0"/>
              <a:t>Una API</a:t>
            </a:r>
            <a:endParaRPr lang="es-ES" sz="1300" dirty="0"/>
          </a:p>
          <a:p>
            <a:pPr marL="342900" indent="-342900">
              <a:buAutoNum type="arabicPeriod" startAt="3"/>
            </a:pPr>
            <a:r>
              <a:rPr lang="es-ES" sz="1300" dirty="0"/>
              <a:t>¿Qué evento provoca la ejecución del </a:t>
            </a:r>
            <a:r>
              <a:rPr lang="es-ES" sz="1300" dirty="0" err="1"/>
              <a:t>kernel</a:t>
            </a:r>
            <a:r>
              <a:rPr lang="es-ES" sz="1300" dirty="0"/>
              <a:t>?</a:t>
            </a:r>
          </a:p>
          <a:p>
            <a:pPr lvl="2"/>
            <a:r>
              <a:rPr lang="es-ES" sz="1300" b="1"/>
              <a:t>Interrupción</a:t>
            </a:r>
            <a:endParaRPr lang="es-ES" sz="1300" dirty="0"/>
          </a:p>
          <a:p>
            <a:pPr marL="342900" indent="-342900">
              <a:buAutoNum type="arabicPeriod" startAt="3"/>
            </a:pPr>
            <a:r>
              <a:rPr lang="es-ES" sz="1300" dirty="0"/>
              <a:t>Los vectores de interrupción…</a:t>
            </a:r>
          </a:p>
          <a:p>
            <a:pPr lvl="2"/>
            <a:r>
              <a:rPr lang="es-ES" sz="1300" b="1" dirty="0"/>
              <a:t>son parte del </a:t>
            </a:r>
            <a:r>
              <a:rPr lang="es-ES" sz="1300" b="1" dirty="0" err="1"/>
              <a:t>Kernel</a:t>
            </a:r>
            <a:endParaRPr lang="es-ES" sz="1300" dirty="0"/>
          </a:p>
          <a:p>
            <a:pPr marL="342900" indent="-342900">
              <a:buAutoNum type="arabicPeriod" startAt="3"/>
            </a:pPr>
            <a:r>
              <a:rPr lang="es-ES" sz="1300" dirty="0"/>
              <a:t>Los microprocesadores ARM…</a:t>
            </a:r>
          </a:p>
          <a:p>
            <a:pPr lvl="2"/>
            <a:r>
              <a:rPr lang="es-ES" sz="1300" b="1" dirty="0"/>
              <a:t>Se caracterizan por un bajo consumo de potencia, frente a los Intel o AMD</a:t>
            </a:r>
            <a:endParaRPr lang="es-ES" sz="1300" dirty="0"/>
          </a:p>
          <a:p>
            <a:pPr marL="342900" indent="-342900">
              <a:buAutoNum type="arabicPeriod" startAt="3"/>
            </a:pPr>
            <a:r>
              <a:rPr lang="es-ES" sz="1300" dirty="0"/>
              <a:t>Elemento de la arquitectura hardware Intel que se integró en el chip del microprocesador a partir de 2011</a:t>
            </a:r>
          </a:p>
          <a:p>
            <a:pPr lvl="2"/>
            <a:r>
              <a:rPr lang="es-ES" sz="1300" b="1" dirty="0" err="1"/>
              <a:t>Northbridge</a:t>
            </a:r>
            <a:endParaRPr lang="es-ES" sz="1300" dirty="0"/>
          </a:p>
          <a:p>
            <a:pPr marL="342900" indent="-342900">
              <a:buAutoNum type="arabicPeriod" startAt="3"/>
            </a:pPr>
            <a:r>
              <a:rPr lang="es-ES" sz="1300" dirty="0"/>
              <a:t>Una interrupción..</a:t>
            </a:r>
          </a:p>
          <a:p>
            <a:pPr lvl="2"/>
            <a:r>
              <a:rPr lang="es-ES" sz="1300" b="1" dirty="0"/>
              <a:t>Puede ser generada por SW y HW</a:t>
            </a:r>
            <a:endParaRPr lang="es-ES" sz="1300" dirty="0"/>
          </a:p>
          <a:p>
            <a:pPr marL="342900" indent="-342900">
              <a:buAutoNum type="arabicPeriod" startAt="3"/>
            </a:pPr>
            <a:r>
              <a:rPr lang="es-ES" sz="1300" dirty="0"/>
              <a:t>Versión de Linux diseñada </a:t>
            </a:r>
            <a:r>
              <a:rPr lang="es-ES" sz="1300" dirty="0" err="1"/>
              <a:t>especificamente</a:t>
            </a:r>
            <a:r>
              <a:rPr lang="es-ES" sz="1300" dirty="0"/>
              <a:t> para micros ARM</a:t>
            </a:r>
          </a:p>
          <a:p>
            <a:pPr marL="685800" lvl="1" indent="-342900"/>
            <a:r>
              <a:rPr lang="es-ES" sz="1300" dirty="0"/>
              <a:t>	</a:t>
            </a:r>
            <a:r>
              <a:rPr lang="es-ES" sz="1300" b="1" dirty="0" err="1"/>
              <a:t>Raspbian</a:t>
            </a:r>
            <a:endParaRPr lang="es-ES" sz="1300" b="1" dirty="0"/>
          </a:p>
          <a:p>
            <a:pPr marL="685800" lvl="1" indent="-342900"/>
            <a:endParaRPr lang="es-ES" sz="1300" dirty="0"/>
          </a:p>
        </p:txBody>
      </p:sp>
      <p:sp>
        <p:nvSpPr>
          <p:cNvPr id="2" name="2 Rectángulo">
            <a:extLst>
              <a:ext uri="{FF2B5EF4-FFF2-40B4-BE49-F238E27FC236}">
                <a16:creationId xmlns:a16="http://schemas.microsoft.com/office/drawing/2014/main" id="{0D7DB391-2D74-B194-1268-94283A442BE9}"/>
              </a:ext>
            </a:extLst>
          </p:cNvPr>
          <p:cNvSpPr/>
          <p:nvPr/>
        </p:nvSpPr>
        <p:spPr>
          <a:xfrm>
            <a:off x="0" y="0"/>
            <a:ext cx="1167897" cy="570368"/>
          </a:xfrm>
          <a:prstGeom prst="rect">
            <a:avLst/>
          </a:prstGeom>
          <a:solidFill>
            <a:srgbClr val="0D4C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b="1" dirty="0"/>
              <a:t>TEMA 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CuadroTexto"/>
          <p:cNvSpPr txBox="1"/>
          <p:nvPr/>
        </p:nvSpPr>
        <p:spPr>
          <a:xfrm rot="10800000" flipV="1">
            <a:off x="1167897" y="-152073"/>
            <a:ext cx="7976103" cy="5447645"/>
          </a:xfrm>
          <a:prstGeom prst="rect">
            <a:avLst/>
          </a:prstGeom>
          <a:noFill/>
        </p:spPr>
        <p:txBody>
          <a:bodyPr wrap="square" rtlCol="0">
            <a:spAutoFit/>
          </a:bodyPr>
          <a:lstStyle/>
          <a:p>
            <a:pPr marL="342900" indent="-342900">
              <a:buFont typeface="+mj-lt"/>
              <a:buAutoNum type="arabicPeriod" startAt="13"/>
            </a:pPr>
            <a:endParaRPr lang="es-ES" sz="1200" dirty="0"/>
          </a:p>
          <a:p>
            <a:pPr marL="342900" indent="-342900">
              <a:buFont typeface="+mj-lt"/>
              <a:buAutoNum type="arabicPeriod" startAt="13"/>
            </a:pPr>
            <a:r>
              <a:rPr lang="es-ES" sz="1200" dirty="0"/>
              <a:t> ¿Cómo se llama el conjunto de parámetros que se almacenan en el </a:t>
            </a:r>
            <a:r>
              <a:rPr lang="es-ES" sz="1200" dirty="0" err="1"/>
              <a:t>stack</a:t>
            </a:r>
            <a:r>
              <a:rPr lang="es-ES" sz="1200" dirty="0"/>
              <a:t> al invocar una función en un micro Intel?</a:t>
            </a:r>
          </a:p>
          <a:p>
            <a:pPr lvl="2"/>
            <a:r>
              <a:rPr lang="es-ES" sz="1200" b="1" dirty="0" err="1"/>
              <a:t>frame</a:t>
            </a:r>
            <a:endParaRPr lang="es-ES" sz="1200" b="1" dirty="0"/>
          </a:p>
          <a:p>
            <a:pPr marL="342900" indent="-342900">
              <a:buFont typeface="+mj-lt"/>
              <a:buAutoNum type="arabicPeriod" startAt="13"/>
            </a:pPr>
            <a:r>
              <a:rPr lang="es-ES" sz="1200" dirty="0"/>
              <a:t>¿Cómo se invoca un servicio del sistema operativo?</a:t>
            </a:r>
          </a:p>
          <a:p>
            <a:pPr lvl="2"/>
            <a:r>
              <a:rPr lang="es-ES" sz="1200" b="1" dirty="0"/>
              <a:t>Con una interrupción de ensamblador INT</a:t>
            </a:r>
            <a:endParaRPr lang="es-ES" sz="1200" dirty="0"/>
          </a:p>
          <a:p>
            <a:pPr marL="342900" indent="-342900">
              <a:buFont typeface="+mj-lt"/>
              <a:buAutoNum type="arabicPeriod" startAt="13"/>
            </a:pPr>
            <a:r>
              <a:rPr lang="es-ES" sz="1200" dirty="0"/>
              <a:t>¿Cómo se divide la memoria de un micro Intel de 64 bits?</a:t>
            </a:r>
          </a:p>
          <a:p>
            <a:pPr lvl="2"/>
            <a:r>
              <a:rPr lang="es-ES" sz="1200" b="1" dirty="0"/>
              <a:t>Low </a:t>
            </a:r>
            <a:r>
              <a:rPr lang="es-ES" sz="1200" b="1" dirty="0" err="1"/>
              <a:t>half</a:t>
            </a:r>
            <a:r>
              <a:rPr lang="es-ES" sz="1200" b="1" dirty="0"/>
              <a:t>/High </a:t>
            </a:r>
            <a:r>
              <a:rPr lang="es-ES" sz="1200" b="1" dirty="0" err="1"/>
              <a:t>half</a:t>
            </a:r>
            <a:endParaRPr lang="es-ES" sz="1200" dirty="0"/>
          </a:p>
          <a:p>
            <a:pPr marL="342900" indent="-342900">
              <a:buFont typeface="+mj-lt"/>
              <a:buAutoNum type="arabicPeriod" startAt="13"/>
            </a:pPr>
            <a:r>
              <a:rPr lang="es-ES" sz="1200" dirty="0"/>
              <a:t>¿Cómo se llama el bloque de control del proceso xv6?</a:t>
            </a:r>
          </a:p>
          <a:p>
            <a:pPr lvl="2"/>
            <a:r>
              <a:rPr lang="es-ES" sz="1200" b="1" dirty="0" err="1"/>
              <a:t>Struct</a:t>
            </a:r>
            <a:r>
              <a:rPr lang="es-ES" sz="1200" b="1" dirty="0"/>
              <a:t> </a:t>
            </a:r>
            <a:r>
              <a:rPr lang="es-ES" sz="1200" b="1" dirty="0" err="1"/>
              <a:t>proc</a:t>
            </a:r>
            <a:endParaRPr lang="es-ES" sz="1200" dirty="0"/>
          </a:p>
          <a:p>
            <a:pPr marL="342900" indent="-342900">
              <a:buFont typeface="+mj-lt"/>
              <a:buAutoNum type="arabicPeriod" startAt="13"/>
            </a:pPr>
            <a:r>
              <a:rPr lang="es-ES" sz="1200" dirty="0"/>
              <a:t>¿Qué tipo de estructura de datos se usa en un planificador </a:t>
            </a:r>
            <a:r>
              <a:rPr lang="es-ES" sz="1200" dirty="0" err="1"/>
              <a:t>FCFs</a:t>
            </a:r>
            <a:r>
              <a:rPr lang="es-ES" sz="1200" dirty="0"/>
              <a:t> sin prioridades?</a:t>
            </a:r>
          </a:p>
          <a:p>
            <a:pPr lvl="2"/>
            <a:r>
              <a:rPr lang="es-ES" sz="1200" b="1" dirty="0"/>
              <a:t>Cola única</a:t>
            </a:r>
            <a:endParaRPr lang="es-ES" sz="1200" dirty="0"/>
          </a:p>
          <a:p>
            <a:pPr marL="342900" indent="-342900">
              <a:buFont typeface="+mj-lt"/>
              <a:buAutoNum type="arabicPeriod" startAt="13"/>
            </a:pPr>
            <a:r>
              <a:rPr lang="es-ES" sz="1200" dirty="0"/>
              <a:t>Ejemplo de metadatos en un proceso</a:t>
            </a:r>
          </a:p>
          <a:p>
            <a:pPr lvl="2"/>
            <a:r>
              <a:rPr lang="es-ES" sz="1200" b="1" dirty="0"/>
              <a:t>El bloque de control de proceso</a:t>
            </a:r>
            <a:endParaRPr lang="es-ES" sz="1200" dirty="0"/>
          </a:p>
          <a:p>
            <a:pPr marL="342900" indent="-342900">
              <a:buFont typeface="+mj-lt"/>
              <a:buAutoNum type="arabicPeriod" startAt="13"/>
            </a:pPr>
            <a:r>
              <a:rPr lang="es-ES" sz="1200" dirty="0"/>
              <a:t>¿Cuándo se carga el </a:t>
            </a:r>
            <a:r>
              <a:rPr lang="es-ES" sz="1200" dirty="0" err="1"/>
              <a:t>Kernel</a:t>
            </a:r>
            <a:r>
              <a:rPr lang="es-ES" sz="1200" dirty="0"/>
              <a:t> en memoria?</a:t>
            </a:r>
          </a:p>
          <a:p>
            <a:pPr lvl="2"/>
            <a:r>
              <a:rPr lang="es-ES" sz="1200" b="1" dirty="0"/>
              <a:t>Solo una vez, durante el arranque </a:t>
            </a:r>
            <a:endParaRPr lang="es-ES" sz="1200" dirty="0"/>
          </a:p>
          <a:p>
            <a:pPr marL="342900" indent="-342900">
              <a:buFont typeface="+mj-lt"/>
              <a:buAutoNum type="arabicPeriod" startAt="13"/>
            </a:pPr>
            <a:r>
              <a:rPr lang="es-ES" sz="1200" dirty="0"/>
              <a:t>¿Cómo se llama la operación de expulsar al proceso que ocupa la CPU y concedérsela a otro?</a:t>
            </a:r>
          </a:p>
          <a:p>
            <a:pPr lvl="2"/>
            <a:r>
              <a:rPr lang="es-ES" sz="1200" b="1" dirty="0"/>
              <a:t>Activación</a:t>
            </a:r>
            <a:endParaRPr lang="es-ES" sz="1200" dirty="0"/>
          </a:p>
          <a:p>
            <a:pPr marL="342900" indent="-342900">
              <a:buFont typeface="+mj-lt"/>
              <a:buAutoNum type="arabicPeriod" startAt="13"/>
            </a:pPr>
            <a:r>
              <a:rPr lang="es-ES" sz="1200" dirty="0"/>
              <a:t>Planificación en xv6</a:t>
            </a:r>
          </a:p>
          <a:p>
            <a:pPr lvl="2"/>
            <a:r>
              <a:rPr lang="es-ES" sz="1200" b="1" dirty="0"/>
              <a:t>Round Robin sin prioridad</a:t>
            </a:r>
            <a:endParaRPr lang="es-ES" sz="1200" dirty="0"/>
          </a:p>
          <a:p>
            <a:pPr marL="342900" indent="-342900">
              <a:buFont typeface="+mj-lt"/>
              <a:buAutoNum type="arabicPeriod" startAt="13"/>
            </a:pPr>
            <a:r>
              <a:rPr lang="es-ES" sz="1200" dirty="0"/>
              <a:t>¿Máximo tiempo continuado de ocupación de la CPU en un sistema de Round Robin</a:t>
            </a:r>
          </a:p>
          <a:p>
            <a:pPr lvl="2"/>
            <a:r>
              <a:rPr lang="es-ES" sz="1200" b="1" dirty="0"/>
              <a:t>Quantum</a:t>
            </a:r>
          </a:p>
          <a:p>
            <a:pPr marL="342900" indent="-342900">
              <a:buFont typeface="+mj-lt"/>
              <a:buAutoNum type="arabicPeriod" startAt="13"/>
            </a:pPr>
            <a:r>
              <a:rPr lang="es-ES" sz="1200" dirty="0"/>
              <a:t>¿En un sistema de planificación FCFS que procesos se ven más perjudicados en su tiempo de ejecución?</a:t>
            </a:r>
          </a:p>
          <a:p>
            <a:pPr lvl="2"/>
            <a:r>
              <a:rPr lang="es-ES" sz="1200" b="1" dirty="0"/>
              <a:t>El tiempo de ejecución es independiente del planificador</a:t>
            </a:r>
            <a:endParaRPr lang="es-ES" sz="1200" dirty="0"/>
          </a:p>
          <a:p>
            <a:pPr marL="342900" indent="-342900">
              <a:buFont typeface="+mj-lt"/>
              <a:buAutoNum type="arabicPeriod" startAt="13"/>
            </a:pPr>
            <a:r>
              <a:rPr lang="es-ES" sz="1200" dirty="0"/>
              <a:t>Un proceso invoca la función </a:t>
            </a:r>
            <a:r>
              <a:rPr lang="es-ES" sz="1200" dirty="0" err="1"/>
              <a:t>fork</a:t>
            </a:r>
            <a:r>
              <a:rPr lang="es-ES" sz="1200" dirty="0"/>
              <a:t>(). ¿En que punto del programa continúa ejecutándose el proceso hijo?</a:t>
            </a:r>
          </a:p>
          <a:p>
            <a:pPr lvl="2"/>
            <a:r>
              <a:rPr lang="es-ES" sz="1200" b="1" dirty="0"/>
              <a:t>En el retorno de la </a:t>
            </a:r>
            <a:r>
              <a:rPr lang="es-ES" sz="1200" b="1" dirty="0" err="1"/>
              <a:t>funcion</a:t>
            </a:r>
            <a:r>
              <a:rPr lang="es-ES" sz="1200" b="1" dirty="0"/>
              <a:t> </a:t>
            </a:r>
            <a:r>
              <a:rPr lang="es-ES" sz="1200" b="1" dirty="0" err="1"/>
              <a:t>fork</a:t>
            </a:r>
            <a:r>
              <a:rPr lang="es-ES" sz="1200" b="1" dirty="0"/>
              <a:t>()</a:t>
            </a:r>
            <a:endParaRPr lang="es-ES" sz="1200" dirty="0"/>
          </a:p>
          <a:p>
            <a:pPr marL="342900" indent="-342900">
              <a:buFont typeface="+mj-lt"/>
              <a:buAutoNum type="arabicPeriod" startAt="13"/>
            </a:pPr>
            <a:r>
              <a:rPr lang="es-ES" sz="1200" dirty="0"/>
              <a:t>Tenemos dos </a:t>
            </a:r>
            <a:r>
              <a:rPr lang="es-ES" sz="1200" dirty="0" err="1"/>
              <a:t>threads</a:t>
            </a:r>
            <a:r>
              <a:rPr lang="es-ES" sz="1200" dirty="0"/>
              <a:t> de un mismo proceso y una variable llamada cuenta inicializada a 0. El primer </a:t>
            </a:r>
            <a:r>
              <a:rPr lang="es-ES" sz="1200" dirty="0" err="1"/>
              <a:t>thread</a:t>
            </a:r>
            <a:r>
              <a:rPr lang="es-ES" sz="1200" dirty="0"/>
              <a:t> realiza la operación cuenta++ y el segundo realiza la operación cuenta-- ¿Cuál es el valor final de cuenta?</a:t>
            </a:r>
          </a:p>
          <a:p>
            <a:pPr lvl="2"/>
            <a:r>
              <a:rPr lang="es-ES" sz="1200" b="1" dirty="0"/>
              <a:t>0</a:t>
            </a:r>
          </a:p>
          <a:p>
            <a:pPr marL="342900" indent="-342900">
              <a:buFont typeface="+mj-lt"/>
              <a:buAutoNum type="arabicPeriod" startAt="13"/>
            </a:pPr>
            <a:endParaRPr lang="es-ES" sz="1200" dirty="0"/>
          </a:p>
        </p:txBody>
      </p:sp>
      <p:sp>
        <p:nvSpPr>
          <p:cNvPr id="10" name="2 Rectángulo">
            <a:extLst>
              <a:ext uri="{FF2B5EF4-FFF2-40B4-BE49-F238E27FC236}">
                <a16:creationId xmlns:a16="http://schemas.microsoft.com/office/drawing/2014/main" id="{105E1D5E-74B2-23DC-449F-C24FFF3A6318}"/>
              </a:ext>
            </a:extLst>
          </p:cNvPr>
          <p:cNvSpPr/>
          <p:nvPr/>
        </p:nvSpPr>
        <p:spPr>
          <a:xfrm>
            <a:off x="0" y="0"/>
            <a:ext cx="1167897" cy="570368"/>
          </a:xfrm>
          <a:prstGeom prst="rect">
            <a:avLst/>
          </a:prstGeom>
          <a:solidFill>
            <a:srgbClr val="0D4C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b="1" dirty="0"/>
              <a:t>TEMA 2</a:t>
            </a:r>
          </a:p>
        </p:txBody>
      </p:sp>
    </p:spTree>
    <p:extLst>
      <p:ext uri="{BB962C8B-B14F-4D97-AF65-F5344CB8AC3E}">
        <p14:creationId xmlns:p14="http://schemas.microsoft.com/office/powerpoint/2010/main" val="3492225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CuadroTexto"/>
          <p:cNvSpPr txBox="1"/>
          <p:nvPr/>
        </p:nvSpPr>
        <p:spPr>
          <a:xfrm>
            <a:off x="1297354" y="218831"/>
            <a:ext cx="7674708" cy="4870564"/>
          </a:xfrm>
          <a:prstGeom prst="rect">
            <a:avLst/>
          </a:prstGeom>
          <a:noFill/>
        </p:spPr>
        <p:txBody>
          <a:bodyPr wrap="square" rtlCol="0">
            <a:spAutoFit/>
          </a:bodyPr>
          <a:lstStyle/>
          <a:p>
            <a:pPr marL="342900" indent="-342900">
              <a:buFont typeface="+mj-lt"/>
              <a:buAutoNum type="arabicPeriod" startAt="26"/>
            </a:pPr>
            <a:r>
              <a:rPr lang="es-ES" dirty="0"/>
              <a:t>En un sistema de planificación con prioridades</a:t>
            </a:r>
          </a:p>
          <a:p>
            <a:pPr lvl="1"/>
            <a:r>
              <a:rPr lang="es-ES" dirty="0"/>
              <a:t>	</a:t>
            </a:r>
            <a:r>
              <a:rPr lang="es-ES" b="1" dirty="0"/>
              <a:t>el quantum puede ser diferente por prioridad</a:t>
            </a:r>
          </a:p>
          <a:p>
            <a:pPr marL="342900" indent="-342900">
              <a:buFont typeface="+mj-lt"/>
              <a:buAutoNum type="arabicPeriod" startAt="26"/>
            </a:pPr>
            <a:r>
              <a:rPr lang="es-ES" dirty="0"/>
              <a:t>¿Dónde se almacena la identidad del proceso?</a:t>
            </a:r>
          </a:p>
          <a:p>
            <a:pPr lvl="1"/>
            <a:r>
              <a:rPr lang="es-ES" dirty="0"/>
              <a:t>	</a:t>
            </a:r>
            <a:r>
              <a:rPr lang="es-ES" b="1" dirty="0"/>
              <a:t>En la BCP</a:t>
            </a:r>
          </a:p>
          <a:p>
            <a:pPr marL="342900" indent="-342900">
              <a:buFont typeface="+mj-lt"/>
              <a:buAutoNum type="arabicPeriod" startAt="26"/>
            </a:pPr>
            <a:r>
              <a:rPr lang="es-ES" dirty="0"/>
              <a:t>El algoritmo ULE es propio del sistema operativo</a:t>
            </a:r>
          </a:p>
          <a:p>
            <a:pPr lvl="1"/>
            <a:r>
              <a:rPr lang="es-ES" dirty="0"/>
              <a:t>	</a:t>
            </a:r>
            <a:r>
              <a:rPr lang="es-ES" b="1" dirty="0"/>
              <a:t>BSD</a:t>
            </a:r>
          </a:p>
          <a:p>
            <a:pPr marL="342900" indent="-342900">
              <a:buFont typeface="+mj-lt"/>
              <a:buAutoNum type="arabicPeriod" startAt="26"/>
            </a:pPr>
            <a:r>
              <a:rPr lang="es-ES" dirty="0"/>
              <a:t>¿Cómo se llama el proceso de un sistema que se ejecuta cuando no hay ningún otro pidiendo CPU?</a:t>
            </a:r>
          </a:p>
          <a:p>
            <a:pPr lvl="1"/>
            <a:r>
              <a:rPr lang="es-ES" dirty="0"/>
              <a:t>	</a:t>
            </a:r>
            <a:r>
              <a:rPr lang="es-ES" b="1" dirty="0"/>
              <a:t>Nulo</a:t>
            </a:r>
          </a:p>
          <a:p>
            <a:pPr marL="342900" indent="-342900">
              <a:buFont typeface="+mj-lt"/>
              <a:buAutoNum type="arabicPeriod" startAt="26"/>
            </a:pPr>
            <a:r>
              <a:rPr lang="es-ES" dirty="0"/>
              <a:t>¿Cómo se invoca un servicio del sistema operativo?</a:t>
            </a:r>
          </a:p>
          <a:p>
            <a:pPr lvl="1"/>
            <a:r>
              <a:rPr lang="es-ES" dirty="0"/>
              <a:t>	</a:t>
            </a:r>
            <a:r>
              <a:rPr lang="es-ES" b="1" dirty="0"/>
              <a:t>Mediante una interrupción de software</a:t>
            </a:r>
          </a:p>
          <a:p>
            <a:pPr marL="342900" indent="-342900">
              <a:buFont typeface="+mj-lt"/>
              <a:buAutoNum type="arabicPeriod" startAt="26"/>
            </a:pPr>
            <a:r>
              <a:rPr lang="es-ES" dirty="0"/>
              <a:t> El tiempo de espera de un proceso es </a:t>
            </a:r>
          </a:p>
          <a:p>
            <a:pPr lvl="1"/>
            <a:r>
              <a:rPr lang="es-ES" dirty="0"/>
              <a:t>	</a:t>
            </a:r>
            <a:r>
              <a:rPr lang="es-ES" b="1" dirty="0"/>
              <a:t>El que permanece en el estado listo</a:t>
            </a:r>
          </a:p>
          <a:p>
            <a:pPr marL="342900" indent="-342900">
              <a:buFont typeface="+mj-lt"/>
              <a:buAutoNum type="arabicPeriod" startAt="26"/>
            </a:pPr>
            <a:r>
              <a:rPr lang="es-ES" dirty="0"/>
              <a:t>¿Cómo se llaman las etapas de tención de una interrupción en Linux?</a:t>
            </a:r>
          </a:p>
          <a:p>
            <a:pPr lvl="1"/>
            <a:r>
              <a:rPr lang="es-ES" dirty="0"/>
              <a:t>	</a:t>
            </a:r>
            <a:r>
              <a:rPr lang="es-ES" b="1" dirty="0"/>
              <a:t>Top </a:t>
            </a:r>
            <a:r>
              <a:rPr lang="es-ES" b="1" dirty="0" err="1"/>
              <a:t>half</a:t>
            </a:r>
            <a:r>
              <a:rPr lang="es-ES" b="1" dirty="0"/>
              <a:t>, </a:t>
            </a:r>
            <a:r>
              <a:rPr lang="es-ES" b="1" dirty="0" err="1"/>
              <a:t>bottom</a:t>
            </a:r>
            <a:r>
              <a:rPr lang="es-ES" b="1" dirty="0"/>
              <a:t> </a:t>
            </a:r>
            <a:r>
              <a:rPr lang="es-ES" b="1" dirty="0" err="1"/>
              <a:t>half</a:t>
            </a:r>
            <a:endParaRPr lang="es-ES" b="1" dirty="0"/>
          </a:p>
          <a:p>
            <a:pPr marL="342900" indent="-342900">
              <a:buFont typeface="+mj-lt"/>
              <a:buAutoNum type="arabicPeriod" startAt="26"/>
            </a:pPr>
            <a:r>
              <a:rPr lang="es-ES" dirty="0"/>
              <a:t>Un proceso se está ejecutando e invoca la función </a:t>
            </a:r>
            <a:r>
              <a:rPr lang="es-ES" dirty="0" err="1"/>
              <a:t>scanf</a:t>
            </a:r>
            <a:r>
              <a:rPr lang="es-ES" dirty="0"/>
              <a:t>(). ¿a qué estado lo envía el sistema operativo?</a:t>
            </a:r>
          </a:p>
          <a:p>
            <a:pPr lvl="3"/>
            <a:r>
              <a:rPr lang="es-ES" b="1" dirty="0"/>
              <a:t>Bloqueado</a:t>
            </a:r>
          </a:p>
          <a:p>
            <a:pPr marL="342900" indent="-342900">
              <a:buFont typeface="+mj-lt"/>
              <a:buAutoNum type="arabicPeriod" startAt="26"/>
            </a:pPr>
            <a:r>
              <a:rPr lang="es-ES" dirty="0"/>
              <a:t>¿Cuál de los siguientes sistemas operativos usa un sistema de prioridades basado en parámetro </a:t>
            </a:r>
            <a:r>
              <a:rPr lang="es-ES" dirty="0" err="1"/>
              <a:t>nice</a:t>
            </a:r>
            <a:r>
              <a:rPr lang="es-ES" dirty="0"/>
              <a:t>?</a:t>
            </a:r>
          </a:p>
          <a:p>
            <a:pPr lvl="2"/>
            <a:r>
              <a:rPr lang="es-ES" b="1" dirty="0"/>
              <a:t>Linux </a:t>
            </a:r>
            <a:r>
              <a:rPr lang="es-ES" dirty="0"/>
              <a:t>	</a:t>
            </a:r>
          </a:p>
          <a:p>
            <a:pPr marL="342900" indent="-342900">
              <a:buFont typeface="+mj-lt"/>
              <a:buAutoNum type="arabicPeriod" startAt="26"/>
            </a:pPr>
            <a:r>
              <a:rPr lang="es-ES" dirty="0"/>
              <a:t>¿Cuál era el máximo de memoria física direccionable por un micro Intel 386?</a:t>
            </a:r>
          </a:p>
          <a:p>
            <a:pPr lvl="2"/>
            <a:r>
              <a:rPr lang="es-ES" b="1" dirty="0"/>
              <a:t>4 GB</a:t>
            </a:r>
          </a:p>
          <a:p>
            <a:pPr marL="342900" indent="-342900">
              <a:buFont typeface="+mj-lt"/>
              <a:buAutoNum type="arabicPeriod" startAt="26"/>
            </a:pPr>
            <a:r>
              <a:rPr lang="es-ES" dirty="0"/>
              <a:t>Sistema de gestión de memoria virtual</a:t>
            </a:r>
          </a:p>
          <a:p>
            <a:pPr lvl="2"/>
            <a:r>
              <a:rPr lang="es-ES" b="1" dirty="0"/>
              <a:t>Paginación</a:t>
            </a:r>
            <a:r>
              <a:rPr lang="es-ES" dirty="0"/>
              <a:t>	</a:t>
            </a:r>
          </a:p>
          <a:p>
            <a:pPr marL="342900" indent="-342900">
              <a:buFont typeface="+mj-lt"/>
              <a:buAutoNum type="arabicPeriod" startAt="26"/>
            </a:pPr>
            <a:endParaRPr lang="es-ES" dirty="0"/>
          </a:p>
        </p:txBody>
      </p:sp>
      <p:sp>
        <p:nvSpPr>
          <p:cNvPr id="3" name="2 Rectángulo">
            <a:extLst>
              <a:ext uri="{FF2B5EF4-FFF2-40B4-BE49-F238E27FC236}">
                <a16:creationId xmlns:a16="http://schemas.microsoft.com/office/drawing/2014/main" id="{E17BB5BE-1B84-1D66-1E84-791194A012F3}"/>
              </a:ext>
            </a:extLst>
          </p:cNvPr>
          <p:cNvSpPr/>
          <p:nvPr/>
        </p:nvSpPr>
        <p:spPr>
          <a:xfrm>
            <a:off x="0" y="0"/>
            <a:ext cx="1167897" cy="570368"/>
          </a:xfrm>
          <a:prstGeom prst="rect">
            <a:avLst/>
          </a:prstGeom>
          <a:solidFill>
            <a:srgbClr val="0D4C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b="1" dirty="0"/>
              <a:t>TEMA 2</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CuadroTexto"/>
          <p:cNvSpPr txBox="1"/>
          <p:nvPr/>
        </p:nvSpPr>
        <p:spPr>
          <a:xfrm>
            <a:off x="1209040" y="71120"/>
            <a:ext cx="7762240" cy="5262979"/>
          </a:xfrm>
          <a:prstGeom prst="rect">
            <a:avLst/>
          </a:prstGeom>
          <a:noFill/>
        </p:spPr>
        <p:txBody>
          <a:bodyPr wrap="square" rtlCol="0">
            <a:spAutoFit/>
          </a:bodyPr>
          <a:lstStyle/>
          <a:p>
            <a:r>
              <a:rPr lang="es-ES" sz="1200" b="1" dirty="0"/>
              <a:t>METADATO:</a:t>
            </a:r>
            <a:r>
              <a:rPr lang="es-ES" sz="1200" dirty="0"/>
              <a:t> Gestión de los procesos.</a:t>
            </a:r>
            <a:r>
              <a:rPr lang="es-ES" sz="1200" u="sng" dirty="0"/>
              <a:t> </a:t>
            </a:r>
            <a:r>
              <a:rPr lang="es-ES" sz="1200" dirty="0"/>
              <a:t>Son datos que no podemos ver, pero están ahí, están más asociados a una actividad que a un proceso. Ejemplo: cuando tomamos una foto, los metadatos tienen la información de cuando se tomó, donde…</a:t>
            </a:r>
          </a:p>
          <a:p>
            <a:r>
              <a:rPr lang="es-ES" sz="1200" b="1" dirty="0"/>
              <a:t>CACHÉS:</a:t>
            </a:r>
            <a:r>
              <a:rPr lang="es-ES" sz="1200" dirty="0"/>
              <a:t> solo hay una a nivel físico q tiene un comportamiento especial, pero hay diferentes formas para usarlo. A nivel arquitectónico hay dos.</a:t>
            </a:r>
          </a:p>
          <a:p>
            <a:r>
              <a:rPr lang="es-ES" sz="1200" b="1" dirty="0"/>
              <a:t>BIBLIOTECAS:</a:t>
            </a:r>
            <a:r>
              <a:rPr lang="es-ES" sz="1200" dirty="0"/>
              <a:t> Es el que se encarga de controlar que funciones se necesitan dependiendo de lo que el usuario pide, para mandárselas al </a:t>
            </a:r>
            <a:r>
              <a:rPr lang="es-ES" sz="1200" dirty="0" err="1"/>
              <a:t>kernel</a:t>
            </a:r>
            <a:r>
              <a:rPr lang="es-ES" sz="1200" dirty="0"/>
              <a:t>. es una llamada a una función expuesta a una biblioteca que permite que sea invocable por un usuario.</a:t>
            </a:r>
          </a:p>
          <a:p>
            <a:r>
              <a:rPr lang="es-ES" sz="1200" b="1" dirty="0"/>
              <a:t>BCP:</a:t>
            </a:r>
            <a:r>
              <a:rPr lang="es-ES" sz="1200" dirty="0"/>
              <a:t> tabla de control de procesos, donde se guardan los metadatos.</a:t>
            </a:r>
          </a:p>
          <a:p>
            <a:r>
              <a:rPr lang="es-ES" sz="1200" b="1" dirty="0"/>
              <a:t>INTERRUPCIONES</a:t>
            </a:r>
            <a:r>
              <a:rPr lang="es-ES" sz="1200" dirty="0"/>
              <a:t>: lectores donde en cada una de ellas se trata un algo.</a:t>
            </a:r>
          </a:p>
          <a:p>
            <a:r>
              <a:rPr lang="es-ES" sz="1200" b="1" dirty="0"/>
              <a:t>SYSTEMD:</a:t>
            </a:r>
            <a:r>
              <a:rPr lang="es-ES" sz="1200" dirty="0"/>
              <a:t> hacen q los sistemas arranquen antes.</a:t>
            </a:r>
          </a:p>
          <a:p>
            <a:r>
              <a:rPr lang="es-ES" sz="1200" b="1" dirty="0"/>
              <a:t>DREPS:</a:t>
            </a:r>
            <a:r>
              <a:rPr lang="es-ES" sz="1200" dirty="0"/>
              <a:t> están por debajo de los procesos.</a:t>
            </a:r>
          </a:p>
          <a:p>
            <a:r>
              <a:rPr lang="es-ES" sz="1200" b="1" dirty="0"/>
              <a:t>ABTRACCIÓN</a:t>
            </a:r>
            <a:r>
              <a:rPr lang="es-ES" sz="1200" dirty="0"/>
              <a:t>: los procesos se ejecutan en un entorno virtual. Se normalizan los servicios para que el usuario no tenga que conocer la forma estricta del servicio pero pueda usarlo.</a:t>
            </a:r>
          </a:p>
          <a:p>
            <a:r>
              <a:rPr lang="es-ES" sz="1200" b="1" dirty="0"/>
              <a:t>PROCESO</a:t>
            </a:r>
            <a:r>
              <a:rPr lang="es-ES" sz="1200" dirty="0"/>
              <a:t>: un programa en ejecución que pide el usuario. </a:t>
            </a:r>
          </a:p>
          <a:p>
            <a:pPr lvl="0"/>
            <a:r>
              <a:rPr lang="es-ES" sz="1200" dirty="0"/>
              <a:t>El espacio de direcciones de los procesos van en el mismo sitio, pero no comparten espacio, así que se virtualiza para engañar</a:t>
            </a:r>
          </a:p>
          <a:p>
            <a:r>
              <a:rPr lang="es-ES" sz="1200" b="1" dirty="0"/>
              <a:t>MEMORIA PRINCIPAL</a:t>
            </a:r>
            <a:r>
              <a:rPr lang="es-ES" sz="1200" dirty="0"/>
              <a:t>: La memoria principal esta segmentada, hay instrucciones y datos. Normalmente cada bits es una fila, y cada fila tiene una longitud expresada en bit.</a:t>
            </a:r>
          </a:p>
          <a:p>
            <a:r>
              <a:rPr lang="es-ES" sz="1200" b="1" dirty="0"/>
              <a:t>LONGITUD DE MEDIDA</a:t>
            </a:r>
            <a:r>
              <a:rPr lang="es-ES" sz="1200" dirty="0"/>
              <a:t>: La palabra, es la unidad mínima de memoria direccionable que es un byte. Los que están a la izquierda son los que tienen mayor peso. </a:t>
            </a:r>
          </a:p>
          <a:p>
            <a:r>
              <a:rPr lang="es-ES" sz="1200" b="1" dirty="0"/>
              <a:t>PROCESOS PRINCIPALES DE LOS PROGRAMAS</a:t>
            </a:r>
            <a:r>
              <a:rPr lang="es-ES" sz="1200" dirty="0"/>
              <a:t>: Hay un ciclo continuo de ejecución, todo lo que haya que ejecutarse se lleva a memoria. Se encarga de Leer, decodificar y ejecutar, sobre la memoria, esto lo gobierna la CPU.</a:t>
            </a:r>
          </a:p>
          <a:p>
            <a:r>
              <a:rPr lang="es-ES" sz="1200" b="1" dirty="0"/>
              <a:t>PILA O STACK: </a:t>
            </a:r>
            <a:r>
              <a:rPr lang="es-ES" sz="1200" dirty="0"/>
              <a:t>Es el registro que guarda la información donde se ha producido un salto para luego saber donde seguir. Cada proceso tiene su propia pila, en el caso de que haya más, serían de la pila, la cual tiene la suya propia, dado que viven en mundos completamente diferentes.</a:t>
            </a:r>
          </a:p>
          <a:p>
            <a:r>
              <a:rPr lang="es-ES" sz="1200" b="1" dirty="0"/>
              <a:t>TUBERÍAS: </a:t>
            </a:r>
            <a:r>
              <a:rPr lang="es-ES" sz="1200" dirty="0"/>
              <a:t>Resultados de un proceso que los lleva a otro como resultado inicial.</a:t>
            </a:r>
          </a:p>
          <a:p>
            <a:r>
              <a:rPr lang="es-ES" sz="1200" b="1" dirty="0"/>
              <a:t>MULTIPLEXASO: </a:t>
            </a:r>
            <a:r>
              <a:rPr lang="es-ES" sz="1200" dirty="0"/>
              <a:t>Compartir tanto tiempo como el espacio.</a:t>
            </a:r>
          </a:p>
          <a:p>
            <a:endParaRPr lang="es-ES" sz="1200" dirty="0"/>
          </a:p>
        </p:txBody>
      </p:sp>
      <p:sp>
        <p:nvSpPr>
          <p:cNvPr id="3" name="2 Rectángulo">
            <a:extLst>
              <a:ext uri="{FF2B5EF4-FFF2-40B4-BE49-F238E27FC236}">
                <a16:creationId xmlns:a16="http://schemas.microsoft.com/office/drawing/2014/main" id="{47162F9C-5A96-A57A-9A0C-DCA436F8B480}"/>
              </a:ext>
            </a:extLst>
          </p:cNvPr>
          <p:cNvSpPr/>
          <p:nvPr/>
        </p:nvSpPr>
        <p:spPr>
          <a:xfrm>
            <a:off x="0" y="0"/>
            <a:ext cx="1167897" cy="570368"/>
          </a:xfrm>
          <a:prstGeom prst="rect">
            <a:avLst/>
          </a:prstGeom>
          <a:solidFill>
            <a:srgbClr val="0D4C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b="1" dirty="0"/>
              <a:t>TEMA 2</a:t>
            </a:r>
          </a:p>
        </p:txBody>
      </p:sp>
      <p:sp>
        <p:nvSpPr>
          <p:cNvPr id="4" name="2 Rectángulo">
            <a:extLst>
              <a:ext uri="{FF2B5EF4-FFF2-40B4-BE49-F238E27FC236}">
                <a16:creationId xmlns:a16="http://schemas.microsoft.com/office/drawing/2014/main" id="{3641E947-3D47-620A-FA17-1D55C00EB299}"/>
              </a:ext>
            </a:extLst>
          </p:cNvPr>
          <p:cNvSpPr/>
          <p:nvPr/>
        </p:nvSpPr>
        <p:spPr>
          <a:xfrm>
            <a:off x="-1" y="570368"/>
            <a:ext cx="1167897" cy="272912"/>
          </a:xfrm>
          <a:prstGeom prst="rect">
            <a:avLst/>
          </a:prstGeom>
          <a:solidFill>
            <a:srgbClr val="0D4C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200" b="1" dirty="0"/>
              <a:t>GLOSARIO</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CuadroTexto"/>
          <p:cNvSpPr txBox="1"/>
          <p:nvPr/>
        </p:nvSpPr>
        <p:spPr>
          <a:xfrm>
            <a:off x="1167896" y="0"/>
            <a:ext cx="7855787" cy="5286062"/>
          </a:xfrm>
          <a:prstGeom prst="rect">
            <a:avLst/>
          </a:prstGeom>
          <a:noFill/>
        </p:spPr>
        <p:txBody>
          <a:bodyPr wrap="square" rtlCol="0">
            <a:spAutoFit/>
          </a:bodyPr>
          <a:lstStyle/>
          <a:p>
            <a:pPr marL="342900" indent="-342900">
              <a:buFont typeface="+mj-lt"/>
              <a:buAutoNum type="arabicPeriod"/>
            </a:pPr>
            <a:r>
              <a:rPr lang="es-ES" dirty="0"/>
              <a:t>¿Cómo se llama el bloque de control de proceso en xv6?</a:t>
            </a:r>
          </a:p>
          <a:p>
            <a:pPr lvl="2"/>
            <a:r>
              <a:rPr lang="es-ES" b="1" dirty="0" err="1"/>
              <a:t>struct</a:t>
            </a:r>
            <a:r>
              <a:rPr lang="es-ES" b="1" dirty="0"/>
              <a:t> </a:t>
            </a:r>
            <a:r>
              <a:rPr lang="es-ES" b="1" dirty="0" err="1"/>
              <a:t>proc</a:t>
            </a:r>
            <a:endParaRPr lang="es-ES" b="1" dirty="0"/>
          </a:p>
          <a:p>
            <a:pPr marL="342900" indent="-342900">
              <a:buFont typeface="+mj-lt"/>
              <a:buAutoNum type="arabicPeriod"/>
            </a:pPr>
            <a:r>
              <a:rPr lang="es-ES" dirty="0"/>
              <a:t>¿Qué tipo de estructura de datos se usa en un planificador FCFS sin prioridades?</a:t>
            </a:r>
          </a:p>
          <a:p>
            <a:pPr lvl="2"/>
            <a:r>
              <a:rPr lang="es-ES" b="1" dirty="0"/>
              <a:t>Cola única</a:t>
            </a:r>
          </a:p>
          <a:p>
            <a:pPr marL="342900" indent="-342900">
              <a:buFont typeface="+mj-lt"/>
              <a:buAutoNum type="arabicPeriod"/>
            </a:pPr>
            <a:r>
              <a:rPr lang="es-ES" dirty="0"/>
              <a:t>Ejemplo de metadatos en un proceso</a:t>
            </a:r>
          </a:p>
          <a:p>
            <a:pPr lvl="2"/>
            <a:r>
              <a:rPr lang="es-ES" b="1" dirty="0"/>
              <a:t>El bloque de control de proceso</a:t>
            </a:r>
          </a:p>
          <a:p>
            <a:pPr marL="342900" indent="-342900">
              <a:buFont typeface="+mj-lt"/>
              <a:buAutoNum type="arabicPeriod"/>
            </a:pPr>
            <a:r>
              <a:rPr lang="es-ES" dirty="0"/>
              <a:t>¿Cuándo se carga el </a:t>
            </a:r>
            <a:r>
              <a:rPr lang="es-ES" dirty="0" err="1"/>
              <a:t>kernel</a:t>
            </a:r>
            <a:r>
              <a:rPr lang="es-ES" dirty="0"/>
              <a:t> en memoria?</a:t>
            </a:r>
          </a:p>
          <a:p>
            <a:pPr lvl="2"/>
            <a:r>
              <a:rPr lang="es-ES" b="1" dirty="0"/>
              <a:t>Solo una vez, durante el arranque de la máquina</a:t>
            </a:r>
          </a:p>
          <a:p>
            <a:pPr marL="342900" indent="-342900">
              <a:buFont typeface="+mj-lt"/>
              <a:buAutoNum type="arabicPeriod"/>
            </a:pPr>
            <a:r>
              <a:rPr lang="es-ES" dirty="0"/>
              <a:t>¿Cómo se llama la operación de expulsar al proceso que ocupa la CPU y concedérsela a otro?	</a:t>
            </a:r>
          </a:p>
          <a:p>
            <a:pPr lvl="2"/>
            <a:r>
              <a:rPr lang="es-ES" b="1" dirty="0"/>
              <a:t>Activación</a:t>
            </a:r>
          </a:p>
          <a:p>
            <a:pPr marL="342900" indent="-342900">
              <a:buFont typeface="+mj-lt"/>
              <a:buAutoNum type="arabicPeriod"/>
            </a:pPr>
            <a:r>
              <a:rPr lang="es-ES" dirty="0"/>
              <a:t>Planificación en xv6</a:t>
            </a:r>
          </a:p>
          <a:p>
            <a:pPr lvl="2"/>
            <a:r>
              <a:rPr lang="es-ES" b="1" dirty="0"/>
              <a:t>Round </a:t>
            </a:r>
            <a:r>
              <a:rPr lang="es-ES" b="1" dirty="0" err="1"/>
              <a:t>robin</a:t>
            </a:r>
            <a:r>
              <a:rPr lang="es-ES" b="1" dirty="0"/>
              <a:t> sin prioridad</a:t>
            </a:r>
          </a:p>
          <a:p>
            <a:pPr marL="342900" indent="-342900">
              <a:buFont typeface="+mj-lt"/>
              <a:buAutoNum type="arabicPeriod"/>
            </a:pPr>
            <a:r>
              <a:rPr lang="es-ES" dirty="0"/>
              <a:t>Máximo tiempo continuado de ocupación de la CPU en un sistema con Round Robin</a:t>
            </a:r>
          </a:p>
          <a:p>
            <a:pPr lvl="2"/>
            <a:r>
              <a:rPr lang="es-ES" b="1" dirty="0"/>
              <a:t>Quantum</a:t>
            </a:r>
          </a:p>
          <a:p>
            <a:pPr marL="342900" indent="-342900">
              <a:buFont typeface="+mj-lt"/>
              <a:buAutoNum type="arabicPeriod"/>
            </a:pPr>
            <a:r>
              <a:rPr lang="es-ES" dirty="0"/>
              <a:t>En un sistema de planificación FCFS, ¿qué procesos se ven más perjudicados en su tiempo de ejecución?</a:t>
            </a:r>
          </a:p>
          <a:p>
            <a:pPr lvl="2"/>
            <a:r>
              <a:rPr lang="es-ES" b="1" dirty="0"/>
              <a:t>El tiempo de ejecución es independiente del planificador</a:t>
            </a:r>
          </a:p>
          <a:p>
            <a:pPr marL="342900" indent="-342900">
              <a:buFont typeface="+mj-lt"/>
              <a:buAutoNum type="arabicPeriod"/>
            </a:pPr>
            <a:r>
              <a:rPr lang="es-ES" dirty="0"/>
              <a:t>Un proceso invoca la función </a:t>
            </a:r>
            <a:r>
              <a:rPr lang="es-ES" dirty="0" err="1"/>
              <a:t>fork</a:t>
            </a:r>
            <a:r>
              <a:rPr lang="es-ES" dirty="0"/>
              <a:t>() ¿En qué punto del programa continúa ejecutándose el proceso hijo?</a:t>
            </a:r>
          </a:p>
          <a:p>
            <a:pPr lvl="2"/>
            <a:r>
              <a:rPr lang="es-ES" b="1" dirty="0"/>
              <a:t>En el retorno de la función </a:t>
            </a:r>
            <a:r>
              <a:rPr lang="es-ES" b="1" dirty="0" err="1"/>
              <a:t>fork</a:t>
            </a:r>
            <a:r>
              <a:rPr lang="es-ES" b="1" dirty="0"/>
              <a:t>()</a:t>
            </a:r>
          </a:p>
          <a:p>
            <a:pPr marL="342900" indent="-342900">
              <a:buFont typeface="+mj-lt"/>
              <a:buAutoNum type="arabicPeriod"/>
            </a:pPr>
            <a:r>
              <a:rPr lang="es-ES" dirty="0"/>
              <a:t>Tenemos dos </a:t>
            </a:r>
            <a:r>
              <a:rPr lang="es-ES" dirty="0" err="1"/>
              <a:t>threads</a:t>
            </a:r>
            <a:r>
              <a:rPr lang="es-ES" dirty="0"/>
              <a:t> de un mismo proceso y una variable entera llamada cuenta inicializada a 0. El primer </a:t>
            </a:r>
            <a:r>
              <a:rPr lang="es-ES" dirty="0" err="1"/>
              <a:t>thread</a:t>
            </a:r>
            <a:r>
              <a:rPr lang="es-ES" dirty="0"/>
              <a:t> realiza la operación cuenta++ y el segundo realiza la operación cuenta-- ¿cuál es el valor final de cuenta?</a:t>
            </a:r>
            <a:endParaRPr lang="es-ES" b="1" dirty="0"/>
          </a:p>
          <a:p>
            <a:pPr lvl="2"/>
            <a:r>
              <a:rPr lang="es-ES" b="1" dirty="0"/>
              <a:t>0</a:t>
            </a:r>
            <a:endParaRPr lang="es-ES" dirty="0"/>
          </a:p>
          <a:p>
            <a:pPr marL="342900" indent="-342900">
              <a:buFont typeface="+mj-lt"/>
              <a:buAutoNum type="arabicPeriod"/>
            </a:pPr>
            <a:r>
              <a:rPr lang="es-ES" dirty="0"/>
              <a:t>En un sistema de planificación con prioridades</a:t>
            </a:r>
          </a:p>
          <a:p>
            <a:pPr lvl="2"/>
            <a:r>
              <a:rPr lang="es-ES" b="1" dirty="0"/>
              <a:t>El quantum puede ser diferente por prioridad</a:t>
            </a:r>
          </a:p>
          <a:p>
            <a:endParaRPr lang="es-ES" dirty="0"/>
          </a:p>
        </p:txBody>
      </p:sp>
      <p:sp>
        <p:nvSpPr>
          <p:cNvPr id="3" name="2 Rectángulo">
            <a:extLst>
              <a:ext uri="{FF2B5EF4-FFF2-40B4-BE49-F238E27FC236}">
                <a16:creationId xmlns:a16="http://schemas.microsoft.com/office/drawing/2014/main" id="{E17BB5BE-1B84-1D66-1E84-791194A012F3}"/>
              </a:ext>
            </a:extLst>
          </p:cNvPr>
          <p:cNvSpPr/>
          <p:nvPr/>
        </p:nvSpPr>
        <p:spPr>
          <a:xfrm>
            <a:off x="0" y="0"/>
            <a:ext cx="1167897" cy="570368"/>
          </a:xfrm>
          <a:prstGeom prst="rect">
            <a:avLst/>
          </a:prstGeom>
          <a:solidFill>
            <a:srgbClr val="0D4C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b="1" dirty="0"/>
              <a:t>TEMA 3</a:t>
            </a:r>
          </a:p>
        </p:txBody>
      </p:sp>
    </p:spTree>
    <p:extLst>
      <p:ext uri="{BB962C8B-B14F-4D97-AF65-F5344CB8AC3E}">
        <p14:creationId xmlns:p14="http://schemas.microsoft.com/office/powerpoint/2010/main" val="36663922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CuadroTexto"/>
          <p:cNvSpPr txBox="1"/>
          <p:nvPr/>
        </p:nvSpPr>
        <p:spPr>
          <a:xfrm>
            <a:off x="1167897" y="0"/>
            <a:ext cx="8072357" cy="4662815"/>
          </a:xfrm>
          <a:prstGeom prst="rect">
            <a:avLst/>
          </a:prstGeom>
          <a:noFill/>
        </p:spPr>
        <p:txBody>
          <a:bodyPr wrap="square" rtlCol="0">
            <a:spAutoFit/>
          </a:bodyPr>
          <a:lstStyle/>
          <a:p>
            <a:pPr marL="342900" indent="-342900">
              <a:buFont typeface="+mj-lt"/>
              <a:buAutoNum type="arabicPeriod" startAt="12"/>
            </a:pPr>
            <a:r>
              <a:rPr lang="es-ES" dirty="0"/>
              <a:t>¿Dónde se almacena la identidad del proceso?</a:t>
            </a:r>
          </a:p>
          <a:p>
            <a:pPr lvl="2"/>
            <a:r>
              <a:rPr lang="es-ES" b="1" dirty="0"/>
              <a:t>En el BCP</a:t>
            </a:r>
          </a:p>
          <a:p>
            <a:pPr marL="342900" indent="-342900">
              <a:buFont typeface="+mj-lt"/>
              <a:buAutoNum type="arabicPeriod" startAt="12"/>
            </a:pPr>
            <a:r>
              <a:rPr lang="es-ES" dirty="0"/>
              <a:t>El algoritmo ULE es propio del sistema operativo</a:t>
            </a:r>
          </a:p>
          <a:p>
            <a:pPr lvl="2"/>
            <a:r>
              <a:rPr lang="es-ES" b="1" dirty="0"/>
              <a:t>BSD</a:t>
            </a:r>
          </a:p>
          <a:p>
            <a:pPr marL="342900" indent="-342900">
              <a:buFont typeface="+mj-lt"/>
              <a:buAutoNum type="arabicPeriod" startAt="12"/>
            </a:pPr>
            <a:r>
              <a:rPr lang="es-ES" dirty="0"/>
              <a:t>¿Cómo se llama el proceso de sistema que se ejecuta cuando no hay ningún otro pidiendo CPU?</a:t>
            </a:r>
          </a:p>
          <a:p>
            <a:pPr lvl="2"/>
            <a:r>
              <a:rPr lang="es-ES" b="1" dirty="0"/>
              <a:t>Nulo</a:t>
            </a:r>
          </a:p>
          <a:p>
            <a:pPr marL="342900" indent="-342900">
              <a:buFont typeface="+mj-lt"/>
              <a:buAutoNum type="arabicPeriod" startAt="12"/>
            </a:pPr>
            <a:r>
              <a:rPr lang="es-ES" dirty="0"/>
              <a:t>¿Cómo se invoca un servicio del sistema operativo?</a:t>
            </a:r>
          </a:p>
          <a:p>
            <a:pPr lvl="2"/>
            <a:r>
              <a:rPr lang="es-ES" b="1" dirty="0"/>
              <a:t>Mediante una interrupción software</a:t>
            </a:r>
          </a:p>
          <a:p>
            <a:pPr marL="342900" indent="-342900">
              <a:buFont typeface="+mj-lt"/>
              <a:buAutoNum type="arabicPeriod" startAt="12"/>
            </a:pPr>
            <a:r>
              <a:rPr lang="es-ES" dirty="0"/>
              <a:t>Un proceso llamado </a:t>
            </a:r>
            <a:r>
              <a:rPr lang="es-ES" dirty="0" err="1"/>
              <a:t>pikachu</a:t>
            </a:r>
            <a:r>
              <a:rPr lang="es-ES" dirty="0"/>
              <a:t> ejecuta el siguiente bucle</a:t>
            </a:r>
          </a:p>
          <a:p>
            <a:pPr lvl="2"/>
            <a:r>
              <a:rPr lang="es-ES" dirty="0" err="1"/>
              <a:t>int</a:t>
            </a:r>
            <a:r>
              <a:rPr lang="es-ES" dirty="0"/>
              <a:t> i = 0;</a:t>
            </a:r>
          </a:p>
          <a:p>
            <a:pPr lvl="2"/>
            <a:r>
              <a:rPr lang="es-ES" dirty="0" err="1"/>
              <a:t>while</a:t>
            </a:r>
            <a:r>
              <a:rPr lang="es-ES" dirty="0"/>
              <a:t> (i++ &lt; 4)</a:t>
            </a:r>
          </a:p>
          <a:p>
            <a:pPr lvl="2"/>
            <a:r>
              <a:rPr lang="es-ES" dirty="0" err="1"/>
              <a:t>fork</a:t>
            </a:r>
            <a:r>
              <a:rPr lang="es-ES" dirty="0"/>
              <a:t>();	 ¿Cuántos procesos </a:t>
            </a:r>
            <a:r>
              <a:rPr lang="es-ES" dirty="0" err="1"/>
              <a:t>pikachu</a:t>
            </a:r>
            <a:r>
              <a:rPr lang="es-ES" dirty="0"/>
              <a:t> hay al terminar el bucle?</a:t>
            </a:r>
          </a:p>
          <a:p>
            <a:pPr lvl="2"/>
            <a:r>
              <a:rPr lang="es-ES" b="1" dirty="0"/>
              <a:t>16</a:t>
            </a:r>
          </a:p>
          <a:p>
            <a:pPr marL="342900" indent="-342900">
              <a:buFont typeface="+mj-lt"/>
              <a:buAutoNum type="arabicPeriod" startAt="12"/>
            </a:pPr>
            <a:r>
              <a:rPr lang="es-ES" dirty="0"/>
              <a:t>El tiempo de espera de un proceso es...</a:t>
            </a:r>
          </a:p>
          <a:p>
            <a:pPr lvl="2"/>
            <a:r>
              <a:rPr lang="es-ES" b="1" dirty="0"/>
              <a:t>El que permanece en el estado de listo</a:t>
            </a:r>
          </a:p>
          <a:p>
            <a:pPr marL="342900" indent="-342900">
              <a:buFont typeface="+mj-lt"/>
              <a:buAutoNum type="arabicPeriod" startAt="12"/>
            </a:pPr>
            <a:r>
              <a:rPr lang="es-ES" dirty="0"/>
              <a:t>¿Cómo se llaman las etapas de atención de una interrupción en Linux?</a:t>
            </a:r>
          </a:p>
          <a:p>
            <a:pPr lvl="2"/>
            <a:r>
              <a:rPr lang="es-ES" b="1" dirty="0"/>
              <a:t>Top </a:t>
            </a:r>
            <a:r>
              <a:rPr lang="es-ES" b="1" dirty="0" err="1"/>
              <a:t>half</a:t>
            </a:r>
            <a:r>
              <a:rPr lang="es-ES" b="1" dirty="0"/>
              <a:t>, bottom </a:t>
            </a:r>
            <a:r>
              <a:rPr lang="es-ES" b="1" dirty="0" err="1"/>
              <a:t>half</a:t>
            </a:r>
            <a:endParaRPr lang="es-ES" b="1" dirty="0"/>
          </a:p>
          <a:p>
            <a:pPr marL="342900" indent="-342900">
              <a:buFont typeface="+mj-lt"/>
              <a:buAutoNum type="arabicPeriod" startAt="12"/>
            </a:pPr>
            <a:r>
              <a:rPr lang="es-ES" dirty="0"/>
              <a:t>Un proceso se está ejecutando e invoca la función </a:t>
            </a:r>
            <a:r>
              <a:rPr lang="es-ES" dirty="0" err="1"/>
              <a:t>scanf</a:t>
            </a:r>
            <a:r>
              <a:rPr lang="es-ES" dirty="0"/>
              <a:t>() ¿A qué estado lo envía el sistema operativo?</a:t>
            </a:r>
          </a:p>
          <a:p>
            <a:pPr lvl="2"/>
            <a:r>
              <a:rPr lang="es-ES" b="1" dirty="0"/>
              <a:t>Bloqueado</a:t>
            </a:r>
          </a:p>
          <a:p>
            <a:pPr marL="342900" indent="-342900">
              <a:buFont typeface="+mj-lt"/>
              <a:buAutoNum type="arabicPeriod" startAt="12"/>
            </a:pPr>
            <a:r>
              <a:rPr lang="es-ES" dirty="0"/>
              <a:t>¿Cuál de los siguientes sistemas operativos usa un sistema de prioridades basado en el parámetro </a:t>
            </a:r>
            <a:r>
              <a:rPr lang="es-ES" dirty="0" err="1"/>
              <a:t>nice</a:t>
            </a:r>
            <a:r>
              <a:rPr lang="es-ES" dirty="0"/>
              <a:t>?</a:t>
            </a:r>
          </a:p>
          <a:p>
            <a:pPr lvl="2"/>
            <a:r>
              <a:rPr lang="es-ES" b="1" dirty="0"/>
              <a:t>Linux</a:t>
            </a:r>
          </a:p>
          <a:p>
            <a:endParaRPr lang="es-ES" dirty="0"/>
          </a:p>
        </p:txBody>
      </p:sp>
      <p:sp>
        <p:nvSpPr>
          <p:cNvPr id="3" name="2 Rectángulo">
            <a:extLst>
              <a:ext uri="{FF2B5EF4-FFF2-40B4-BE49-F238E27FC236}">
                <a16:creationId xmlns:a16="http://schemas.microsoft.com/office/drawing/2014/main" id="{E17BB5BE-1B84-1D66-1E84-791194A012F3}"/>
              </a:ext>
            </a:extLst>
          </p:cNvPr>
          <p:cNvSpPr/>
          <p:nvPr/>
        </p:nvSpPr>
        <p:spPr>
          <a:xfrm>
            <a:off x="0" y="0"/>
            <a:ext cx="1167897" cy="570368"/>
          </a:xfrm>
          <a:prstGeom prst="rect">
            <a:avLst/>
          </a:prstGeom>
          <a:solidFill>
            <a:srgbClr val="0D4C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b="1" dirty="0"/>
              <a:t>TEMA 3</a:t>
            </a:r>
          </a:p>
        </p:txBody>
      </p:sp>
    </p:spTree>
    <p:extLst>
      <p:ext uri="{BB962C8B-B14F-4D97-AF65-F5344CB8AC3E}">
        <p14:creationId xmlns:p14="http://schemas.microsoft.com/office/powerpoint/2010/main" val="22656801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CuadroTexto"/>
          <p:cNvSpPr txBox="1"/>
          <p:nvPr/>
        </p:nvSpPr>
        <p:spPr>
          <a:xfrm>
            <a:off x="1167896" y="0"/>
            <a:ext cx="8385177" cy="5286062"/>
          </a:xfrm>
          <a:prstGeom prst="rect">
            <a:avLst/>
          </a:prstGeom>
          <a:noFill/>
        </p:spPr>
        <p:txBody>
          <a:bodyPr wrap="square" rtlCol="0">
            <a:spAutoFit/>
          </a:bodyPr>
          <a:lstStyle/>
          <a:p>
            <a:pPr marL="342900" indent="-342900">
              <a:buFont typeface="+mj-lt"/>
              <a:buAutoNum type="arabicPeriod"/>
            </a:pPr>
            <a:r>
              <a:rPr lang="es-ES" dirty="0"/>
              <a:t>Tamaño de marco en xv6</a:t>
            </a:r>
          </a:p>
          <a:p>
            <a:pPr lvl="2"/>
            <a:r>
              <a:rPr lang="es-ES" b="1" dirty="0"/>
              <a:t>4 KB</a:t>
            </a:r>
          </a:p>
          <a:p>
            <a:pPr marL="342900" indent="-342900">
              <a:buFont typeface="+mj-lt"/>
              <a:buAutoNum type="arabicPeriod"/>
            </a:pPr>
            <a:r>
              <a:rPr lang="es-ES" dirty="0"/>
              <a:t>Orden correcto de los elementos HW</a:t>
            </a:r>
          </a:p>
          <a:p>
            <a:pPr lvl="2"/>
            <a:r>
              <a:rPr lang="es-ES" b="1" dirty="0"/>
              <a:t>CPU - TLB - Caché - RAM</a:t>
            </a:r>
          </a:p>
          <a:p>
            <a:pPr marL="342900" indent="-342900">
              <a:buFont typeface="+mj-lt"/>
              <a:buAutoNum type="arabicPeriod"/>
            </a:pPr>
            <a:r>
              <a:rPr lang="es-ES" dirty="0"/>
              <a:t>¿Qué es el conjunto de trabajo?</a:t>
            </a:r>
          </a:p>
          <a:p>
            <a:pPr lvl="2"/>
            <a:r>
              <a:rPr lang="es-ES" b="1" dirty="0"/>
              <a:t>Fragmento de código y datos que se acceden de forma repetida durante un periodo breve</a:t>
            </a:r>
          </a:p>
          <a:p>
            <a:pPr marL="342900" indent="-342900">
              <a:buFont typeface="+mj-lt"/>
              <a:buAutoNum type="arabicPeriod"/>
            </a:pPr>
            <a:r>
              <a:rPr lang="es-ES" dirty="0"/>
              <a:t>Estructura de metadatos que gestiona la memoria de un proceso</a:t>
            </a:r>
          </a:p>
          <a:p>
            <a:pPr lvl="2"/>
            <a:r>
              <a:rPr lang="es-ES" b="1" dirty="0"/>
              <a:t>Tabla de memoria virtual</a:t>
            </a:r>
          </a:p>
          <a:p>
            <a:pPr marL="342900" indent="-342900">
              <a:buFont typeface="+mj-lt"/>
              <a:buAutoNum type="arabicPeriod"/>
            </a:pPr>
            <a:r>
              <a:rPr lang="es-ES" dirty="0"/>
              <a:t>¿Cómo se llama una zona de memoria inmune al swap?</a:t>
            </a:r>
          </a:p>
          <a:p>
            <a:pPr lvl="2"/>
            <a:r>
              <a:rPr lang="es-ES" b="1" dirty="0" err="1"/>
              <a:t>Pinned</a:t>
            </a:r>
            <a:endParaRPr lang="es-ES" b="1" dirty="0"/>
          </a:p>
          <a:p>
            <a:pPr marL="342900" indent="-342900">
              <a:buFont typeface="+mj-lt"/>
              <a:buAutoNum type="arabicPeriod"/>
            </a:pPr>
            <a:r>
              <a:rPr lang="es-ES" dirty="0"/>
              <a:t>El </a:t>
            </a:r>
            <a:r>
              <a:rPr lang="es-ES" dirty="0" err="1"/>
              <a:t>kernel</a:t>
            </a:r>
            <a:r>
              <a:rPr lang="es-ES" dirty="0"/>
              <a:t> trabaja con direcciones virtuales una vez arrancado el sistema ¿Dónde se almacena esa correspondencia?</a:t>
            </a:r>
          </a:p>
          <a:p>
            <a:pPr lvl="2"/>
            <a:r>
              <a:rPr lang="es-ES" b="1" dirty="0"/>
              <a:t>En todas y cada una de las tablas de memoria de procesos</a:t>
            </a:r>
          </a:p>
          <a:p>
            <a:pPr marL="342900" indent="-342900">
              <a:buFont typeface="+mj-lt"/>
              <a:buAutoNum type="arabicPeriod"/>
            </a:pPr>
            <a:r>
              <a:rPr lang="es-ES" dirty="0"/>
              <a:t>¿Qué tipo de hardware se usa en la TLB?</a:t>
            </a:r>
          </a:p>
          <a:p>
            <a:pPr lvl="2"/>
            <a:r>
              <a:rPr lang="es-ES" b="1" dirty="0"/>
              <a:t>Memoria asociativa</a:t>
            </a:r>
          </a:p>
          <a:p>
            <a:pPr marL="342900" indent="-342900">
              <a:buFont typeface="+mj-lt"/>
              <a:buAutoNum type="arabicPeriod"/>
            </a:pPr>
            <a:r>
              <a:rPr lang="es-ES" dirty="0"/>
              <a:t>¿Para qué se usa la opción </a:t>
            </a:r>
            <a:r>
              <a:rPr lang="es-ES" dirty="0" err="1"/>
              <a:t>caching</a:t>
            </a:r>
            <a:r>
              <a:rPr lang="es-ES" dirty="0"/>
              <a:t> </a:t>
            </a:r>
            <a:r>
              <a:rPr lang="es-ES" dirty="0" err="1"/>
              <a:t>disabled</a:t>
            </a:r>
            <a:r>
              <a:rPr lang="es-ES" dirty="0"/>
              <a:t>?</a:t>
            </a:r>
          </a:p>
          <a:p>
            <a:pPr lvl="2"/>
            <a:r>
              <a:rPr lang="es-ES" b="1" dirty="0"/>
              <a:t>Para acceder a dispositivos de E/S mapeados en memoria</a:t>
            </a:r>
          </a:p>
          <a:p>
            <a:pPr marL="342900" indent="-342900">
              <a:buFont typeface="+mj-lt"/>
              <a:buAutoNum type="arabicPeriod"/>
            </a:pPr>
            <a:r>
              <a:rPr lang="es-ES" dirty="0"/>
              <a:t>Un microprocesador tiene una tabla de memoria virtual de 7 niveles ¿Cuántos niveles tiene la TLB?</a:t>
            </a:r>
          </a:p>
          <a:p>
            <a:pPr lvl="2"/>
            <a:r>
              <a:rPr lang="es-ES" b="1" dirty="0"/>
              <a:t>1</a:t>
            </a:r>
          </a:p>
          <a:p>
            <a:pPr marL="342900" indent="-342900">
              <a:buFont typeface="+mj-lt"/>
              <a:buAutoNum type="arabicPeriod"/>
            </a:pPr>
            <a:r>
              <a:rPr lang="es-ES" dirty="0"/>
              <a:t>¿Cómo se llama la técnica para ahorrar espacio de memoria al hacer un </a:t>
            </a:r>
            <a:r>
              <a:rPr lang="es-ES" dirty="0" err="1"/>
              <a:t>fork</a:t>
            </a:r>
            <a:r>
              <a:rPr lang="es-ES" dirty="0"/>
              <a:t>()?</a:t>
            </a:r>
          </a:p>
          <a:p>
            <a:pPr lvl="2"/>
            <a:r>
              <a:rPr lang="es-ES" b="1" dirty="0"/>
              <a:t>COW</a:t>
            </a:r>
          </a:p>
          <a:p>
            <a:pPr marL="342900" indent="-342900">
              <a:buFont typeface="+mj-lt"/>
              <a:buAutoNum type="arabicPeriod"/>
            </a:pPr>
            <a:r>
              <a:rPr lang="es-ES" dirty="0"/>
              <a:t>Bloque</a:t>
            </a:r>
          </a:p>
          <a:p>
            <a:pPr lvl="2"/>
            <a:r>
              <a:rPr lang="es-ES" b="1" dirty="0"/>
              <a:t>Datos de la RAM que se instancian en una línea de la caché</a:t>
            </a:r>
          </a:p>
          <a:p>
            <a:pPr marL="342900" indent="-342900">
              <a:buFont typeface="+mj-lt"/>
              <a:buAutoNum type="arabicPeriod"/>
            </a:pPr>
            <a:endParaRPr lang="es-ES" dirty="0"/>
          </a:p>
          <a:p>
            <a:pPr marL="342900" indent="-342900">
              <a:buFont typeface="+mj-lt"/>
              <a:buAutoNum type="arabicPeriod"/>
            </a:pPr>
            <a:endParaRPr lang="es-ES" dirty="0"/>
          </a:p>
        </p:txBody>
      </p:sp>
      <p:sp>
        <p:nvSpPr>
          <p:cNvPr id="3" name="2 Rectángulo">
            <a:extLst>
              <a:ext uri="{FF2B5EF4-FFF2-40B4-BE49-F238E27FC236}">
                <a16:creationId xmlns:a16="http://schemas.microsoft.com/office/drawing/2014/main" id="{E17BB5BE-1B84-1D66-1E84-791194A012F3}"/>
              </a:ext>
            </a:extLst>
          </p:cNvPr>
          <p:cNvSpPr/>
          <p:nvPr/>
        </p:nvSpPr>
        <p:spPr>
          <a:xfrm>
            <a:off x="0" y="0"/>
            <a:ext cx="1167897" cy="570368"/>
          </a:xfrm>
          <a:prstGeom prst="rect">
            <a:avLst/>
          </a:prstGeom>
          <a:solidFill>
            <a:srgbClr val="0D4C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b="1" dirty="0"/>
              <a:t>TEMA 4</a:t>
            </a:r>
          </a:p>
        </p:txBody>
      </p:sp>
    </p:spTree>
    <p:extLst>
      <p:ext uri="{BB962C8B-B14F-4D97-AF65-F5344CB8AC3E}">
        <p14:creationId xmlns:p14="http://schemas.microsoft.com/office/powerpoint/2010/main" val="36445660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CuadroTexto"/>
          <p:cNvSpPr txBox="1"/>
          <p:nvPr/>
        </p:nvSpPr>
        <p:spPr>
          <a:xfrm>
            <a:off x="1167897" y="0"/>
            <a:ext cx="8072357" cy="4455066"/>
          </a:xfrm>
          <a:prstGeom prst="rect">
            <a:avLst/>
          </a:prstGeom>
          <a:noFill/>
        </p:spPr>
        <p:txBody>
          <a:bodyPr wrap="square" rtlCol="0">
            <a:spAutoFit/>
          </a:bodyPr>
          <a:lstStyle/>
          <a:p>
            <a:pPr marL="342900" indent="-342900">
              <a:buFont typeface="+mj-lt"/>
              <a:buAutoNum type="arabicPeriod" startAt="12"/>
            </a:pPr>
            <a:r>
              <a:rPr lang="es-ES" dirty="0"/>
              <a:t>¿Qué política de reemplazo no se usa en una caché con correspondencia directa?</a:t>
            </a:r>
          </a:p>
          <a:p>
            <a:pPr lvl="2"/>
            <a:r>
              <a:rPr lang="es-ES" b="1" dirty="0"/>
              <a:t>Ninguna de las otras opciones</a:t>
            </a:r>
          </a:p>
          <a:p>
            <a:pPr marL="342900" indent="-342900">
              <a:buFont typeface="+mj-lt"/>
              <a:buAutoNum type="arabicPeriod" startAt="12"/>
            </a:pPr>
            <a:r>
              <a:rPr lang="es-ES" dirty="0"/>
              <a:t>En una tabla de memoria de 5 niveles, ¿dónde se encuentra el número de marco?</a:t>
            </a:r>
          </a:p>
          <a:p>
            <a:pPr lvl="2"/>
            <a:r>
              <a:rPr lang="es-ES" b="1" dirty="0"/>
              <a:t>En la hoja final de cada rama</a:t>
            </a:r>
          </a:p>
          <a:p>
            <a:pPr marL="342900" indent="-342900">
              <a:buFont typeface="+mj-lt"/>
              <a:buAutoNum type="arabicPeriod" startAt="12"/>
            </a:pPr>
            <a:r>
              <a:rPr lang="es-ES" dirty="0"/>
              <a:t>¿Qué tipo de estructura para contabilizar los espacios libres y ocupados cuando se funciona con memoria real?</a:t>
            </a:r>
          </a:p>
          <a:p>
            <a:pPr lvl="2"/>
            <a:r>
              <a:rPr lang="es-ES" b="1" dirty="0"/>
              <a:t>Lista doblemente encadenada</a:t>
            </a:r>
          </a:p>
          <a:p>
            <a:pPr marL="342900" indent="-342900">
              <a:buFont typeface="+mj-lt"/>
              <a:buAutoNum type="arabicPeriod" startAt="12"/>
            </a:pPr>
            <a:r>
              <a:rPr lang="es-ES" dirty="0"/>
              <a:t>¿Cuándo funciona la TLB en modo real?</a:t>
            </a:r>
          </a:p>
          <a:p>
            <a:pPr lvl="2"/>
            <a:r>
              <a:rPr lang="es-ES" b="1" dirty="0"/>
              <a:t>Durante el arranque del sistema</a:t>
            </a:r>
          </a:p>
          <a:p>
            <a:pPr marL="342900" indent="-342900">
              <a:buFont typeface="+mj-lt"/>
              <a:buAutoNum type="arabicPeriod" startAt="12"/>
            </a:pPr>
            <a:r>
              <a:rPr lang="es-ES" dirty="0"/>
              <a:t>Elemento hardware que traduce la memoria virtual a memoria física</a:t>
            </a:r>
          </a:p>
          <a:p>
            <a:pPr lvl="2"/>
            <a:r>
              <a:rPr lang="es-ES" b="1" dirty="0"/>
              <a:t>TLB</a:t>
            </a:r>
          </a:p>
          <a:p>
            <a:pPr marL="342900" indent="-342900">
              <a:buFont typeface="+mj-lt"/>
              <a:buAutoNum type="arabicPeriod" startAt="12"/>
            </a:pPr>
            <a:r>
              <a:rPr lang="es-ES" dirty="0"/>
              <a:t>Registro de la CPU que apunta al inicio de la tabla de páginas del proceso en ejecución</a:t>
            </a:r>
          </a:p>
          <a:p>
            <a:pPr lvl="2"/>
            <a:r>
              <a:rPr lang="es-ES" b="1" dirty="0"/>
              <a:t>PTBR</a:t>
            </a:r>
          </a:p>
          <a:p>
            <a:pPr marL="342900" indent="-342900">
              <a:buFont typeface="+mj-lt"/>
              <a:buAutoNum type="arabicPeriod" startAt="12"/>
            </a:pPr>
            <a:r>
              <a:rPr lang="es-ES" dirty="0"/>
              <a:t>¿Cuántas instancias de una misma librería con </a:t>
            </a:r>
            <a:r>
              <a:rPr lang="es-ES" dirty="0" err="1"/>
              <a:t>linkado</a:t>
            </a:r>
            <a:r>
              <a:rPr lang="es-ES" dirty="0"/>
              <a:t> estático se cargan durante la ejecución de M procesos iguales?</a:t>
            </a:r>
          </a:p>
          <a:p>
            <a:pPr lvl="2"/>
            <a:r>
              <a:rPr lang="es-ES" b="1" dirty="0"/>
              <a:t>M</a:t>
            </a:r>
          </a:p>
          <a:p>
            <a:pPr marL="342900" indent="-342900">
              <a:buFont typeface="+mj-lt"/>
              <a:buAutoNum type="arabicPeriod" startAt="12"/>
            </a:pPr>
            <a:r>
              <a:rPr lang="es-ES" dirty="0"/>
              <a:t>¿Cuándo se recarga por completo la TLB?</a:t>
            </a:r>
          </a:p>
          <a:p>
            <a:pPr lvl="2"/>
            <a:r>
              <a:rPr lang="es-ES" b="1" dirty="0"/>
              <a:t>Cuando hay un cambio de contexto</a:t>
            </a:r>
          </a:p>
          <a:p>
            <a:pPr marL="342900" indent="-342900">
              <a:buFont typeface="+mj-lt"/>
              <a:buAutoNum type="arabicPeriod" startAt="12"/>
            </a:pPr>
            <a:r>
              <a:rPr lang="es-ES" dirty="0"/>
              <a:t>Inconveniente del algoritmo </a:t>
            </a:r>
            <a:r>
              <a:rPr lang="es-ES" dirty="0" err="1"/>
              <a:t>Worst</a:t>
            </a:r>
            <a:r>
              <a:rPr lang="es-ES" dirty="0"/>
              <a:t> </a:t>
            </a:r>
            <a:r>
              <a:rPr lang="es-ES" dirty="0" err="1"/>
              <a:t>Fit</a:t>
            </a:r>
            <a:endParaRPr lang="es-ES" dirty="0"/>
          </a:p>
          <a:p>
            <a:pPr lvl="2"/>
            <a:r>
              <a:rPr lang="es-ES" b="1" dirty="0"/>
              <a:t>Obliga a recorrer toda la lista de espacios de memoria</a:t>
            </a:r>
          </a:p>
          <a:p>
            <a:endParaRPr lang="es-ES" dirty="0"/>
          </a:p>
        </p:txBody>
      </p:sp>
      <p:sp>
        <p:nvSpPr>
          <p:cNvPr id="3" name="2 Rectángulo">
            <a:extLst>
              <a:ext uri="{FF2B5EF4-FFF2-40B4-BE49-F238E27FC236}">
                <a16:creationId xmlns:a16="http://schemas.microsoft.com/office/drawing/2014/main" id="{E17BB5BE-1B84-1D66-1E84-791194A012F3}"/>
              </a:ext>
            </a:extLst>
          </p:cNvPr>
          <p:cNvSpPr/>
          <p:nvPr/>
        </p:nvSpPr>
        <p:spPr>
          <a:xfrm>
            <a:off x="0" y="0"/>
            <a:ext cx="1167897" cy="570368"/>
          </a:xfrm>
          <a:prstGeom prst="rect">
            <a:avLst/>
          </a:prstGeom>
          <a:solidFill>
            <a:srgbClr val="0D4C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b="1" dirty="0"/>
              <a:t>TEMA 4</a:t>
            </a:r>
          </a:p>
        </p:txBody>
      </p:sp>
    </p:spTree>
    <p:extLst>
      <p:ext uri="{BB962C8B-B14F-4D97-AF65-F5344CB8AC3E}">
        <p14:creationId xmlns:p14="http://schemas.microsoft.com/office/powerpoint/2010/main" val="38166305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CuadroTexto"/>
          <p:cNvSpPr txBox="1"/>
          <p:nvPr/>
        </p:nvSpPr>
        <p:spPr>
          <a:xfrm>
            <a:off x="1167897" y="0"/>
            <a:ext cx="7674708" cy="5701561"/>
          </a:xfrm>
          <a:prstGeom prst="rect">
            <a:avLst/>
          </a:prstGeom>
          <a:noFill/>
        </p:spPr>
        <p:txBody>
          <a:bodyPr wrap="square" rtlCol="0">
            <a:spAutoFit/>
          </a:bodyPr>
          <a:lstStyle/>
          <a:p>
            <a:pPr marL="342900" indent="-342900">
              <a:buFont typeface="+mj-lt"/>
              <a:buAutoNum type="arabicPeriod"/>
            </a:pPr>
            <a:r>
              <a:rPr lang="es-ES" dirty="0"/>
              <a:t>Operación para crear un sistema de ficheros en una partición.</a:t>
            </a:r>
          </a:p>
          <a:p>
            <a:pPr lvl="2"/>
            <a:r>
              <a:rPr lang="es-ES" b="1" dirty="0"/>
              <a:t>Formateo</a:t>
            </a:r>
          </a:p>
          <a:p>
            <a:pPr marL="342900" indent="-342900">
              <a:buFont typeface="+mj-lt"/>
              <a:buAutoNum type="arabicPeriod"/>
            </a:pPr>
            <a:r>
              <a:rPr lang="es-ES" dirty="0"/>
              <a:t>¿Dónde se instala el cargador del Sistema Operativo?</a:t>
            </a:r>
          </a:p>
          <a:p>
            <a:pPr lvl="2"/>
            <a:r>
              <a:rPr lang="es-ES" b="1" dirty="0"/>
              <a:t>En el bloque 0 de la partición de arranque</a:t>
            </a:r>
          </a:p>
          <a:p>
            <a:pPr marL="342900" indent="-342900">
              <a:buFont typeface="+mj-lt"/>
              <a:buAutoNum type="arabicPeriod"/>
            </a:pPr>
            <a:r>
              <a:rPr lang="es-ES" dirty="0"/>
              <a:t>La función </a:t>
            </a:r>
            <a:r>
              <a:rPr lang="es-ES" dirty="0" err="1"/>
              <a:t>rewind</a:t>
            </a:r>
            <a:r>
              <a:rPr lang="es-ES" dirty="0"/>
              <a:t>() ...</a:t>
            </a:r>
          </a:p>
          <a:p>
            <a:pPr lvl="2"/>
            <a:r>
              <a:rPr lang="es-ES" b="1" dirty="0"/>
              <a:t>Posiciona el puntero de un fichero en el registro 0</a:t>
            </a:r>
          </a:p>
          <a:p>
            <a:pPr marL="342900" indent="-342900">
              <a:buFont typeface="+mj-lt"/>
              <a:buAutoNum type="arabicPeriod"/>
            </a:pPr>
            <a:r>
              <a:rPr lang="es-ES" dirty="0"/>
              <a:t>identificador de fichero de </a:t>
            </a:r>
            <a:r>
              <a:rPr lang="es-ES" dirty="0" err="1"/>
              <a:t>stderr</a:t>
            </a:r>
            <a:endParaRPr lang="es-ES" dirty="0"/>
          </a:p>
          <a:p>
            <a:pPr lvl="2"/>
            <a:r>
              <a:rPr lang="es-ES" b="1" dirty="0"/>
              <a:t>2</a:t>
            </a:r>
          </a:p>
          <a:p>
            <a:pPr marL="342900" indent="-342900">
              <a:buFont typeface="+mj-lt"/>
              <a:buAutoNum type="arabicPeriod"/>
            </a:pPr>
            <a:r>
              <a:rPr lang="es-ES" dirty="0"/>
              <a:t>El puntero indirecto simple	</a:t>
            </a:r>
          </a:p>
          <a:p>
            <a:pPr lvl="2"/>
            <a:r>
              <a:rPr lang="es-ES" b="1" dirty="0"/>
              <a:t>Contiene un número de agrupación</a:t>
            </a:r>
          </a:p>
          <a:p>
            <a:pPr marL="342900" indent="-342900">
              <a:buFont typeface="+mj-lt"/>
              <a:buAutoNum type="arabicPeriod"/>
            </a:pPr>
            <a:r>
              <a:rPr lang="es-ES" dirty="0"/>
              <a:t>¿Cuántos i-nodos ocupa un fichero de 4MB si el tamaño del bloque son 4kB?</a:t>
            </a:r>
          </a:p>
          <a:p>
            <a:pPr lvl="2"/>
            <a:r>
              <a:rPr lang="es-ES" b="1" dirty="0"/>
              <a:t>1</a:t>
            </a:r>
          </a:p>
          <a:p>
            <a:pPr marL="342900" indent="-342900">
              <a:buFont typeface="+mj-lt"/>
              <a:buAutoNum type="arabicPeriod"/>
            </a:pPr>
            <a:r>
              <a:rPr lang="es-ES" dirty="0"/>
              <a:t>Tamaño de los i-nodos</a:t>
            </a:r>
          </a:p>
          <a:p>
            <a:pPr lvl="2"/>
            <a:r>
              <a:rPr lang="es-ES" b="1" dirty="0"/>
              <a:t>Ninguna de las otras respuestas</a:t>
            </a:r>
          </a:p>
          <a:p>
            <a:pPr marL="342900" indent="-342900">
              <a:buFont typeface="+mj-lt"/>
              <a:buAutoNum type="arabicPeriod"/>
            </a:pPr>
            <a:r>
              <a:rPr lang="es-ES" dirty="0"/>
              <a:t>En un directorio la entrada especial llamada .. Apunta</a:t>
            </a:r>
          </a:p>
          <a:p>
            <a:pPr lvl="2"/>
            <a:r>
              <a:rPr lang="es-ES" b="1" dirty="0"/>
              <a:t>Al directorio padre</a:t>
            </a:r>
          </a:p>
          <a:p>
            <a:pPr marL="342900" indent="-342900">
              <a:buFont typeface="+mj-lt"/>
              <a:buAutoNum type="arabicPeriod"/>
            </a:pPr>
            <a:r>
              <a:rPr lang="es-ES" dirty="0"/>
              <a:t>Una agrupación es..</a:t>
            </a:r>
          </a:p>
          <a:p>
            <a:pPr lvl="2"/>
            <a:r>
              <a:rPr lang="es-ES" b="1" dirty="0"/>
              <a:t>Un conjunto de sectores</a:t>
            </a:r>
          </a:p>
          <a:p>
            <a:pPr marL="342900" indent="-342900">
              <a:buFont typeface="+mj-lt"/>
              <a:buAutoNum type="arabicPeriod"/>
            </a:pPr>
            <a:r>
              <a:rPr lang="es-ES" dirty="0"/>
              <a:t>La tabla de particiones...</a:t>
            </a:r>
          </a:p>
          <a:p>
            <a:pPr lvl="2"/>
            <a:r>
              <a:rPr lang="es-ES" b="1" dirty="0"/>
              <a:t>Se encuentra en el MBR</a:t>
            </a:r>
            <a:endParaRPr lang="es-ES" dirty="0"/>
          </a:p>
          <a:p>
            <a:pPr marL="342900" indent="-342900">
              <a:buFont typeface="+mj-lt"/>
              <a:buAutoNum type="arabicPeriod"/>
            </a:pPr>
            <a:r>
              <a:rPr lang="es-ES" dirty="0"/>
              <a:t>¿Qué es un punto de montaje?</a:t>
            </a:r>
          </a:p>
          <a:p>
            <a:pPr lvl="2"/>
            <a:r>
              <a:rPr lang="es-ES" b="1" dirty="0"/>
              <a:t>El directorio del anfitrión bajo el que aparece el sistema de ficheros montado</a:t>
            </a:r>
            <a:endParaRPr lang="es-ES" dirty="0"/>
          </a:p>
          <a:p>
            <a:pPr marL="342900" indent="-342900">
              <a:buFont typeface="+mj-lt"/>
              <a:buAutoNum type="arabicPeriod"/>
            </a:pPr>
            <a:r>
              <a:rPr lang="es-ES" dirty="0"/>
              <a:t>¿Cuándo se revierten las transacciones erróneas en un sistema con </a:t>
            </a:r>
            <a:r>
              <a:rPr lang="es-ES" dirty="0" err="1"/>
              <a:t>journaling</a:t>
            </a:r>
            <a:r>
              <a:rPr lang="es-ES" dirty="0"/>
              <a:t>?</a:t>
            </a:r>
          </a:p>
          <a:p>
            <a:pPr lvl="2"/>
            <a:r>
              <a:rPr lang="es-ES" b="1" dirty="0"/>
              <a:t>Durante el siguiente arranque</a:t>
            </a:r>
          </a:p>
          <a:p>
            <a:pPr marL="342900" indent="-342900">
              <a:buFont typeface="+mj-lt"/>
              <a:buAutoNum type="arabicPeriod"/>
            </a:pPr>
            <a:endParaRPr lang="es-ES" dirty="0"/>
          </a:p>
          <a:p>
            <a:pPr marL="342900" indent="-342900">
              <a:buFont typeface="+mj-lt"/>
              <a:buAutoNum type="arabicPeriod"/>
            </a:pPr>
            <a:endParaRPr lang="es-ES" dirty="0"/>
          </a:p>
          <a:p>
            <a:pPr marL="342900" indent="-342900">
              <a:buFont typeface="+mj-lt"/>
              <a:buAutoNum type="arabicPeriod"/>
            </a:pPr>
            <a:endParaRPr lang="es-ES" dirty="0"/>
          </a:p>
        </p:txBody>
      </p:sp>
      <p:sp>
        <p:nvSpPr>
          <p:cNvPr id="3" name="2 Rectángulo">
            <a:extLst>
              <a:ext uri="{FF2B5EF4-FFF2-40B4-BE49-F238E27FC236}">
                <a16:creationId xmlns:a16="http://schemas.microsoft.com/office/drawing/2014/main" id="{E17BB5BE-1B84-1D66-1E84-791194A012F3}"/>
              </a:ext>
            </a:extLst>
          </p:cNvPr>
          <p:cNvSpPr/>
          <p:nvPr/>
        </p:nvSpPr>
        <p:spPr>
          <a:xfrm>
            <a:off x="0" y="0"/>
            <a:ext cx="1167897" cy="570368"/>
          </a:xfrm>
          <a:prstGeom prst="rect">
            <a:avLst/>
          </a:prstGeom>
          <a:solidFill>
            <a:srgbClr val="0D4C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b="1" dirty="0"/>
              <a:t>TEMA 5</a:t>
            </a:r>
          </a:p>
        </p:txBody>
      </p:sp>
    </p:spTree>
    <p:extLst>
      <p:ext uri="{BB962C8B-B14F-4D97-AF65-F5344CB8AC3E}">
        <p14:creationId xmlns:p14="http://schemas.microsoft.com/office/powerpoint/2010/main" val="9884325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CuadroTexto"/>
          <p:cNvSpPr txBox="1"/>
          <p:nvPr/>
        </p:nvSpPr>
        <p:spPr>
          <a:xfrm>
            <a:off x="1297354" y="218831"/>
            <a:ext cx="7674708" cy="3416320"/>
          </a:xfrm>
          <a:prstGeom prst="rect">
            <a:avLst/>
          </a:prstGeom>
          <a:noFill/>
        </p:spPr>
        <p:txBody>
          <a:bodyPr wrap="square" rtlCol="0">
            <a:spAutoFit/>
          </a:bodyPr>
          <a:lstStyle/>
          <a:p>
            <a:pPr marL="342900" indent="-342900">
              <a:buFont typeface="+mj-lt"/>
              <a:buAutoNum type="arabicPeriod" startAt="13"/>
            </a:pPr>
            <a:r>
              <a:rPr lang="es-ES" dirty="0"/>
              <a:t>La tabla intermedia de descriptores de ficheros</a:t>
            </a:r>
          </a:p>
          <a:p>
            <a:pPr lvl="2"/>
            <a:r>
              <a:rPr lang="es-ES" b="1" dirty="0"/>
              <a:t>Todas las demás respuestas son válidas</a:t>
            </a:r>
          </a:p>
          <a:p>
            <a:pPr marL="342900" indent="-342900">
              <a:buFont typeface="+mj-lt"/>
              <a:buAutoNum type="arabicPeriod" startAt="13"/>
            </a:pPr>
            <a:r>
              <a:rPr lang="es-ES" dirty="0"/>
              <a:t>Si se borra un enlace simbólico en Linux</a:t>
            </a:r>
          </a:p>
          <a:p>
            <a:pPr lvl="2"/>
            <a:r>
              <a:rPr lang="es-ES" b="1" dirty="0"/>
              <a:t>El fichero apuntado no se altera</a:t>
            </a:r>
          </a:p>
          <a:p>
            <a:pPr marL="342900" indent="-342900">
              <a:buFont typeface="+mj-lt"/>
              <a:buAutoNum type="arabicPeriod" startAt="13"/>
            </a:pPr>
            <a:r>
              <a:rPr lang="es-ES" dirty="0"/>
              <a:t>¿Dónde se encuentra la información de agrupaciones ocupada por un fichero?</a:t>
            </a:r>
          </a:p>
          <a:p>
            <a:pPr lvl="2"/>
            <a:r>
              <a:rPr lang="es-ES" b="1" dirty="0"/>
              <a:t>En el i-nodo</a:t>
            </a:r>
          </a:p>
          <a:p>
            <a:pPr marL="342900" indent="-342900">
              <a:buFont typeface="+mj-lt"/>
              <a:buAutoNum type="arabicPeriod" startAt="13"/>
            </a:pPr>
            <a:r>
              <a:rPr lang="es-ES" dirty="0"/>
              <a:t>En un directorio la entrada especial llamada . Apunta</a:t>
            </a:r>
          </a:p>
          <a:p>
            <a:pPr lvl="2"/>
            <a:r>
              <a:rPr lang="es-ES" b="1" dirty="0"/>
              <a:t>Al propio directorio</a:t>
            </a:r>
          </a:p>
          <a:p>
            <a:pPr marL="342900" indent="-342900">
              <a:buFont typeface="+mj-lt"/>
              <a:buAutoNum type="arabicPeriod" startAt="13"/>
            </a:pPr>
            <a:r>
              <a:rPr lang="es-ES" dirty="0"/>
              <a:t>¿Qué estructura de datos usa FAT para contabilizar los bloques ocupados por un fichero?</a:t>
            </a:r>
          </a:p>
          <a:p>
            <a:pPr lvl="2"/>
            <a:r>
              <a:rPr lang="es-ES" b="1" dirty="0"/>
              <a:t>Una lista</a:t>
            </a:r>
          </a:p>
          <a:p>
            <a:pPr marL="342900" indent="-342900">
              <a:buFont typeface="+mj-lt"/>
              <a:buAutoNum type="arabicPeriod" startAt="13"/>
            </a:pPr>
            <a:r>
              <a:rPr lang="es-ES" dirty="0"/>
              <a:t>Tamaño de bloque en xv6</a:t>
            </a:r>
          </a:p>
          <a:p>
            <a:pPr lvl="2"/>
            <a:r>
              <a:rPr lang="es-ES" b="1" dirty="0"/>
              <a:t>512 bytes</a:t>
            </a:r>
          </a:p>
          <a:p>
            <a:pPr marL="342900" indent="-342900">
              <a:buFont typeface="+mj-lt"/>
              <a:buAutoNum type="arabicPeriod" startAt="13"/>
            </a:pPr>
            <a:r>
              <a:rPr lang="es-ES" dirty="0"/>
              <a:t>¿Qué equivalencia tiene una partición Unix en Windows?</a:t>
            </a:r>
          </a:p>
          <a:p>
            <a:pPr lvl="2"/>
            <a:r>
              <a:rPr lang="es-ES" b="1" dirty="0"/>
              <a:t>Unidad lógica</a:t>
            </a:r>
          </a:p>
          <a:p>
            <a:pPr marL="342900" indent="-342900">
              <a:buFont typeface="+mj-lt"/>
              <a:buAutoNum type="arabicPeriod" startAt="13"/>
            </a:pPr>
            <a:r>
              <a:rPr lang="es-ES" dirty="0"/>
              <a:t>Conjunto de sectores contiguos en un disco magnético</a:t>
            </a:r>
          </a:p>
          <a:p>
            <a:pPr lvl="2"/>
            <a:r>
              <a:rPr lang="es-ES" b="1" dirty="0"/>
              <a:t>Pista</a:t>
            </a:r>
          </a:p>
        </p:txBody>
      </p:sp>
      <p:sp>
        <p:nvSpPr>
          <p:cNvPr id="3" name="2 Rectángulo">
            <a:extLst>
              <a:ext uri="{FF2B5EF4-FFF2-40B4-BE49-F238E27FC236}">
                <a16:creationId xmlns:a16="http://schemas.microsoft.com/office/drawing/2014/main" id="{E17BB5BE-1B84-1D66-1E84-791194A012F3}"/>
              </a:ext>
            </a:extLst>
          </p:cNvPr>
          <p:cNvSpPr/>
          <p:nvPr/>
        </p:nvSpPr>
        <p:spPr>
          <a:xfrm>
            <a:off x="0" y="0"/>
            <a:ext cx="1167897" cy="570368"/>
          </a:xfrm>
          <a:prstGeom prst="rect">
            <a:avLst/>
          </a:prstGeom>
          <a:solidFill>
            <a:srgbClr val="0D4C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b="1" dirty="0"/>
              <a:t>TEMA 5</a:t>
            </a:r>
          </a:p>
        </p:txBody>
      </p:sp>
    </p:spTree>
    <p:extLst>
      <p:ext uri="{BB962C8B-B14F-4D97-AF65-F5344CB8AC3E}">
        <p14:creationId xmlns:p14="http://schemas.microsoft.com/office/powerpoint/2010/main" val="27308676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CuadroTexto"/>
          <p:cNvSpPr txBox="1"/>
          <p:nvPr/>
        </p:nvSpPr>
        <p:spPr>
          <a:xfrm>
            <a:off x="1167897" y="136468"/>
            <a:ext cx="7674708" cy="4870564"/>
          </a:xfrm>
          <a:prstGeom prst="rect">
            <a:avLst/>
          </a:prstGeom>
          <a:noFill/>
        </p:spPr>
        <p:txBody>
          <a:bodyPr wrap="square" rtlCol="0">
            <a:spAutoFit/>
          </a:bodyPr>
          <a:lstStyle/>
          <a:p>
            <a:pPr marL="342900" indent="-342900">
              <a:buFont typeface="+mj-lt"/>
              <a:buAutoNum type="arabicPeriod"/>
            </a:pPr>
            <a:r>
              <a:rPr lang="es-ES" dirty="0"/>
              <a:t>¿Qué dirección tiene un dispositivo USB durante el </a:t>
            </a:r>
            <a:r>
              <a:rPr lang="es-ES" dirty="0" err="1"/>
              <a:t>handshake</a:t>
            </a:r>
            <a:r>
              <a:rPr lang="es-ES" dirty="0"/>
              <a:t>?</a:t>
            </a:r>
          </a:p>
          <a:p>
            <a:pPr lvl="2"/>
            <a:r>
              <a:rPr lang="es-ES" b="1" dirty="0"/>
              <a:t>0</a:t>
            </a:r>
          </a:p>
          <a:p>
            <a:pPr marL="342900" indent="-342900">
              <a:buFont typeface="+mj-lt"/>
              <a:buAutoNum type="arabicPeriod"/>
            </a:pPr>
            <a:r>
              <a:rPr lang="es-ES" dirty="0"/>
              <a:t>Circuito que conecta la CPU con un bus</a:t>
            </a:r>
          </a:p>
          <a:p>
            <a:pPr lvl="2"/>
            <a:r>
              <a:rPr lang="es-ES" b="1" dirty="0"/>
              <a:t>Bridge</a:t>
            </a:r>
          </a:p>
          <a:p>
            <a:pPr marL="342900" indent="-342900">
              <a:buFont typeface="+mj-lt"/>
              <a:buAutoNum type="arabicPeriod"/>
            </a:pPr>
            <a:r>
              <a:rPr lang="es-ES" dirty="0"/>
              <a:t>¿Cómo se llama el nodo raíz de un bus USB?</a:t>
            </a:r>
          </a:p>
          <a:p>
            <a:pPr lvl="2"/>
            <a:r>
              <a:rPr lang="es-ES" b="1" dirty="0"/>
              <a:t>Host</a:t>
            </a:r>
          </a:p>
          <a:p>
            <a:pPr marL="342900" indent="-342900">
              <a:buFont typeface="+mj-lt"/>
              <a:buAutoNum type="arabicPeriod"/>
            </a:pPr>
            <a:r>
              <a:rPr lang="es-ES" dirty="0"/>
              <a:t>¿Cuántos hilos tiene un cable USB 3?</a:t>
            </a:r>
          </a:p>
          <a:p>
            <a:pPr lvl="2"/>
            <a:r>
              <a:rPr lang="es-ES" b="1" dirty="0"/>
              <a:t>8</a:t>
            </a:r>
          </a:p>
          <a:p>
            <a:pPr marL="342900" indent="-342900">
              <a:buFont typeface="+mj-lt"/>
              <a:buAutoNum type="arabicPeriod"/>
            </a:pPr>
            <a:r>
              <a:rPr lang="es-ES" dirty="0"/>
              <a:t>Si estás desarrollando un driver, ¿qué función no puedes invocar?	</a:t>
            </a:r>
          </a:p>
          <a:p>
            <a:pPr lvl="2"/>
            <a:r>
              <a:rPr lang="es-ES" b="1" dirty="0"/>
              <a:t>Ninguna de las anteriores</a:t>
            </a:r>
          </a:p>
          <a:p>
            <a:pPr marL="342900" indent="-342900">
              <a:buFont typeface="+mj-lt"/>
              <a:buAutoNum type="arabicPeriod"/>
            </a:pPr>
            <a:r>
              <a:rPr lang="es-ES" dirty="0"/>
              <a:t>¿Cómo se llama la técnica DMA para compartir el bus con la CPU?</a:t>
            </a:r>
          </a:p>
          <a:p>
            <a:pPr lvl="2"/>
            <a:r>
              <a:rPr lang="es-ES" b="1" dirty="0"/>
              <a:t>Robo de ciclo</a:t>
            </a:r>
          </a:p>
          <a:p>
            <a:pPr marL="342900" indent="-342900">
              <a:buFont typeface="+mj-lt"/>
              <a:buAutoNum type="arabicPeriod"/>
            </a:pPr>
            <a:r>
              <a:rPr lang="es-ES" dirty="0"/>
              <a:t>¿Qué servicio debe ofrecer obligadamente un driver de Linux?</a:t>
            </a:r>
          </a:p>
          <a:p>
            <a:pPr lvl="2"/>
            <a:r>
              <a:rPr lang="es-ES" b="1" dirty="0"/>
              <a:t>Open</a:t>
            </a:r>
          </a:p>
          <a:p>
            <a:pPr marL="342900" indent="-342900">
              <a:buFont typeface="+mj-lt"/>
              <a:buAutoNum type="arabicPeriod"/>
            </a:pPr>
            <a:r>
              <a:rPr lang="es-ES" dirty="0"/>
              <a:t>¿Cómo se llama la técnica de los </a:t>
            </a:r>
            <a:r>
              <a:rPr lang="es-ES" dirty="0" err="1"/>
              <a:t>SSDs</a:t>
            </a:r>
            <a:r>
              <a:rPr lang="es-ES" dirty="0"/>
              <a:t> para prolongar la vida de los bancos de memoria?</a:t>
            </a:r>
          </a:p>
          <a:p>
            <a:pPr lvl="2"/>
            <a:r>
              <a:rPr lang="es-ES" b="1" dirty="0" err="1"/>
              <a:t>Wear</a:t>
            </a:r>
            <a:r>
              <a:rPr lang="es-ES" b="1" dirty="0"/>
              <a:t> </a:t>
            </a:r>
            <a:r>
              <a:rPr lang="es-ES" b="1" dirty="0" err="1"/>
              <a:t>leveling</a:t>
            </a:r>
            <a:endParaRPr lang="es-ES" b="1" dirty="0"/>
          </a:p>
          <a:p>
            <a:pPr marL="342900" indent="-342900">
              <a:buFont typeface="+mj-lt"/>
              <a:buAutoNum type="arabicPeriod"/>
            </a:pPr>
            <a:r>
              <a:rPr lang="es-ES" dirty="0"/>
              <a:t>Interfaz de un dispositivo físico con el mundo exterior</a:t>
            </a:r>
          </a:p>
          <a:p>
            <a:pPr lvl="2"/>
            <a:r>
              <a:rPr lang="es-ES" b="1" dirty="0"/>
              <a:t>Controlador</a:t>
            </a:r>
          </a:p>
          <a:p>
            <a:pPr marL="342900" indent="-342900">
              <a:buFont typeface="+mj-lt"/>
              <a:buAutoNum type="arabicPeriod"/>
            </a:pPr>
            <a:r>
              <a:rPr lang="es-ES" dirty="0"/>
              <a:t>Comando Linux para ver los drivers cargados</a:t>
            </a:r>
          </a:p>
          <a:p>
            <a:pPr lvl="2"/>
            <a:r>
              <a:rPr lang="es-ES" b="1" dirty="0" err="1"/>
              <a:t>Ismod</a:t>
            </a:r>
            <a:endParaRPr lang="es-ES" dirty="0"/>
          </a:p>
          <a:p>
            <a:endParaRPr lang="es-ES" dirty="0"/>
          </a:p>
          <a:p>
            <a:pPr marL="342900" indent="-342900">
              <a:buFont typeface="+mj-lt"/>
              <a:buAutoNum type="arabicPeriod"/>
            </a:pPr>
            <a:endParaRPr lang="es-ES" dirty="0"/>
          </a:p>
          <a:p>
            <a:pPr marL="342900" indent="-342900">
              <a:buFont typeface="+mj-lt"/>
              <a:buAutoNum type="arabicPeriod"/>
            </a:pPr>
            <a:endParaRPr lang="es-ES" dirty="0"/>
          </a:p>
        </p:txBody>
      </p:sp>
      <p:sp>
        <p:nvSpPr>
          <p:cNvPr id="3" name="2 Rectángulo">
            <a:extLst>
              <a:ext uri="{FF2B5EF4-FFF2-40B4-BE49-F238E27FC236}">
                <a16:creationId xmlns:a16="http://schemas.microsoft.com/office/drawing/2014/main" id="{E17BB5BE-1B84-1D66-1E84-791194A012F3}"/>
              </a:ext>
            </a:extLst>
          </p:cNvPr>
          <p:cNvSpPr/>
          <p:nvPr/>
        </p:nvSpPr>
        <p:spPr>
          <a:xfrm>
            <a:off x="0" y="0"/>
            <a:ext cx="1167897" cy="570368"/>
          </a:xfrm>
          <a:prstGeom prst="rect">
            <a:avLst/>
          </a:prstGeom>
          <a:solidFill>
            <a:srgbClr val="0D4C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b="1" dirty="0"/>
              <a:t>TEMA 6</a:t>
            </a:r>
          </a:p>
        </p:txBody>
      </p:sp>
    </p:spTree>
    <p:extLst>
      <p:ext uri="{BB962C8B-B14F-4D97-AF65-F5344CB8AC3E}">
        <p14:creationId xmlns:p14="http://schemas.microsoft.com/office/powerpoint/2010/main" val="5219795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CuadroTexto"/>
          <p:cNvSpPr txBox="1"/>
          <p:nvPr/>
        </p:nvSpPr>
        <p:spPr>
          <a:xfrm>
            <a:off x="1167897" y="0"/>
            <a:ext cx="7674708" cy="5909310"/>
          </a:xfrm>
          <a:prstGeom prst="rect">
            <a:avLst/>
          </a:prstGeom>
          <a:noFill/>
        </p:spPr>
        <p:txBody>
          <a:bodyPr wrap="square" rtlCol="0">
            <a:spAutoFit/>
          </a:bodyPr>
          <a:lstStyle/>
          <a:p>
            <a:pPr marL="342900" indent="-342900">
              <a:buFont typeface="+mj-lt"/>
              <a:buAutoNum type="arabicPeriod"/>
            </a:pPr>
            <a:r>
              <a:rPr lang="es-ES" dirty="0"/>
              <a:t>¿Cuál es la principal diferencia entre IOS y Android para un desarrollador?</a:t>
            </a:r>
          </a:p>
          <a:p>
            <a:pPr lvl="2"/>
            <a:r>
              <a:rPr lang="es-ES" b="1" dirty="0"/>
              <a:t>En uno se trabaja con una máquina virtual Java y en el otro con código nativo del micro</a:t>
            </a:r>
          </a:p>
          <a:p>
            <a:pPr marL="342900" indent="-342900">
              <a:buFont typeface="+mj-lt"/>
              <a:buAutoNum type="arabicPeriod"/>
            </a:pPr>
            <a:r>
              <a:rPr lang="es-ES" dirty="0"/>
              <a:t>¿Cómo se llamaba el SO de Nokia?</a:t>
            </a:r>
          </a:p>
          <a:p>
            <a:pPr lvl="2"/>
            <a:r>
              <a:rPr lang="es-ES" b="1" dirty="0"/>
              <a:t>Symbian</a:t>
            </a:r>
          </a:p>
          <a:p>
            <a:pPr marL="342900" indent="-342900">
              <a:buFont typeface="+mj-lt"/>
              <a:buAutoNum type="arabicPeriod"/>
            </a:pPr>
            <a:r>
              <a:rPr lang="es-ES" dirty="0"/>
              <a:t>¿Cómo se llama el proceso del que derivan todos en Android?</a:t>
            </a:r>
          </a:p>
          <a:p>
            <a:pPr lvl="2"/>
            <a:r>
              <a:rPr lang="es-ES" b="1" dirty="0" err="1"/>
              <a:t>zygote</a:t>
            </a:r>
            <a:endParaRPr lang="es-ES" b="1" dirty="0"/>
          </a:p>
          <a:p>
            <a:pPr marL="342900" indent="-342900">
              <a:buFont typeface="+mj-lt"/>
              <a:buAutoNum type="arabicPeriod"/>
            </a:pPr>
            <a:r>
              <a:rPr lang="es-ES" dirty="0"/>
              <a:t>¿Cómo funciona la pantalla de un teléfono móvil?</a:t>
            </a:r>
          </a:p>
          <a:p>
            <a:pPr lvl="2"/>
            <a:r>
              <a:rPr lang="es-ES" b="1" dirty="0"/>
              <a:t>Por cambios capacitivos</a:t>
            </a:r>
          </a:p>
          <a:p>
            <a:pPr marL="342900" indent="-342900">
              <a:buFont typeface="+mj-lt"/>
              <a:buAutoNum type="arabicPeriod"/>
            </a:pPr>
            <a:r>
              <a:rPr lang="es-ES" dirty="0"/>
              <a:t>Diferencias entre Android y Ubuntu	</a:t>
            </a:r>
          </a:p>
          <a:p>
            <a:pPr lvl="2"/>
            <a:r>
              <a:rPr lang="es-ES" b="1" dirty="0"/>
              <a:t>Todas las demás son correctas</a:t>
            </a:r>
          </a:p>
          <a:p>
            <a:pPr marL="342900" indent="-342900">
              <a:buFont typeface="+mj-lt"/>
              <a:buAutoNum type="arabicPeriod"/>
            </a:pPr>
            <a:r>
              <a:rPr lang="es-ES" dirty="0"/>
              <a:t>¿Cuál fue la decisión estratégica que hizo que iPhone cambiarse el mundo de la telefonía móvil?</a:t>
            </a:r>
          </a:p>
          <a:p>
            <a:pPr lvl="2"/>
            <a:r>
              <a:rPr lang="es-ES" b="1" dirty="0"/>
              <a:t>Hacer un teléfono con un Sistema Operativo UNIX</a:t>
            </a:r>
          </a:p>
          <a:p>
            <a:pPr marL="342900" indent="-342900">
              <a:buFont typeface="+mj-lt"/>
              <a:buAutoNum type="arabicPeriod"/>
            </a:pPr>
            <a:r>
              <a:rPr lang="es-ES" dirty="0"/>
              <a:t>¿Cómo se llamaba el SO para móviles de Mozilla, que fracasó hacia 2016?</a:t>
            </a:r>
          </a:p>
          <a:p>
            <a:pPr lvl="2"/>
            <a:r>
              <a:rPr lang="es-ES" b="1" dirty="0"/>
              <a:t>Firefox OS</a:t>
            </a:r>
          </a:p>
          <a:p>
            <a:pPr marL="342900" indent="-342900">
              <a:buFont typeface="+mj-lt"/>
              <a:buAutoNum type="arabicPeriod"/>
            </a:pPr>
            <a:r>
              <a:rPr lang="es-ES" dirty="0"/>
              <a:t>El origen Android fue un proyecto...</a:t>
            </a:r>
          </a:p>
          <a:p>
            <a:pPr lvl="2"/>
            <a:r>
              <a:rPr lang="es-ES" b="1" dirty="0"/>
              <a:t>...para cámaras fotográficas</a:t>
            </a:r>
          </a:p>
          <a:p>
            <a:pPr marL="342900" indent="-342900">
              <a:buFont typeface="+mj-lt"/>
              <a:buAutoNum type="arabicPeriod"/>
            </a:pPr>
            <a:r>
              <a:rPr lang="es-ES" dirty="0"/>
              <a:t>Nombre de la primera máquina Java en Android para ejecutar las aplicaciones de usuario</a:t>
            </a:r>
          </a:p>
          <a:p>
            <a:pPr lvl="2"/>
            <a:r>
              <a:rPr lang="es-ES" b="1" dirty="0" err="1"/>
              <a:t>Dalvik</a:t>
            </a:r>
            <a:endParaRPr lang="es-ES" b="1" dirty="0"/>
          </a:p>
          <a:p>
            <a:pPr marL="342900" indent="-342900">
              <a:buFont typeface="+mj-lt"/>
              <a:buAutoNum type="arabicPeriod"/>
            </a:pPr>
            <a:r>
              <a:rPr lang="es-ES" dirty="0"/>
              <a:t>¿Qué es COCOA?</a:t>
            </a:r>
          </a:p>
          <a:p>
            <a:pPr lvl="2"/>
            <a:r>
              <a:rPr lang="es-ES" b="1" dirty="0"/>
              <a:t>La capa superior de IOS, que incluye las funciones de interacción con el usuario</a:t>
            </a:r>
            <a:endParaRPr lang="es-ES" dirty="0"/>
          </a:p>
          <a:p>
            <a:pPr marL="342900" indent="-342900">
              <a:buFont typeface="+mj-lt"/>
              <a:buAutoNum type="arabicPeriod"/>
            </a:pPr>
            <a:r>
              <a:rPr lang="es-ES" dirty="0"/>
              <a:t>Además de ser el apellido del padre de la teoría de la evolución, Darwin es...</a:t>
            </a:r>
          </a:p>
          <a:p>
            <a:pPr lvl="2"/>
            <a:r>
              <a:rPr lang="es-ES" b="1" dirty="0"/>
              <a:t>El nombre de la parte Open </a:t>
            </a:r>
            <a:r>
              <a:rPr lang="es-ES" b="1" dirty="0" err="1"/>
              <a:t>Source</a:t>
            </a:r>
            <a:r>
              <a:rPr lang="es-ES" b="1" dirty="0"/>
              <a:t> sobre la que se construyen iOS y MacOS</a:t>
            </a:r>
            <a:endParaRPr lang="es-ES" dirty="0"/>
          </a:p>
          <a:p>
            <a:pPr marL="342900" indent="-342900">
              <a:buFont typeface="+mj-lt"/>
              <a:buAutoNum type="arabicPeriod"/>
            </a:pPr>
            <a:r>
              <a:rPr lang="es-ES" dirty="0"/>
              <a:t>¿Qué misión cumple Binder en Android?</a:t>
            </a:r>
          </a:p>
          <a:p>
            <a:pPr lvl="2"/>
            <a:r>
              <a:rPr lang="es-ES" b="1" dirty="0"/>
              <a:t>Sustituye a la librería </a:t>
            </a:r>
            <a:r>
              <a:rPr lang="es-ES" b="1" dirty="0" err="1"/>
              <a:t>libc</a:t>
            </a:r>
            <a:endParaRPr lang="es-ES" b="1" dirty="0"/>
          </a:p>
          <a:p>
            <a:pPr marL="342900" indent="-342900">
              <a:buFont typeface="+mj-lt"/>
              <a:buAutoNum type="arabicPeriod"/>
            </a:pPr>
            <a:endParaRPr lang="es-ES" dirty="0"/>
          </a:p>
          <a:p>
            <a:pPr marL="342900" indent="-342900">
              <a:buFont typeface="+mj-lt"/>
              <a:buAutoNum type="arabicPeriod"/>
            </a:pPr>
            <a:endParaRPr lang="es-ES" dirty="0"/>
          </a:p>
          <a:p>
            <a:pPr marL="342900" indent="-342900">
              <a:buFont typeface="+mj-lt"/>
              <a:buAutoNum type="arabicPeriod"/>
            </a:pPr>
            <a:endParaRPr lang="es-ES" dirty="0"/>
          </a:p>
        </p:txBody>
      </p:sp>
      <p:sp>
        <p:nvSpPr>
          <p:cNvPr id="3" name="2 Rectángulo">
            <a:extLst>
              <a:ext uri="{FF2B5EF4-FFF2-40B4-BE49-F238E27FC236}">
                <a16:creationId xmlns:a16="http://schemas.microsoft.com/office/drawing/2014/main" id="{E17BB5BE-1B84-1D66-1E84-791194A012F3}"/>
              </a:ext>
            </a:extLst>
          </p:cNvPr>
          <p:cNvSpPr/>
          <p:nvPr/>
        </p:nvSpPr>
        <p:spPr>
          <a:xfrm>
            <a:off x="0" y="0"/>
            <a:ext cx="1167897" cy="570368"/>
          </a:xfrm>
          <a:prstGeom prst="rect">
            <a:avLst/>
          </a:prstGeom>
          <a:solidFill>
            <a:srgbClr val="0D4C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b="1" dirty="0"/>
              <a:t>TEMA 8</a:t>
            </a:r>
          </a:p>
        </p:txBody>
      </p:sp>
    </p:spTree>
    <p:extLst>
      <p:ext uri="{BB962C8B-B14F-4D97-AF65-F5344CB8AC3E}">
        <p14:creationId xmlns:p14="http://schemas.microsoft.com/office/powerpoint/2010/main" val="3689948853"/>
      </p:ext>
    </p:extLst>
  </p:cSld>
  <p:clrMapOvr>
    <a:masterClrMapping/>
  </p:clrMapOvr>
</p:sld>
</file>

<file path=ppt/theme/theme1.xml><?xml version="1.0" encoding="utf-8"?>
<a:theme xmlns:a="http://schemas.openxmlformats.org/drawingml/2006/main" name="Tema de Office">
  <a:themeElements>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Tema de 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ción1" id="{3AC239DE-4495-45AB-A642-84873D6EC143}" vid="{ADDCAA0F-EA35-422D-841E-59E8EF71B2CE}"/>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o" ma:contentTypeID="0x010100AE6A9B1AE3C694449E1CBECB26767C28" ma:contentTypeVersion="0" ma:contentTypeDescription="Crear nuevo documento." ma:contentTypeScope="" ma:versionID="f939733f7a29ff16f56243c74c11c85c">
  <xsd:schema xmlns:xsd="http://www.w3.org/2001/XMLSchema" xmlns:xs="http://www.w3.org/2001/XMLSchema" xmlns:p="http://schemas.microsoft.com/office/2006/metadata/properties" targetNamespace="http://schemas.microsoft.com/office/2006/metadata/properties" ma:root="true" ma:fieldsID="ebba8a198e9bb40c3eeca6d0bd41257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9AB788B-E2DA-4E16-B351-E0EC0D46F47D}">
  <ds:schemaRefs>
    <ds:schemaRef ds:uri="http://schemas.microsoft.com/sharepoint/v3/contenttype/forms"/>
  </ds:schemaRefs>
</ds:datastoreItem>
</file>

<file path=customXml/itemProps2.xml><?xml version="1.0" encoding="utf-8"?>
<ds:datastoreItem xmlns:ds="http://schemas.openxmlformats.org/officeDocument/2006/customXml" ds:itemID="{C2331040-8433-4BD1-90D6-FEBE17A71FCC}">
  <ds:schemaRefs>
    <ds:schemaRef ds:uri="http://purl.org/dc/dcmitype/"/>
    <ds:schemaRef ds:uri="http://schemas.microsoft.com/office/infopath/2007/PartnerControls"/>
    <ds:schemaRef ds:uri="http://purl.org/dc/elements/1.1/"/>
    <ds:schemaRef ds:uri="http://schemas.microsoft.com/office/2006/metadata/properties"/>
    <ds:schemaRef ds:uri="http://schemas.microsoft.com/office/2006/documentManagement/types"/>
    <ds:schemaRef ds:uri="http://purl.org/dc/term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6FA80CCC-508F-47A8-A8E6-442477940EB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6933</TotalTime>
  <Words>2435</Words>
  <Application>Microsoft Office PowerPoint</Application>
  <PresentationFormat>Presentación en pantalla (16:9)</PresentationFormat>
  <Paragraphs>281</Paragraphs>
  <Slides>13</Slides>
  <Notes>1</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13</vt:i4>
      </vt:variant>
    </vt:vector>
  </HeadingPairs>
  <TitlesOfParts>
    <vt:vector size="18" baseType="lpstr">
      <vt:lpstr>Arial</vt:lpstr>
      <vt:lpstr>Calibri</vt:lpstr>
      <vt:lpstr>Calibri Light</vt:lpstr>
      <vt:lpstr>Times New Roman</vt:lpstr>
      <vt:lpstr>Tema de Office</vt:lpstr>
      <vt:lpstr>     Sistemas Operativos  9. Tests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Universidad Pontificia Comillas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Título de la presentación</dc:title>
  <dc:creator>Carmen Escudero Guirado</dc:creator>
  <cp:lastModifiedBy>Alejandro Castellanos Hipólito</cp:lastModifiedBy>
  <cp:revision>407</cp:revision>
  <dcterms:created xsi:type="dcterms:W3CDTF">2017-07-19T07:53:01Z</dcterms:created>
  <dcterms:modified xsi:type="dcterms:W3CDTF">2024-11-18T16:01:48Z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0x010100AE6A9B1AE3C694449E1CBECB26767C28</vt:lpwstr>
  </property>
</Properties>
</file>