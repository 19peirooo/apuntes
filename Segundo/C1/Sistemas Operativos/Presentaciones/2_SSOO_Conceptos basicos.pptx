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8"/>
  </p:notesMasterIdLst>
  <p:handoutMasterIdLst>
    <p:handoutMasterId r:id="rId49"/>
  </p:handoutMasterIdLst>
  <p:sldIdLst>
    <p:sldId id="256" r:id="rId5"/>
    <p:sldId id="260" r:id="rId6"/>
    <p:sldId id="335" r:id="rId7"/>
    <p:sldId id="267" r:id="rId8"/>
    <p:sldId id="268" r:id="rId9"/>
    <p:sldId id="269" r:id="rId10"/>
    <p:sldId id="270" r:id="rId11"/>
    <p:sldId id="271" r:id="rId12"/>
    <p:sldId id="272" r:id="rId13"/>
    <p:sldId id="273" r:id="rId14"/>
    <p:sldId id="283" r:id="rId15"/>
    <p:sldId id="284" r:id="rId16"/>
    <p:sldId id="289" r:id="rId17"/>
    <p:sldId id="274" r:id="rId18"/>
    <p:sldId id="285" r:id="rId19"/>
    <p:sldId id="275" r:id="rId20"/>
    <p:sldId id="276" r:id="rId21"/>
    <p:sldId id="277" r:id="rId22"/>
    <p:sldId id="286" r:id="rId23"/>
    <p:sldId id="278" r:id="rId24"/>
    <p:sldId id="288" r:id="rId25"/>
    <p:sldId id="279" r:id="rId26"/>
    <p:sldId id="281" r:id="rId27"/>
    <p:sldId id="280" r:id="rId28"/>
    <p:sldId id="282" r:id="rId29"/>
    <p:sldId id="257" r:id="rId30"/>
    <p:sldId id="263" r:id="rId31"/>
    <p:sldId id="261" r:id="rId32"/>
    <p:sldId id="264" r:id="rId33"/>
    <p:sldId id="262" r:id="rId34"/>
    <p:sldId id="265" r:id="rId35"/>
    <p:sldId id="266" r:id="rId36"/>
    <p:sldId id="287" r:id="rId37"/>
    <p:sldId id="290" r:id="rId38"/>
    <p:sldId id="291" r:id="rId39"/>
    <p:sldId id="292" r:id="rId40"/>
    <p:sldId id="293" r:id="rId41"/>
    <p:sldId id="294" r:id="rId42"/>
    <p:sldId id="322" r:id="rId43"/>
    <p:sldId id="331" r:id="rId44"/>
    <p:sldId id="332" r:id="rId45"/>
    <p:sldId id="333" r:id="rId46"/>
    <p:sldId id="334" r:id="rId47"/>
  </p:sldIdLst>
  <p:sldSz cx="9144000" cy="5143500" type="screen16x9"/>
  <p:notesSz cx="6858000" cy="9144000"/>
  <p:defaultText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9DE2"/>
    <a:srgbClr val="ED7D31"/>
    <a:srgbClr val="0D4B92"/>
    <a:srgbClr val="0D4C92"/>
    <a:srgbClr val="0C4B91"/>
    <a:srgbClr val="2C34A3"/>
    <a:srgbClr val="E8BA00"/>
    <a:srgbClr val="F6B7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430" autoAdjust="0"/>
    <p:restoredTop sz="88874" autoAdjust="0"/>
  </p:normalViewPr>
  <p:slideViewPr>
    <p:cSldViewPr snapToGrid="0" showGuides="1">
      <p:cViewPr varScale="1">
        <p:scale>
          <a:sx n="101" d="100"/>
          <a:sy n="101" d="100"/>
        </p:scale>
        <p:origin x="379" y="67"/>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52" d="100"/>
          <a:sy n="52" d="100"/>
        </p:scale>
        <p:origin x="2515" y="389"/>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110F86B-BA5B-456A-9F15-1001DA431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4" name="Marcador de pie de página 3">
            <a:extLst>
              <a:ext uri="{FF2B5EF4-FFF2-40B4-BE49-F238E27FC236}">
                <a16:creationId xmlns:a16="http://schemas.microsoft.com/office/drawing/2014/main" id="{8D0B463B-5C76-4972-A160-AB124013E3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A52D53BC-EDAA-4129-A929-3C6EABA6580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9F88C2-1804-4662-92F3-C7C5F0CE9812}" type="slidenum">
              <a:rPr lang="es-ES" smtClean="0"/>
              <a:t>‹Nº›</a:t>
            </a:fld>
            <a:endParaRPr lang="es-ES"/>
          </a:p>
        </p:txBody>
      </p:sp>
    </p:spTree>
    <p:extLst>
      <p:ext uri="{BB962C8B-B14F-4D97-AF65-F5344CB8AC3E}">
        <p14:creationId xmlns:p14="http://schemas.microsoft.com/office/powerpoint/2010/main" val="28215942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4FE8B-16C8-4AC4-B2E8-25ABD55C296B}" type="datetimeFigureOut">
              <a:rPr lang="es-ES" smtClean="0"/>
              <a:t>21/09/2021</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525962-8DFE-4459-9D66-AC5413CC5D6A}" type="slidenum">
              <a:rPr lang="es-ES" smtClean="0"/>
              <a:t>‹Nº›</a:t>
            </a:fld>
            <a:endParaRPr lang="es-ES"/>
          </a:p>
        </p:txBody>
      </p:sp>
    </p:spTree>
    <p:extLst>
      <p:ext uri="{BB962C8B-B14F-4D97-AF65-F5344CB8AC3E}">
        <p14:creationId xmlns:p14="http://schemas.microsoft.com/office/powerpoint/2010/main" val="483859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99525962-8DFE-4459-9D66-AC5413CC5D6A}" type="slidenum">
              <a:rPr lang="es-ES" smtClean="0"/>
              <a:t>1</a:t>
            </a:fld>
            <a:endParaRPr lang="es-ES"/>
          </a:p>
        </p:txBody>
      </p:sp>
    </p:spTree>
    <p:extLst>
      <p:ext uri="{BB962C8B-B14F-4D97-AF65-F5344CB8AC3E}">
        <p14:creationId xmlns:p14="http://schemas.microsoft.com/office/powerpoint/2010/main" val="989733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a:t>
            </a:fld>
            <a:endParaRPr lang="es-ES"/>
          </a:p>
        </p:txBody>
      </p:sp>
    </p:spTree>
    <p:extLst>
      <p:ext uri="{BB962C8B-B14F-4D97-AF65-F5344CB8AC3E}">
        <p14:creationId xmlns:p14="http://schemas.microsoft.com/office/powerpoint/2010/main" val="207955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a:t>
            </a:fld>
            <a:endParaRPr lang="es-ES"/>
          </a:p>
        </p:txBody>
      </p:sp>
    </p:spTree>
    <p:extLst>
      <p:ext uri="{BB962C8B-B14F-4D97-AF65-F5344CB8AC3E}">
        <p14:creationId xmlns:p14="http://schemas.microsoft.com/office/powerpoint/2010/main" val="1623362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a:t>
            </a:fld>
            <a:endParaRPr lang="es-ES"/>
          </a:p>
        </p:txBody>
      </p:sp>
    </p:spTree>
    <p:extLst>
      <p:ext uri="{BB962C8B-B14F-4D97-AF65-F5344CB8AC3E}">
        <p14:creationId xmlns:p14="http://schemas.microsoft.com/office/powerpoint/2010/main" val="3206463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5</a:t>
            </a:fld>
            <a:endParaRPr lang="es-ES"/>
          </a:p>
        </p:txBody>
      </p:sp>
    </p:spTree>
    <p:extLst>
      <p:ext uri="{BB962C8B-B14F-4D97-AF65-F5344CB8AC3E}">
        <p14:creationId xmlns:p14="http://schemas.microsoft.com/office/powerpoint/2010/main" val="2360457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6</a:t>
            </a:fld>
            <a:endParaRPr lang="es-ES"/>
          </a:p>
        </p:txBody>
      </p:sp>
    </p:spTree>
    <p:extLst>
      <p:ext uri="{BB962C8B-B14F-4D97-AF65-F5344CB8AC3E}">
        <p14:creationId xmlns:p14="http://schemas.microsoft.com/office/powerpoint/2010/main" val="587640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7</a:t>
            </a:fld>
            <a:endParaRPr lang="es-ES"/>
          </a:p>
        </p:txBody>
      </p:sp>
    </p:spTree>
    <p:extLst>
      <p:ext uri="{BB962C8B-B14F-4D97-AF65-F5344CB8AC3E}">
        <p14:creationId xmlns:p14="http://schemas.microsoft.com/office/powerpoint/2010/main" val="197908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https://www.arrow.com/es-mx/reference-designs/typical-application-circuit-for-mc33164-low-voltage-sensing-microprocessor-reset-with-additional-hysteresis/e6930fcec6a67fd672718f69e8075d3e</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8</a:t>
            </a:fld>
            <a:endParaRPr lang="es-ES"/>
          </a:p>
        </p:txBody>
      </p:sp>
    </p:spTree>
    <p:extLst>
      <p:ext uri="{BB962C8B-B14F-4D97-AF65-F5344CB8AC3E}">
        <p14:creationId xmlns:p14="http://schemas.microsoft.com/office/powerpoint/2010/main" val="2577036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9</a:t>
            </a:fld>
            <a:endParaRPr lang="es-ES"/>
          </a:p>
        </p:txBody>
      </p:sp>
    </p:spTree>
    <p:extLst>
      <p:ext uri="{BB962C8B-B14F-4D97-AF65-F5344CB8AC3E}">
        <p14:creationId xmlns:p14="http://schemas.microsoft.com/office/powerpoint/2010/main" val="301968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10</a:t>
            </a:fld>
            <a:endParaRPr lang="es-ES"/>
          </a:p>
        </p:txBody>
      </p:sp>
    </p:spTree>
    <p:extLst>
      <p:ext uri="{BB962C8B-B14F-4D97-AF65-F5344CB8AC3E}">
        <p14:creationId xmlns:p14="http://schemas.microsoft.com/office/powerpoint/2010/main" val="1851499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11</a:t>
            </a:fld>
            <a:endParaRPr lang="es-ES"/>
          </a:p>
        </p:txBody>
      </p:sp>
    </p:spTree>
    <p:extLst>
      <p:ext uri="{BB962C8B-B14F-4D97-AF65-F5344CB8AC3E}">
        <p14:creationId xmlns:p14="http://schemas.microsoft.com/office/powerpoint/2010/main" val="2562445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12</a:t>
            </a:fld>
            <a:endParaRPr lang="es-ES"/>
          </a:p>
        </p:txBody>
      </p:sp>
    </p:spTree>
    <p:extLst>
      <p:ext uri="{BB962C8B-B14F-4D97-AF65-F5344CB8AC3E}">
        <p14:creationId xmlns:p14="http://schemas.microsoft.com/office/powerpoint/2010/main" val="3747309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Intel x86, la instrucción PUSHA (16 bits) / PUSHAD (32 bits) guardaba todos los registros de una vez en el </a:t>
            </a:r>
            <a:r>
              <a:rPr lang="es-ES" dirty="0" err="1"/>
              <a:t>stack</a:t>
            </a:r>
            <a:r>
              <a:rPr lang="es-ES" dirty="0"/>
              <a:t> y se recuperaba con POPA/POPAD. En la arquitectura de 64 bits no es posible, hay que guardar individualmente los registros que interesen.</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13</a:t>
            </a:fld>
            <a:endParaRPr lang="es-ES"/>
          </a:p>
        </p:txBody>
      </p:sp>
    </p:spTree>
    <p:extLst>
      <p:ext uri="{BB962C8B-B14F-4D97-AF65-F5344CB8AC3E}">
        <p14:creationId xmlns:p14="http://schemas.microsoft.com/office/powerpoint/2010/main" val="1328933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14</a:t>
            </a:fld>
            <a:endParaRPr lang="es-ES"/>
          </a:p>
        </p:txBody>
      </p:sp>
    </p:spTree>
    <p:extLst>
      <p:ext uri="{BB962C8B-B14F-4D97-AF65-F5344CB8AC3E}">
        <p14:creationId xmlns:p14="http://schemas.microsoft.com/office/powerpoint/2010/main" val="2374393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a:t>
            </a:r>
            <a:r>
              <a:rPr lang="es-ES" dirty="0" err="1"/>
              <a:t>Datasheet</a:t>
            </a:r>
            <a:r>
              <a:rPr lang="es-ES" dirty="0"/>
              <a:t> Intel</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15</a:t>
            </a:fld>
            <a:endParaRPr lang="es-ES"/>
          </a:p>
        </p:txBody>
      </p:sp>
    </p:spTree>
    <p:extLst>
      <p:ext uri="{BB962C8B-B14F-4D97-AF65-F5344CB8AC3E}">
        <p14:creationId xmlns:p14="http://schemas.microsoft.com/office/powerpoint/2010/main" val="41136664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16</a:t>
            </a:fld>
            <a:endParaRPr lang="es-ES"/>
          </a:p>
        </p:txBody>
      </p:sp>
    </p:spTree>
    <p:extLst>
      <p:ext uri="{BB962C8B-B14F-4D97-AF65-F5344CB8AC3E}">
        <p14:creationId xmlns:p14="http://schemas.microsoft.com/office/powerpoint/2010/main" val="1910780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17</a:t>
            </a:fld>
            <a:endParaRPr lang="es-ES"/>
          </a:p>
        </p:txBody>
      </p:sp>
    </p:spTree>
    <p:extLst>
      <p:ext uri="{BB962C8B-B14F-4D97-AF65-F5344CB8AC3E}">
        <p14:creationId xmlns:p14="http://schemas.microsoft.com/office/powerpoint/2010/main" val="2612062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18</a:t>
            </a:fld>
            <a:endParaRPr lang="es-ES"/>
          </a:p>
        </p:txBody>
      </p:sp>
    </p:spTree>
    <p:extLst>
      <p:ext uri="{BB962C8B-B14F-4D97-AF65-F5344CB8AC3E}">
        <p14:creationId xmlns:p14="http://schemas.microsoft.com/office/powerpoint/2010/main" val="27311042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19</a:t>
            </a:fld>
            <a:endParaRPr lang="es-ES"/>
          </a:p>
        </p:txBody>
      </p:sp>
    </p:spTree>
    <p:extLst>
      <p:ext uri="{BB962C8B-B14F-4D97-AF65-F5344CB8AC3E}">
        <p14:creationId xmlns:p14="http://schemas.microsoft.com/office/powerpoint/2010/main" val="22690292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20</a:t>
            </a:fld>
            <a:endParaRPr lang="es-ES"/>
          </a:p>
        </p:txBody>
      </p:sp>
    </p:spTree>
    <p:extLst>
      <p:ext uri="{BB962C8B-B14F-4D97-AF65-F5344CB8AC3E}">
        <p14:creationId xmlns:p14="http://schemas.microsoft.com/office/powerpoint/2010/main" val="1587128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21</a:t>
            </a:fld>
            <a:endParaRPr lang="es-ES"/>
          </a:p>
        </p:txBody>
      </p:sp>
    </p:spTree>
    <p:extLst>
      <p:ext uri="{BB962C8B-B14F-4D97-AF65-F5344CB8AC3E}">
        <p14:creationId xmlns:p14="http://schemas.microsoft.com/office/powerpoint/2010/main" val="20063635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22</a:t>
            </a:fld>
            <a:endParaRPr lang="es-ES"/>
          </a:p>
        </p:txBody>
      </p:sp>
    </p:spTree>
    <p:extLst>
      <p:ext uri="{BB962C8B-B14F-4D97-AF65-F5344CB8AC3E}">
        <p14:creationId xmlns:p14="http://schemas.microsoft.com/office/powerpoint/2010/main" val="413761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23</a:t>
            </a:fld>
            <a:endParaRPr lang="es-ES"/>
          </a:p>
        </p:txBody>
      </p:sp>
    </p:spTree>
    <p:extLst>
      <p:ext uri="{BB962C8B-B14F-4D97-AF65-F5344CB8AC3E}">
        <p14:creationId xmlns:p14="http://schemas.microsoft.com/office/powerpoint/2010/main" val="27600389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24</a:t>
            </a:fld>
            <a:endParaRPr lang="es-ES"/>
          </a:p>
        </p:txBody>
      </p:sp>
    </p:spTree>
    <p:extLst>
      <p:ext uri="{BB962C8B-B14F-4D97-AF65-F5344CB8AC3E}">
        <p14:creationId xmlns:p14="http://schemas.microsoft.com/office/powerpoint/2010/main" val="418523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25</a:t>
            </a:fld>
            <a:endParaRPr lang="es-ES"/>
          </a:p>
        </p:txBody>
      </p:sp>
    </p:spTree>
    <p:extLst>
      <p:ext uri="{BB962C8B-B14F-4D97-AF65-F5344CB8AC3E}">
        <p14:creationId xmlns:p14="http://schemas.microsoft.com/office/powerpoint/2010/main" val="39540254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26</a:t>
            </a:fld>
            <a:endParaRPr lang="es-ES"/>
          </a:p>
        </p:txBody>
      </p:sp>
    </p:spTree>
    <p:extLst>
      <p:ext uri="{BB962C8B-B14F-4D97-AF65-F5344CB8AC3E}">
        <p14:creationId xmlns:p14="http://schemas.microsoft.com/office/powerpoint/2010/main" val="3058266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27</a:t>
            </a:fld>
            <a:endParaRPr lang="es-ES"/>
          </a:p>
        </p:txBody>
      </p:sp>
    </p:spTree>
    <p:extLst>
      <p:ext uri="{BB962C8B-B14F-4D97-AF65-F5344CB8AC3E}">
        <p14:creationId xmlns:p14="http://schemas.microsoft.com/office/powerpoint/2010/main" val="23759258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https://www.csee.umbc.edu/courses/undergraduate/CMPE310/Fall07/cpatel2/slides/html_versions/chap1_lect02_registers.html</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28</a:t>
            </a:fld>
            <a:endParaRPr lang="es-ES"/>
          </a:p>
        </p:txBody>
      </p:sp>
    </p:spTree>
    <p:extLst>
      <p:ext uri="{BB962C8B-B14F-4D97-AF65-F5344CB8AC3E}">
        <p14:creationId xmlns:p14="http://schemas.microsoft.com/office/powerpoint/2010/main" val="13654655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29</a:t>
            </a:fld>
            <a:endParaRPr lang="es-ES"/>
          </a:p>
        </p:txBody>
      </p:sp>
    </p:spTree>
    <p:extLst>
      <p:ext uri="{BB962C8B-B14F-4D97-AF65-F5344CB8AC3E}">
        <p14:creationId xmlns:p14="http://schemas.microsoft.com/office/powerpoint/2010/main" val="27974313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30</a:t>
            </a:fld>
            <a:endParaRPr lang="es-ES"/>
          </a:p>
        </p:txBody>
      </p:sp>
    </p:spTree>
    <p:extLst>
      <p:ext uri="{BB962C8B-B14F-4D97-AF65-F5344CB8AC3E}">
        <p14:creationId xmlns:p14="http://schemas.microsoft.com/office/powerpoint/2010/main" val="8474007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31</a:t>
            </a:fld>
            <a:endParaRPr lang="es-ES"/>
          </a:p>
        </p:txBody>
      </p:sp>
    </p:spTree>
    <p:extLst>
      <p:ext uri="{BB962C8B-B14F-4D97-AF65-F5344CB8AC3E}">
        <p14:creationId xmlns:p14="http://schemas.microsoft.com/office/powerpoint/2010/main" val="31447531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32</a:t>
            </a:fld>
            <a:endParaRPr lang="es-ES"/>
          </a:p>
        </p:txBody>
      </p:sp>
    </p:spTree>
    <p:extLst>
      <p:ext uri="{BB962C8B-B14F-4D97-AF65-F5344CB8AC3E}">
        <p14:creationId xmlns:p14="http://schemas.microsoft.com/office/powerpoint/2010/main" val="39653623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https://en.wikipedia.org/wiki/Northbridge_(computing)#/media/File:Motherboard_diagram.svg</a:t>
            </a:r>
          </a:p>
          <a:p>
            <a:r>
              <a:rPr lang="es-ES" dirty="0"/>
              <a:t>La dela 9ª generación es de un folleto de Intel</a:t>
            </a:r>
          </a:p>
          <a:p>
            <a:endParaRPr lang="es-ES" dirty="0"/>
          </a:p>
          <a:p>
            <a:r>
              <a:rPr lang="es-ES" dirty="0"/>
              <a:t>El microprocesador no vive aislado. Todo micro tiene una familia de </a:t>
            </a:r>
            <a:r>
              <a:rPr lang="es-ES" dirty="0" err="1"/>
              <a:t>cricuitos</a:t>
            </a:r>
            <a:r>
              <a:rPr lang="es-ES" dirty="0"/>
              <a:t> adicionales (chipset) que le permiten conectarse a dispositivos de muy distintas características y velocidades. En la arquitectura previa a 2011 todas las conexiones, incluida la RAM, pasaban por el circuito </a:t>
            </a:r>
            <a:r>
              <a:rPr lang="es-ES" dirty="0" err="1"/>
              <a:t>NorthBridge</a:t>
            </a:r>
            <a:r>
              <a:rPr lang="es-ES" dirty="0"/>
              <a:t>. En la arquitectura actual el micro se conecta de firma directa a la RAM y a interfaces de alta velocidad como PCI </a:t>
            </a:r>
            <a:r>
              <a:rPr lang="es-ES" dirty="0" err="1"/>
              <a:t>Exrpess</a:t>
            </a:r>
            <a:r>
              <a:rPr lang="es-ES" dirty="0"/>
              <a:t>. Los procesadores AMD, cuyo código binario es 100% compatible con el de Intel, tienen un chipset completamente distinto.</a:t>
            </a:r>
          </a:p>
          <a:p>
            <a:endParaRPr lang="es-ES" dirty="0"/>
          </a:p>
          <a:p>
            <a:r>
              <a:rPr lang="es-ES" dirty="0"/>
              <a:t>Estas diferencias no afectan mucho al Sistema Operativo porque se utilizan interfaces estándar como PCI, SATA, etc. </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33</a:t>
            </a:fld>
            <a:endParaRPr lang="es-ES"/>
          </a:p>
        </p:txBody>
      </p:sp>
    </p:spTree>
    <p:extLst>
      <p:ext uri="{BB962C8B-B14F-4D97-AF65-F5344CB8AC3E}">
        <p14:creationId xmlns:p14="http://schemas.microsoft.com/office/powerpoint/2010/main" val="42856418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34</a:t>
            </a:fld>
            <a:endParaRPr lang="es-ES"/>
          </a:p>
        </p:txBody>
      </p:sp>
    </p:spTree>
    <p:extLst>
      <p:ext uri="{BB962C8B-B14F-4D97-AF65-F5344CB8AC3E}">
        <p14:creationId xmlns:p14="http://schemas.microsoft.com/office/powerpoint/2010/main" val="873303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35</a:t>
            </a:fld>
            <a:endParaRPr lang="es-ES"/>
          </a:p>
        </p:txBody>
      </p:sp>
    </p:spTree>
    <p:extLst>
      <p:ext uri="{BB962C8B-B14F-4D97-AF65-F5344CB8AC3E}">
        <p14:creationId xmlns:p14="http://schemas.microsoft.com/office/powerpoint/2010/main" val="3994852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36</a:t>
            </a:fld>
            <a:endParaRPr lang="es-ES"/>
          </a:p>
        </p:txBody>
      </p:sp>
    </p:spTree>
    <p:extLst>
      <p:ext uri="{BB962C8B-B14F-4D97-AF65-F5344CB8AC3E}">
        <p14:creationId xmlns:p14="http://schemas.microsoft.com/office/powerpoint/2010/main" val="23376774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37</a:t>
            </a:fld>
            <a:endParaRPr lang="es-ES"/>
          </a:p>
        </p:txBody>
      </p:sp>
    </p:spTree>
    <p:extLst>
      <p:ext uri="{BB962C8B-B14F-4D97-AF65-F5344CB8AC3E}">
        <p14:creationId xmlns:p14="http://schemas.microsoft.com/office/powerpoint/2010/main" val="30576499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38</a:t>
            </a:fld>
            <a:endParaRPr lang="es-ES"/>
          </a:p>
        </p:txBody>
      </p:sp>
    </p:spTree>
    <p:extLst>
      <p:ext uri="{BB962C8B-B14F-4D97-AF65-F5344CB8AC3E}">
        <p14:creationId xmlns:p14="http://schemas.microsoft.com/office/powerpoint/2010/main" val="37483852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39</a:t>
            </a:fld>
            <a:endParaRPr lang="es-ES"/>
          </a:p>
        </p:txBody>
      </p:sp>
    </p:spTree>
    <p:extLst>
      <p:ext uri="{BB962C8B-B14F-4D97-AF65-F5344CB8AC3E}">
        <p14:creationId xmlns:p14="http://schemas.microsoft.com/office/powerpoint/2010/main" val="2895387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https://es.wikipedia.org/wiki/Hipervisor</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40</a:t>
            </a:fld>
            <a:endParaRPr lang="es-ES"/>
          </a:p>
        </p:txBody>
      </p:sp>
    </p:spTree>
    <p:extLst>
      <p:ext uri="{BB962C8B-B14F-4D97-AF65-F5344CB8AC3E}">
        <p14:creationId xmlns:p14="http://schemas.microsoft.com/office/powerpoint/2010/main" val="40662674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Docker.com</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41</a:t>
            </a:fld>
            <a:endParaRPr lang="es-ES"/>
          </a:p>
        </p:txBody>
      </p:sp>
    </p:spTree>
    <p:extLst>
      <p:ext uri="{BB962C8B-B14F-4D97-AF65-F5344CB8AC3E}">
        <p14:creationId xmlns:p14="http://schemas.microsoft.com/office/powerpoint/2010/main" val="8501636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42</a:t>
            </a:fld>
            <a:endParaRPr lang="es-ES"/>
          </a:p>
        </p:txBody>
      </p:sp>
    </p:spTree>
    <p:extLst>
      <p:ext uri="{BB962C8B-B14F-4D97-AF65-F5344CB8AC3E}">
        <p14:creationId xmlns:p14="http://schemas.microsoft.com/office/powerpoint/2010/main" val="41255073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Imagen: Docker.com</a:t>
            </a:r>
          </a:p>
        </p:txBody>
      </p:sp>
      <p:sp>
        <p:nvSpPr>
          <p:cNvPr id="4" name="Marcador de número de diapositiva 3"/>
          <p:cNvSpPr>
            <a:spLocks noGrp="1"/>
          </p:cNvSpPr>
          <p:nvPr>
            <p:ph type="sldNum" sz="quarter" idx="10"/>
          </p:nvPr>
        </p:nvSpPr>
        <p:spPr/>
        <p:txBody>
          <a:bodyPr/>
          <a:lstStyle/>
          <a:p>
            <a:fld id="{2626A500-1DA6-4541-BE61-DEBA7B330470}" type="slidenum">
              <a:rPr lang="es-ES" smtClean="0"/>
              <a:t>43</a:t>
            </a:fld>
            <a:endParaRPr lang="es-ES"/>
          </a:p>
        </p:txBody>
      </p:sp>
    </p:spTree>
    <p:extLst>
      <p:ext uri="{BB962C8B-B14F-4D97-AF65-F5344CB8AC3E}">
        <p14:creationId xmlns:p14="http://schemas.microsoft.com/office/powerpoint/2010/main" val="22950974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62396" y="1454706"/>
            <a:ext cx="6115731" cy="2139553"/>
          </a:xfrm>
        </p:spPr>
        <p:txBody>
          <a:bodyPr anchor="b"/>
          <a:lstStyle>
            <a:lvl1pPr>
              <a:defRPr sz="4800">
                <a:solidFill>
                  <a:schemeClr val="accent1">
                    <a:lumMod val="50000"/>
                  </a:schemeClr>
                </a:solidFill>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762396" y="3614500"/>
            <a:ext cx="6115732" cy="1125140"/>
          </a:xfrm>
        </p:spPr>
        <p:txBody>
          <a:bodyPr>
            <a:normAutofit/>
          </a:bodyPr>
          <a:lstStyle>
            <a:lvl1pPr marL="0" indent="0">
              <a:buNone/>
              <a:defRPr sz="24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el estilo de texto del patrón</a:t>
            </a:r>
          </a:p>
        </p:txBody>
      </p:sp>
      <p:pic>
        <p:nvPicPr>
          <p:cNvPr id="2050" name="Picture 2" descr="Imagen relacionada">
            <a:extLst>
              <a:ext uri="{FF2B5EF4-FFF2-40B4-BE49-F238E27FC236}">
                <a16:creationId xmlns:a16="http://schemas.microsoft.com/office/drawing/2014/main" id="{DE157B29-00A7-4167-8C14-2765A1C6B7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675112" y="170447"/>
            <a:ext cx="3169752" cy="63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75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3 Marcador de pie de página">
            <a:extLst>
              <a:ext uri="{FF2B5EF4-FFF2-40B4-BE49-F238E27FC236}">
                <a16:creationId xmlns:a16="http://schemas.microsoft.com/office/drawing/2014/main" id="{749EC5CE-810F-4117-BBA0-B107EC391EF1}"/>
              </a:ext>
            </a:extLst>
          </p:cNvPr>
          <p:cNvSpPr>
            <a:spLocks noGrp="1"/>
          </p:cNvSpPr>
          <p:nvPr>
            <p:ph type="ftr" sz="quarter" idx="4294967295"/>
          </p:nvPr>
        </p:nvSpPr>
        <p:spPr>
          <a:xfrm>
            <a:off x="6589986" y="1588"/>
            <a:ext cx="2340883" cy="366274"/>
          </a:xfrm>
          <a:prstGeom prst="rect">
            <a:avLst/>
          </a:prstGeom>
        </p:spPr>
        <p:txBody>
          <a:bodyPr/>
          <a:lstStyle>
            <a:lvl1pPr algn="r">
              <a:defRPr sz="1050" b="1">
                <a:solidFill>
                  <a:schemeClr val="bg2">
                    <a:lumMod val="75000"/>
                  </a:schemeClr>
                </a:solidFill>
              </a:defRPr>
            </a:lvl1pPr>
          </a:lstStyle>
          <a:p>
            <a:r>
              <a:rPr lang="es-ES"/>
              <a:t>SSOO 2020-2021 Javier Gª Algarra</a:t>
            </a:r>
            <a:endParaRPr lang="es-ES" dirty="0"/>
          </a:p>
        </p:txBody>
      </p:sp>
    </p:spTree>
    <p:extLst>
      <p:ext uri="{BB962C8B-B14F-4D97-AF65-F5344CB8AC3E}">
        <p14:creationId xmlns:p14="http://schemas.microsoft.com/office/powerpoint/2010/main" val="1673075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B661776-020E-4C0C-ADBA-DCBCC58D1797}"/>
              </a:ext>
            </a:extLst>
          </p:cNvPr>
          <p:cNvSpPr txBox="1"/>
          <p:nvPr userDrawn="1"/>
        </p:nvSpPr>
        <p:spPr>
          <a:xfrm rot="16200000">
            <a:off x="-605643" y="230543"/>
            <a:ext cx="1380564" cy="169277"/>
          </a:xfrm>
          <a:prstGeom prst="rect">
            <a:avLst/>
          </a:prstGeom>
          <a:noFill/>
        </p:spPr>
        <p:txBody>
          <a:bodyPr wrap="square" rtlCol="0">
            <a:spAutoFit/>
          </a:bodyPr>
          <a:lstStyle/>
          <a:p>
            <a:r>
              <a:rPr lang="es-ES" sz="500" dirty="0">
                <a:solidFill>
                  <a:schemeClr val="bg2">
                    <a:lumMod val="90000"/>
                  </a:schemeClr>
                </a:solidFill>
              </a:rPr>
              <a:t>SSOO Javier García Algarra 2020</a:t>
            </a:r>
          </a:p>
        </p:txBody>
      </p:sp>
    </p:spTree>
    <p:extLst>
      <p:ext uri="{BB962C8B-B14F-4D97-AF65-F5344CB8AC3E}">
        <p14:creationId xmlns:p14="http://schemas.microsoft.com/office/powerpoint/2010/main" val="191664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ítulo y objetos">
    <p:spTree>
      <p:nvGrpSpPr>
        <p:cNvPr id="1" name=""/>
        <p:cNvGrpSpPr/>
        <p:nvPr/>
      </p:nvGrpSpPr>
      <p:grpSpPr>
        <a:xfrm>
          <a:off x="0" y="0"/>
          <a:ext cx="0" cy="0"/>
          <a:chOff x="0" y="0"/>
          <a:chExt cx="0" cy="0"/>
        </a:xfrm>
      </p:grpSpPr>
      <p:sp>
        <p:nvSpPr>
          <p:cNvPr id="20" name="Rectangle 9"/>
          <p:cNvSpPr/>
          <p:nvPr userDrawn="1"/>
        </p:nvSpPr>
        <p:spPr>
          <a:xfrm>
            <a:off x="8435268" y="160384"/>
            <a:ext cx="86236" cy="5940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1" name="Rectangle 10"/>
          <p:cNvSpPr/>
          <p:nvPr userDrawn="1"/>
        </p:nvSpPr>
        <p:spPr>
          <a:xfrm>
            <a:off x="8569419" y="160384"/>
            <a:ext cx="576072" cy="5940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0" name="Footer Placeholder 4"/>
          <p:cNvSpPr>
            <a:spLocks noGrp="1"/>
          </p:cNvSpPr>
          <p:nvPr>
            <p:ph type="ftr" sz="quarter" idx="3"/>
          </p:nvPr>
        </p:nvSpPr>
        <p:spPr>
          <a:xfrm>
            <a:off x="4554487" y="357504"/>
            <a:ext cx="3600400" cy="225920"/>
          </a:xfrm>
          <a:prstGeom prst="rect">
            <a:avLst/>
          </a:prstGeom>
        </p:spPr>
        <p:txBody>
          <a:bodyPr vert="horz" lIns="91440" tIns="0" rIns="91440" bIns="45720" rtlCol="0" anchor="ctr"/>
          <a:lstStyle>
            <a:lvl1pPr algn="r">
              <a:defRPr sz="900">
                <a:solidFill>
                  <a:schemeClr val="tx2">
                    <a:lumMod val="75000"/>
                  </a:schemeClr>
                </a:solidFill>
              </a:defRPr>
            </a:lvl1pPr>
          </a:lstStyle>
          <a:p>
            <a:r>
              <a:rPr lang="es-ES" dirty="0"/>
              <a:t>Python Elemental </a:t>
            </a:r>
          </a:p>
        </p:txBody>
      </p:sp>
      <p:sp>
        <p:nvSpPr>
          <p:cNvPr id="16" name="15 Título"/>
          <p:cNvSpPr>
            <a:spLocks noGrp="1"/>
          </p:cNvSpPr>
          <p:nvPr>
            <p:ph type="title"/>
          </p:nvPr>
        </p:nvSpPr>
        <p:spPr/>
        <p:txBody>
          <a:bodyPr/>
          <a:lstStyle>
            <a:lvl1pPr>
              <a:defRPr>
                <a:solidFill>
                  <a:schemeClr val="tx2">
                    <a:lumMod val="75000"/>
                  </a:schemeClr>
                </a:solidFill>
              </a:defRPr>
            </a:lvl1pPr>
          </a:lstStyle>
          <a:p>
            <a:r>
              <a:rPr lang="es-ES" dirty="0"/>
              <a:t>Haga clic para modificar el estilo de título del patrón</a:t>
            </a:r>
          </a:p>
        </p:txBody>
      </p:sp>
      <p:sp>
        <p:nvSpPr>
          <p:cNvPr id="18" name="5 Marcador de número de diapositiva"/>
          <p:cNvSpPr txBox="1">
            <a:spLocks/>
          </p:cNvSpPr>
          <p:nvPr userDrawn="1"/>
        </p:nvSpPr>
        <p:spPr>
          <a:xfrm>
            <a:off x="8532439" y="303498"/>
            <a:ext cx="596305" cy="273844"/>
          </a:xfrm>
          <a:prstGeom prst="rect">
            <a:avLst/>
          </a:prstGeom>
        </p:spPr>
        <p:txBody>
          <a:bodyPr anchor="ctr"/>
          <a:lstStyle>
            <a:defPPr>
              <a:defRPr lang="es-ES"/>
            </a:defPPr>
            <a:lvl1pPr marL="0" algn="l"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BD5034FA-E3E3-464F-AB21-ECE51F6ED024}" type="slidenum">
              <a:rPr lang="es-ES" sz="1050" b="0" smtClean="0"/>
              <a:pPr algn="ctr"/>
              <a:t>‹Nº›</a:t>
            </a:fld>
            <a:endParaRPr lang="es-ES" sz="1050" b="0" dirty="0"/>
          </a:p>
        </p:txBody>
      </p:sp>
      <p:pic>
        <p:nvPicPr>
          <p:cNvPr id="11" name="Picture 2" descr="C:\Users\eva.perandones\Downloads\Logo azul.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5" y="224440"/>
            <a:ext cx="1654895" cy="46595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11 Conector recto"/>
          <p:cNvCxnSpPr/>
          <p:nvPr userDrawn="1"/>
        </p:nvCxnSpPr>
        <p:spPr>
          <a:xfrm>
            <a:off x="251521" y="1491630"/>
            <a:ext cx="8605935" cy="0"/>
          </a:xfrm>
          <a:prstGeom prst="line">
            <a:avLst/>
          </a:prstGeom>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5123179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742270A-C90A-439D-BA55-8EC057654CEF}"/>
              </a:ext>
            </a:extLst>
          </p:cNvPr>
          <p:cNvSpPr/>
          <p:nvPr userDrawn="1"/>
        </p:nvSpPr>
        <p:spPr>
          <a:xfrm>
            <a:off x="-8120" y="0"/>
            <a:ext cx="1211493" cy="5143499"/>
          </a:xfrm>
          <a:prstGeom prst="rect">
            <a:avLst/>
          </a:prstGeom>
          <a:solidFill>
            <a:srgbClr val="0D4B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itle Placeholder 1"/>
          <p:cNvSpPr>
            <a:spLocks noGrp="1"/>
          </p:cNvSpPr>
          <p:nvPr>
            <p:ph type="title"/>
          </p:nvPr>
        </p:nvSpPr>
        <p:spPr>
          <a:xfrm>
            <a:off x="1521110" y="228599"/>
            <a:ext cx="7367620" cy="1053399"/>
          </a:xfrm>
          <a:prstGeom prst="rect">
            <a:avLst/>
          </a:prstGeom>
        </p:spPr>
        <p:txBody>
          <a:bodyPr vert="horz" lIns="91440" tIns="45720" rIns="91440" bIns="45720" rtlCol="0" anchor="b" anchorCtr="0">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521110" y="1369219"/>
            <a:ext cx="7367620" cy="3263504"/>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pic>
        <p:nvPicPr>
          <p:cNvPr id="8" name="Picture 2" descr="Resultado de imagen de u-tad logo png">
            <a:extLst>
              <a:ext uri="{FF2B5EF4-FFF2-40B4-BE49-F238E27FC236}">
                <a16:creationId xmlns:a16="http://schemas.microsoft.com/office/drawing/2014/main" id="{99A48252-F53C-4310-A655-6882B7787FD7}"/>
              </a:ext>
            </a:extLst>
          </p:cNvPr>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l="-1" t="10627" r="4269" b="35524"/>
          <a:stretch/>
        </p:blipFill>
        <p:spPr bwMode="auto">
          <a:xfrm>
            <a:off x="-8121" y="4398808"/>
            <a:ext cx="1211493" cy="681465"/>
          </a:xfrm>
          <a:prstGeom prst="rect">
            <a:avLst/>
          </a:prstGeom>
          <a:solidFill>
            <a:srgbClr val="0C4B91"/>
          </a:solidFill>
        </p:spPr>
      </p:pic>
      <p:sp>
        <p:nvSpPr>
          <p:cNvPr id="7" name="3 Marcador de pie de página">
            <a:extLst>
              <a:ext uri="{FF2B5EF4-FFF2-40B4-BE49-F238E27FC236}">
                <a16:creationId xmlns:a16="http://schemas.microsoft.com/office/drawing/2014/main" id="{97188F81-2B38-4CB1-AF4E-C06C854011AE}"/>
              </a:ext>
            </a:extLst>
          </p:cNvPr>
          <p:cNvSpPr>
            <a:spLocks noGrp="1"/>
          </p:cNvSpPr>
          <p:nvPr>
            <p:ph type="ftr" sz="quarter" idx="3"/>
          </p:nvPr>
        </p:nvSpPr>
        <p:spPr>
          <a:xfrm>
            <a:off x="6589986" y="1588"/>
            <a:ext cx="2340883" cy="366274"/>
          </a:xfrm>
          <a:prstGeom prst="rect">
            <a:avLst/>
          </a:prstGeom>
        </p:spPr>
        <p:txBody>
          <a:bodyPr/>
          <a:lstStyle>
            <a:lvl1pPr algn="r">
              <a:defRPr sz="1050" b="1">
                <a:solidFill>
                  <a:schemeClr val="bg2">
                    <a:lumMod val="75000"/>
                  </a:schemeClr>
                </a:solidFill>
              </a:defRPr>
            </a:lvl1pPr>
          </a:lstStyle>
          <a:p>
            <a:r>
              <a:rPr lang="es-ES"/>
              <a:t>SSOO 2020-2021 Javier Gª Algarra</a:t>
            </a:r>
            <a:endParaRPr lang="es-ES" dirty="0"/>
          </a:p>
        </p:txBody>
      </p:sp>
    </p:spTree>
    <p:extLst>
      <p:ext uri="{BB962C8B-B14F-4D97-AF65-F5344CB8AC3E}">
        <p14:creationId xmlns:p14="http://schemas.microsoft.com/office/powerpoint/2010/main" val="3893326617"/>
      </p:ext>
    </p:extLst>
  </p:cSld>
  <p:clrMap bg1="lt1" tx1="dk1" bg2="lt2" tx2="dk2" accent1="accent1" accent2="accent2" accent3="accent3" accent4="accent4" accent5="accent5" accent6="accent6" hlink="hlink" folHlink="folHlink"/>
  <p:sldLayoutIdLst>
    <p:sldLayoutId id="2147483663" r:id="rId1"/>
    <p:sldLayoutId id="2147483666" r:id="rId2"/>
    <p:sldLayoutId id="2147483667" r:id="rId3"/>
    <p:sldLayoutId id="2147483668" r:id="rId4"/>
  </p:sldLayoutIdLst>
  <p:txStyles>
    <p:title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j-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j-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j-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javier.algarra@u-tad.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creativecommons.org/licenses/by/4.0/" TargetMode="External"/><Relationship Id="rId4" Type="http://schemas.openxmlformats.org/officeDocument/2006/relationships/hyperlink" Target="mailto:miguel.mesas@u-tad.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hyperlink" Target="https://processors.wiki.ti.com/index.php/AM335x_MMC/SD_Driver%27s_Guide"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hyperlink" Target="https://software.intel.com/content/www/us/en/develop/articles/introduction-to-x64-assembly.html"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cs.rutgers.edu/~pxk/419/notes/frames.html"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hyperlink" Target="developer.arm.com/documentation/ddi0487/latest"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hyperlink" Target="https://www.youtube.com/watch?v=iYRl50gtprA" TargetMode="External"/><Relationship Id="rId5" Type="http://schemas.openxmlformats.org/officeDocument/2006/relationships/image" Target="../media/image36.png"/><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 name="Título 5"/>
          <p:cNvSpPr>
            <a:spLocks noGrp="1"/>
          </p:cNvSpPr>
          <p:nvPr>
            <p:ph type="title"/>
          </p:nvPr>
        </p:nvSpPr>
        <p:spPr>
          <a:xfrm>
            <a:off x="1569019" y="954985"/>
            <a:ext cx="7104201" cy="1520969"/>
          </a:xfrm>
        </p:spPr>
        <p:txBody>
          <a:bodyPr/>
          <a:lstStyle/>
          <a:p>
            <a:pPr algn="ctr"/>
            <a:br>
              <a:rPr lang="es-ES" sz="1200" dirty="0"/>
            </a:br>
            <a:br>
              <a:rPr lang="es-ES" sz="4000" dirty="0"/>
            </a:br>
            <a:br>
              <a:rPr lang="es-ES" sz="4000" dirty="0"/>
            </a:br>
            <a:br>
              <a:rPr lang="es-ES" sz="4000" dirty="0"/>
            </a:br>
            <a:br>
              <a:rPr lang="es-ES" sz="4000" dirty="0"/>
            </a:br>
            <a:r>
              <a:rPr lang="es-ES" sz="2000" dirty="0"/>
              <a:t>Sistemas Operativos</a:t>
            </a:r>
            <a:br>
              <a:rPr lang="es-ES" sz="4000" dirty="0"/>
            </a:br>
            <a:br>
              <a:rPr lang="es-ES" sz="4000" dirty="0"/>
            </a:br>
            <a:r>
              <a:rPr lang="es-ES" sz="4000" dirty="0"/>
              <a:t>2. Conceptos básicos</a:t>
            </a:r>
            <a:endParaRPr lang="es-ES" sz="4000" b="1" dirty="0"/>
          </a:p>
        </p:txBody>
      </p:sp>
      <p:sp>
        <p:nvSpPr>
          <p:cNvPr id="7" name="Marcador de texto 6"/>
          <p:cNvSpPr>
            <a:spLocks noGrp="1"/>
          </p:cNvSpPr>
          <p:nvPr>
            <p:ph type="body" idx="1"/>
          </p:nvPr>
        </p:nvSpPr>
        <p:spPr>
          <a:xfrm>
            <a:off x="1762396" y="2531955"/>
            <a:ext cx="6910824" cy="1863520"/>
          </a:xfrm>
        </p:spPr>
        <p:txBody>
          <a:bodyPr>
            <a:normAutofit fontScale="85000" lnSpcReduction="20000"/>
          </a:bodyPr>
          <a:lstStyle/>
          <a:p>
            <a:pPr algn="r"/>
            <a:endParaRPr lang="es-ES" sz="1800" dirty="0"/>
          </a:p>
          <a:p>
            <a:pPr algn="r"/>
            <a:endParaRPr lang="es-ES" sz="1800" dirty="0"/>
          </a:p>
          <a:p>
            <a:pPr algn="r"/>
            <a:r>
              <a:rPr lang="es-ES" sz="1800" dirty="0"/>
              <a:t>Javier García Algarra</a:t>
            </a:r>
          </a:p>
          <a:p>
            <a:pPr algn="r"/>
            <a:r>
              <a:rPr lang="es-ES" sz="1800" dirty="0">
                <a:hlinkClick r:id="rId3"/>
              </a:rPr>
              <a:t>javier.algarra@u-tad.com</a:t>
            </a:r>
            <a:endParaRPr lang="es-ES" sz="1800" dirty="0"/>
          </a:p>
          <a:p>
            <a:pPr algn="r"/>
            <a:r>
              <a:rPr lang="es-ES" sz="1800" dirty="0"/>
              <a:t>Miguel Ángel Mesas</a:t>
            </a:r>
          </a:p>
          <a:p>
            <a:pPr algn="r"/>
            <a:r>
              <a:rPr lang="es-ES" sz="1800" dirty="0">
                <a:hlinkClick r:id="rId4"/>
              </a:rPr>
              <a:t>miguel.mesas@u-tad.com</a:t>
            </a:r>
            <a:endParaRPr lang="es-ES" sz="1800" dirty="0"/>
          </a:p>
          <a:p>
            <a:pPr algn="r"/>
            <a:r>
              <a:rPr lang="es-ES" sz="1800" dirty="0"/>
              <a:t>2021-2022</a:t>
            </a:r>
          </a:p>
        </p:txBody>
      </p:sp>
      <p:sp>
        <p:nvSpPr>
          <p:cNvPr id="9" name="Rectangle 1">
            <a:extLst>
              <a:ext uri="{FF2B5EF4-FFF2-40B4-BE49-F238E27FC236}">
                <a16:creationId xmlns:a16="http://schemas.microsoft.com/office/drawing/2014/main" id="{2067DBC0-8C2B-4E0B-BE3C-2840A2E7DFA9}"/>
              </a:ext>
            </a:extLst>
          </p:cNvPr>
          <p:cNvSpPr>
            <a:spLocks noChangeArrowheads="1"/>
          </p:cNvSpPr>
          <p:nvPr/>
        </p:nvSpPr>
        <p:spPr bwMode="auto">
          <a:xfrm>
            <a:off x="1174205" y="4666446"/>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s-ES" altLang="es-ES" sz="1200" u="sng" dirty="0">
                <a:solidFill>
                  <a:srgbClr val="0066CC"/>
                </a:solidFill>
                <a:latin typeface="Times New Roman" panose="02020603050405020304" pitchFamily="18" charset="0"/>
                <a:cs typeface="Times New Roman" panose="02020603050405020304" pitchFamily="18" charset="0"/>
              </a:rPr>
              <a:t> </a:t>
            </a:r>
            <a:br>
              <a:rPr kumimoji="0" lang="es-ES" altLang="es-ES" sz="600" b="0" i="0" u="none" strike="noStrike" cap="none" normalizeH="0" baseline="0" dirty="0">
                <a:ln>
                  <a:noFill/>
                </a:ln>
                <a:solidFill>
                  <a:schemeClr val="tx1"/>
                </a:solidFill>
                <a:effectLst/>
              </a:rPr>
            </a:br>
            <a:r>
              <a:rPr lang="es-ES" altLang="es-ES" sz="800" dirty="0">
                <a:solidFill>
                  <a:srgbClr val="000000"/>
                </a:solidFill>
                <a:latin typeface="+mj-lt"/>
                <a:cs typeface="Times New Roman" panose="02020603050405020304" pitchFamily="18" charset="0"/>
              </a:rPr>
              <a:t>Sistemas Operativos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by</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Javier García Algarra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is</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licensed</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r>
              <a:rPr kumimoji="0" lang="es-ES" altLang="es-ES" sz="800" b="0" i="0" u="none" strike="noStrike" cap="none" normalizeH="0" baseline="0" dirty="0" err="1">
                <a:ln>
                  <a:noFill/>
                </a:ln>
                <a:solidFill>
                  <a:srgbClr val="000000"/>
                </a:solidFill>
                <a:effectLst/>
                <a:latin typeface="+mj-lt"/>
                <a:cs typeface="Times New Roman" panose="02020603050405020304" pitchFamily="18" charset="0"/>
              </a:rPr>
              <a:t>under</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5"/>
              </a:rPr>
              <a:t>Creative</a:t>
            </a:r>
            <a:r>
              <a:rPr kumimoji="0" lang="es-ES" altLang="es-ES" sz="800" b="0" i="0" u="sng" strike="noStrike" cap="none" normalizeH="0" baseline="0" dirty="0">
                <a:ln>
                  <a:noFill/>
                </a:ln>
                <a:solidFill>
                  <a:srgbClr val="0066CC"/>
                </a:solidFill>
                <a:effectLst/>
                <a:latin typeface="+mj-lt"/>
                <a:cs typeface="Times New Roman" panose="02020603050405020304" pitchFamily="18" charset="0"/>
                <a:hlinkClick r:id="rId5"/>
              </a:rPr>
              <a:t>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5"/>
              </a:rPr>
              <a:t>Commons</a:t>
            </a:r>
            <a:r>
              <a:rPr kumimoji="0" lang="es-ES" altLang="es-ES" sz="800" b="0" i="0" u="sng" strike="noStrike" cap="none" normalizeH="0" baseline="0" dirty="0">
                <a:ln>
                  <a:noFill/>
                </a:ln>
                <a:solidFill>
                  <a:srgbClr val="0066CC"/>
                </a:solidFill>
                <a:effectLst/>
                <a:latin typeface="+mj-lt"/>
                <a:cs typeface="Times New Roman" panose="02020603050405020304" pitchFamily="18" charset="0"/>
                <a:hlinkClick r:id="rId5"/>
              </a:rPr>
              <a:t> Reconocimiento 4.0 Internacional </a:t>
            </a:r>
            <a:r>
              <a:rPr kumimoji="0" lang="es-ES" altLang="es-ES" sz="800" b="0" i="0" u="sng" strike="noStrike" cap="none" normalizeH="0" baseline="0" dirty="0" err="1">
                <a:ln>
                  <a:noFill/>
                </a:ln>
                <a:solidFill>
                  <a:srgbClr val="0066CC"/>
                </a:solidFill>
                <a:effectLst/>
                <a:latin typeface="+mj-lt"/>
                <a:cs typeface="Times New Roman" panose="02020603050405020304" pitchFamily="18" charset="0"/>
                <a:hlinkClick r:id="rId5"/>
              </a:rPr>
              <a:t>License</a:t>
            </a:r>
            <a:r>
              <a:rPr kumimoji="0" lang="es-ES" altLang="es-ES" sz="800" b="0" i="0" u="none" strike="noStrike" cap="none" normalizeH="0" baseline="0" dirty="0">
                <a:ln>
                  <a:noFill/>
                </a:ln>
                <a:solidFill>
                  <a:srgbClr val="000000"/>
                </a:solidFill>
                <a:effectLst/>
                <a:latin typeface="+mj-lt"/>
                <a:cs typeface="Times New Roman" panose="02020603050405020304" pitchFamily="18" charset="0"/>
              </a:rPr>
              <a:t>. </a:t>
            </a:r>
            <a:endParaRPr kumimoji="0" lang="es-ES" altLang="es-ES" sz="900" b="0" i="0" u="sng" strike="noStrike" cap="none" normalizeH="0" baseline="0" dirty="0">
              <a:ln>
                <a:noFill/>
              </a:ln>
              <a:solidFill>
                <a:srgbClr val="0066CC"/>
              </a:solidFill>
              <a:effectLst/>
              <a:latin typeface="+mj-lt"/>
              <a:cs typeface="Times New Roman" panose="02020603050405020304" pitchFamily="18" charset="0"/>
            </a:endParaRPr>
          </a:p>
        </p:txBody>
      </p:sp>
      <p:pic>
        <p:nvPicPr>
          <p:cNvPr id="10" name="Picture 2" descr="Licencia de Creative Commons">
            <a:hlinkClick r:id="rId5"/>
            <a:extLst>
              <a:ext uri="{FF2B5EF4-FFF2-40B4-BE49-F238E27FC236}">
                <a16:creationId xmlns:a16="http://schemas.microsoft.com/office/drawing/2014/main" id="{B07F3E68-2BCF-4EC0-B981-29542191BC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5898" y="4722447"/>
            <a:ext cx="762000"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158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654BE3C9-6149-4C4B-B81B-3387E3937E53}"/>
              </a:ext>
            </a:extLst>
          </p:cNvPr>
          <p:cNvSpPr txBox="1"/>
          <p:nvPr/>
        </p:nvSpPr>
        <p:spPr>
          <a:xfrm>
            <a:off x="1757843" y="1268616"/>
            <a:ext cx="6862455" cy="3293209"/>
          </a:xfrm>
          <a:prstGeom prst="rect">
            <a:avLst/>
          </a:prstGeom>
          <a:noFill/>
        </p:spPr>
        <p:txBody>
          <a:bodyPr wrap="square" rtlCol="0">
            <a:spAutoFit/>
          </a:bodyPr>
          <a:lstStyle/>
          <a:p>
            <a:pPr algn="just"/>
            <a:r>
              <a:rPr lang="es-ES" sz="1600" dirty="0"/>
              <a:t>En esta lección vamos a describir de forma resumida lo que es un Sistema Operativo y sus componentes. Es necesario tener una visión global antes de pasar a estudiar en detalle cada componente. Por ejemplo, no puede entenderse lo que es la memoria virtual (lección 4) sin haber entendido antes la gestión de procesos (lección 3), pero tampoco es posible comprender por qué un cambio de contexto (lección 3) resulta tan costoso en tiempo por la necesidad de recargar páginas de memoria dinámica (lección 4) o las cachés (lección 4).</a:t>
            </a:r>
          </a:p>
          <a:p>
            <a:pPr algn="just"/>
            <a:endParaRPr lang="es-ES" sz="1600" dirty="0"/>
          </a:p>
          <a:p>
            <a:pPr algn="just"/>
            <a:r>
              <a:rPr lang="es-ES" sz="1600" dirty="0"/>
              <a:t>Los sistemas operativos tienen una fuerte relación con el hardware, puesto que todas las interacciones programa-dispositivo pasan obligatoriamente por una llamada. En esta lección repasaremos también la arquitectura de los microprocesadores Intel x86 y los compararemos con los de arquitectura ARM cuyo ámbito de aplicación es cada día más extenso.</a:t>
            </a:r>
          </a:p>
        </p:txBody>
      </p:sp>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Introducción</a:t>
            </a:r>
          </a:p>
        </p:txBody>
      </p:sp>
    </p:spTree>
    <p:extLst>
      <p:ext uri="{BB962C8B-B14F-4D97-AF65-F5344CB8AC3E}">
        <p14:creationId xmlns:p14="http://schemas.microsoft.com/office/powerpoint/2010/main" val="2206614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Conceptos</a:t>
            </a:r>
          </a:p>
        </p:txBody>
      </p:sp>
      <p:sp>
        <p:nvSpPr>
          <p:cNvPr id="2" name="CuadroTexto 1">
            <a:extLst>
              <a:ext uri="{FF2B5EF4-FFF2-40B4-BE49-F238E27FC236}">
                <a16:creationId xmlns:a16="http://schemas.microsoft.com/office/drawing/2014/main" id="{F24400F9-D287-4970-80B6-00A374570DDB}"/>
              </a:ext>
            </a:extLst>
          </p:cNvPr>
          <p:cNvSpPr txBox="1"/>
          <p:nvPr/>
        </p:nvSpPr>
        <p:spPr>
          <a:xfrm>
            <a:off x="1776413" y="1178805"/>
            <a:ext cx="7051997" cy="3785652"/>
          </a:xfrm>
          <a:prstGeom prst="rect">
            <a:avLst/>
          </a:prstGeom>
          <a:noFill/>
        </p:spPr>
        <p:txBody>
          <a:bodyPr wrap="square" rtlCol="0">
            <a:spAutoFit/>
          </a:bodyPr>
          <a:lstStyle/>
          <a:p>
            <a:pPr algn="just"/>
            <a:r>
              <a:rPr lang="es-ES" sz="1600" dirty="0"/>
              <a:t>Un Sistema Operativo es el programa más importante que ejecuta el ordenador y tiene dos misiones fundamentales: </a:t>
            </a:r>
            <a:r>
              <a:rPr lang="es-ES" sz="1600" b="1" dirty="0"/>
              <a:t>gestionar los recursos </a:t>
            </a:r>
            <a:r>
              <a:rPr lang="es-ES" sz="1600" dirty="0"/>
              <a:t>de manera que los programas vean una máquina completa a su disposición y no interfieran entre ellos y </a:t>
            </a:r>
            <a:r>
              <a:rPr lang="es-ES" sz="1600" b="1" dirty="0"/>
              <a:t>abstraer los detalles de los dispositivos hardware </a:t>
            </a:r>
            <a:r>
              <a:rPr lang="es-ES" sz="1600" dirty="0"/>
              <a:t>para facilitar la labor del programador.</a:t>
            </a:r>
          </a:p>
          <a:p>
            <a:pPr algn="just"/>
            <a:endParaRPr lang="es-ES" sz="1600" dirty="0"/>
          </a:p>
          <a:p>
            <a:pPr algn="just"/>
            <a:r>
              <a:rPr lang="es-ES" sz="1600" dirty="0"/>
              <a:t>El Sistema Operativo crea y gestiona procesos. Un </a:t>
            </a:r>
            <a:r>
              <a:rPr lang="es-ES" sz="1600" b="1" dirty="0"/>
              <a:t>proceso</a:t>
            </a:r>
            <a:r>
              <a:rPr lang="es-ES" sz="1600" dirty="0"/>
              <a:t> es una instancia ejecutable de un programa y requiere código, datos y una serie de </a:t>
            </a:r>
            <a:r>
              <a:rPr lang="es-ES" sz="1600" b="1" dirty="0"/>
              <a:t>metadatos</a:t>
            </a:r>
            <a:r>
              <a:rPr lang="es-ES" sz="1600" dirty="0"/>
              <a:t> con los que el Sistema Operativo realiza su gestión. Dos instancias de un mismo ejecutable (por ejemplo, dos “Bloc de Notas”) son procesos distintos. </a:t>
            </a:r>
          </a:p>
          <a:p>
            <a:pPr algn="just"/>
            <a:endParaRPr lang="es-ES" sz="1600" dirty="0"/>
          </a:p>
          <a:p>
            <a:pPr algn="just"/>
            <a:r>
              <a:rPr lang="es-ES" sz="1600" dirty="0"/>
              <a:t>Todas las operaciones de entrada/salida pasan forzosamente por el Sistema Operativo. El sistema ofrece una </a:t>
            </a:r>
            <a:r>
              <a:rPr lang="es-ES" sz="1600" b="1" dirty="0"/>
              <a:t>API normalizada </a:t>
            </a:r>
            <a:r>
              <a:rPr lang="es-ES" sz="1600" dirty="0"/>
              <a:t>hacia los programas de usuario para poder invocar sus servicios.</a:t>
            </a:r>
          </a:p>
          <a:p>
            <a:pPr algn="just"/>
            <a:endParaRPr lang="es-ES" sz="1600" dirty="0"/>
          </a:p>
        </p:txBody>
      </p:sp>
    </p:spTree>
    <p:extLst>
      <p:ext uri="{BB962C8B-B14F-4D97-AF65-F5344CB8AC3E}">
        <p14:creationId xmlns:p14="http://schemas.microsoft.com/office/powerpoint/2010/main" val="2897111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Conceptos</a:t>
            </a:r>
          </a:p>
        </p:txBody>
      </p:sp>
      <p:sp>
        <p:nvSpPr>
          <p:cNvPr id="2" name="CuadroTexto 1">
            <a:extLst>
              <a:ext uri="{FF2B5EF4-FFF2-40B4-BE49-F238E27FC236}">
                <a16:creationId xmlns:a16="http://schemas.microsoft.com/office/drawing/2014/main" id="{F24400F9-D287-4970-80B6-00A374570DDB}"/>
              </a:ext>
            </a:extLst>
          </p:cNvPr>
          <p:cNvSpPr txBox="1"/>
          <p:nvPr/>
        </p:nvSpPr>
        <p:spPr>
          <a:xfrm>
            <a:off x="1776413" y="1178805"/>
            <a:ext cx="7051997" cy="1077218"/>
          </a:xfrm>
          <a:prstGeom prst="rect">
            <a:avLst/>
          </a:prstGeom>
          <a:noFill/>
        </p:spPr>
        <p:txBody>
          <a:bodyPr wrap="square" rtlCol="0">
            <a:spAutoFit/>
          </a:bodyPr>
          <a:lstStyle/>
          <a:p>
            <a:pPr algn="just"/>
            <a:r>
              <a:rPr lang="es-ES" sz="1600" dirty="0"/>
              <a:t>La parte más importante del SO se llama </a:t>
            </a:r>
            <a:r>
              <a:rPr lang="es-ES" sz="1600" b="1" dirty="0" err="1"/>
              <a:t>kernel</a:t>
            </a:r>
            <a:r>
              <a:rPr lang="es-ES" sz="1600" dirty="0"/>
              <a:t> (núcleo). Se ejecuta en un modo privilegiado con acceso a toda la memoria, recursos y registros de la CPU. Los procesos de usuario no pueden usar todo el juego de instrucciones ni ven algunos registros del microprocesador.</a:t>
            </a:r>
          </a:p>
        </p:txBody>
      </p:sp>
      <p:pic>
        <p:nvPicPr>
          <p:cNvPr id="4" name="Imagen 3">
            <a:extLst>
              <a:ext uri="{FF2B5EF4-FFF2-40B4-BE49-F238E27FC236}">
                <a16:creationId xmlns:a16="http://schemas.microsoft.com/office/drawing/2014/main" id="{D867196E-D2CD-4141-94F6-32CD39E5195B}"/>
              </a:ext>
            </a:extLst>
          </p:cNvPr>
          <p:cNvPicPr>
            <a:picLocks noChangeAspect="1"/>
          </p:cNvPicPr>
          <p:nvPr/>
        </p:nvPicPr>
        <p:blipFill>
          <a:blip r:embed="rId3"/>
          <a:stretch>
            <a:fillRect/>
          </a:stretch>
        </p:blipFill>
        <p:spPr>
          <a:xfrm>
            <a:off x="1883719" y="2457972"/>
            <a:ext cx="3288612" cy="713355"/>
          </a:xfrm>
          <a:prstGeom prst="rect">
            <a:avLst/>
          </a:prstGeom>
          <a:effectLst>
            <a:outerShdw blurRad="50800" dist="38100" dir="5400000" algn="t" rotWithShape="0">
              <a:prstClr val="black">
                <a:alpha val="40000"/>
              </a:prstClr>
            </a:outerShdw>
          </a:effectLst>
        </p:spPr>
      </p:pic>
      <p:pic>
        <p:nvPicPr>
          <p:cNvPr id="6" name="Imagen 5">
            <a:extLst>
              <a:ext uri="{FF2B5EF4-FFF2-40B4-BE49-F238E27FC236}">
                <a16:creationId xmlns:a16="http://schemas.microsoft.com/office/drawing/2014/main" id="{60C7C7E2-D082-4F69-9132-2EA766A838E9}"/>
              </a:ext>
            </a:extLst>
          </p:cNvPr>
          <p:cNvPicPr>
            <a:picLocks noChangeAspect="1"/>
          </p:cNvPicPr>
          <p:nvPr/>
        </p:nvPicPr>
        <p:blipFill>
          <a:blip r:embed="rId4"/>
          <a:stretch>
            <a:fillRect/>
          </a:stretch>
        </p:blipFill>
        <p:spPr>
          <a:xfrm>
            <a:off x="5451881" y="2457972"/>
            <a:ext cx="3039198" cy="2256650"/>
          </a:xfrm>
          <a:prstGeom prst="rect">
            <a:avLst/>
          </a:prstGeom>
        </p:spPr>
      </p:pic>
      <p:sp>
        <p:nvSpPr>
          <p:cNvPr id="7" name="CuadroTexto 6">
            <a:extLst>
              <a:ext uri="{FF2B5EF4-FFF2-40B4-BE49-F238E27FC236}">
                <a16:creationId xmlns:a16="http://schemas.microsoft.com/office/drawing/2014/main" id="{C6D37933-C821-4047-B0CC-830319F7610B}"/>
              </a:ext>
            </a:extLst>
          </p:cNvPr>
          <p:cNvSpPr txBox="1"/>
          <p:nvPr/>
        </p:nvSpPr>
        <p:spPr>
          <a:xfrm>
            <a:off x="2403335" y="3560495"/>
            <a:ext cx="2087745" cy="430887"/>
          </a:xfrm>
          <a:prstGeom prst="rect">
            <a:avLst/>
          </a:prstGeom>
          <a:noFill/>
        </p:spPr>
        <p:txBody>
          <a:bodyPr wrap="square" rtlCol="0">
            <a:spAutoFit/>
          </a:bodyPr>
          <a:lstStyle/>
          <a:p>
            <a:pPr algn="ctr"/>
            <a:r>
              <a:rPr lang="es-ES" sz="1100" dirty="0">
                <a:solidFill>
                  <a:srgbClr val="7030A0"/>
                </a:solidFill>
              </a:rPr>
              <a:t>Versión del </a:t>
            </a:r>
            <a:r>
              <a:rPr lang="es-ES" sz="1100" dirty="0" err="1">
                <a:solidFill>
                  <a:srgbClr val="7030A0"/>
                </a:solidFill>
              </a:rPr>
              <a:t>kernel</a:t>
            </a:r>
            <a:r>
              <a:rPr lang="es-ES" sz="1100" dirty="0">
                <a:solidFill>
                  <a:srgbClr val="7030A0"/>
                </a:solidFill>
              </a:rPr>
              <a:t> de la distribución que estamos usando</a:t>
            </a:r>
          </a:p>
        </p:txBody>
      </p:sp>
      <p:cxnSp>
        <p:nvCxnSpPr>
          <p:cNvPr id="10" name="Conector recto de flecha 9">
            <a:extLst>
              <a:ext uri="{FF2B5EF4-FFF2-40B4-BE49-F238E27FC236}">
                <a16:creationId xmlns:a16="http://schemas.microsoft.com/office/drawing/2014/main" id="{92460D5C-158A-44DB-888C-9E5ED31F5AB0}"/>
              </a:ext>
            </a:extLst>
          </p:cNvPr>
          <p:cNvCxnSpPr>
            <a:cxnSpLocks/>
          </p:cNvCxnSpPr>
          <p:nvPr/>
        </p:nvCxnSpPr>
        <p:spPr>
          <a:xfrm flipH="1" flipV="1">
            <a:off x="3050697" y="2882022"/>
            <a:ext cx="372235" cy="695914"/>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2E4378A4-061F-4C86-8477-EE1B7D79503F}"/>
              </a:ext>
            </a:extLst>
          </p:cNvPr>
          <p:cNvSpPr txBox="1"/>
          <p:nvPr/>
        </p:nvSpPr>
        <p:spPr>
          <a:xfrm>
            <a:off x="6519422" y="2125218"/>
            <a:ext cx="1085554" cy="261610"/>
          </a:xfrm>
          <a:prstGeom prst="rect">
            <a:avLst/>
          </a:prstGeom>
          <a:noFill/>
        </p:spPr>
        <p:txBody>
          <a:bodyPr wrap="none" rtlCol="0">
            <a:spAutoFit/>
          </a:bodyPr>
          <a:lstStyle/>
          <a:p>
            <a:r>
              <a:rPr lang="es-ES" sz="1100" dirty="0">
                <a:solidFill>
                  <a:srgbClr val="7030A0"/>
                </a:solidFill>
              </a:rPr>
              <a:t>Repo en </a:t>
            </a:r>
            <a:r>
              <a:rPr lang="es-ES" sz="1100" dirty="0" err="1">
                <a:solidFill>
                  <a:srgbClr val="7030A0"/>
                </a:solidFill>
              </a:rPr>
              <a:t>github</a:t>
            </a:r>
            <a:r>
              <a:rPr lang="es-ES" sz="1100" dirty="0">
                <a:solidFill>
                  <a:srgbClr val="7030A0"/>
                </a:solidFill>
              </a:rPr>
              <a:t> </a:t>
            </a:r>
          </a:p>
        </p:txBody>
      </p:sp>
    </p:spTree>
    <p:extLst>
      <p:ext uri="{BB962C8B-B14F-4D97-AF65-F5344CB8AC3E}">
        <p14:creationId xmlns:p14="http://schemas.microsoft.com/office/powerpoint/2010/main" val="2993143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Proceso</a:t>
            </a:r>
          </a:p>
        </p:txBody>
      </p:sp>
      <p:pic>
        <p:nvPicPr>
          <p:cNvPr id="4" name="Imagen 3">
            <a:extLst>
              <a:ext uri="{FF2B5EF4-FFF2-40B4-BE49-F238E27FC236}">
                <a16:creationId xmlns:a16="http://schemas.microsoft.com/office/drawing/2014/main" id="{FF1AA585-FAFA-431D-B6C5-E98EAB878701}"/>
              </a:ext>
            </a:extLst>
          </p:cNvPr>
          <p:cNvPicPr>
            <a:picLocks noChangeAspect="1"/>
          </p:cNvPicPr>
          <p:nvPr/>
        </p:nvPicPr>
        <p:blipFill>
          <a:blip r:embed="rId3"/>
          <a:stretch>
            <a:fillRect/>
          </a:stretch>
        </p:blipFill>
        <p:spPr>
          <a:xfrm>
            <a:off x="1653377" y="1126142"/>
            <a:ext cx="3563227" cy="2891215"/>
          </a:xfrm>
          <a:prstGeom prst="rect">
            <a:avLst/>
          </a:prstGeom>
        </p:spPr>
      </p:pic>
      <p:sp>
        <p:nvSpPr>
          <p:cNvPr id="5" name="Rectángulo 4">
            <a:extLst>
              <a:ext uri="{FF2B5EF4-FFF2-40B4-BE49-F238E27FC236}">
                <a16:creationId xmlns:a16="http://schemas.microsoft.com/office/drawing/2014/main" id="{E990D198-91E6-4E0C-96A8-0AF6F44CB96D}"/>
              </a:ext>
            </a:extLst>
          </p:cNvPr>
          <p:cNvSpPr/>
          <p:nvPr/>
        </p:nvSpPr>
        <p:spPr>
          <a:xfrm>
            <a:off x="6323681" y="2885241"/>
            <a:ext cx="1460055" cy="116607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rgbClr val="002060"/>
                </a:solidFill>
              </a:rPr>
              <a:t>Código ejecutable ( también llamado </a:t>
            </a:r>
            <a:r>
              <a:rPr lang="es-ES" b="1" dirty="0">
                <a:solidFill>
                  <a:srgbClr val="002060"/>
                </a:solidFill>
              </a:rPr>
              <a:t>Texto</a:t>
            </a:r>
            <a:r>
              <a:rPr lang="es-ES" dirty="0">
                <a:solidFill>
                  <a:srgbClr val="002060"/>
                </a:solidFill>
              </a:rPr>
              <a:t> del proceso)</a:t>
            </a:r>
          </a:p>
        </p:txBody>
      </p:sp>
      <p:sp>
        <p:nvSpPr>
          <p:cNvPr id="6" name="Rectángulo 5">
            <a:extLst>
              <a:ext uri="{FF2B5EF4-FFF2-40B4-BE49-F238E27FC236}">
                <a16:creationId xmlns:a16="http://schemas.microsoft.com/office/drawing/2014/main" id="{E7A93EB7-E227-4C3C-9A23-A62955EECE58}"/>
              </a:ext>
            </a:extLst>
          </p:cNvPr>
          <p:cNvSpPr/>
          <p:nvPr/>
        </p:nvSpPr>
        <p:spPr>
          <a:xfrm>
            <a:off x="6323681" y="2289623"/>
            <a:ext cx="1460055" cy="59701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rgbClr val="002060"/>
                </a:solidFill>
              </a:rPr>
              <a:t>Variables globales</a:t>
            </a:r>
          </a:p>
        </p:txBody>
      </p:sp>
      <p:sp>
        <p:nvSpPr>
          <p:cNvPr id="10" name="Rectángulo 9">
            <a:extLst>
              <a:ext uri="{FF2B5EF4-FFF2-40B4-BE49-F238E27FC236}">
                <a16:creationId xmlns:a16="http://schemas.microsoft.com/office/drawing/2014/main" id="{8ED51BC5-8218-4A05-A013-7021DE5DC65B}"/>
              </a:ext>
            </a:extLst>
          </p:cNvPr>
          <p:cNvSpPr/>
          <p:nvPr/>
        </p:nvSpPr>
        <p:spPr>
          <a:xfrm>
            <a:off x="6323681" y="1788284"/>
            <a:ext cx="1460055" cy="51532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rgbClr val="002060"/>
                </a:solidFill>
              </a:rPr>
              <a:t>Heap</a:t>
            </a:r>
            <a:endParaRPr lang="es-ES" dirty="0">
              <a:solidFill>
                <a:srgbClr val="002060"/>
              </a:solidFill>
            </a:endParaRPr>
          </a:p>
        </p:txBody>
      </p:sp>
      <p:sp>
        <p:nvSpPr>
          <p:cNvPr id="12" name="Rectángulo 11">
            <a:extLst>
              <a:ext uri="{FF2B5EF4-FFF2-40B4-BE49-F238E27FC236}">
                <a16:creationId xmlns:a16="http://schemas.microsoft.com/office/drawing/2014/main" id="{B74E478E-6AB8-4D6C-9063-1E24AC48AC84}"/>
              </a:ext>
            </a:extLst>
          </p:cNvPr>
          <p:cNvSpPr/>
          <p:nvPr/>
        </p:nvSpPr>
        <p:spPr>
          <a:xfrm>
            <a:off x="6323681" y="855201"/>
            <a:ext cx="1460055" cy="51532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rgbClr val="002060"/>
                </a:solidFill>
              </a:rPr>
              <a:t>Stack</a:t>
            </a:r>
            <a:endParaRPr lang="es-ES" dirty="0">
              <a:solidFill>
                <a:srgbClr val="002060"/>
              </a:solidFill>
            </a:endParaRPr>
          </a:p>
        </p:txBody>
      </p:sp>
      <p:sp>
        <p:nvSpPr>
          <p:cNvPr id="13" name="Flecha: hacia abajo 12">
            <a:extLst>
              <a:ext uri="{FF2B5EF4-FFF2-40B4-BE49-F238E27FC236}">
                <a16:creationId xmlns:a16="http://schemas.microsoft.com/office/drawing/2014/main" id="{283B59D2-3AD8-42DC-94ED-459D9207ACAE}"/>
              </a:ext>
            </a:extLst>
          </p:cNvPr>
          <p:cNvSpPr/>
          <p:nvPr/>
        </p:nvSpPr>
        <p:spPr>
          <a:xfrm>
            <a:off x="7072051" y="1422254"/>
            <a:ext cx="261407" cy="159390"/>
          </a:xfrm>
          <a:prstGeom prst="down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5" name="Conector recto de flecha 14">
            <a:extLst>
              <a:ext uri="{FF2B5EF4-FFF2-40B4-BE49-F238E27FC236}">
                <a16:creationId xmlns:a16="http://schemas.microsoft.com/office/drawing/2014/main" id="{A93C514A-BE67-4EB1-BA45-4C7818988529}"/>
              </a:ext>
            </a:extLst>
          </p:cNvPr>
          <p:cNvCxnSpPr>
            <a:cxnSpLocks/>
          </p:cNvCxnSpPr>
          <p:nvPr/>
        </p:nvCxnSpPr>
        <p:spPr>
          <a:xfrm>
            <a:off x="2323750" y="1486361"/>
            <a:ext cx="3999931" cy="95985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66BD04BC-6774-4CF1-87C7-6297604FBF77}"/>
              </a:ext>
            </a:extLst>
          </p:cNvPr>
          <p:cNvSpPr/>
          <p:nvPr/>
        </p:nvSpPr>
        <p:spPr>
          <a:xfrm>
            <a:off x="1774644" y="2963332"/>
            <a:ext cx="3320692" cy="880844"/>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7" name="Conector recto de flecha 16">
            <a:extLst>
              <a:ext uri="{FF2B5EF4-FFF2-40B4-BE49-F238E27FC236}">
                <a16:creationId xmlns:a16="http://schemas.microsoft.com/office/drawing/2014/main" id="{EC66BF1F-7839-4ADD-8E8F-F929EC999017}"/>
              </a:ext>
            </a:extLst>
          </p:cNvPr>
          <p:cNvCxnSpPr>
            <a:cxnSpLocks/>
          </p:cNvCxnSpPr>
          <p:nvPr/>
        </p:nvCxnSpPr>
        <p:spPr>
          <a:xfrm flipV="1">
            <a:off x="5095336" y="3229511"/>
            <a:ext cx="1228345" cy="113421"/>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0" name="Rectángulo 19">
            <a:extLst>
              <a:ext uri="{FF2B5EF4-FFF2-40B4-BE49-F238E27FC236}">
                <a16:creationId xmlns:a16="http://schemas.microsoft.com/office/drawing/2014/main" id="{3138E9DB-54DF-4DB6-A480-6320FF5E9ECA}"/>
              </a:ext>
            </a:extLst>
          </p:cNvPr>
          <p:cNvSpPr/>
          <p:nvPr/>
        </p:nvSpPr>
        <p:spPr>
          <a:xfrm>
            <a:off x="1895911" y="2761490"/>
            <a:ext cx="1400962" cy="201842"/>
          </a:xfrm>
          <a:prstGeom prst="rect">
            <a:avLst/>
          </a:prstGeom>
          <a:noFill/>
          <a:ln>
            <a:solidFill>
              <a:srgbClr val="E79D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1" name="Conector recto de flecha 20">
            <a:extLst>
              <a:ext uri="{FF2B5EF4-FFF2-40B4-BE49-F238E27FC236}">
                <a16:creationId xmlns:a16="http://schemas.microsoft.com/office/drawing/2014/main" id="{BBB938DC-F416-4B44-A777-0C0D79E62A64}"/>
              </a:ext>
            </a:extLst>
          </p:cNvPr>
          <p:cNvCxnSpPr>
            <a:cxnSpLocks/>
            <a:endCxn id="12" idx="1"/>
          </p:cNvCxnSpPr>
          <p:nvPr/>
        </p:nvCxnSpPr>
        <p:spPr>
          <a:xfrm flipV="1">
            <a:off x="3286573" y="1112861"/>
            <a:ext cx="3037108" cy="1716442"/>
          </a:xfrm>
          <a:prstGeom prst="straightConnector1">
            <a:avLst/>
          </a:prstGeom>
          <a:ln w="28575">
            <a:solidFill>
              <a:srgbClr val="E79DE2"/>
            </a:solidFill>
            <a:tailEnd type="triangle"/>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9BA13E2E-5C24-4345-A38F-F92C8B402564}"/>
              </a:ext>
            </a:extLst>
          </p:cNvPr>
          <p:cNvSpPr txBox="1"/>
          <p:nvPr/>
        </p:nvSpPr>
        <p:spPr>
          <a:xfrm>
            <a:off x="1653377" y="4162594"/>
            <a:ext cx="6827893" cy="923330"/>
          </a:xfrm>
          <a:prstGeom prst="rect">
            <a:avLst/>
          </a:prstGeom>
          <a:noFill/>
        </p:spPr>
        <p:txBody>
          <a:bodyPr wrap="square" rtlCol="0">
            <a:spAutoFit/>
          </a:bodyPr>
          <a:lstStyle/>
          <a:p>
            <a:pPr algn="just"/>
            <a:r>
              <a:rPr lang="es-ES" dirty="0"/>
              <a:t>Un </a:t>
            </a:r>
            <a:r>
              <a:rPr lang="es-ES" b="1" dirty="0"/>
              <a:t>proceso</a:t>
            </a:r>
            <a:r>
              <a:rPr lang="es-ES" dirty="0"/>
              <a:t> tiene código máquina ejecutable (llamado Texto), datos estáticos y funciones que se llaman usando el </a:t>
            </a:r>
            <a:r>
              <a:rPr lang="es-ES" dirty="0" err="1"/>
              <a:t>stack</a:t>
            </a:r>
            <a:r>
              <a:rPr lang="es-ES" dirty="0"/>
              <a:t>. Los parámetros y variables de las funciones se instancian también en el </a:t>
            </a:r>
            <a:r>
              <a:rPr lang="es-ES" dirty="0" err="1"/>
              <a:t>stack</a:t>
            </a:r>
            <a:r>
              <a:rPr lang="es-ES" dirty="0"/>
              <a:t>. El </a:t>
            </a:r>
            <a:r>
              <a:rPr lang="es-ES" dirty="0" err="1"/>
              <a:t>heap</a:t>
            </a:r>
            <a:r>
              <a:rPr lang="es-ES" dirty="0"/>
              <a:t> se usa para el manejo de la memoria dinámica. La zona de texto y variables globales es de tamaño fijo, el </a:t>
            </a:r>
            <a:r>
              <a:rPr lang="es-ES" dirty="0" err="1"/>
              <a:t>stack</a:t>
            </a:r>
            <a:r>
              <a:rPr lang="es-ES" dirty="0"/>
              <a:t> y el </a:t>
            </a:r>
            <a:r>
              <a:rPr lang="es-ES" dirty="0" err="1"/>
              <a:t>heap</a:t>
            </a:r>
            <a:r>
              <a:rPr lang="es-ES" dirty="0"/>
              <a:t>, de tamaño variable.</a:t>
            </a:r>
          </a:p>
        </p:txBody>
      </p:sp>
      <p:sp>
        <p:nvSpPr>
          <p:cNvPr id="19" name="Rectángulo 18">
            <a:extLst>
              <a:ext uri="{FF2B5EF4-FFF2-40B4-BE49-F238E27FC236}">
                <a16:creationId xmlns:a16="http://schemas.microsoft.com/office/drawing/2014/main" id="{4861F774-F44F-4E9B-AE00-12B0646A1CF5}"/>
              </a:ext>
            </a:extLst>
          </p:cNvPr>
          <p:cNvSpPr/>
          <p:nvPr/>
        </p:nvSpPr>
        <p:spPr>
          <a:xfrm>
            <a:off x="7899294" y="855201"/>
            <a:ext cx="991519" cy="51532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002060"/>
                </a:solidFill>
              </a:rPr>
              <a:t>Pila</a:t>
            </a:r>
          </a:p>
        </p:txBody>
      </p:sp>
      <p:sp>
        <p:nvSpPr>
          <p:cNvPr id="22" name="Rectángulo 21">
            <a:extLst>
              <a:ext uri="{FF2B5EF4-FFF2-40B4-BE49-F238E27FC236}">
                <a16:creationId xmlns:a16="http://schemas.microsoft.com/office/drawing/2014/main" id="{26070BF3-DB05-4A51-A4FD-EB6A70345922}"/>
              </a:ext>
            </a:extLst>
          </p:cNvPr>
          <p:cNvSpPr/>
          <p:nvPr/>
        </p:nvSpPr>
        <p:spPr>
          <a:xfrm>
            <a:off x="7899293" y="1788283"/>
            <a:ext cx="991520" cy="109695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002060"/>
                </a:solidFill>
              </a:rPr>
              <a:t>Datos</a:t>
            </a:r>
          </a:p>
        </p:txBody>
      </p:sp>
      <p:sp>
        <p:nvSpPr>
          <p:cNvPr id="23" name="Rectángulo 22">
            <a:extLst>
              <a:ext uri="{FF2B5EF4-FFF2-40B4-BE49-F238E27FC236}">
                <a16:creationId xmlns:a16="http://schemas.microsoft.com/office/drawing/2014/main" id="{17ABAA4A-C1F4-489E-89E3-AC927A4A5233}"/>
              </a:ext>
            </a:extLst>
          </p:cNvPr>
          <p:cNvSpPr/>
          <p:nvPr/>
        </p:nvSpPr>
        <p:spPr>
          <a:xfrm>
            <a:off x="7899293" y="2885241"/>
            <a:ext cx="991520" cy="116607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solidFill>
                  <a:srgbClr val="002060"/>
                </a:solidFill>
              </a:rPr>
              <a:t>Texto</a:t>
            </a:r>
          </a:p>
        </p:txBody>
      </p:sp>
    </p:spTree>
    <p:extLst>
      <p:ext uri="{BB962C8B-B14F-4D97-AF65-F5344CB8AC3E}">
        <p14:creationId xmlns:p14="http://schemas.microsoft.com/office/powerpoint/2010/main" val="286758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Proceso</a:t>
            </a:r>
          </a:p>
        </p:txBody>
      </p:sp>
      <p:sp>
        <p:nvSpPr>
          <p:cNvPr id="24" name="CuadroTexto 23">
            <a:extLst>
              <a:ext uri="{FF2B5EF4-FFF2-40B4-BE49-F238E27FC236}">
                <a16:creationId xmlns:a16="http://schemas.microsoft.com/office/drawing/2014/main" id="{9BA13E2E-5C24-4345-A38F-F92C8B402564}"/>
              </a:ext>
            </a:extLst>
          </p:cNvPr>
          <p:cNvSpPr txBox="1"/>
          <p:nvPr/>
        </p:nvSpPr>
        <p:spPr>
          <a:xfrm>
            <a:off x="1619821" y="1008334"/>
            <a:ext cx="6827893" cy="2585323"/>
          </a:xfrm>
          <a:prstGeom prst="rect">
            <a:avLst/>
          </a:prstGeom>
          <a:noFill/>
        </p:spPr>
        <p:txBody>
          <a:bodyPr wrap="square" rtlCol="0">
            <a:spAutoFit/>
          </a:bodyPr>
          <a:lstStyle/>
          <a:p>
            <a:pPr algn="just"/>
            <a:r>
              <a:rPr lang="es-ES" dirty="0"/>
              <a:t>La unidad mínima de ejecución en una CPU es la instrucción de código máquina. Una vez que la Unidad de Control comienza su decodificación la instrucción tiene que completarse. Como consecuencia, solo un proceso puede estar en ejecución en cada instante para un mismo núcleo.</a:t>
            </a:r>
          </a:p>
          <a:p>
            <a:pPr algn="just"/>
            <a:endParaRPr lang="es-ES" dirty="0"/>
          </a:p>
          <a:p>
            <a:pPr algn="just"/>
            <a:r>
              <a:rPr lang="es-ES" dirty="0"/>
              <a:t>Como los procesos no están activos necesariamente todo el tiempo, el Sistema Operativo puede ir concediendo la CPU por turnos, de forma que da la sensación de que los procesos corren en paralelo, aunque siempre lo hacen secuencialmente.</a:t>
            </a:r>
          </a:p>
          <a:p>
            <a:pPr algn="just"/>
            <a:endParaRPr lang="es-ES" dirty="0"/>
          </a:p>
          <a:p>
            <a:pPr algn="just"/>
            <a:r>
              <a:rPr lang="es-ES" dirty="0"/>
              <a:t>Para que esto pueda ocurrir el Sistema Operativo tiene que ocupar la CPU en algún periodo. Esto ocurre cada vez que hay una interrupción, el proceso es desalojado y se ejecuta el </a:t>
            </a:r>
            <a:r>
              <a:rPr lang="es-ES" dirty="0" err="1"/>
              <a:t>kernel</a:t>
            </a:r>
            <a:r>
              <a:rPr lang="es-ES" dirty="0"/>
              <a:t>, que puede decidir conceder la CPU a otro proceso al terminar.</a:t>
            </a:r>
          </a:p>
        </p:txBody>
      </p:sp>
      <p:grpSp>
        <p:nvGrpSpPr>
          <p:cNvPr id="80" name="Grupo 79">
            <a:extLst>
              <a:ext uri="{FF2B5EF4-FFF2-40B4-BE49-F238E27FC236}">
                <a16:creationId xmlns:a16="http://schemas.microsoft.com/office/drawing/2014/main" id="{2F2AA928-BEEF-4C57-80B7-1A598F8845FB}"/>
              </a:ext>
            </a:extLst>
          </p:cNvPr>
          <p:cNvGrpSpPr/>
          <p:nvPr/>
        </p:nvGrpSpPr>
        <p:grpSpPr>
          <a:xfrm>
            <a:off x="2560527" y="4135166"/>
            <a:ext cx="4946480" cy="261257"/>
            <a:chOff x="2406761" y="3434986"/>
            <a:chExt cx="4946480" cy="261257"/>
          </a:xfrm>
        </p:grpSpPr>
        <p:sp>
          <p:nvSpPr>
            <p:cNvPr id="2" name="Rectángulo 1">
              <a:extLst>
                <a:ext uri="{FF2B5EF4-FFF2-40B4-BE49-F238E27FC236}">
                  <a16:creationId xmlns:a16="http://schemas.microsoft.com/office/drawing/2014/main" id="{0A58857E-64E2-4DA9-824A-AC95B92898EC}"/>
                </a:ext>
              </a:extLst>
            </p:cNvPr>
            <p:cNvSpPr/>
            <p:nvPr/>
          </p:nvSpPr>
          <p:spPr>
            <a:xfrm>
              <a:off x="2406761" y="3434986"/>
              <a:ext cx="156755" cy="261257"/>
            </a:xfrm>
            <a:prstGeom prst="rect">
              <a:avLst/>
            </a:prstGeom>
            <a:solidFill>
              <a:schemeClr val="accent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b="1" dirty="0">
                  <a:solidFill>
                    <a:schemeClr val="bg1"/>
                  </a:solidFill>
                </a:rPr>
                <a:t>A</a:t>
              </a:r>
            </a:p>
          </p:txBody>
        </p:sp>
        <p:sp>
          <p:nvSpPr>
            <p:cNvPr id="3" name="Rectángulo 2">
              <a:extLst>
                <a:ext uri="{FF2B5EF4-FFF2-40B4-BE49-F238E27FC236}">
                  <a16:creationId xmlns:a16="http://schemas.microsoft.com/office/drawing/2014/main" id="{7C6E49E5-27DD-4C2C-8DAF-5E0866A73CEA}"/>
                </a:ext>
              </a:extLst>
            </p:cNvPr>
            <p:cNvSpPr/>
            <p:nvPr/>
          </p:nvSpPr>
          <p:spPr>
            <a:xfrm>
              <a:off x="2559161" y="3434986"/>
              <a:ext cx="156755" cy="261257"/>
            </a:xfrm>
            <a:prstGeom prst="rect">
              <a:avLst/>
            </a:prstGeom>
            <a:solidFill>
              <a:schemeClr val="accent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7" name="Rectángulo 6">
              <a:extLst>
                <a:ext uri="{FF2B5EF4-FFF2-40B4-BE49-F238E27FC236}">
                  <a16:creationId xmlns:a16="http://schemas.microsoft.com/office/drawing/2014/main" id="{EC1EA34A-B102-4512-A5D4-732936AF21D1}"/>
                </a:ext>
              </a:extLst>
            </p:cNvPr>
            <p:cNvSpPr/>
            <p:nvPr/>
          </p:nvSpPr>
          <p:spPr>
            <a:xfrm>
              <a:off x="2715916" y="3434986"/>
              <a:ext cx="156755" cy="261257"/>
            </a:xfrm>
            <a:prstGeom prst="rect">
              <a:avLst/>
            </a:prstGeom>
            <a:solidFill>
              <a:schemeClr val="accent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9" name="Rectángulo 8">
              <a:extLst>
                <a:ext uri="{FF2B5EF4-FFF2-40B4-BE49-F238E27FC236}">
                  <a16:creationId xmlns:a16="http://schemas.microsoft.com/office/drawing/2014/main" id="{2DBC4845-AB1E-49B3-AC30-83F69717492C}"/>
                </a:ext>
              </a:extLst>
            </p:cNvPr>
            <p:cNvSpPr/>
            <p:nvPr/>
          </p:nvSpPr>
          <p:spPr>
            <a:xfrm>
              <a:off x="2868316" y="3434986"/>
              <a:ext cx="156755" cy="261257"/>
            </a:xfrm>
            <a:prstGeom prst="rect">
              <a:avLst/>
            </a:prstGeom>
            <a:solidFill>
              <a:schemeClr val="accent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11" name="Rectángulo 10">
              <a:extLst>
                <a:ext uri="{FF2B5EF4-FFF2-40B4-BE49-F238E27FC236}">
                  <a16:creationId xmlns:a16="http://schemas.microsoft.com/office/drawing/2014/main" id="{C3815DEF-EDCA-48FC-9498-4BCB16F6BFD2}"/>
                </a:ext>
              </a:extLst>
            </p:cNvPr>
            <p:cNvSpPr/>
            <p:nvPr/>
          </p:nvSpPr>
          <p:spPr>
            <a:xfrm>
              <a:off x="3025071" y="3434986"/>
              <a:ext cx="156755" cy="261257"/>
            </a:xfrm>
            <a:prstGeom prst="rect">
              <a:avLst/>
            </a:prstGeom>
            <a:solidFill>
              <a:schemeClr val="accent6">
                <a:lumMod val="75000"/>
              </a:schemeClr>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a:solidFill>
                    <a:schemeClr val="bg1"/>
                  </a:solidFill>
                </a:rPr>
                <a:t>C</a:t>
              </a:r>
              <a:endParaRPr lang="es-ES" sz="1200" b="1" dirty="0">
                <a:solidFill>
                  <a:schemeClr val="bg1"/>
                </a:solidFill>
              </a:endParaRPr>
            </a:p>
          </p:txBody>
        </p:sp>
        <p:sp>
          <p:nvSpPr>
            <p:cNvPr id="14" name="Rectángulo 13">
              <a:extLst>
                <a:ext uri="{FF2B5EF4-FFF2-40B4-BE49-F238E27FC236}">
                  <a16:creationId xmlns:a16="http://schemas.microsoft.com/office/drawing/2014/main" id="{DF7B6C1D-6249-463B-8C7E-41E728D2C338}"/>
                </a:ext>
              </a:extLst>
            </p:cNvPr>
            <p:cNvSpPr/>
            <p:nvPr/>
          </p:nvSpPr>
          <p:spPr>
            <a:xfrm>
              <a:off x="3177471" y="3434986"/>
              <a:ext cx="156755" cy="261257"/>
            </a:xfrm>
            <a:prstGeom prst="rect">
              <a:avLst/>
            </a:prstGeom>
            <a:solidFill>
              <a:schemeClr val="accent6">
                <a:lumMod val="75000"/>
              </a:schemeClr>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b="1" dirty="0">
                <a:solidFill>
                  <a:schemeClr val="bg1"/>
                </a:solidFill>
              </a:endParaRPr>
            </a:p>
          </p:txBody>
        </p:sp>
        <p:sp>
          <p:nvSpPr>
            <p:cNvPr id="28" name="Rectángulo 27">
              <a:extLst>
                <a:ext uri="{FF2B5EF4-FFF2-40B4-BE49-F238E27FC236}">
                  <a16:creationId xmlns:a16="http://schemas.microsoft.com/office/drawing/2014/main" id="{573DE60F-5C8D-40BB-9DAE-5445D7AAC417}"/>
                </a:ext>
              </a:extLst>
            </p:cNvPr>
            <p:cNvSpPr/>
            <p:nvPr/>
          </p:nvSpPr>
          <p:spPr>
            <a:xfrm>
              <a:off x="3334226" y="3434986"/>
              <a:ext cx="156755" cy="261257"/>
            </a:xfrm>
            <a:prstGeom prst="rect">
              <a:avLst/>
            </a:prstGeom>
            <a:solidFill>
              <a:schemeClr val="accent6">
                <a:lumMod val="75000"/>
              </a:schemeClr>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30" name="Rectángulo 29">
              <a:extLst>
                <a:ext uri="{FF2B5EF4-FFF2-40B4-BE49-F238E27FC236}">
                  <a16:creationId xmlns:a16="http://schemas.microsoft.com/office/drawing/2014/main" id="{24417C8F-CBA4-420D-B48C-EDCD1528532A}"/>
                </a:ext>
              </a:extLst>
            </p:cNvPr>
            <p:cNvSpPr/>
            <p:nvPr/>
          </p:nvSpPr>
          <p:spPr>
            <a:xfrm>
              <a:off x="3486626" y="3434986"/>
              <a:ext cx="156755" cy="261257"/>
            </a:xfrm>
            <a:prstGeom prst="rect">
              <a:avLst/>
            </a:prstGeom>
            <a:solidFill>
              <a:schemeClr val="accent6">
                <a:lumMod val="75000"/>
              </a:schemeClr>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32" name="Rectángulo 31">
              <a:extLst>
                <a:ext uri="{FF2B5EF4-FFF2-40B4-BE49-F238E27FC236}">
                  <a16:creationId xmlns:a16="http://schemas.microsoft.com/office/drawing/2014/main" id="{EADA8EB9-2036-4E35-8040-4D62085FEC2B}"/>
                </a:ext>
              </a:extLst>
            </p:cNvPr>
            <p:cNvSpPr/>
            <p:nvPr/>
          </p:nvSpPr>
          <p:spPr>
            <a:xfrm>
              <a:off x="3643381" y="3434986"/>
              <a:ext cx="156755" cy="261257"/>
            </a:xfrm>
            <a:prstGeom prst="rect">
              <a:avLst/>
            </a:prstGeom>
            <a:solidFill>
              <a:schemeClr val="accent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b="1" dirty="0">
                  <a:solidFill>
                    <a:schemeClr val="bg1"/>
                  </a:solidFill>
                </a:rPr>
                <a:t>A</a:t>
              </a:r>
            </a:p>
          </p:txBody>
        </p:sp>
        <p:sp>
          <p:nvSpPr>
            <p:cNvPr id="34" name="Rectángulo 33">
              <a:extLst>
                <a:ext uri="{FF2B5EF4-FFF2-40B4-BE49-F238E27FC236}">
                  <a16:creationId xmlns:a16="http://schemas.microsoft.com/office/drawing/2014/main" id="{9EE4ADE7-5737-4514-AF23-62954E72B6C8}"/>
                </a:ext>
              </a:extLst>
            </p:cNvPr>
            <p:cNvSpPr/>
            <p:nvPr/>
          </p:nvSpPr>
          <p:spPr>
            <a:xfrm>
              <a:off x="3795600" y="3434986"/>
              <a:ext cx="156755" cy="261257"/>
            </a:xfrm>
            <a:prstGeom prst="rect">
              <a:avLst/>
            </a:prstGeom>
            <a:solidFill>
              <a:schemeClr val="accent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36" name="Rectángulo 35">
              <a:extLst>
                <a:ext uri="{FF2B5EF4-FFF2-40B4-BE49-F238E27FC236}">
                  <a16:creationId xmlns:a16="http://schemas.microsoft.com/office/drawing/2014/main" id="{3DF97350-37C7-473D-8417-22651181B415}"/>
                </a:ext>
              </a:extLst>
            </p:cNvPr>
            <p:cNvSpPr/>
            <p:nvPr/>
          </p:nvSpPr>
          <p:spPr>
            <a:xfrm>
              <a:off x="3952355" y="3434986"/>
              <a:ext cx="156755" cy="261257"/>
            </a:xfrm>
            <a:prstGeom prst="rect">
              <a:avLst/>
            </a:prstGeom>
            <a:solidFill>
              <a:schemeClr val="accent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38" name="Rectángulo 37">
              <a:extLst>
                <a:ext uri="{FF2B5EF4-FFF2-40B4-BE49-F238E27FC236}">
                  <a16:creationId xmlns:a16="http://schemas.microsoft.com/office/drawing/2014/main" id="{E381741B-51FC-4480-802F-B89B5F947AEC}"/>
                </a:ext>
              </a:extLst>
            </p:cNvPr>
            <p:cNvSpPr/>
            <p:nvPr/>
          </p:nvSpPr>
          <p:spPr>
            <a:xfrm>
              <a:off x="4104936" y="3434986"/>
              <a:ext cx="156755" cy="261257"/>
            </a:xfrm>
            <a:prstGeom prst="rect">
              <a:avLst/>
            </a:prstGeom>
            <a:solidFill>
              <a:schemeClr val="accent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40" name="Rectángulo 39">
              <a:extLst>
                <a:ext uri="{FF2B5EF4-FFF2-40B4-BE49-F238E27FC236}">
                  <a16:creationId xmlns:a16="http://schemas.microsoft.com/office/drawing/2014/main" id="{9B81071F-0B16-4F02-B09B-8356CC2BABED}"/>
                </a:ext>
              </a:extLst>
            </p:cNvPr>
            <p:cNvSpPr/>
            <p:nvPr/>
          </p:nvSpPr>
          <p:spPr>
            <a:xfrm>
              <a:off x="4261691" y="3434986"/>
              <a:ext cx="156755" cy="261257"/>
            </a:xfrm>
            <a:prstGeom prst="rect">
              <a:avLst/>
            </a:prstGeom>
            <a:solidFill>
              <a:srgbClr val="E79DE2"/>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100" b="1" dirty="0">
                  <a:solidFill>
                    <a:schemeClr val="bg1"/>
                  </a:solidFill>
                </a:rPr>
                <a:t>D</a:t>
              </a:r>
            </a:p>
          </p:txBody>
        </p:sp>
        <p:sp>
          <p:nvSpPr>
            <p:cNvPr id="42" name="Rectángulo 41">
              <a:extLst>
                <a:ext uri="{FF2B5EF4-FFF2-40B4-BE49-F238E27FC236}">
                  <a16:creationId xmlns:a16="http://schemas.microsoft.com/office/drawing/2014/main" id="{7207179A-4B3D-4961-B4C8-8742F56EEEBC}"/>
                </a:ext>
              </a:extLst>
            </p:cNvPr>
            <p:cNvSpPr/>
            <p:nvPr/>
          </p:nvSpPr>
          <p:spPr>
            <a:xfrm>
              <a:off x="4414091" y="3434986"/>
              <a:ext cx="156755" cy="261257"/>
            </a:xfrm>
            <a:prstGeom prst="rect">
              <a:avLst/>
            </a:prstGeom>
            <a:solidFill>
              <a:srgbClr val="E79DE2"/>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44" name="Rectángulo 43">
              <a:extLst>
                <a:ext uri="{FF2B5EF4-FFF2-40B4-BE49-F238E27FC236}">
                  <a16:creationId xmlns:a16="http://schemas.microsoft.com/office/drawing/2014/main" id="{79BCBC7A-AC37-4CFC-9099-4A7CA5228434}"/>
                </a:ext>
              </a:extLst>
            </p:cNvPr>
            <p:cNvSpPr/>
            <p:nvPr/>
          </p:nvSpPr>
          <p:spPr>
            <a:xfrm>
              <a:off x="4570846" y="3434986"/>
              <a:ext cx="156755" cy="261257"/>
            </a:xfrm>
            <a:prstGeom prst="rect">
              <a:avLst/>
            </a:prstGeom>
            <a:solidFill>
              <a:srgbClr val="E79DE2"/>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46" name="Rectángulo 45">
              <a:extLst>
                <a:ext uri="{FF2B5EF4-FFF2-40B4-BE49-F238E27FC236}">
                  <a16:creationId xmlns:a16="http://schemas.microsoft.com/office/drawing/2014/main" id="{F422F649-C878-406F-B069-9CB19B91C683}"/>
                </a:ext>
              </a:extLst>
            </p:cNvPr>
            <p:cNvSpPr/>
            <p:nvPr/>
          </p:nvSpPr>
          <p:spPr>
            <a:xfrm>
              <a:off x="4723246" y="3434986"/>
              <a:ext cx="156755" cy="261257"/>
            </a:xfrm>
            <a:prstGeom prst="rect">
              <a:avLst/>
            </a:prstGeom>
            <a:solidFill>
              <a:srgbClr val="E79DE2"/>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48" name="Rectángulo 47">
              <a:extLst>
                <a:ext uri="{FF2B5EF4-FFF2-40B4-BE49-F238E27FC236}">
                  <a16:creationId xmlns:a16="http://schemas.microsoft.com/office/drawing/2014/main" id="{62A7F757-E691-4884-8FA2-074878D7ECC6}"/>
                </a:ext>
              </a:extLst>
            </p:cNvPr>
            <p:cNvSpPr/>
            <p:nvPr/>
          </p:nvSpPr>
          <p:spPr>
            <a:xfrm>
              <a:off x="4880001" y="3434986"/>
              <a:ext cx="156755" cy="261257"/>
            </a:xfrm>
            <a:prstGeom prst="rect">
              <a:avLst/>
            </a:prstGeom>
            <a:solidFill>
              <a:schemeClr val="accent2"/>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dirty="0">
                  <a:solidFill>
                    <a:schemeClr val="bg1"/>
                  </a:solidFill>
                </a:rPr>
                <a:t>B</a:t>
              </a:r>
            </a:p>
          </p:txBody>
        </p:sp>
        <p:sp>
          <p:nvSpPr>
            <p:cNvPr id="50" name="Rectángulo 49">
              <a:extLst>
                <a:ext uri="{FF2B5EF4-FFF2-40B4-BE49-F238E27FC236}">
                  <a16:creationId xmlns:a16="http://schemas.microsoft.com/office/drawing/2014/main" id="{3FEA3A67-A9CF-45C2-B031-C6BDB7FF8FC3}"/>
                </a:ext>
              </a:extLst>
            </p:cNvPr>
            <p:cNvSpPr/>
            <p:nvPr/>
          </p:nvSpPr>
          <p:spPr>
            <a:xfrm>
              <a:off x="5032401" y="3434986"/>
              <a:ext cx="156755" cy="261257"/>
            </a:xfrm>
            <a:prstGeom prst="rect">
              <a:avLst/>
            </a:prstGeom>
            <a:solidFill>
              <a:schemeClr val="accent2"/>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52" name="Rectángulo 51">
              <a:extLst>
                <a:ext uri="{FF2B5EF4-FFF2-40B4-BE49-F238E27FC236}">
                  <a16:creationId xmlns:a16="http://schemas.microsoft.com/office/drawing/2014/main" id="{B53E8B52-5454-4492-993F-02377E3253D0}"/>
                </a:ext>
              </a:extLst>
            </p:cNvPr>
            <p:cNvSpPr/>
            <p:nvPr/>
          </p:nvSpPr>
          <p:spPr>
            <a:xfrm>
              <a:off x="5189156" y="3434986"/>
              <a:ext cx="156755" cy="261257"/>
            </a:xfrm>
            <a:prstGeom prst="rect">
              <a:avLst/>
            </a:prstGeom>
            <a:solidFill>
              <a:srgbClr val="ED7D3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100" b="1" dirty="0">
                <a:solidFill>
                  <a:schemeClr val="bg1"/>
                </a:solidFill>
              </a:endParaRPr>
            </a:p>
          </p:txBody>
        </p:sp>
        <p:sp>
          <p:nvSpPr>
            <p:cNvPr id="54" name="Rectángulo 53">
              <a:extLst>
                <a:ext uri="{FF2B5EF4-FFF2-40B4-BE49-F238E27FC236}">
                  <a16:creationId xmlns:a16="http://schemas.microsoft.com/office/drawing/2014/main" id="{CA9CB74C-1C46-4EA2-905E-C30A37FD1990}"/>
                </a:ext>
              </a:extLst>
            </p:cNvPr>
            <p:cNvSpPr/>
            <p:nvPr/>
          </p:nvSpPr>
          <p:spPr>
            <a:xfrm>
              <a:off x="5341556" y="3434986"/>
              <a:ext cx="156755" cy="261257"/>
            </a:xfrm>
            <a:prstGeom prst="rect">
              <a:avLst/>
            </a:prstGeom>
            <a:solidFill>
              <a:srgbClr val="ED7D3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56" name="Rectángulo 55">
              <a:extLst>
                <a:ext uri="{FF2B5EF4-FFF2-40B4-BE49-F238E27FC236}">
                  <a16:creationId xmlns:a16="http://schemas.microsoft.com/office/drawing/2014/main" id="{7CF3E098-3C44-4AD5-88D1-A23EB0567F2B}"/>
                </a:ext>
              </a:extLst>
            </p:cNvPr>
            <p:cNvSpPr/>
            <p:nvPr/>
          </p:nvSpPr>
          <p:spPr>
            <a:xfrm>
              <a:off x="5498311" y="3434986"/>
              <a:ext cx="156755" cy="261257"/>
            </a:xfrm>
            <a:prstGeom prst="rect">
              <a:avLst/>
            </a:prstGeom>
            <a:solidFill>
              <a:srgbClr val="E79DE2"/>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b="1">
                  <a:solidFill>
                    <a:schemeClr val="bg1"/>
                  </a:solidFill>
                </a:rPr>
                <a:t>D</a:t>
              </a:r>
              <a:endParaRPr lang="es-ES" sz="1400" b="1" dirty="0">
                <a:solidFill>
                  <a:schemeClr val="bg1"/>
                </a:solidFill>
              </a:endParaRPr>
            </a:p>
          </p:txBody>
        </p:sp>
        <p:sp>
          <p:nvSpPr>
            <p:cNvPr id="58" name="Rectángulo 57">
              <a:extLst>
                <a:ext uri="{FF2B5EF4-FFF2-40B4-BE49-F238E27FC236}">
                  <a16:creationId xmlns:a16="http://schemas.microsoft.com/office/drawing/2014/main" id="{7AEA4274-D509-4398-B510-B878725F1247}"/>
                </a:ext>
              </a:extLst>
            </p:cNvPr>
            <p:cNvSpPr/>
            <p:nvPr/>
          </p:nvSpPr>
          <p:spPr>
            <a:xfrm>
              <a:off x="5650711" y="3434986"/>
              <a:ext cx="156755" cy="261257"/>
            </a:xfrm>
            <a:prstGeom prst="rect">
              <a:avLst/>
            </a:prstGeom>
            <a:solidFill>
              <a:srgbClr val="E79DE2"/>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60" name="Rectángulo 59">
              <a:extLst>
                <a:ext uri="{FF2B5EF4-FFF2-40B4-BE49-F238E27FC236}">
                  <a16:creationId xmlns:a16="http://schemas.microsoft.com/office/drawing/2014/main" id="{5738B19E-6D7D-4336-9DCA-A2BCBFDFAFFE}"/>
                </a:ext>
              </a:extLst>
            </p:cNvPr>
            <p:cNvSpPr/>
            <p:nvPr/>
          </p:nvSpPr>
          <p:spPr>
            <a:xfrm>
              <a:off x="5807466" y="3434986"/>
              <a:ext cx="156755" cy="261257"/>
            </a:xfrm>
            <a:prstGeom prst="rect">
              <a:avLst/>
            </a:prstGeom>
            <a:solidFill>
              <a:srgbClr val="ED7D3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b="1">
                  <a:solidFill>
                    <a:schemeClr val="bg1"/>
                  </a:solidFill>
                </a:rPr>
                <a:t>B</a:t>
              </a:r>
              <a:endParaRPr lang="es-ES" sz="1200" b="1" dirty="0">
                <a:solidFill>
                  <a:schemeClr val="bg1"/>
                </a:solidFill>
              </a:endParaRPr>
            </a:p>
          </p:txBody>
        </p:sp>
        <p:sp>
          <p:nvSpPr>
            <p:cNvPr id="62" name="Rectángulo 61">
              <a:extLst>
                <a:ext uri="{FF2B5EF4-FFF2-40B4-BE49-F238E27FC236}">
                  <a16:creationId xmlns:a16="http://schemas.microsoft.com/office/drawing/2014/main" id="{12FA6E34-F974-4B75-8D59-9C9D68A20979}"/>
                </a:ext>
              </a:extLst>
            </p:cNvPr>
            <p:cNvSpPr/>
            <p:nvPr/>
          </p:nvSpPr>
          <p:spPr>
            <a:xfrm>
              <a:off x="5959866" y="3434986"/>
              <a:ext cx="156755" cy="261257"/>
            </a:xfrm>
            <a:prstGeom prst="rect">
              <a:avLst/>
            </a:prstGeom>
            <a:solidFill>
              <a:srgbClr val="ED7D3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64" name="Rectángulo 63">
              <a:extLst>
                <a:ext uri="{FF2B5EF4-FFF2-40B4-BE49-F238E27FC236}">
                  <a16:creationId xmlns:a16="http://schemas.microsoft.com/office/drawing/2014/main" id="{BB22169B-0228-434E-8707-D88E2005E6D2}"/>
                </a:ext>
              </a:extLst>
            </p:cNvPr>
            <p:cNvSpPr/>
            <p:nvPr/>
          </p:nvSpPr>
          <p:spPr>
            <a:xfrm>
              <a:off x="6116621" y="3434986"/>
              <a:ext cx="156755" cy="261257"/>
            </a:xfrm>
            <a:prstGeom prst="rect">
              <a:avLst/>
            </a:prstGeom>
            <a:solidFill>
              <a:srgbClr val="ED7D31"/>
            </a:solid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66" name="Rectángulo 65">
              <a:extLst>
                <a:ext uri="{FF2B5EF4-FFF2-40B4-BE49-F238E27FC236}">
                  <a16:creationId xmlns:a16="http://schemas.microsoft.com/office/drawing/2014/main" id="{EAD9EAB1-2E82-4D24-8BDC-438BE3E9C77B}"/>
                </a:ext>
              </a:extLst>
            </p:cNvPr>
            <p:cNvSpPr/>
            <p:nvPr/>
          </p:nvSpPr>
          <p:spPr>
            <a:xfrm>
              <a:off x="6269021" y="3434986"/>
              <a:ext cx="156755" cy="261257"/>
            </a:xfrm>
            <a:prstGeom prst="rect">
              <a:avLst/>
            </a:prstGeom>
            <a:no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68" name="Rectángulo 67">
              <a:extLst>
                <a:ext uri="{FF2B5EF4-FFF2-40B4-BE49-F238E27FC236}">
                  <a16:creationId xmlns:a16="http://schemas.microsoft.com/office/drawing/2014/main" id="{4848CAA8-4B9A-4ED0-AE72-EA210CD0FE90}"/>
                </a:ext>
              </a:extLst>
            </p:cNvPr>
            <p:cNvSpPr/>
            <p:nvPr/>
          </p:nvSpPr>
          <p:spPr>
            <a:xfrm>
              <a:off x="6425776" y="3434986"/>
              <a:ext cx="156755" cy="261257"/>
            </a:xfrm>
            <a:prstGeom prst="rect">
              <a:avLst/>
            </a:prstGeom>
            <a:no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70" name="Rectángulo 69">
              <a:extLst>
                <a:ext uri="{FF2B5EF4-FFF2-40B4-BE49-F238E27FC236}">
                  <a16:creationId xmlns:a16="http://schemas.microsoft.com/office/drawing/2014/main" id="{AEA01F2A-6A77-41A6-A8C2-37291AC4B4CE}"/>
                </a:ext>
              </a:extLst>
            </p:cNvPr>
            <p:cNvSpPr/>
            <p:nvPr/>
          </p:nvSpPr>
          <p:spPr>
            <a:xfrm>
              <a:off x="6578176" y="3434986"/>
              <a:ext cx="156755" cy="261257"/>
            </a:xfrm>
            <a:prstGeom prst="rect">
              <a:avLst/>
            </a:prstGeom>
            <a:no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72" name="Rectángulo 71">
              <a:extLst>
                <a:ext uri="{FF2B5EF4-FFF2-40B4-BE49-F238E27FC236}">
                  <a16:creationId xmlns:a16="http://schemas.microsoft.com/office/drawing/2014/main" id="{80C49814-3092-4D63-AA84-A131C1993A94}"/>
                </a:ext>
              </a:extLst>
            </p:cNvPr>
            <p:cNvSpPr/>
            <p:nvPr/>
          </p:nvSpPr>
          <p:spPr>
            <a:xfrm>
              <a:off x="6734931" y="3434986"/>
              <a:ext cx="156755" cy="261257"/>
            </a:xfrm>
            <a:prstGeom prst="rect">
              <a:avLst/>
            </a:prstGeom>
            <a:no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74" name="Rectángulo 73">
              <a:extLst>
                <a:ext uri="{FF2B5EF4-FFF2-40B4-BE49-F238E27FC236}">
                  <a16:creationId xmlns:a16="http://schemas.microsoft.com/office/drawing/2014/main" id="{2C28106A-9EA0-4794-8CC2-BB2414B9CDCE}"/>
                </a:ext>
              </a:extLst>
            </p:cNvPr>
            <p:cNvSpPr/>
            <p:nvPr/>
          </p:nvSpPr>
          <p:spPr>
            <a:xfrm>
              <a:off x="6887331" y="3434986"/>
              <a:ext cx="156755" cy="261257"/>
            </a:xfrm>
            <a:prstGeom prst="rect">
              <a:avLst/>
            </a:prstGeom>
            <a:no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76" name="Rectángulo 75">
              <a:extLst>
                <a:ext uri="{FF2B5EF4-FFF2-40B4-BE49-F238E27FC236}">
                  <a16:creationId xmlns:a16="http://schemas.microsoft.com/office/drawing/2014/main" id="{5738F7C0-C399-41B8-A5D5-6A9CC382608D}"/>
                </a:ext>
              </a:extLst>
            </p:cNvPr>
            <p:cNvSpPr/>
            <p:nvPr/>
          </p:nvSpPr>
          <p:spPr>
            <a:xfrm>
              <a:off x="7044086" y="3434986"/>
              <a:ext cx="156755" cy="261257"/>
            </a:xfrm>
            <a:prstGeom prst="rect">
              <a:avLst/>
            </a:prstGeom>
            <a:no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sp>
          <p:nvSpPr>
            <p:cNvPr id="78" name="Rectángulo 77">
              <a:extLst>
                <a:ext uri="{FF2B5EF4-FFF2-40B4-BE49-F238E27FC236}">
                  <a16:creationId xmlns:a16="http://schemas.microsoft.com/office/drawing/2014/main" id="{80310DEF-DCED-41FE-81EB-84793AB3F220}"/>
                </a:ext>
              </a:extLst>
            </p:cNvPr>
            <p:cNvSpPr/>
            <p:nvPr/>
          </p:nvSpPr>
          <p:spPr>
            <a:xfrm>
              <a:off x="7196486" y="3434986"/>
              <a:ext cx="156755" cy="261257"/>
            </a:xfrm>
            <a:prstGeom prst="rect">
              <a:avLst/>
            </a:prstGeom>
            <a:noFill/>
            <a:ln w="28575">
              <a:solidFill>
                <a:schemeClr val="bg2">
                  <a:lumMod val="9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lumMod val="65000"/>
                    <a:lumOff val="35000"/>
                  </a:schemeClr>
                </a:solidFill>
              </a:endParaRPr>
            </a:p>
          </p:txBody>
        </p:sp>
      </p:grpSp>
      <p:sp>
        <p:nvSpPr>
          <p:cNvPr id="79" name="CuadroTexto 78">
            <a:extLst>
              <a:ext uri="{FF2B5EF4-FFF2-40B4-BE49-F238E27FC236}">
                <a16:creationId xmlns:a16="http://schemas.microsoft.com/office/drawing/2014/main" id="{EB583F7E-D1A7-4DEC-8FFD-4C98BEB383F2}"/>
              </a:ext>
            </a:extLst>
          </p:cNvPr>
          <p:cNvSpPr txBox="1"/>
          <p:nvPr/>
        </p:nvSpPr>
        <p:spPr>
          <a:xfrm>
            <a:off x="3358791" y="4637901"/>
            <a:ext cx="3297762" cy="276999"/>
          </a:xfrm>
          <a:prstGeom prst="rect">
            <a:avLst/>
          </a:prstGeom>
          <a:noFill/>
        </p:spPr>
        <p:txBody>
          <a:bodyPr wrap="none" rtlCol="0">
            <a:spAutoFit/>
          </a:bodyPr>
          <a:lstStyle/>
          <a:p>
            <a:r>
              <a:rPr lang="es-ES" sz="1200" dirty="0"/>
              <a:t>Ejecución paralela de cuatro procesos en una CPU</a:t>
            </a:r>
          </a:p>
        </p:txBody>
      </p:sp>
    </p:spTree>
    <p:extLst>
      <p:ext uri="{BB962C8B-B14F-4D97-AF65-F5344CB8AC3E}">
        <p14:creationId xmlns:p14="http://schemas.microsoft.com/office/powerpoint/2010/main" val="169764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Proceso</a:t>
            </a:r>
          </a:p>
        </p:txBody>
      </p:sp>
      <p:pic>
        <p:nvPicPr>
          <p:cNvPr id="4" name="Imagen 3">
            <a:extLst>
              <a:ext uri="{FF2B5EF4-FFF2-40B4-BE49-F238E27FC236}">
                <a16:creationId xmlns:a16="http://schemas.microsoft.com/office/drawing/2014/main" id="{99A6153F-3366-486F-AE34-6960D2DE012A}"/>
              </a:ext>
            </a:extLst>
          </p:cNvPr>
          <p:cNvPicPr>
            <a:picLocks noChangeAspect="1"/>
          </p:cNvPicPr>
          <p:nvPr/>
        </p:nvPicPr>
        <p:blipFill>
          <a:blip r:embed="rId3"/>
          <a:stretch>
            <a:fillRect/>
          </a:stretch>
        </p:blipFill>
        <p:spPr>
          <a:xfrm>
            <a:off x="2450051" y="870024"/>
            <a:ext cx="4751331" cy="2480122"/>
          </a:xfrm>
          <a:prstGeom prst="rect">
            <a:avLst/>
          </a:prstGeom>
        </p:spPr>
      </p:pic>
      <p:sp>
        <p:nvSpPr>
          <p:cNvPr id="5" name="CuadroTexto 4">
            <a:extLst>
              <a:ext uri="{FF2B5EF4-FFF2-40B4-BE49-F238E27FC236}">
                <a16:creationId xmlns:a16="http://schemas.microsoft.com/office/drawing/2014/main" id="{147DDC59-92FD-4558-A541-59E4F8E15F98}"/>
              </a:ext>
            </a:extLst>
          </p:cNvPr>
          <p:cNvSpPr txBox="1"/>
          <p:nvPr/>
        </p:nvSpPr>
        <p:spPr>
          <a:xfrm>
            <a:off x="1812768" y="3576072"/>
            <a:ext cx="6827893" cy="1338828"/>
          </a:xfrm>
          <a:prstGeom prst="rect">
            <a:avLst/>
          </a:prstGeom>
          <a:noFill/>
        </p:spPr>
        <p:txBody>
          <a:bodyPr wrap="square" rtlCol="0">
            <a:spAutoFit/>
          </a:bodyPr>
          <a:lstStyle/>
          <a:p>
            <a:pPr algn="just"/>
            <a:r>
              <a:rPr lang="es-ES" dirty="0"/>
              <a:t>El ciclo de vida de un proceso se puede representar mediante una máquina de estados. En cada instante solo hay un proceso en ejecución. Todos los demás que podrían estar ocupando la CPU se encuentran en una cola, en el estado Listo. El proceso en ejecución se bloquea (también se dice que “duerme”) cuando invoca una operación de entrada/salida de duración imprevisible, como una lectura desde teclado. Queda en ese estado, sin consumir CPU hasta que se produce el evento y el Sistema Operativo lo pasa a la cola de procesos listos para ejecución.</a:t>
            </a:r>
          </a:p>
        </p:txBody>
      </p:sp>
    </p:spTree>
    <p:extLst>
      <p:ext uri="{BB962C8B-B14F-4D97-AF65-F5344CB8AC3E}">
        <p14:creationId xmlns:p14="http://schemas.microsoft.com/office/powerpoint/2010/main" val="2883039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Arranque del sistema operativo</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17650" y="1107688"/>
            <a:ext cx="7097844" cy="2677656"/>
          </a:xfrm>
          <a:prstGeom prst="rect">
            <a:avLst/>
          </a:prstGeom>
          <a:noFill/>
        </p:spPr>
        <p:txBody>
          <a:bodyPr wrap="square" rtlCol="0">
            <a:spAutoFit/>
          </a:bodyPr>
          <a:lstStyle/>
          <a:p>
            <a:r>
              <a:rPr lang="es-ES" dirty="0"/>
              <a:t>Desde que ponemos en marcha un equipo hasta que el sistema está plenamente operativo sucede una secuencia compleja de eventos.</a:t>
            </a:r>
          </a:p>
          <a:p>
            <a:endParaRPr lang="es-ES" dirty="0"/>
          </a:p>
          <a:p>
            <a:r>
              <a:rPr lang="es-ES" b="1" u="sng" dirty="0"/>
              <a:t>1 </a:t>
            </a:r>
            <a:r>
              <a:rPr lang="es-ES" b="1" u="sng" dirty="0" err="1"/>
              <a:t>Reset</a:t>
            </a:r>
            <a:endParaRPr lang="es-ES" b="1" u="sng" dirty="0"/>
          </a:p>
          <a:p>
            <a:endParaRPr lang="es-ES" b="1" u="sng" dirty="0"/>
          </a:p>
          <a:p>
            <a:r>
              <a:rPr lang="es-ES" dirty="0"/>
              <a:t>Cuando el ordenador se enciende, el microprocesador recibe una señal por el pin de RESET. El efecto de esta señal es dar a todos los registros un valor inicial, incluyendo el contador de programa. Así se consigue que la CPU empiece a ejecutar código máquina, siempre el situado en esa dirección especial, donde normalmente habrá un salto hacia la rutina que ejecutará el siguiente paso. En los procesadores Intel de 64 bits esa dirección es </a:t>
            </a:r>
            <a:r>
              <a:rPr lang="es-ES" sz="1100" b="1" i="0" dirty="0">
                <a:solidFill>
                  <a:srgbClr val="002060"/>
                </a:solidFill>
                <a:effectLst/>
                <a:latin typeface="Lucida Console" panose="020B0609040504020204" pitchFamily="49" charset="0"/>
              </a:rPr>
              <a:t>0xFFFFFFF0</a:t>
            </a:r>
            <a:r>
              <a:rPr lang="es-ES" b="0" i="0" dirty="0">
                <a:solidFill>
                  <a:srgbClr val="202122"/>
                </a:solidFill>
                <a:effectLst/>
              </a:rPr>
              <a:t>, en ARM </a:t>
            </a:r>
            <a:r>
              <a:rPr lang="es-ES" sz="1100" b="1" i="0" dirty="0">
                <a:solidFill>
                  <a:srgbClr val="002060"/>
                </a:solidFill>
                <a:effectLst/>
                <a:latin typeface="Lucida Console" panose="020B0609040504020204" pitchFamily="49" charset="0"/>
              </a:rPr>
              <a:t>0xFFFF0000.</a:t>
            </a:r>
          </a:p>
          <a:p>
            <a:endParaRPr lang="es-ES" sz="1100" b="1" dirty="0">
              <a:solidFill>
                <a:srgbClr val="002060"/>
              </a:solidFill>
              <a:latin typeface="Lucida Console" panose="020B0609040504020204" pitchFamily="49" charset="0"/>
            </a:endParaRPr>
          </a:p>
          <a:p>
            <a:endParaRPr lang="es-ES" sz="1100" b="1" dirty="0"/>
          </a:p>
        </p:txBody>
      </p:sp>
      <p:pic>
        <p:nvPicPr>
          <p:cNvPr id="7170" name="Picture 2">
            <a:extLst>
              <a:ext uri="{FF2B5EF4-FFF2-40B4-BE49-F238E27FC236}">
                <a16:creationId xmlns:a16="http://schemas.microsoft.com/office/drawing/2014/main" id="{8C48A921-E5CB-43BA-8FE0-EC6205412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3285" y="3359564"/>
            <a:ext cx="3273410" cy="1579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945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Arranque del sistema operativo</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17650" y="1107688"/>
            <a:ext cx="7097844" cy="3831818"/>
          </a:xfrm>
          <a:prstGeom prst="rect">
            <a:avLst/>
          </a:prstGeom>
          <a:noFill/>
        </p:spPr>
        <p:txBody>
          <a:bodyPr wrap="square" rtlCol="0">
            <a:spAutoFit/>
          </a:bodyPr>
          <a:lstStyle/>
          <a:p>
            <a:r>
              <a:rPr lang="es-ES" b="1" u="sng" dirty="0"/>
              <a:t>2 Iniciador hardware</a:t>
            </a:r>
          </a:p>
          <a:p>
            <a:endParaRPr lang="es-ES" b="1" u="sng" dirty="0"/>
          </a:p>
          <a:p>
            <a:r>
              <a:rPr lang="es-ES" dirty="0"/>
              <a:t>El equipo saltará a un pequeño programa grabado en ROM o Flash proporcionado por el fabricante con el equipo (BIOS/UEFI en un PC). Este programa procede a detectar los dispositivos conectados y realiza unas </a:t>
            </a:r>
            <a:r>
              <a:rPr lang="es-ES" b="1" dirty="0"/>
              <a:t>pruebas</a:t>
            </a:r>
            <a:r>
              <a:rPr lang="es-ES" dirty="0"/>
              <a:t> mínimas de funcionamiento. En inglés se conoce como </a:t>
            </a:r>
            <a:r>
              <a:rPr lang="es-ES" b="1" dirty="0"/>
              <a:t>POST</a:t>
            </a:r>
            <a:r>
              <a:rPr lang="es-ES" dirty="0"/>
              <a:t> (</a:t>
            </a:r>
            <a:r>
              <a:rPr lang="es-ES" dirty="0" err="1"/>
              <a:t>Power-on</a:t>
            </a:r>
            <a:r>
              <a:rPr lang="es-ES" dirty="0"/>
              <a:t> </a:t>
            </a:r>
            <a:r>
              <a:rPr lang="es-ES" dirty="0" err="1"/>
              <a:t>Self</a:t>
            </a:r>
            <a:r>
              <a:rPr lang="es-ES" dirty="0"/>
              <a:t>-Test). Al terminar con éxito el POST, este firmware busca un dispositivo de almacenamiento masivo (disco, USB) que tenga un </a:t>
            </a:r>
            <a:r>
              <a:rPr lang="es-ES" u="sng" dirty="0"/>
              <a:t>sector de arranque configurado</a:t>
            </a:r>
            <a:r>
              <a:rPr lang="es-ES" dirty="0"/>
              <a:t>. Para ello sigue el orden especificado en la BIOS. Hasta este momento, toda la ejecución es en modo supervisor y con memoria real.</a:t>
            </a:r>
          </a:p>
          <a:p>
            <a:endParaRPr lang="es-ES" dirty="0"/>
          </a:p>
          <a:p>
            <a:pPr algn="just"/>
            <a:r>
              <a:rPr lang="es-ES" dirty="0"/>
              <a:t>El iniciador hardware carga en memoria el contenido del </a:t>
            </a:r>
            <a:r>
              <a:rPr lang="es-ES" b="1" dirty="0"/>
              <a:t>MBR</a:t>
            </a:r>
            <a:r>
              <a:rPr lang="es-ES" dirty="0"/>
              <a:t> (Master </a:t>
            </a:r>
            <a:r>
              <a:rPr lang="es-ES" dirty="0" err="1"/>
              <a:t>Boot</a:t>
            </a:r>
            <a:r>
              <a:rPr lang="es-ES" dirty="0"/>
              <a:t> </a:t>
            </a:r>
            <a:r>
              <a:rPr lang="es-ES" dirty="0" err="1"/>
              <a:t>Record</a:t>
            </a:r>
            <a:r>
              <a:rPr lang="es-ES" dirty="0"/>
              <a:t>) de la unidad de arranque y cede el control. El MBR ocupa el primer sector y contiene tan solo 512 bytes de código. En esos 512 bytes puede haber un salto hacia el cargador del sistema (Windows, Linux, Android) o un completo selector de arranque como LILO o GRUB, que tienen una pantalla de entrada que permite al usuario elegir qué sistema arrancar si hay varios instalados. </a:t>
            </a:r>
          </a:p>
          <a:p>
            <a:endParaRPr lang="es-ES" dirty="0"/>
          </a:p>
          <a:p>
            <a:pPr algn="just"/>
            <a:r>
              <a:rPr lang="es-ES" dirty="0"/>
              <a:t>El código contenido en el MBR tampoco es parte del sistema operativo, es un programa autosuficiente.</a:t>
            </a:r>
          </a:p>
        </p:txBody>
      </p:sp>
    </p:spTree>
    <p:extLst>
      <p:ext uri="{BB962C8B-B14F-4D97-AF65-F5344CB8AC3E}">
        <p14:creationId xmlns:p14="http://schemas.microsoft.com/office/powerpoint/2010/main" val="2055629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Arranque del sistema operativo</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17851" y="2424759"/>
            <a:ext cx="7097844" cy="2169825"/>
          </a:xfrm>
          <a:prstGeom prst="rect">
            <a:avLst/>
          </a:prstGeom>
          <a:noFill/>
        </p:spPr>
        <p:txBody>
          <a:bodyPr wrap="square" rtlCol="0">
            <a:spAutoFit/>
          </a:bodyPr>
          <a:lstStyle/>
          <a:p>
            <a:r>
              <a:rPr lang="es-ES" b="1" u="sng" dirty="0"/>
              <a:t>3 Carga del Sistema Operativo</a:t>
            </a:r>
          </a:p>
          <a:p>
            <a:endParaRPr lang="es-ES" b="1" u="sng" dirty="0"/>
          </a:p>
          <a:p>
            <a:pPr algn="just"/>
            <a:r>
              <a:rPr lang="es-ES" dirty="0"/>
              <a:t>A continuación comienza la carga en memoria del </a:t>
            </a:r>
            <a:r>
              <a:rPr lang="es-ES" b="1" dirty="0"/>
              <a:t>Sistema Operativo residente, </a:t>
            </a:r>
            <a:r>
              <a:rPr lang="es-ES" dirty="0"/>
              <a:t>la parte que está siempre residente (</a:t>
            </a:r>
            <a:r>
              <a:rPr lang="es-ES" dirty="0" err="1"/>
              <a:t>kernel</a:t>
            </a:r>
            <a:r>
              <a:rPr lang="es-ES" dirty="0"/>
              <a:t>. algunos drivers). Todavía estamos en modo supervisor y con memoria real. El SO residente crea sus tablas de gestión (</a:t>
            </a:r>
            <a:r>
              <a:rPr lang="es-ES"/>
              <a:t>BCP , </a:t>
            </a:r>
            <a:r>
              <a:rPr lang="es-ES" dirty="0"/>
              <a:t>páginas de memoria, ficheros, </a:t>
            </a:r>
            <a:r>
              <a:rPr lang="es-ES" dirty="0" err="1"/>
              <a:t>etc</a:t>
            </a:r>
            <a:r>
              <a:rPr lang="es-ES" dirty="0"/>
              <a:t>…) y cuando las concluye con éxito habilita las interrupciones y crea un proceso especial llamado</a:t>
            </a:r>
            <a:r>
              <a:rPr lang="es-ES" sz="1100" dirty="0">
                <a:latin typeface="Lucida Console" panose="020B0609040504020204" pitchFamily="49" charset="0"/>
              </a:rPr>
              <a:t> </a:t>
            </a:r>
            <a:r>
              <a:rPr lang="es-ES" sz="1100" b="1" dirty="0" err="1">
                <a:latin typeface="Lucida Console" panose="020B0609040504020204" pitchFamily="49" charset="0"/>
              </a:rPr>
              <a:t>init</a:t>
            </a:r>
            <a:r>
              <a:rPr lang="es-ES" dirty="0"/>
              <a:t> en Unix. Este proceso es muy especial porque es el antepasado de todos los procesos del sistema. En Unix todo proceso desciende de otro. El proceso </a:t>
            </a:r>
            <a:r>
              <a:rPr lang="es-ES" sz="1100" dirty="0" err="1">
                <a:latin typeface="Lucida Console" panose="020B0609040504020204" pitchFamily="49" charset="0"/>
              </a:rPr>
              <a:t>init</a:t>
            </a:r>
            <a:r>
              <a:rPr lang="es-ES" dirty="0"/>
              <a:t> lee los scripts almacenados en </a:t>
            </a:r>
            <a:r>
              <a:rPr lang="es-ES" sz="1100" dirty="0">
                <a:latin typeface="Lucida Console" panose="020B0609040504020204" pitchFamily="49" charset="0"/>
              </a:rPr>
              <a:t>/</a:t>
            </a:r>
            <a:r>
              <a:rPr lang="es-ES" sz="1100" dirty="0" err="1">
                <a:latin typeface="Lucida Console" panose="020B0609040504020204" pitchFamily="49" charset="0"/>
              </a:rPr>
              <a:t>etc</a:t>
            </a:r>
            <a:r>
              <a:rPr lang="es-ES" sz="1100" dirty="0">
                <a:latin typeface="Lucida Console" panose="020B0609040504020204" pitchFamily="49" charset="0"/>
              </a:rPr>
              <a:t>/</a:t>
            </a:r>
            <a:r>
              <a:rPr lang="es-ES" sz="1100" dirty="0" err="1">
                <a:latin typeface="Lucida Console" panose="020B0609040504020204" pitchFamily="49" charset="0"/>
              </a:rPr>
              <a:t>init.d</a:t>
            </a:r>
            <a:r>
              <a:rPr lang="es-ES" dirty="0"/>
              <a:t> para ir creando todos los demás que se arrancan en forma automática. Todos ellos se ejecutan ya en modo usuario. En versiones más recientes de Linux </a:t>
            </a:r>
            <a:r>
              <a:rPr lang="es-ES" sz="1100" dirty="0" err="1">
                <a:latin typeface="Lucida Console" panose="020B0609040504020204" pitchFamily="49" charset="0"/>
                <a:ea typeface="Liberation Sans" panose="020B0604020202020204" pitchFamily="34" charset="0"/>
                <a:cs typeface="Liberation Sans" panose="020B0604020202020204" pitchFamily="34" charset="0"/>
              </a:rPr>
              <a:t>init</a:t>
            </a:r>
            <a:r>
              <a:rPr lang="es-ES" dirty="0"/>
              <a:t> ha sido sustituido por </a:t>
            </a:r>
            <a:r>
              <a:rPr lang="es-ES" sz="1100" dirty="0" err="1">
                <a:latin typeface="Lucida Console" panose="020B0609040504020204" pitchFamily="49" charset="0"/>
                <a:ea typeface="Liberation Sans" panose="020B0604020202020204" pitchFamily="34" charset="0"/>
                <a:cs typeface="Liberation Sans" panose="020B0604020202020204" pitchFamily="34" charset="0"/>
              </a:rPr>
              <a:t>systemd</a:t>
            </a:r>
            <a:r>
              <a:rPr lang="es-ES" dirty="0"/>
              <a:t>.</a:t>
            </a:r>
          </a:p>
        </p:txBody>
      </p:sp>
      <p:pic>
        <p:nvPicPr>
          <p:cNvPr id="9218" name="Picture 2">
            <a:extLst>
              <a:ext uri="{FF2B5EF4-FFF2-40B4-BE49-F238E27FC236}">
                <a16:creationId xmlns:a16="http://schemas.microsoft.com/office/drawing/2014/main" id="{367D115D-EB6F-4135-A195-0C98F8032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3427" y="858327"/>
            <a:ext cx="3806155" cy="1452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3328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Activación del Sistema Operativo</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17851" y="881185"/>
            <a:ext cx="6988788" cy="2377574"/>
          </a:xfrm>
          <a:prstGeom prst="rect">
            <a:avLst/>
          </a:prstGeom>
          <a:noFill/>
        </p:spPr>
        <p:txBody>
          <a:bodyPr wrap="square" rtlCol="0">
            <a:spAutoFit/>
          </a:bodyPr>
          <a:lstStyle/>
          <a:p>
            <a:pPr algn="just"/>
            <a:r>
              <a:rPr lang="es-ES" dirty="0"/>
              <a:t>El Sistema Operativo debe ocupar la CPU el mínimo tiempo posible pero, por otra parte, tiene que ejecutarse de forma frecuente para poder cumplir su cometido. El </a:t>
            </a:r>
            <a:r>
              <a:rPr lang="es-ES" dirty="0" err="1"/>
              <a:t>kernel</a:t>
            </a:r>
            <a:r>
              <a:rPr lang="es-ES" dirty="0"/>
              <a:t> (núcleo) está cargado en RAM de forma permanente para evitar el enorme coste que supondría leer su código desde disco cada vez. Mientras se ejecuta un proceso de usuario, no puede acceder al espacio de direcciones del </a:t>
            </a:r>
            <a:r>
              <a:rPr lang="es-ES" dirty="0" err="1"/>
              <a:t>kernel</a:t>
            </a:r>
            <a:r>
              <a:rPr lang="es-ES" dirty="0"/>
              <a:t>, que por definición está protegido salvo para el modo usuario.</a:t>
            </a:r>
          </a:p>
          <a:p>
            <a:pPr algn="just"/>
            <a:endParaRPr lang="es-ES" dirty="0"/>
          </a:p>
          <a:p>
            <a:pPr algn="just"/>
            <a:r>
              <a:rPr lang="es-ES" b="1" dirty="0"/>
              <a:t>La forma de despertar al </a:t>
            </a:r>
            <a:r>
              <a:rPr lang="es-ES" b="1" dirty="0" err="1"/>
              <a:t>kernel</a:t>
            </a:r>
            <a:r>
              <a:rPr lang="es-ES" b="1" dirty="0"/>
              <a:t> es siempre mediante una interrupción</a:t>
            </a:r>
            <a:r>
              <a:rPr lang="es-ES" dirty="0"/>
              <a:t>. Esta es una señal eléctrica que genera un dispositivo externo (un teclado, un disco, el adaptador </a:t>
            </a:r>
            <a:r>
              <a:rPr lang="es-ES" dirty="0" err="1"/>
              <a:t>WiFi</a:t>
            </a:r>
            <a:r>
              <a:rPr lang="es-ES" dirty="0"/>
              <a:t>) y que sucede en cualquier instante. Cuando ocurre una interrupción la CPU lo sabe porque recibe una señal por el pin INTR o el NMI (Non-</a:t>
            </a:r>
            <a:r>
              <a:rPr lang="es-ES" dirty="0" err="1"/>
              <a:t>Maskable</a:t>
            </a:r>
            <a:r>
              <a:rPr lang="es-ES" dirty="0"/>
              <a:t> </a:t>
            </a:r>
            <a:r>
              <a:rPr lang="es-ES" dirty="0" err="1"/>
              <a:t>Interrupt</a:t>
            </a:r>
            <a:r>
              <a:rPr lang="es-ES" dirty="0"/>
              <a:t>). También puede producirse por una excepción (división por 0) o por una instrucción especial de código máquina.</a:t>
            </a:r>
          </a:p>
        </p:txBody>
      </p:sp>
      <p:pic>
        <p:nvPicPr>
          <p:cNvPr id="2050" name="Picture 2" descr="Interrupt Controller - an overview | ScienceDirect Topics">
            <a:extLst>
              <a:ext uri="{FF2B5EF4-FFF2-40B4-BE49-F238E27FC236}">
                <a16:creationId xmlns:a16="http://schemas.microsoft.com/office/drawing/2014/main" id="{6429C15C-FA46-4FE1-BFD9-5784C04CC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718" y="3396025"/>
            <a:ext cx="4181054" cy="1631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288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Activación del Sistema Operativo</a:t>
            </a:r>
          </a:p>
        </p:txBody>
      </p:sp>
      <p:sp>
        <p:nvSpPr>
          <p:cNvPr id="3" name="CuadroTexto 2">
            <a:extLst>
              <a:ext uri="{FF2B5EF4-FFF2-40B4-BE49-F238E27FC236}">
                <a16:creationId xmlns:a16="http://schemas.microsoft.com/office/drawing/2014/main" id="{4684904B-9516-4AF8-86BC-EFD9162941CD}"/>
              </a:ext>
            </a:extLst>
          </p:cNvPr>
          <p:cNvSpPr txBox="1"/>
          <p:nvPr/>
        </p:nvSpPr>
        <p:spPr>
          <a:xfrm>
            <a:off x="1939839" y="1278211"/>
            <a:ext cx="3236738" cy="2800767"/>
          </a:xfrm>
          <a:prstGeom prst="rect">
            <a:avLst/>
          </a:prstGeom>
          <a:noFill/>
        </p:spPr>
        <p:txBody>
          <a:bodyPr wrap="square" rtlCol="0">
            <a:spAutoFit/>
          </a:bodyPr>
          <a:lstStyle/>
          <a:p>
            <a:pPr algn="just"/>
            <a:r>
              <a:rPr lang="es-ES" sz="1600" dirty="0">
                <a:solidFill>
                  <a:srgbClr val="FF0000"/>
                </a:solidFill>
              </a:rPr>
              <a:t>Para procesar la interrupción hay que poner en el contador de programa la dirección del código de atención, pero entonces perdemos su contenido que apuntaba a la siguiente instrucción del programa interrumpido. La propia rutina de atención no tiene ya la posibilidad de recuperar ese valor. </a:t>
            </a:r>
          </a:p>
          <a:p>
            <a:pPr algn="just"/>
            <a:endParaRPr lang="es-ES" sz="1600" dirty="0">
              <a:solidFill>
                <a:srgbClr val="FF0000"/>
              </a:solidFill>
            </a:endParaRPr>
          </a:p>
          <a:p>
            <a:pPr algn="just"/>
            <a:r>
              <a:rPr lang="es-ES" sz="1600" dirty="0">
                <a:solidFill>
                  <a:srgbClr val="FF0000"/>
                </a:solidFill>
              </a:rPr>
              <a:t>¿Cómo se soluciona esta paradoja?</a:t>
            </a:r>
          </a:p>
        </p:txBody>
      </p:sp>
      <p:pic>
        <p:nvPicPr>
          <p:cNvPr id="4098" name="Picture 2" descr="Confused Idea Lightbulb Vector Clipart image - Free stock photo ...">
            <a:extLst>
              <a:ext uri="{FF2B5EF4-FFF2-40B4-BE49-F238E27FC236}">
                <a16:creationId xmlns:a16="http://schemas.microsoft.com/office/drawing/2014/main" id="{0865F50F-AC86-4CF0-BCB6-FE429A80D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6875" y="2571750"/>
            <a:ext cx="2019300" cy="2266950"/>
          </a:xfrm>
          <a:prstGeom prst="rect">
            <a:avLst/>
          </a:prstGeom>
          <a:noFill/>
          <a:extLst>
            <a:ext uri="{909E8E84-426E-40DD-AFC4-6F175D3DCCD1}">
              <a14:hiddenFill xmlns:a14="http://schemas.microsoft.com/office/drawing/2010/main">
                <a:solidFill>
                  <a:srgbClr val="FFFFFF"/>
                </a:solidFill>
              </a14:hiddenFill>
            </a:ext>
          </a:extLst>
        </p:spPr>
      </p:pic>
      <p:sp>
        <p:nvSpPr>
          <p:cNvPr id="5" name="Bocadillo: rectángulo con esquinas redondeadas 4">
            <a:extLst>
              <a:ext uri="{FF2B5EF4-FFF2-40B4-BE49-F238E27FC236}">
                <a16:creationId xmlns:a16="http://schemas.microsoft.com/office/drawing/2014/main" id="{EC3DDD8C-DECC-47DB-AFE8-F4E4A9D09C96}"/>
              </a:ext>
            </a:extLst>
          </p:cNvPr>
          <p:cNvSpPr/>
          <p:nvPr/>
        </p:nvSpPr>
        <p:spPr>
          <a:xfrm>
            <a:off x="1669774" y="944217"/>
            <a:ext cx="3776869" cy="3468757"/>
          </a:xfrm>
          <a:prstGeom prst="wedgeRoundRectCallout">
            <a:avLst>
              <a:gd name="adj1" fmla="val 68377"/>
              <a:gd name="adj2" fmla="val -5122"/>
              <a:gd name="adj3" fmla="val 16667"/>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912436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Activación del Sistema Operativo</a:t>
            </a:r>
          </a:p>
        </p:txBody>
      </p:sp>
      <p:sp>
        <p:nvSpPr>
          <p:cNvPr id="4" name="CuadroTexto 3">
            <a:extLst>
              <a:ext uri="{FF2B5EF4-FFF2-40B4-BE49-F238E27FC236}">
                <a16:creationId xmlns:a16="http://schemas.microsoft.com/office/drawing/2014/main" id="{82C4B89B-D837-46FD-8731-C0DB0010DEA5}"/>
              </a:ext>
            </a:extLst>
          </p:cNvPr>
          <p:cNvSpPr txBox="1"/>
          <p:nvPr/>
        </p:nvSpPr>
        <p:spPr>
          <a:xfrm>
            <a:off x="1716370" y="925726"/>
            <a:ext cx="3114047" cy="3293209"/>
          </a:xfrm>
          <a:prstGeom prst="rect">
            <a:avLst/>
          </a:prstGeom>
          <a:noFill/>
        </p:spPr>
        <p:txBody>
          <a:bodyPr wrap="square" rtlCol="0">
            <a:spAutoFit/>
          </a:bodyPr>
          <a:lstStyle/>
          <a:p>
            <a:pPr algn="just"/>
            <a:r>
              <a:rPr lang="es-ES" sz="1600" dirty="0">
                <a:solidFill>
                  <a:schemeClr val="bg2">
                    <a:lumMod val="25000"/>
                  </a:schemeClr>
                </a:solidFill>
              </a:rPr>
              <a:t>Es la CPU la que salva, como mínimo, el contador de programa y el registro de </a:t>
            </a:r>
            <a:r>
              <a:rPr lang="es-ES" sz="1600" dirty="0" err="1">
                <a:solidFill>
                  <a:schemeClr val="bg2">
                    <a:lumMod val="25000"/>
                  </a:schemeClr>
                </a:solidFill>
              </a:rPr>
              <a:t>flags</a:t>
            </a:r>
            <a:r>
              <a:rPr lang="es-ES" sz="1600" dirty="0">
                <a:solidFill>
                  <a:schemeClr val="bg2">
                    <a:lumMod val="25000"/>
                  </a:schemeClr>
                </a:solidFill>
              </a:rPr>
              <a:t> en el </a:t>
            </a:r>
            <a:r>
              <a:rPr lang="es-ES" sz="1600" dirty="0" err="1">
                <a:solidFill>
                  <a:schemeClr val="bg2">
                    <a:lumMod val="25000"/>
                  </a:schemeClr>
                </a:solidFill>
              </a:rPr>
              <a:t>stack</a:t>
            </a:r>
            <a:r>
              <a:rPr lang="es-ES" sz="1600" dirty="0">
                <a:solidFill>
                  <a:schemeClr val="bg2">
                    <a:lumMod val="25000"/>
                  </a:schemeClr>
                </a:solidFill>
              </a:rPr>
              <a:t> como parte de la instrucción de la instrucción de interrupción y los recupera en el retorno. No debería sorprendernos porque es muy parecido a lo que ocurre con una llamada a subrutina en código máquina (CALL en el ensamblador del Z80). La dirección de retorno se guarda en el </a:t>
            </a:r>
            <a:r>
              <a:rPr lang="es-ES" sz="1600" dirty="0" err="1">
                <a:solidFill>
                  <a:schemeClr val="bg2">
                    <a:lumMod val="25000"/>
                  </a:schemeClr>
                </a:solidFill>
              </a:rPr>
              <a:t>stack</a:t>
            </a:r>
            <a:r>
              <a:rPr lang="es-ES" sz="1600" dirty="0">
                <a:solidFill>
                  <a:schemeClr val="bg2">
                    <a:lumMod val="25000"/>
                  </a:schemeClr>
                </a:solidFill>
              </a:rPr>
              <a:t> y se recupera por el hardware. </a:t>
            </a:r>
          </a:p>
        </p:txBody>
      </p:sp>
      <p:sp>
        <p:nvSpPr>
          <p:cNvPr id="2" name="Rectángulo 1">
            <a:extLst>
              <a:ext uri="{FF2B5EF4-FFF2-40B4-BE49-F238E27FC236}">
                <a16:creationId xmlns:a16="http://schemas.microsoft.com/office/drawing/2014/main" id="{5F7F476F-EF43-444F-AAB9-2C584F8532AF}"/>
              </a:ext>
            </a:extLst>
          </p:cNvPr>
          <p:cNvSpPr/>
          <p:nvPr/>
        </p:nvSpPr>
        <p:spPr>
          <a:xfrm>
            <a:off x="5933661" y="3619360"/>
            <a:ext cx="2534478" cy="5153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dirty="0"/>
              <a:t>PC</a:t>
            </a:r>
          </a:p>
        </p:txBody>
      </p:sp>
      <p:sp>
        <p:nvSpPr>
          <p:cNvPr id="5" name="CuadroTexto 4">
            <a:extLst>
              <a:ext uri="{FF2B5EF4-FFF2-40B4-BE49-F238E27FC236}">
                <a16:creationId xmlns:a16="http://schemas.microsoft.com/office/drawing/2014/main" id="{38FFD2E8-007C-4C7E-B853-AE2132331C3C}"/>
              </a:ext>
            </a:extLst>
          </p:cNvPr>
          <p:cNvSpPr txBox="1"/>
          <p:nvPr/>
        </p:nvSpPr>
        <p:spPr>
          <a:xfrm>
            <a:off x="7200900" y="4160652"/>
            <a:ext cx="1376787" cy="300082"/>
          </a:xfrm>
          <a:prstGeom prst="rect">
            <a:avLst/>
          </a:prstGeom>
          <a:noFill/>
        </p:spPr>
        <p:txBody>
          <a:bodyPr wrap="none" rtlCol="0">
            <a:spAutoFit/>
          </a:bodyPr>
          <a:lstStyle/>
          <a:p>
            <a:r>
              <a:rPr lang="es-ES" dirty="0" err="1"/>
              <a:t>Stack</a:t>
            </a:r>
            <a:r>
              <a:rPr lang="es-ES" dirty="0"/>
              <a:t> del usuario</a:t>
            </a:r>
          </a:p>
        </p:txBody>
      </p:sp>
      <p:sp>
        <p:nvSpPr>
          <p:cNvPr id="6" name="Rectángulo 5">
            <a:extLst>
              <a:ext uri="{FF2B5EF4-FFF2-40B4-BE49-F238E27FC236}">
                <a16:creationId xmlns:a16="http://schemas.microsoft.com/office/drawing/2014/main" id="{04EA4C54-E2B5-4FAA-AE5B-7645F33EF84D}"/>
              </a:ext>
            </a:extLst>
          </p:cNvPr>
          <p:cNvSpPr/>
          <p:nvPr/>
        </p:nvSpPr>
        <p:spPr>
          <a:xfrm>
            <a:off x="5933661" y="3104041"/>
            <a:ext cx="2534478" cy="51531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dirty="0"/>
              <a:t>FLAGS</a:t>
            </a:r>
          </a:p>
        </p:txBody>
      </p:sp>
      <p:sp>
        <p:nvSpPr>
          <p:cNvPr id="10" name="CuadroTexto 9">
            <a:extLst>
              <a:ext uri="{FF2B5EF4-FFF2-40B4-BE49-F238E27FC236}">
                <a16:creationId xmlns:a16="http://schemas.microsoft.com/office/drawing/2014/main" id="{98E102F2-7432-48CE-A498-91243EC8F255}"/>
              </a:ext>
            </a:extLst>
          </p:cNvPr>
          <p:cNvSpPr txBox="1"/>
          <p:nvPr/>
        </p:nvSpPr>
        <p:spPr>
          <a:xfrm>
            <a:off x="4938091" y="4460734"/>
            <a:ext cx="2077278" cy="507831"/>
          </a:xfrm>
          <a:prstGeom prst="rect">
            <a:avLst/>
          </a:prstGeom>
          <a:noFill/>
        </p:spPr>
        <p:txBody>
          <a:bodyPr wrap="square" rtlCol="0">
            <a:spAutoFit/>
          </a:bodyPr>
          <a:lstStyle/>
          <a:p>
            <a:r>
              <a:rPr lang="es-ES" dirty="0"/>
              <a:t>Salvados por la CPU al pasar a modo interrupción</a:t>
            </a:r>
          </a:p>
        </p:txBody>
      </p:sp>
      <p:sp>
        <p:nvSpPr>
          <p:cNvPr id="12" name="Rectángulo 11">
            <a:extLst>
              <a:ext uri="{FF2B5EF4-FFF2-40B4-BE49-F238E27FC236}">
                <a16:creationId xmlns:a16="http://schemas.microsoft.com/office/drawing/2014/main" id="{06E947F3-9C16-4DE9-B416-DEAE68826BC6}"/>
              </a:ext>
            </a:extLst>
          </p:cNvPr>
          <p:cNvSpPr/>
          <p:nvPr/>
        </p:nvSpPr>
        <p:spPr>
          <a:xfrm>
            <a:off x="5933661" y="1442596"/>
            <a:ext cx="2534478" cy="166144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dirty="0"/>
              <a:t>Resto de registros</a:t>
            </a:r>
          </a:p>
        </p:txBody>
      </p:sp>
      <p:cxnSp>
        <p:nvCxnSpPr>
          <p:cNvPr id="14" name="Conector recto de flecha 13">
            <a:extLst>
              <a:ext uri="{FF2B5EF4-FFF2-40B4-BE49-F238E27FC236}">
                <a16:creationId xmlns:a16="http://schemas.microsoft.com/office/drawing/2014/main" id="{71F48B7E-508E-4550-85F3-CAF4DEFF673E}"/>
              </a:ext>
            </a:extLst>
          </p:cNvPr>
          <p:cNvCxnSpPr>
            <a:cxnSpLocks/>
          </p:cNvCxnSpPr>
          <p:nvPr/>
        </p:nvCxnSpPr>
        <p:spPr>
          <a:xfrm flipV="1">
            <a:off x="5151783" y="3370882"/>
            <a:ext cx="717273" cy="9913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CC197F90-AAF3-4A1F-96B6-653EAB66965A}"/>
              </a:ext>
            </a:extLst>
          </p:cNvPr>
          <p:cNvCxnSpPr>
            <a:cxnSpLocks/>
          </p:cNvCxnSpPr>
          <p:nvPr/>
        </p:nvCxnSpPr>
        <p:spPr>
          <a:xfrm flipV="1">
            <a:off x="5247861" y="3959087"/>
            <a:ext cx="728869" cy="403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CCD364B3-1837-4BFB-8662-E67D96B17291}"/>
              </a:ext>
            </a:extLst>
          </p:cNvPr>
          <p:cNvSpPr txBox="1"/>
          <p:nvPr/>
        </p:nvSpPr>
        <p:spPr>
          <a:xfrm>
            <a:off x="5151782" y="761158"/>
            <a:ext cx="3114047" cy="507831"/>
          </a:xfrm>
          <a:prstGeom prst="rect">
            <a:avLst/>
          </a:prstGeom>
          <a:noFill/>
        </p:spPr>
        <p:txBody>
          <a:bodyPr wrap="square" rtlCol="0">
            <a:spAutoFit/>
          </a:bodyPr>
          <a:lstStyle/>
          <a:p>
            <a:r>
              <a:rPr lang="es-ES" dirty="0"/>
              <a:t>Salvados por la rutina de atención a la interrupción</a:t>
            </a:r>
          </a:p>
        </p:txBody>
      </p:sp>
      <p:cxnSp>
        <p:nvCxnSpPr>
          <p:cNvPr id="20" name="Conector recto de flecha 19">
            <a:extLst>
              <a:ext uri="{FF2B5EF4-FFF2-40B4-BE49-F238E27FC236}">
                <a16:creationId xmlns:a16="http://schemas.microsoft.com/office/drawing/2014/main" id="{D68958BF-5BDF-4BF7-9D5C-0026FDAAAE28}"/>
              </a:ext>
            </a:extLst>
          </p:cNvPr>
          <p:cNvCxnSpPr>
            <a:cxnSpLocks/>
          </p:cNvCxnSpPr>
          <p:nvPr/>
        </p:nvCxnSpPr>
        <p:spPr>
          <a:xfrm>
            <a:off x="5869056" y="1259238"/>
            <a:ext cx="583925" cy="395032"/>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714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Activación del Sistema Operativo</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4261608" y="1107688"/>
            <a:ext cx="4571999" cy="3208571"/>
          </a:xfrm>
          <a:prstGeom prst="rect">
            <a:avLst/>
          </a:prstGeom>
          <a:noFill/>
        </p:spPr>
        <p:txBody>
          <a:bodyPr wrap="square" rtlCol="0">
            <a:spAutoFit/>
          </a:bodyPr>
          <a:lstStyle/>
          <a:p>
            <a:pPr algn="just"/>
            <a:r>
              <a:rPr lang="es-ES" dirty="0"/>
              <a:t>La CPU termina de ejecutar la instrucción de código máquina en curso, salva el PC y el registro de </a:t>
            </a:r>
            <a:r>
              <a:rPr lang="es-ES" dirty="0" err="1"/>
              <a:t>Flags</a:t>
            </a:r>
            <a:r>
              <a:rPr lang="es-ES" dirty="0"/>
              <a:t> del proceso en su </a:t>
            </a:r>
            <a:r>
              <a:rPr lang="es-ES" dirty="0" err="1"/>
              <a:t>stack</a:t>
            </a:r>
            <a:r>
              <a:rPr lang="es-ES" dirty="0"/>
              <a:t> y carga en el contador de programa una dirección predefinida donde se almacena la rutina de atención de interrupciones, que es parte del </a:t>
            </a:r>
            <a:r>
              <a:rPr lang="es-ES" dirty="0" err="1"/>
              <a:t>kernel</a:t>
            </a:r>
            <a:r>
              <a:rPr lang="es-ES" dirty="0"/>
              <a:t>. Esta operación pone la CPU en modo supervisor.</a:t>
            </a:r>
          </a:p>
          <a:p>
            <a:pPr algn="just"/>
            <a:endParaRPr lang="es-ES" dirty="0"/>
          </a:p>
          <a:p>
            <a:pPr algn="just"/>
            <a:r>
              <a:rPr lang="es-ES" dirty="0"/>
              <a:t>La rutina salva el estado del procesador en el </a:t>
            </a:r>
            <a:r>
              <a:rPr lang="es-ES" dirty="0" err="1"/>
              <a:t>stack</a:t>
            </a:r>
            <a:r>
              <a:rPr lang="es-ES" dirty="0"/>
              <a:t> de usuario, reconoce qué dispositivo es el que solicita atención, y con esa información localiza en la tabla de vectores de interrupción dónde está el código concreto (por ejemplo, atender USB). Cuando finaliza la atención, la instrucción de código máquina retorno de interrupción, recupera los valores de los registros del procesador en el momento de la interrupción devuelve la CPU a modo usuario.</a:t>
            </a:r>
          </a:p>
        </p:txBody>
      </p:sp>
      <p:pic>
        <p:nvPicPr>
          <p:cNvPr id="1026" name="Picture 2" descr="8086 Interrupt Priority: As far as the 8086 Interrupt Priority are ...">
            <a:extLst>
              <a:ext uri="{FF2B5EF4-FFF2-40B4-BE49-F238E27FC236}">
                <a16:creationId xmlns:a16="http://schemas.microsoft.com/office/drawing/2014/main" id="{7006B323-7A0A-43F7-9655-930C6701D8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4974" y="1107688"/>
            <a:ext cx="2284023" cy="369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1586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Activación del Sistema Operativo</a:t>
            </a:r>
          </a:p>
        </p:txBody>
      </p:sp>
      <p:pic>
        <p:nvPicPr>
          <p:cNvPr id="3074" name="Picture 2" descr="enter image description here">
            <a:extLst>
              <a:ext uri="{FF2B5EF4-FFF2-40B4-BE49-F238E27FC236}">
                <a16:creationId xmlns:a16="http://schemas.microsoft.com/office/drawing/2014/main" id="{FBC3F872-00B2-4C1F-BDB3-08CE07EC5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7214" y="1066800"/>
            <a:ext cx="4343400" cy="384810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3CD56188-AD2D-4EC5-B5AF-1D90AD9B9C99}"/>
              </a:ext>
            </a:extLst>
          </p:cNvPr>
          <p:cNvSpPr txBox="1"/>
          <p:nvPr/>
        </p:nvSpPr>
        <p:spPr>
          <a:xfrm>
            <a:off x="1585521" y="1066800"/>
            <a:ext cx="2608974" cy="3208571"/>
          </a:xfrm>
          <a:prstGeom prst="rect">
            <a:avLst/>
          </a:prstGeom>
          <a:noFill/>
        </p:spPr>
        <p:txBody>
          <a:bodyPr wrap="square" rtlCol="0">
            <a:spAutoFit/>
          </a:bodyPr>
          <a:lstStyle/>
          <a:p>
            <a:pPr algn="just"/>
            <a:r>
              <a:rPr lang="es-ES" dirty="0"/>
              <a:t>Tabla de vectores de interrupción en el 8086. Los valores más bajos son para atender las excepciones y la interrupción SW. A continuación había un rango de interrupciones predefinidas para la atención de los circuitos de servicio del 8086 y quedaban 224 libres para poder manejar otros dispositivos de entrada salida.</a:t>
            </a:r>
          </a:p>
          <a:p>
            <a:pPr algn="just"/>
            <a:endParaRPr lang="es-ES" dirty="0"/>
          </a:p>
          <a:p>
            <a:pPr algn="just"/>
            <a:r>
              <a:rPr lang="es-ES" dirty="0"/>
              <a:t>Las tablas de los procesadores actuales son mucho más complejas.</a:t>
            </a:r>
          </a:p>
          <a:p>
            <a:pPr algn="just"/>
            <a:endParaRPr lang="es-ES" dirty="0"/>
          </a:p>
        </p:txBody>
      </p:sp>
    </p:spTree>
    <p:extLst>
      <p:ext uri="{BB962C8B-B14F-4D97-AF65-F5344CB8AC3E}">
        <p14:creationId xmlns:p14="http://schemas.microsoft.com/office/powerpoint/2010/main" val="762790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Activación del Sistema Operativo</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17650" y="1107688"/>
            <a:ext cx="7097844" cy="3831818"/>
          </a:xfrm>
          <a:prstGeom prst="rect">
            <a:avLst/>
          </a:prstGeom>
          <a:noFill/>
        </p:spPr>
        <p:txBody>
          <a:bodyPr wrap="square" rtlCol="0">
            <a:spAutoFit/>
          </a:bodyPr>
          <a:lstStyle/>
          <a:p>
            <a:pPr algn="just"/>
            <a:r>
              <a:rPr lang="es-ES" dirty="0"/>
              <a:t>Hay dos interrupciones que desempeñan un papel importante en el funcionamiento del Sistema. La </a:t>
            </a:r>
            <a:r>
              <a:rPr lang="es-ES" b="1" dirty="0"/>
              <a:t>interrupción periódica </a:t>
            </a:r>
            <a:r>
              <a:rPr lang="es-ES" b="1" i="1" dirty="0" err="1"/>
              <a:t>tick</a:t>
            </a:r>
            <a:r>
              <a:rPr lang="es-ES" b="1" dirty="0"/>
              <a:t> </a:t>
            </a:r>
            <a:r>
              <a:rPr lang="es-ES" dirty="0"/>
              <a:t>(de 1 a 15 ms, depende del sistema) es una señal eléctrica generada a partir del reloj de la CPU mediante un divisor de frecuencia. Esta interrupción garantiza que el </a:t>
            </a:r>
            <a:r>
              <a:rPr lang="es-ES" dirty="0" err="1"/>
              <a:t>kernel</a:t>
            </a:r>
            <a:r>
              <a:rPr lang="es-ES" dirty="0"/>
              <a:t> despierta a menudo para poder llevar a cabo la función de planificación, que consiste en decidir si el proceso actual sigue ocupando la CPU y, si no, cual debe sustituirlo.</a:t>
            </a:r>
          </a:p>
          <a:p>
            <a:endParaRPr lang="es-ES" dirty="0"/>
          </a:p>
          <a:p>
            <a:pPr algn="just"/>
            <a:r>
              <a:rPr lang="es-ES" dirty="0"/>
              <a:t>Tanto el </a:t>
            </a:r>
            <a:r>
              <a:rPr lang="es-ES" dirty="0" err="1"/>
              <a:t>tick</a:t>
            </a:r>
            <a:r>
              <a:rPr lang="es-ES" dirty="0"/>
              <a:t> como las </a:t>
            </a:r>
            <a:r>
              <a:rPr lang="es-ES" b="1" dirty="0"/>
              <a:t>interrupciones hardware </a:t>
            </a:r>
            <a:r>
              <a:rPr lang="es-ES" dirty="0"/>
              <a:t>despiertan el </a:t>
            </a:r>
            <a:r>
              <a:rPr lang="es-ES" dirty="0" err="1"/>
              <a:t>kernel</a:t>
            </a:r>
            <a:r>
              <a:rPr lang="es-ES" dirty="0"/>
              <a:t> sin intervención del programador. Hemos afirmado que toda la entrada/salida pasa por él, pero no se puede llamar a una función del </a:t>
            </a:r>
            <a:r>
              <a:rPr lang="es-ES" dirty="0" err="1"/>
              <a:t>kernel</a:t>
            </a:r>
            <a:r>
              <a:rPr lang="es-ES" dirty="0"/>
              <a:t> desde el usuario porque su espacio de direcciones es inaccesible.</a:t>
            </a:r>
          </a:p>
          <a:p>
            <a:endParaRPr lang="es-ES" dirty="0"/>
          </a:p>
          <a:p>
            <a:pPr algn="just"/>
            <a:r>
              <a:rPr lang="es-ES" dirty="0"/>
              <a:t>La solución es </a:t>
            </a:r>
            <a:r>
              <a:rPr lang="es-ES" b="1" dirty="0"/>
              <a:t>una interrupción SW (INT en x86), </a:t>
            </a:r>
            <a:r>
              <a:rPr lang="es-ES" dirty="0"/>
              <a:t>una instrucción de código máquina que pone a la CPU en modo interrupción y tiene una entrada en la tabla de vectores de atención como otra cualquiera. La forma de invocar un servicio es colocar en el </a:t>
            </a:r>
            <a:r>
              <a:rPr lang="es-ES" dirty="0" err="1"/>
              <a:t>stack</a:t>
            </a:r>
            <a:r>
              <a:rPr lang="es-ES" dirty="0"/>
              <a:t> el  código de la operación que queremos que realice el sistema, despertarlo con una interrupción SW y recibir de vuelta el valor en el </a:t>
            </a:r>
            <a:r>
              <a:rPr lang="es-ES" dirty="0" err="1"/>
              <a:t>stack</a:t>
            </a:r>
            <a:r>
              <a:rPr lang="es-ES" dirty="0"/>
              <a:t>.</a:t>
            </a:r>
          </a:p>
          <a:p>
            <a:endParaRPr lang="es-ES" dirty="0"/>
          </a:p>
          <a:p>
            <a:pPr algn="just"/>
            <a:r>
              <a:rPr lang="es-ES" dirty="0"/>
              <a:t>Todos los sistemas ofrecen bibliotecas </a:t>
            </a:r>
            <a:r>
              <a:rPr lang="es-ES" dirty="0" err="1"/>
              <a:t>wrapper</a:t>
            </a:r>
            <a:r>
              <a:rPr lang="es-ES" dirty="0"/>
              <a:t>, que envuelven estas llamadas con una función convencional y abstraen al usuario.</a:t>
            </a:r>
          </a:p>
        </p:txBody>
      </p:sp>
    </p:spTree>
    <p:extLst>
      <p:ext uri="{BB962C8B-B14F-4D97-AF65-F5344CB8AC3E}">
        <p14:creationId xmlns:p14="http://schemas.microsoft.com/office/powerpoint/2010/main" val="3483031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Activación del Sistema Operativo</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26039" y="1107688"/>
            <a:ext cx="7097844" cy="507831"/>
          </a:xfrm>
          <a:prstGeom prst="rect">
            <a:avLst/>
          </a:prstGeom>
          <a:noFill/>
        </p:spPr>
        <p:txBody>
          <a:bodyPr wrap="square" rtlCol="0">
            <a:spAutoFit/>
          </a:bodyPr>
          <a:lstStyle/>
          <a:p>
            <a:pPr algn="just"/>
            <a:r>
              <a:rPr lang="es-ES" dirty="0"/>
              <a:t>La sintaxis de estas funciones ha terminado cristalizando en estándares de facto como POSIX para los sistemas Unix o Win32/Win64 para Windows.</a:t>
            </a:r>
          </a:p>
        </p:txBody>
      </p:sp>
      <p:pic>
        <p:nvPicPr>
          <p:cNvPr id="4" name="Imagen 3">
            <a:extLst>
              <a:ext uri="{FF2B5EF4-FFF2-40B4-BE49-F238E27FC236}">
                <a16:creationId xmlns:a16="http://schemas.microsoft.com/office/drawing/2014/main" id="{C2F04E0E-A0B0-47CC-B4D1-C43EE20B8997}"/>
              </a:ext>
            </a:extLst>
          </p:cNvPr>
          <p:cNvPicPr>
            <a:picLocks noChangeAspect="1"/>
          </p:cNvPicPr>
          <p:nvPr/>
        </p:nvPicPr>
        <p:blipFill>
          <a:blip r:embed="rId3"/>
          <a:stretch>
            <a:fillRect/>
          </a:stretch>
        </p:blipFill>
        <p:spPr>
          <a:xfrm>
            <a:off x="5293453" y="1596236"/>
            <a:ext cx="3156500" cy="3309028"/>
          </a:xfrm>
          <a:prstGeom prst="rect">
            <a:avLst/>
          </a:prstGeom>
        </p:spPr>
      </p:pic>
      <p:sp>
        <p:nvSpPr>
          <p:cNvPr id="5" name="CuadroTexto 4">
            <a:extLst>
              <a:ext uri="{FF2B5EF4-FFF2-40B4-BE49-F238E27FC236}">
                <a16:creationId xmlns:a16="http://schemas.microsoft.com/office/drawing/2014/main" id="{3D964683-634F-48A8-8045-7F61B92EC34D}"/>
              </a:ext>
            </a:extLst>
          </p:cNvPr>
          <p:cNvSpPr txBox="1"/>
          <p:nvPr/>
        </p:nvSpPr>
        <p:spPr>
          <a:xfrm>
            <a:off x="1517851" y="1842817"/>
            <a:ext cx="2853014" cy="2585323"/>
          </a:xfrm>
          <a:prstGeom prst="rect">
            <a:avLst/>
          </a:prstGeom>
          <a:noFill/>
        </p:spPr>
        <p:txBody>
          <a:bodyPr wrap="square" rtlCol="0">
            <a:spAutoFit/>
          </a:bodyPr>
          <a:lstStyle/>
          <a:p>
            <a:pPr algn="just"/>
            <a:r>
              <a:rPr lang="es-ES" dirty="0"/>
              <a:t>POSIX es una colección de estándares del IEEE que definen la API que debe ofrecer el sistema, no indican cual debe ser la implementación concreta. Los sistemas Unix ofrecen interfaz POSIX a los programadores. Las últimas versiones del </a:t>
            </a:r>
            <a:r>
              <a:rPr lang="es-ES" dirty="0" err="1"/>
              <a:t>kernel</a:t>
            </a:r>
            <a:r>
              <a:rPr lang="es-ES" dirty="0"/>
              <a:t> de Windows también tienen interfaz POSIX además de la nativa de Windows. Eso permite construir emulaciones muy completas de la </a:t>
            </a:r>
            <a:r>
              <a:rPr lang="es-ES" dirty="0" err="1"/>
              <a:t>shell</a:t>
            </a:r>
            <a:r>
              <a:rPr lang="es-ES" dirty="0"/>
              <a:t> como </a:t>
            </a:r>
            <a:r>
              <a:rPr lang="es-ES" dirty="0" err="1"/>
              <a:t>CygWin</a:t>
            </a:r>
            <a:r>
              <a:rPr lang="es-ES" dirty="0"/>
              <a:t> o </a:t>
            </a:r>
            <a:r>
              <a:rPr lang="es-ES" dirty="0" err="1"/>
              <a:t>MinGW</a:t>
            </a:r>
            <a:r>
              <a:rPr lang="es-ES" dirty="0"/>
              <a:t>.</a:t>
            </a:r>
          </a:p>
        </p:txBody>
      </p:sp>
    </p:spTree>
    <p:extLst>
      <p:ext uri="{BB962C8B-B14F-4D97-AF65-F5344CB8AC3E}">
        <p14:creationId xmlns:p14="http://schemas.microsoft.com/office/powerpoint/2010/main" val="1630392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Activación del Sistema Operativo</a:t>
            </a:r>
          </a:p>
        </p:txBody>
      </p:sp>
      <p:pic>
        <p:nvPicPr>
          <p:cNvPr id="5" name="Imagen 4">
            <a:extLst>
              <a:ext uri="{FF2B5EF4-FFF2-40B4-BE49-F238E27FC236}">
                <a16:creationId xmlns:a16="http://schemas.microsoft.com/office/drawing/2014/main" id="{767C3E64-3736-4D54-B2AB-8F1FD49B3E3B}"/>
              </a:ext>
            </a:extLst>
          </p:cNvPr>
          <p:cNvPicPr>
            <a:picLocks noChangeAspect="1"/>
          </p:cNvPicPr>
          <p:nvPr/>
        </p:nvPicPr>
        <p:blipFill>
          <a:blip r:embed="rId3"/>
          <a:stretch>
            <a:fillRect/>
          </a:stretch>
        </p:blipFill>
        <p:spPr>
          <a:xfrm>
            <a:off x="1672795" y="1225942"/>
            <a:ext cx="5650793" cy="3688958"/>
          </a:xfrm>
          <a:prstGeom prst="rect">
            <a:avLst/>
          </a:prstGeom>
        </p:spPr>
      </p:pic>
      <p:sp>
        <p:nvSpPr>
          <p:cNvPr id="6" name="CuadroTexto 5">
            <a:extLst>
              <a:ext uri="{FF2B5EF4-FFF2-40B4-BE49-F238E27FC236}">
                <a16:creationId xmlns:a16="http://schemas.microsoft.com/office/drawing/2014/main" id="{72C95C42-AEA8-4D29-863A-3AEBAE176916}"/>
              </a:ext>
            </a:extLst>
          </p:cNvPr>
          <p:cNvSpPr txBox="1"/>
          <p:nvPr/>
        </p:nvSpPr>
        <p:spPr>
          <a:xfrm>
            <a:off x="1585519" y="710623"/>
            <a:ext cx="6920918" cy="507831"/>
          </a:xfrm>
          <a:prstGeom prst="rect">
            <a:avLst/>
          </a:prstGeom>
          <a:noFill/>
        </p:spPr>
        <p:txBody>
          <a:bodyPr wrap="square" rtlCol="0">
            <a:spAutoFit/>
          </a:bodyPr>
          <a:lstStyle/>
          <a:p>
            <a:r>
              <a:rPr lang="es-ES" dirty="0"/>
              <a:t>Ejecución convencional de un “Hola mundo” y con el comando </a:t>
            </a:r>
            <a:r>
              <a:rPr lang="es-ES" sz="1100" dirty="0" err="1">
                <a:latin typeface="Lucida Console" panose="020B0609040504020204" pitchFamily="49" charset="0"/>
              </a:rPr>
              <a:t>strace</a:t>
            </a:r>
            <a:r>
              <a:rPr lang="es-ES" dirty="0"/>
              <a:t> que muestra todas las llamadas a servicios del Sistema Operativo.</a:t>
            </a:r>
          </a:p>
        </p:txBody>
      </p:sp>
      <p:sp>
        <p:nvSpPr>
          <p:cNvPr id="7" name="CuadroTexto 6">
            <a:extLst>
              <a:ext uri="{FF2B5EF4-FFF2-40B4-BE49-F238E27FC236}">
                <a16:creationId xmlns:a16="http://schemas.microsoft.com/office/drawing/2014/main" id="{BED5C29A-93DB-4CDB-B810-15FE4C9F0F2A}"/>
              </a:ext>
            </a:extLst>
          </p:cNvPr>
          <p:cNvSpPr txBox="1"/>
          <p:nvPr/>
        </p:nvSpPr>
        <p:spPr>
          <a:xfrm>
            <a:off x="6937696" y="1201480"/>
            <a:ext cx="1753297" cy="215444"/>
          </a:xfrm>
          <a:prstGeom prst="rect">
            <a:avLst/>
          </a:prstGeom>
          <a:solidFill>
            <a:schemeClr val="bg1"/>
          </a:solidFill>
          <a:ln>
            <a:solidFill>
              <a:srgbClr val="FFFF00"/>
            </a:solidFill>
          </a:ln>
        </p:spPr>
        <p:txBody>
          <a:bodyPr wrap="square" rtlCol="0">
            <a:spAutoFit/>
          </a:bodyPr>
          <a:lstStyle/>
          <a:p>
            <a:r>
              <a:rPr lang="es-ES" sz="800" dirty="0"/>
              <a:t>La </a:t>
            </a:r>
            <a:r>
              <a:rPr lang="es-ES" sz="800" dirty="0" err="1"/>
              <a:t>shell</a:t>
            </a:r>
            <a:r>
              <a:rPr lang="es-ES" sz="800" dirty="0"/>
              <a:t> lanza la ejecución de “</a:t>
            </a:r>
            <a:r>
              <a:rPr lang="es-ES" sz="800" dirty="0" err="1"/>
              <a:t>hello</a:t>
            </a:r>
            <a:r>
              <a:rPr lang="es-ES" sz="800" dirty="0"/>
              <a:t>”</a:t>
            </a:r>
          </a:p>
        </p:txBody>
      </p:sp>
      <p:cxnSp>
        <p:nvCxnSpPr>
          <p:cNvPr id="10" name="Conector recto de flecha 9">
            <a:extLst>
              <a:ext uri="{FF2B5EF4-FFF2-40B4-BE49-F238E27FC236}">
                <a16:creationId xmlns:a16="http://schemas.microsoft.com/office/drawing/2014/main" id="{0DD21F42-B128-4CDA-9866-19380EC89FB6}"/>
              </a:ext>
            </a:extLst>
          </p:cNvPr>
          <p:cNvCxnSpPr>
            <a:cxnSpLocks/>
          </p:cNvCxnSpPr>
          <p:nvPr/>
        </p:nvCxnSpPr>
        <p:spPr>
          <a:xfrm flipH="1">
            <a:off x="4874005" y="1355271"/>
            <a:ext cx="2063691" cy="179914"/>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9CF466B5-6AE9-4FFE-9D09-9C9BD03088F3}"/>
              </a:ext>
            </a:extLst>
          </p:cNvPr>
          <p:cNvSpPr txBox="1"/>
          <p:nvPr/>
        </p:nvSpPr>
        <p:spPr>
          <a:xfrm>
            <a:off x="6769916" y="1629108"/>
            <a:ext cx="1258348" cy="215443"/>
          </a:xfrm>
          <a:prstGeom prst="rect">
            <a:avLst/>
          </a:prstGeom>
          <a:solidFill>
            <a:schemeClr val="bg1"/>
          </a:solidFill>
          <a:ln>
            <a:solidFill>
              <a:srgbClr val="FFFF00"/>
            </a:solidFill>
          </a:ln>
        </p:spPr>
        <p:txBody>
          <a:bodyPr wrap="square" rtlCol="0">
            <a:spAutoFit/>
          </a:bodyPr>
          <a:lstStyle/>
          <a:p>
            <a:r>
              <a:rPr lang="es-ES" sz="800" dirty="0"/>
              <a:t>Carga del </a:t>
            </a:r>
            <a:r>
              <a:rPr lang="es-ES" sz="800" dirty="0" err="1"/>
              <a:t>linker</a:t>
            </a:r>
            <a:r>
              <a:rPr lang="es-ES" sz="800" dirty="0"/>
              <a:t> dinámico</a:t>
            </a:r>
          </a:p>
        </p:txBody>
      </p:sp>
      <p:cxnSp>
        <p:nvCxnSpPr>
          <p:cNvPr id="13" name="Conector recto de flecha 12">
            <a:extLst>
              <a:ext uri="{FF2B5EF4-FFF2-40B4-BE49-F238E27FC236}">
                <a16:creationId xmlns:a16="http://schemas.microsoft.com/office/drawing/2014/main" id="{6BBE4287-CF9C-4B04-8053-05AC8892ADFE}"/>
              </a:ext>
            </a:extLst>
          </p:cNvPr>
          <p:cNvCxnSpPr>
            <a:cxnSpLocks/>
            <a:stCxn id="12" idx="1"/>
          </p:cNvCxnSpPr>
          <p:nvPr/>
        </p:nvCxnSpPr>
        <p:spPr>
          <a:xfrm flipH="1">
            <a:off x="3649212" y="1736830"/>
            <a:ext cx="3120704" cy="96308"/>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FB045471-19BA-4944-B3EC-29FF8688A41D}"/>
              </a:ext>
            </a:extLst>
          </p:cNvPr>
          <p:cNvCxnSpPr>
            <a:cxnSpLocks/>
          </p:cNvCxnSpPr>
          <p:nvPr/>
        </p:nvCxnSpPr>
        <p:spPr>
          <a:xfrm flipH="1">
            <a:off x="6493079" y="2125204"/>
            <a:ext cx="276838" cy="41953"/>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0B3400BB-2F67-48FB-8CEE-EFFC6D0D408A}"/>
              </a:ext>
            </a:extLst>
          </p:cNvPr>
          <p:cNvSpPr txBox="1"/>
          <p:nvPr/>
        </p:nvSpPr>
        <p:spPr>
          <a:xfrm>
            <a:off x="6769916" y="1925299"/>
            <a:ext cx="813731" cy="215443"/>
          </a:xfrm>
          <a:prstGeom prst="rect">
            <a:avLst/>
          </a:prstGeom>
          <a:solidFill>
            <a:schemeClr val="bg1"/>
          </a:solidFill>
          <a:ln>
            <a:solidFill>
              <a:srgbClr val="FFFF00"/>
            </a:solidFill>
          </a:ln>
        </p:spPr>
        <p:txBody>
          <a:bodyPr wrap="square" rtlCol="0">
            <a:spAutoFit/>
          </a:bodyPr>
          <a:lstStyle/>
          <a:p>
            <a:r>
              <a:rPr lang="es-ES" sz="800" dirty="0"/>
              <a:t>Carga de </a:t>
            </a:r>
            <a:r>
              <a:rPr lang="es-ES" sz="800" dirty="0" err="1"/>
              <a:t>libc</a:t>
            </a:r>
            <a:endParaRPr lang="es-ES" sz="800" dirty="0"/>
          </a:p>
        </p:txBody>
      </p:sp>
      <p:sp>
        <p:nvSpPr>
          <p:cNvPr id="24" name="Rectángulo 23">
            <a:extLst>
              <a:ext uri="{FF2B5EF4-FFF2-40B4-BE49-F238E27FC236}">
                <a16:creationId xmlns:a16="http://schemas.microsoft.com/office/drawing/2014/main" id="{C28529B7-6749-4BBA-8CC3-920A38704813}"/>
              </a:ext>
            </a:extLst>
          </p:cNvPr>
          <p:cNvSpPr/>
          <p:nvPr/>
        </p:nvSpPr>
        <p:spPr>
          <a:xfrm>
            <a:off x="1672795" y="2174646"/>
            <a:ext cx="5650793" cy="1558456"/>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uadroTexto 25">
            <a:extLst>
              <a:ext uri="{FF2B5EF4-FFF2-40B4-BE49-F238E27FC236}">
                <a16:creationId xmlns:a16="http://schemas.microsoft.com/office/drawing/2014/main" id="{1B00F122-DB57-4129-AD72-FC948D08CE5A}"/>
              </a:ext>
            </a:extLst>
          </p:cNvPr>
          <p:cNvSpPr txBox="1"/>
          <p:nvPr/>
        </p:nvSpPr>
        <p:spPr>
          <a:xfrm>
            <a:off x="5330926" y="4325155"/>
            <a:ext cx="1258348" cy="215443"/>
          </a:xfrm>
          <a:prstGeom prst="rect">
            <a:avLst/>
          </a:prstGeom>
          <a:solidFill>
            <a:schemeClr val="bg1"/>
          </a:solidFill>
          <a:ln>
            <a:solidFill>
              <a:srgbClr val="FFFF00"/>
            </a:solidFill>
          </a:ln>
        </p:spPr>
        <p:txBody>
          <a:bodyPr wrap="square" rtlCol="0">
            <a:spAutoFit/>
          </a:bodyPr>
          <a:lstStyle/>
          <a:p>
            <a:r>
              <a:rPr lang="es-ES" sz="800" dirty="0"/>
              <a:t>Escritura en </a:t>
            </a:r>
            <a:r>
              <a:rPr lang="es-ES" sz="800" dirty="0" err="1"/>
              <a:t>stdout</a:t>
            </a:r>
            <a:endParaRPr lang="es-ES" sz="800" dirty="0"/>
          </a:p>
        </p:txBody>
      </p:sp>
      <p:cxnSp>
        <p:nvCxnSpPr>
          <p:cNvPr id="28" name="Conector recto de flecha 27">
            <a:extLst>
              <a:ext uri="{FF2B5EF4-FFF2-40B4-BE49-F238E27FC236}">
                <a16:creationId xmlns:a16="http://schemas.microsoft.com/office/drawing/2014/main" id="{615E9777-6717-42CA-B3A2-4886CA66DD1D}"/>
              </a:ext>
            </a:extLst>
          </p:cNvPr>
          <p:cNvCxnSpPr>
            <a:cxnSpLocks/>
            <a:stCxn id="26" idx="1"/>
          </p:cNvCxnSpPr>
          <p:nvPr/>
        </p:nvCxnSpPr>
        <p:spPr>
          <a:xfrm flipH="1">
            <a:off x="3636354" y="4432877"/>
            <a:ext cx="1694572" cy="72192"/>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41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Comandos de traza en Linux</a:t>
            </a:r>
          </a:p>
        </p:txBody>
      </p:sp>
      <p:pic>
        <p:nvPicPr>
          <p:cNvPr id="3" name="Imagen 2" descr="Imagen que contiene texto, mapa&#10;&#10;Descripción generada automáticamente">
            <a:extLst>
              <a:ext uri="{FF2B5EF4-FFF2-40B4-BE49-F238E27FC236}">
                <a16:creationId xmlns:a16="http://schemas.microsoft.com/office/drawing/2014/main" id="{30F720C7-6467-4A18-B559-A502DDE6E0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3900" y="743919"/>
            <a:ext cx="5996491" cy="4197544"/>
          </a:xfrm>
          <a:prstGeom prst="rect">
            <a:avLst/>
          </a:prstGeom>
        </p:spPr>
      </p:pic>
    </p:spTree>
    <p:extLst>
      <p:ext uri="{BB962C8B-B14F-4D97-AF65-F5344CB8AC3E}">
        <p14:creationId xmlns:p14="http://schemas.microsoft.com/office/powerpoint/2010/main" val="2861942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Gestión de memoria</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26039" y="1107688"/>
            <a:ext cx="7097844" cy="3416320"/>
          </a:xfrm>
          <a:prstGeom prst="rect">
            <a:avLst/>
          </a:prstGeom>
          <a:noFill/>
        </p:spPr>
        <p:txBody>
          <a:bodyPr wrap="square" rtlCol="0">
            <a:spAutoFit/>
          </a:bodyPr>
          <a:lstStyle/>
          <a:p>
            <a:pPr algn="just"/>
            <a:r>
              <a:rPr lang="es-ES" dirty="0"/>
              <a:t>Mantener un sistema con decenas o centenares de procesos cargados, con llegada y salida continua de nuevos procesos o </a:t>
            </a:r>
            <a:r>
              <a:rPr lang="es-ES" dirty="0" err="1"/>
              <a:t>threads</a:t>
            </a:r>
            <a:r>
              <a:rPr lang="es-ES" dirty="0"/>
              <a:t> no sería posible si todos tuvieran que tener el mapa de memoria cargado completamente en la RAM.</a:t>
            </a:r>
          </a:p>
          <a:p>
            <a:pPr algn="just"/>
            <a:endParaRPr lang="es-ES" dirty="0"/>
          </a:p>
          <a:p>
            <a:pPr algn="just"/>
            <a:r>
              <a:rPr lang="es-ES" dirty="0"/>
              <a:t>Una combinación de circuitos de la propia CPU (TLB, caché) permite tener cargados solo los fragmentos de código en ejecución a corto plazo mientras que el resto se va leyendo desde o escribiendo a disco cuando no se usa. Esta complejísima gestión la realiza el </a:t>
            </a:r>
            <a:r>
              <a:rPr lang="es-ES" dirty="0" err="1"/>
              <a:t>kernel</a:t>
            </a:r>
            <a:r>
              <a:rPr lang="es-ES" dirty="0"/>
              <a:t>, y la solución más común que detallaremos en la lección 4 es la memoria virtual con paginación. El Sistema Operativo oculta al programador toda esta complejidad pero también es capaz de ofrecerle gestión de memoria dinámica o creación de segmentos de memoria compartida para comunicación entre procesos.</a:t>
            </a:r>
          </a:p>
          <a:p>
            <a:pPr algn="just"/>
            <a:endParaRPr lang="es-ES" dirty="0"/>
          </a:p>
          <a:p>
            <a:pPr algn="just"/>
            <a:r>
              <a:rPr lang="es-ES" dirty="0"/>
              <a:t>Además, el equipo tiene que supervisar de forma continua (por hardware) que ningún proceso accede a direcciones indebidas (datos de otros procesos, datos del </a:t>
            </a:r>
            <a:r>
              <a:rPr lang="es-ES" dirty="0" err="1"/>
              <a:t>kernel</a:t>
            </a:r>
            <a:r>
              <a:rPr lang="es-ES" dirty="0"/>
              <a:t>, su propio código en modo escritura). Si esto ocurre, tiene que atender de forma adecuada las interrupciones que causan esas excepciones.</a:t>
            </a:r>
          </a:p>
        </p:txBody>
      </p:sp>
    </p:spTree>
    <p:extLst>
      <p:ext uri="{BB962C8B-B14F-4D97-AF65-F5344CB8AC3E}">
        <p14:creationId xmlns:p14="http://schemas.microsoft.com/office/powerpoint/2010/main" val="3308733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Gestión de memoria</a:t>
            </a:r>
          </a:p>
        </p:txBody>
      </p:sp>
      <p:pic>
        <p:nvPicPr>
          <p:cNvPr id="3" name="Imagen 2">
            <a:extLst>
              <a:ext uri="{FF2B5EF4-FFF2-40B4-BE49-F238E27FC236}">
                <a16:creationId xmlns:a16="http://schemas.microsoft.com/office/drawing/2014/main" id="{B875C20E-084E-433B-B28F-72E14AC177CC}"/>
              </a:ext>
            </a:extLst>
          </p:cNvPr>
          <p:cNvPicPr>
            <a:picLocks noChangeAspect="1"/>
          </p:cNvPicPr>
          <p:nvPr/>
        </p:nvPicPr>
        <p:blipFill>
          <a:blip r:embed="rId3"/>
          <a:stretch>
            <a:fillRect/>
          </a:stretch>
        </p:blipFill>
        <p:spPr>
          <a:xfrm>
            <a:off x="2945687" y="952701"/>
            <a:ext cx="5333609" cy="3342495"/>
          </a:xfrm>
          <a:prstGeom prst="rect">
            <a:avLst/>
          </a:prstGeom>
        </p:spPr>
      </p:pic>
      <p:sp>
        <p:nvSpPr>
          <p:cNvPr id="5" name="CuadroTexto 4">
            <a:extLst>
              <a:ext uri="{FF2B5EF4-FFF2-40B4-BE49-F238E27FC236}">
                <a16:creationId xmlns:a16="http://schemas.microsoft.com/office/drawing/2014/main" id="{F964FCCD-2CA8-4795-9D02-68FDA0F4F049}"/>
              </a:ext>
            </a:extLst>
          </p:cNvPr>
          <p:cNvSpPr txBox="1"/>
          <p:nvPr/>
        </p:nvSpPr>
        <p:spPr>
          <a:xfrm>
            <a:off x="6578399" y="656314"/>
            <a:ext cx="1556632" cy="515526"/>
          </a:xfrm>
          <a:prstGeom prst="rect">
            <a:avLst/>
          </a:prstGeom>
          <a:noFill/>
        </p:spPr>
        <p:txBody>
          <a:bodyPr wrap="square" rtlCol="0">
            <a:spAutoFit/>
          </a:bodyPr>
          <a:lstStyle/>
          <a:p>
            <a:r>
              <a:rPr lang="es-ES" sz="1400" dirty="0"/>
              <a:t>Intel Core i7</a:t>
            </a:r>
          </a:p>
          <a:p>
            <a:endParaRPr lang="es-ES" dirty="0"/>
          </a:p>
        </p:txBody>
      </p:sp>
      <p:sp>
        <p:nvSpPr>
          <p:cNvPr id="7" name="CuadroTexto 6">
            <a:extLst>
              <a:ext uri="{FF2B5EF4-FFF2-40B4-BE49-F238E27FC236}">
                <a16:creationId xmlns:a16="http://schemas.microsoft.com/office/drawing/2014/main" id="{D4E8FF87-E20E-4FDD-A062-C804029EB2A0}"/>
              </a:ext>
            </a:extLst>
          </p:cNvPr>
          <p:cNvSpPr txBox="1"/>
          <p:nvPr/>
        </p:nvSpPr>
        <p:spPr>
          <a:xfrm>
            <a:off x="2351415" y="1019254"/>
            <a:ext cx="594272" cy="261610"/>
          </a:xfrm>
          <a:prstGeom prst="rect">
            <a:avLst/>
          </a:prstGeom>
          <a:noFill/>
        </p:spPr>
        <p:txBody>
          <a:bodyPr wrap="square" rtlCol="0">
            <a:spAutoFit/>
          </a:bodyPr>
          <a:lstStyle/>
          <a:p>
            <a:r>
              <a:rPr lang="es-ES" sz="1100" dirty="0"/>
              <a:t>48 bits</a:t>
            </a:r>
          </a:p>
        </p:txBody>
      </p:sp>
      <p:sp>
        <p:nvSpPr>
          <p:cNvPr id="11" name="CuadroTexto 10">
            <a:extLst>
              <a:ext uri="{FF2B5EF4-FFF2-40B4-BE49-F238E27FC236}">
                <a16:creationId xmlns:a16="http://schemas.microsoft.com/office/drawing/2014/main" id="{3F487A28-67D7-4A3D-9D5B-8E970A005CA1}"/>
              </a:ext>
            </a:extLst>
          </p:cNvPr>
          <p:cNvSpPr txBox="1"/>
          <p:nvPr/>
        </p:nvSpPr>
        <p:spPr>
          <a:xfrm>
            <a:off x="2351415" y="3702356"/>
            <a:ext cx="594272" cy="261610"/>
          </a:xfrm>
          <a:prstGeom prst="rect">
            <a:avLst/>
          </a:prstGeom>
          <a:noFill/>
        </p:spPr>
        <p:txBody>
          <a:bodyPr wrap="square" rtlCol="0">
            <a:spAutoFit/>
          </a:bodyPr>
          <a:lstStyle/>
          <a:p>
            <a:r>
              <a:rPr lang="es-ES" sz="1100" dirty="0"/>
              <a:t>52 bits</a:t>
            </a:r>
          </a:p>
        </p:txBody>
      </p:sp>
      <p:sp>
        <p:nvSpPr>
          <p:cNvPr id="13" name="CuadroTexto 12">
            <a:extLst>
              <a:ext uri="{FF2B5EF4-FFF2-40B4-BE49-F238E27FC236}">
                <a16:creationId xmlns:a16="http://schemas.microsoft.com/office/drawing/2014/main" id="{5912E090-88CB-4871-BFC4-6A636BF344A5}"/>
              </a:ext>
            </a:extLst>
          </p:cNvPr>
          <p:cNvSpPr txBox="1"/>
          <p:nvPr/>
        </p:nvSpPr>
        <p:spPr>
          <a:xfrm>
            <a:off x="1351722" y="4386265"/>
            <a:ext cx="7394713" cy="715581"/>
          </a:xfrm>
          <a:prstGeom prst="rect">
            <a:avLst/>
          </a:prstGeom>
          <a:noFill/>
        </p:spPr>
        <p:txBody>
          <a:bodyPr wrap="square" rtlCol="0">
            <a:spAutoFit/>
          </a:bodyPr>
          <a:lstStyle/>
          <a:p>
            <a:r>
              <a:rPr lang="es-ES" dirty="0"/>
              <a:t>Esto es una tabla de páginas de memoria de 4 entradas para traducir direcciones virtuales de 48 bits a físicas de 52. Es un árbol cuyas hojas son estructuras encadenadas mediante punteros. Los Sistemas Operativos están escritos en C, sería conveniente repasar estos conceptos de Programación II</a:t>
            </a:r>
          </a:p>
        </p:txBody>
      </p:sp>
    </p:spTree>
    <p:extLst>
      <p:ext uri="{BB962C8B-B14F-4D97-AF65-F5344CB8AC3E}">
        <p14:creationId xmlns:p14="http://schemas.microsoft.com/office/powerpoint/2010/main" val="2084625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Comunicación y sincronización</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26039" y="1107688"/>
            <a:ext cx="7097844" cy="2169825"/>
          </a:xfrm>
          <a:prstGeom prst="rect">
            <a:avLst/>
          </a:prstGeom>
          <a:noFill/>
        </p:spPr>
        <p:txBody>
          <a:bodyPr wrap="square" rtlCol="0">
            <a:spAutoFit/>
          </a:bodyPr>
          <a:lstStyle/>
          <a:p>
            <a:pPr algn="just"/>
            <a:r>
              <a:rPr lang="es-ES" dirty="0"/>
              <a:t>Uno de los principios de diseño de los Sistemas Operativos modernos, como hemos visto ya, es la separación de espacios de memoria entre procesos por motivos de seguridad. Sin embargo, en numerosas ocasiones es necesario que los procesos colaboren entre sí y se comuniquen. Para ello, el Sistema Operativo ofrece una colección de mecanismos.</a:t>
            </a:r>
          </a:p>
          <a:p>
            <a:pPr algn="just"/>
            <a:endParaRPr lang="es-ES" dirty="0"/>
          </a:p>
          <a:p>
            <a:pPr marL="342900" indent="-342900" algn="just">
              <a:buFont typeface="+mj-lt"/>
              <a:buAutoNum type="arabicPeriod"/>
            </a:pPr>
            <a:r>
              <a:rPr lang="es-ES" dirty="0"/>
              <a:t>Señales</a:t>
            </a:r>
          </a:p>
          <a:p>
            <a:pPr marL="342900" indent="-342900" algn="just">
              <a:buFont typeface="+mj-lt"/>
              <a:buAutoNum type="arabicPeriod"/>
            </a:pPr>
            <a:r>
              <a:rPr lang="es-ES" dirty="0"/>
              <a:t>Pipes</a:t>
            </a:r>
          </a:p>
          <a:p>
            <a:pPr marL="342900" indent="-342900" algn="just">
              <a:buFont typeface="+mj-lt"/>
              <a:buAutoNum type="arabicPeriod"/>
            </a:pPr>
            <a:r>
              <a:rPr lang="es-ES" dirty="0"/>
              <a:t>Colas de mensajería</a:t>
            </a:r>
          </a:p>
          <a:p>
            <a:pPr marL="342900" indent="-342900" algn="just">
              <a:buFont typeface="+mj-lt"/>
              <a:buAutoNum type="arabicPeriod"/>
            </a:pPr>
            <a:r>
              <a:rPr lang="es-ES" dirty="0"/>
              <a:t>Sockets</a:t>
            </a:r>
          </a:p>
          <a:p>
            <a:pPr marL="342900" indent="-342900" algn="just">
              <a:buFont typeface="+mj-lt"/>
              <a:buAutoNum type="arabicPeriod"/>
            </a:pPr>
            <a:r>
              <a:rPr lang="es-ES" dirty="0"/>
              <a:t>Memoria compartida</a:t>
            </a:r>
          </a:p>
        </p:txBody>
      </p:sp>
      <p:sp>
        <p:nvSpPr>
          <p:cNvPr id="3" name="CuadroTexto 2">
            <a:extLst>
              <a:ext uri="{FF2B5EF4-FFF2-40B4-BE49-F238E27FC236}">
                <a16:creationId xmlns:a16="http://schemas.microsoft.com/office/drawing/2014/main" id="{6D9BCDCD-CA3B-4347-824C-5232EFBA0884}"/>
              </a:ext>
            </a:extLst>
          </p:cNvPr>
          <p:cNvSpPr txBox="1"/>
          <p:nvPr/>
        </p:nvSpPr>
        <p:spPr>
          <a:xfrm>
            <a:off x="1526039" y="3330429"/>
            <a:ext cx="3596947" cy="923330"/>
          </a:xfrm>
          <a:prstGeom prst="rect">
            <a:avLst/>
          </a:prstGeom>
          <a:noFill/>
        </p:spPr>
        <p:txBody>
          <a:bodyPr wrap="none" rtlCol="0">
            <a:spAutoFit/>
          </a:bodyPr>
          <a:lstStyle/>
          <a:p>
            <a:r>
              <a:rPr lang="es-ES" dirty="0"/>
              <a:t>Todos estos servicios se manejan desde el </a:t>
            </a:r>
            <a:r>
              <a:rPr lang="es-ES" dirty="0" err="1"/>
              <a:t>kernel</a:t>
            </a:r>
            <a:endParaRPr lang="es-ES" dirty="0"/>
          </a:p>
          <a:p>
            <a:r>
              <a:rPr lang="es-ES" dirty="0"/>
              <a:t>y se ofrecen al programador con librerías de alto</a:t>
            </a:r>
          </a:p>
          <a:p>
            <a:r>
              <a:rPr lang="es-ES" dirty="0"/>
              <a:t>nivel. </a:t>
            </a:r>
          </a:p>
          <a:p>
            <a:endParaRPr lang="es-ES" dirty="0"/>
          </a:p>
        </p:txBody>
      </p:sp>
      <p:pic>
        <p:nvPicPr>
          <p:cNvPr id="11266" name="Picture 2" descr="Creating a Message Queue | Message Queues">
            <a:extLst>
              <a:ext uri="{FF2B5EF4-FFF2-40B4-BE49-F238E27FC236}">
                <a16:creationId xmlns:a16="http://schemas.microsoft.com/office/drawing/2014/main" id="{022BB185-74B4-4A24-8EE9-56493BEF9D3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22985" y="2088859"/>
            <a:ext cx="3718959" cy="2461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157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Comunicación y sincronización</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17851" y="918076"/>
            <a:ext cx="7131400" cy="2377574"/>
          </a:xfrm>
          <a:prstGeom prst="rect">
            <a:avLst/>
          </a:prstGeom>
          <a:noFill/>
        </p:spPr>
        <p:txBody>
          <a:bodyPr wrap="square" rtlCol="0">
            <a:spAutoFit/>
          </a:bodyPr>
          <a:lstStyle/>
          <a:p>
            <a:pPr algn="just"/>
            <a:r>
              <a:rPr lang="es-ES" dirty="0"/>
              <a:t>Cuando varios procesos o </a:t>
            </a:r>
            <a:r>
              <a:rPr lang="es-ES" dirty="0" err="1"/>
              <a:t>threads</a:t>
            </a:r>
            <a:r>
              <a:rPr lang="es-ES" dirty="0"/>
              <a:t> intentan acceder a un mismo recurso pueden surgir condiciones de carrera. Imaginemos dos procesos de compra web de billetes de avión y que no hubiese un mecanismo de bloqueo. Ambos podrían ofrecer el mismo asiento a dos usuarios entre el momento de la consulta y la finalización del proceso.</a:t>
            </a:r>
          </a:p>
          <a:p>
            <a:pPr algn="just"/>
            <a:endParaRPr lang="es-ES" dirty="0"/>
          </a:p>
          <a:p>
            <a:pPr algn="just"/>
            <a:r>
              <a:rPr lang="es-ES" dirty="0"/>
              <a:t>Estas situaciones son comunes en la programación concurrente y en el propio funcionamiento del Sistema Operativo. La única forma de evitarlas es proporcionando un mecanismo que asegure la ejecución de un fragmento de código sin que el sistema sea expulsado por otro que quiere acceso a los mismos recursos. El Sistema ofrece semáforos y </a:t>
            </a:r>
            <a:r>
              <a:rPr lang="es-ES" dirty="0" err="1"/>
              <a:t>mutexes</a:t>
            </a:r>
            <a:r>
              <a:rPr lang="es-ES" dirty="0"/>
              <a:t> como solución, su uso evita muchos problemas pero requiere una disciplina importante del programador.</a:t>
            </a:r>
          </a:p>
          <a:p>
            <a:pPr algn="just"/>
            <a:endParaRPr lang="es-ES" dirty="0"/>
          </a:p>
        </p:txBody>
      </p:sp>
      <p:pic>
        <p:nvPicPr>
          <p:cNvPr id="18434" name="Picture 2" descr="Task-to-Task Synchronization Using Binary Semaphores--Real-Time ...">
            <a:extLst>
              <a:ext uri="{FF2B5EF4-FFF2-40B4-BE49-F238E27FC236}">
                <a16:creationId xmlns:a16="http://schemas.microsoft.com/office/drawing/2014/main" id="{B6FEEC05-F18A-4B18-BA99-C0013598EB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4709" y="3295650"/>
            <a:ext cx="2828925" cy="161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7541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Gestión de ficheros</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26038" y="1107688"/>
            <a:ext cx="3910027" cy="3831818"/>
          </a:xfrm>
          <a:prstGeom prst="rect">
            <a:avLst/>
          </a:prstGeom>
          <a:noFill/>
        </p:spPr>
        <p:txBody>
          <a:bodyPr wrap="square" rtlCol="0">
            <a:spAutoFit/>
          </a:bodyPr>
          <a:lstStyle/>
          <a:p>
            <a:pPr algn="just"/>
            <a:r>
              <a:rPr lang="es-ES" dirty="0"/>
              <a:t>Los sistemas necesitan un mecanismo de almacenamiento secundario no volátil para guardar datos o el código de los problemas. En el pasado este papel lo desempeñaron las cintas y discos magnéticos. Sobre ellos, se construyó una abstracción, el fichero, que es un conjunto de información organizada accesible de forma secuencial y con unos metadatos asociados [nombre, fecha de creación, permisos]. Aunque la entidad fichero refleja su origen “magnético”, su flexibilidad es grande y ha permitido trasplantarla a tecnologías muy diferentes como los discos SSD, las memorias SD o en su día los CD-ROM. El Gestor de ficheros del Sistema Operativo oculta los detalles particulares de los dispositivos de almacenamiento y presenta la información a los usuarios con la abstracción fichero (FILE en C, por ejemplo). El estándar POSIX incluye todas las rutinas para su tratamiento.</a:t>
            </a:r>
          </a:p>
        </p:txBody>
      </p:sp>
      <p:pic>
        <p:nvPicPr>
          <p:cNvPr id="17410" name="Picture 2" descr="Explain the structure of Inode table ? | Practice | GeeksforGeeks">
            <a:extLst>
              <a:ext uri="{FF2B5EF4-FFF2-40B4-BE49-F238E27FC236}">
                <a16:creationId xmlns:a16="http://schemas.microsoft.com/office/drawing/2014/main" id="{8BBACB78-DBE5-49E7-884E-6ED69AED3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1060" y="1275469"/>
            <a:ext cx="3498451" cy="2826748"/>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899A077A-D404-4298-9E85-9C91C9397860}"/>
              </a:ext>
            </a:extLst>
          </p:cNvPr>
          <p:cNvSpPr txBox="1"/>
          <p:nvPr/>
        </p:nvSpPr>
        <p:spPr>
          <a:xfrm>
            <a:off x="7617962" y="4333685"/>
            <a:ext cx="1436090" cy="300082"/>
          </a:xfrm>
          <a:prstGeom prst="rect">
            <a:avLst/>
          </a:prstGeom>
          <a:noFill/>
        </p:spPr>
        <p:txBody>
          <a:bodyPr wrap="square" rtlCol="0">
            <a:spAutoFit/>
          </a:bodyPr>
          <a:lstStyle/>
          <a:p>
            <a:r>
              <a:rPr lang="es-ES" dirty="0"/>
              <a:t>Más árboles…</a:t>
            </a:r>
          </a:p>
        </p:txBody>
      </p:sp>
    </p:spTree>
    <p:extLst>
      <p:ext uri="{BB962C8B-B14F-4D97-AF65-F5344CB8AC3E}">
        <p14:creationId xmlns:p14="http://schemas.microsoft.com/office/powerpoint/2010/main" val="242385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3 Título">
            <a:extLst>
              <a:ext uri="{FF2B5EF4-FFF2-40B4-BE49-F238E27FC236}">
                <a16:creationId xmlns:a16="http://schemas.microsoft.com/office/drawing/2014/main" id="{4B95B9E8-9E0D-499C-93D3-5A389DE8101E}"/>
              </a:ext>
            </a:extLst>
          </p:cNvPr>
          <p:cNvSpPr txBox="1">
            <a:spLocks/>
          </p:cNvSpPr>
          <p:nvPr/>
        </p:nvSpPr>
        <p:spPr>
          <a:xfrm>
            <a:off x="1517851" y="228600"/>
            <a:ext cx="7626150" cy="515319"/>
          </a:xfrm>
          <a:prstGeom prst="rect">
            <a:avLst/>
          </a:prstGeom>
        </p:spPr>
        <p:txBody>
          <a:bodyPr vert="horz" lIns="91440" tIns="45720" rIns="91440" bIns="45720" rtlCol="0" anchor="b" anchorCtr="0">
            <a:noAutofit/>
          </a:bodyPr>
          <a:lstStyle>
            <a:lvl1pPr algn="l" defTabSz="685800" rtl="0" eaLnBrk="1" latinLnBrk="0" hangingPunct="1">
              <a:lnSpc>
                <a:spcPct val="90000"/>
              </a:lnSpc>
              <a:spcBef>
                <a:spcPct val="0"/>
              </a:spcBef>
              <a:buNone/>
              <a:defRPr sz="3600" b="0" kern="1200" cap="none" spc="0">
                <a:ln w="0"/>
                <a:solidFill>
                  <a:schemeClr val="accent1"/>
                </a:solidFill>
                <a:effectLst>
                  <a:outerShdw blurRad="38100" dist="19050" dir="2700000" algn="tl" rotWithShape="0">
                    <a:schemeClr val="dk1">
                      <a:alpha val="40000"/>
                    </a:schemeClr>
                  </a:outerShdw>
                </a:effectLst>
                <a:latin typeface="+mj-lt"/>
                <a:ea typeface="+mj-ea"/>
                <a:cs typeface="Arial" panose="020B0604020202020204" pitchFamily="34" charset="0"/>
              </a:defRPr>
            </a:lvl1pPr>
          </a:lstStyle>
          <a:p>
            <a:r>
              <a:rPr lang="es-ES" dirty="0"/>
              <a:t>Gestión de Entrada/Salida</a:t>
            </a:r>
          </a:p>
        </p:txBody>
      </p:sp>
      <p:sp>
        <p:nvSpPr>
          <p:cNvPr id="2" name="CuadroTexto 1">
            <a:extLst>
              <a:ext uri="{FF2B5EF4-FFF2-40B4-BE49-F238E27FC236}">
                <a16:creationId xmlns:a16="http://schemas.microsoft.com/office/drawing/2014/main" id="{F5022B40-6F90-4E7F-888A-D1565AB0E487}"/>
              </a:ext>
            </a:extLst>
          </p:cNvPr>
          <p:cNvSpPr txBox="1"/>
          <p:nvPr/>
        </p:nvSpPr>
        <p:spPr>
          <a:xfrm>
            <a:off x="1526038" y="1107688"/>
            <a:ext cx="3834527" cy="3831818"/>
          </a:xfrm>
          <a:prstGeom prst="rect">
            <a:avLst/>
          </a:prstGeom>
          <a:noFill/>
        </p:spPr>
        <p:txBody>
          <a:bodyPr wrap="square" rtlCol="0">
            <a:spAutoFit/>
          </a:bodyPr>
          <a:lstStyle/>
          <a:p>
            <a:pPr algn="just"/>
            <a:r>
              <a:rPr lang="es-ES" dirty="0"/>
              <a:t>La gestión de los dispositivos de Entrada/Salida es una de las labores más complejas por la gran variedad de fabricantes. Cada equipo ofrece una interfaz no estándar, que presentan unos registros en un circuito propio llamado controlador. La sintaxis y semántica de comunicación con ellos la abstrae un driver, un módulo especial que se </a:t>
            </a:r>
            <a:r>
              <a:rPr lang="es-ES" dirty="0" err="1"/>
              <a:t>linka</a:t>
            </a:r>
            <a:r>
              <a:rPr lang="es-ES" dirty="0"/>
              <a:t> dinámicamente con el </a:t>
            </a:r>
            <a:r>
              <a:rPr lang="es-ES" dirty="0" err="1"/>
              <a:t>kernel</a:t>
            </a:r>
            <a:r>
              <a:rPr lang="es-ES" dirty="0"/>
              <a:t> y permite poner en comunicación ese dispositivo específico. Gran parte de la complejidad de los </a:t>
            </a:r>
            <a:r>
              <a:rPr lang="es-ES" dirty="0" err="1"/>
              <a:t>kernel</a:t>
            </a:r>
            <a:r>
              <a:rPr lang="es-ES" dirty="0"/>
              <a:t> de Windows o Unix reside en la inmensa cantidad de dispositivos que son capaces de manejar. </a:t>
            </a:r>
          </a:p>
          <a:p>
            <a:pPr algn="just"/>
            <a:endParaRPr lang="es-ES" dirty="0"/>
          </a:p>
          <a:p>
            <a:pPr algn="just"/>
            <a:r>
              <a:rPr lang="es-ES" dirty="0"/>
              <a:t>El Sistema Operativo ofrece una abstracción de los dispositivos muy similar a la de los ficheros, de hecho la mayoría pueden tratarse como ficheros con algunas características especiales desde los programas de usuario.</a:t>
            </a:r>
          </a:p>
        </p:txBody>
      </p:sp>
      <p:pic>
        <p:nvPicPr>
          <p:cNvPr id="19458" name="Picture 2">
            <a:extLst>
              <a:ext uri="{FF2B5EF4-FFF2-40B4-BE49-F238E27FC236}">
                <a16:creationId xmlns:a16="http://schemas.microsoft.com/office/drawing/2014/main" id="{32065C4E-FB45-4148-A69C-1E8EAED024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9822" y="1246368"/>
            <a:ext cx="3148302" cy="2163333"/>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7236E38D-2C5B-4FAD-B7E4-D80A756B8E1E}"/>
              </a:ext>
            </a:extLst>
          </p:cNvPr>
          <p:cNvSpPr txBox="1"/>
          <p:nvPr/>
        </p:nvSpPr>
        <p:spPr>
          <a:xfrm>
            <a:off x="6342077" y="3791824"/>
            <a:ext cx="2024016" cy="300082"/>
          </a:xfrm>
          <a:prstGeom prst="rect">
            <a:avLst/>
          </a:prstGeom>
          <a:noFill/>
        </p:spPr>
        <p:txBody>
          <a:bodyPr wrap="none" rtlCol="0">
            <a:spAutoFit/>
          </a:bodyPr>
          <a:lstStyle/>
          <a:p>
            <a:r>
              <a:rPr lang="es-ES" dirty="0"/>
              <a:t>Fuente: </a:t>
            </a:r>
            <a:r>
              <a:rPr lang="es-ES" dirty="0">
                <a:hlinkClick r:id="rId4"/>
              </a:rPr>
              <a:t>Texas Instruments</a:t>
            </a:r>
            <a:endParaRPr lang="es-ES" dirty="0"/>
          </a:p>
        </p:txBody>
      </p:sp>
    </p:spTree>
    <p:extLst>
      <p:ext uri="{BB962C8B-B14F-4D97-AF65-F5344CB8AC3E}">
        <p14:creationId xmlns:p14="http://schemas.microsoft.com/office/powerpoint/2010/main" val="3751869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x86</a:t>
            </a:r>
          </a:p>
        </p:txBody>
      </p:sp>
      <p:pic>
        <p:nvPicPr>
          <p:cNvPr id="1026" name="Picture 2">
            <a:extLst>
              <a:ext uri="{FF2B5EF4-FFF2-40B4-BE49-F238E27FC236}">
                <a16:creationId xmlns:a16="http://schemas.microsoft.com/office/drawing/2014/main" id="{602EC6C9-CCDE-41E2-BC85-FD0DE563C2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4180" y="1005594"/>
            <a:ext cx="4418903" cy="3665489"/>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CE12D90B-AF0A-48DB-9ED7-85EA81C1398C}"/>
              </a:ext>
            </a:extLst>
          </p:cNvPr>
          <p:cNvSpPr txBox="1"/>
          <p:nvPr/>
        </p:nvSpPr>
        <p:spPr>
          <a:xfrm>
            <a:off x="1517650" y="1107688"/>
            <a:ext cx="2881815" cy="715581"/>
          </a:xfrm>
          <a:prstGeom prst="rect">
            <a:avLst/>
          </a:prstGeom>
          <a:noFill/>
        </p:spPr>
        <p:txBody>
          <a:bodyPr wrap="none" rtlCol="0">
            <a:spAutoFit/>
          </a:bodyPr>
          <a:lstStyle/>
          <a:p>
            <a:pPr algn="ctr"/>
            <a:r>
              <a:rPr lang="es-ES" dirty="0"/>
              <a:t>Modelo del 8086. Arquitectura de</a:t>
            </a:r>
          </a:p>
          <a:p>
            <a:r>
              <a:rPr lang="es-ES" dirty="0"/>
              <a:t>16 bits y bus de direcciones de 20 bits </a:t>
            </a:r>
          </a:p>
          <a:p>
            <a:pPr algn="ctr"/>
            <a:r>
              <a:rPr lang="es-ES" dirty="0"/>
              <a:t>(podía manejar hasta 1MB de RAM) </a:t>
            </a:r>
          </a:p>
        </p:txBody>
      </p:sp>
      <p:sp>
        <p:nvSpPr>
          <p:cNvPr id="6" name="CuadroTexto 5">
            <a:extLst>
              <a:ext uri="{FF2B5EF4-FFF2-40B4-BE49-F238E27FC236}">
                <a16:creationId xmlns:a16="http://schemas.microsoft.com/office/drawing/2014/main" id="{EE8682BF-79DF-4170-84A7-2B4B3169B38E}"/>
              </a:ext>
            </a:extLst>
          </p:cNvPr>
          <p:cNvSpPr txBox="1"/>
          <p:nvPr/>
        </p:nvSpPr>
        <p:spPr>
          <a:xfrm>
            <a:off x="1517651" y="2103862"/>
            <a:ext cx="2746530" cy="2123658"/>
          </a:xfrm>
          <a:prstGeom prst="rect">
            <a:avLst/>
          </a:prstGeom>
          <a:noFill/>
        </p:spPr>
        <p:txBody>
          <a:bodyPr wrap="square" rtlCol="0">
            <a:spAutoFit/>
          </a:bodyPr>
          <a:lstStyle/>
          <a:p>
            <a:pPr marL="285750" indent="-285750">
              <a:buFont typeface="Arial" panose="020B0604020202020204" pitchFamily="34" charset="0"/>
              <a:buChar char="•"/>
            </a:pPr>
            <a:r>
              <a:rPr lang="es-ES" sz="1100" dirty="0"/>
              <a:t>AX a DX: Registros de propósito general, accesibles en dos mitades de 8 bytes por compatibilidad con el 8080. AX es el acumulador.</a:t>
            </a:r>
          </a:p>
          <a:p>
            <a:pPr marL="285750" indent="-285750">
              <a:buFont typeface="Arial" panose="020B0604020202020204" pitchFamily="34" charset="0"/>
              <a:buChar char="•"/>
            </a:pPr>
            <a:endParaRPr lang="es-ES" sz="1100" dirty="0"/>
          </a:p>
          <a:p>
            <a:pPr marL="285750" indent="-285750">
              <a:buFont typeface="Arial" panose="020B0604020202020204" pitchFamily="34" charset="0"/>
              <a:buChar char="•"/>
            </a:pPr>
            <a:r>
              <a:rPr lang="es-ES" sz="1100" dirty="0"/>
              <a:t>SP: </a:t>
            </a:r>
            <a:r>
              <a:rPr lang="es-ES" sz="1100" dirty="0" err="1"/>
              <a:t>Stack</a:t>
            </a:r>
            <a:r>
              <a:rPr lang="es-ES" sz="1100" dirty="0"/>
              <a:t> Pointer</a:t>
            </a:r>
          </a:p>
          <a:p>
            <a:pPr marL="285750" indent="-285750">
              <a:buFont typeface="Arial" panose="020B0604020202020204" pitchFamily="34" charset="0"/>
              <a:buChar char="•"/>
            </a:pPr>
            <a:r>
              <a:rPr lang="es-ES" sz="1100" dirty="0"/>
              <a:t>BP: Base Pointer (inicio del </a:t>
            </a:r>
            <a:r>
              <a:rPr lang="es-ES" sz="1100" dirty="0" err="1"/>
              <a:t>stack</a:t>
            </a:r>
            <a:r>
              <a:rPr lang="es-ES" sz="1100" dirty="0"/>
              <a:t>)</a:t>
            </a:r>
          </a:p>
          <a:p>
            <a:pPr marL="285750" indent="-285750">
              <a:buFont typeface="Arial" panose="020B0604020202020204" pitchFamily="34" charset="0"/>
              <a:buChar char="•"/>
            </a:pPr>
            <a:r>
              <a:rPr lang="es-ES" sz="1100" dirty="0"/>
              <a:t>DI, SI: Registros de indirección</a:t>
            </a:r>
          </a:p>
          <a:p>
            <a:pPr marL="285750" indent="-285750">
              <a:buFont typeface="Arial" panose="020B0604020202020204" pitchFamily="34" charset="0"/>
              <a:buChar char="•"/>
            </a:pPr>
            <a:endParaRPr lang="es-ES" sz="1100" dirty="0"/>
          </a:p>
          <a:p>
            <a:pPr marL="285750" indent="-285750">
              <a:buFont typeface="Arial" panose="020B0604020202020204" pitchFamily="34" charset="0"/>
              <a:buChar char="•"/>
            </a:pPr>
            <a:r>
              <a:rPr lang="es-ES" sz="1100" dirty="0"/>
              <a:t>IP: </a:t>
            </a:r>
            <a:r>
              <a:rPr lang="es-ES" sz="1100" dirty="0" err="1"/>
              <a:t>Instruction</a:t>
            </a:r>
            <a:r>
              <a:rPr lang="es-ES" sz="1100" dirty="0"/>
              <a:t> Pointer, contador de programa.</a:t>
            </a:r>
          </a:p>
          <a:p>
            <a:pPr marL="285750" indent="-285750">
              <a:buFont typeface="Arial" panose="020B0604020202020204" pitchFamily="34" charset="0"/>
              <a:buChar char="•"/>
            </a:pPr>
            <a:r>
              <a:rPr lang="es-ES" sz="1100" dirty="0"/>
              <a:t>CS, DS, SS, ES: Registros de segmento.</a:t>
            </a:r>
          </a:p>
        </p:txBody>
      </p:sp>
      <p:sp>
        <p:nvSpPr>
          <p:cNvPr id="8" name="CuadroTexto 7">
            <a:extLst>
              <a:ext uri="{FF2B5EF4-FFF2-40B4-BE49-F238E27FC236}">
                <a16:creationId xmlns:a16="http://schemas.microsoft.com/office/drawing/2014/main" id="{CB52A1EA-92C9-4412-BB82-7C1D8928825A}"/>
              </a:ext>
            </a:extLst>
          </p:cNvPr>
          <p:cNvSpPr txBox="1"/>
          <p:nvPr/>
        </p:nvSpPr>
        <p:spPr>
          <a:xfrm>
            <a:off x="1585519" y="4668748"/>
            <a:ext cx="6906891" cy="730969"/>
          </a:xfrm>
          <a:prstGeom prst="rect">
            <a:avLst/>
          </a:prstGeom>
          <a:noFill/>
        </p:spPr>
        <p:txBody>
          <a:bodyPr wrap="none" rtlCol="0">
            <a:spAutoFit/>
          </a:bodyPr>
          <a:lstStyle/>
          <a:p>
            <a:pPr algn="ctr"/>
            <a:r>
              <a:rPr lang="es-ES" sz="1400" dirty="0"/>
              <a:t>El 8086 no tenía modo supervisor (se introdujo en el 80286), de manera que el usuario tenía</a:t>
            </a:r>
          </a:p>
          <a:p>
            <a:pPr algn="ctr"/>
            <a:r>
              <a:rPr lang="es-ES" sz="1400" dirty="0"/>
              <a:t>acceso a todos los recursos y direcciones</a:t>
            </a:r>
          </a:p>
          <a:p>
            <a:pPr algn="ctr"/>
            <a:endParaRPr lang="es-ES" dirty="0"/>
          </a:p>
        </p:txBody>
      </p:sp>
    </p:spTree>
    <p:extLst>
      <p:ext uri="{BB962C8B-B14F-4D97-AF65-F5344CB8AC3E}">
        <p14:creationId xmlns:p14="http://schemas.microsoft.com/office/powerpoint/2010/main" val="1999090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x86</a:t>
            </a:r>
          </a:p>
        </p:txBody>
      </p:sp>
      <p:sp>
        <p:nvSpPr>
          <p:cNvPr id="3" name="CuadroTexto 2">
            <a:extLst>
              <a:ext uri="{FF2B5EF4-FFF2-40B4-BE49-F238E27FC236}">
                <a16:creationId xmlns:a16="http://schemas.microsoft.com/office/drawing/2014/main" id="{CE12D90B-AF0A-48DB-9ED7-85EA81C1398C}"/>
              </a:ext>
            </a:extLst>
          </p:cNvPr>
          <p:cNvSpPr txBox="1"/>
          <p:nvPr/>
        </p:nvSpPr>
        <p:spPr>
          <a:xfrm>
            <a:off x="1441672" y="1107688"/>
            <a:ext cx="3222607" cy="2377574"/>
          </a:xfrm>
          <a:prstGeom prst="rect">
            <a:avLst/>
          </a:prstGeom>
          <a:noFill/>
        </p:spPr>
        <p:txBody>
          <a:bodyPr wrap="square" rtlCol="0">
            <a:spAutoFit/>
          </a:bodyPr>
          <a:lstStyle/>
          <a:p>
            <a:pPr algn="just"/>
            <a:r>
              <a:rPr lang="es-ES" dirty="0"/>
              <a:t>Modelo de memoria del PC original con MS-DOS. El Sistema Operativo ocupaba las direcciones bajas y la memoria útil para el usuario llegaba solo hasta los 640 kB. Por encima se situaban la memoria gráfica, el driver de los discos y la BIOS en la parte superior del mapa.</a:t>
            </a:r>
          </a:p>
          <a:p>
            <a:pPr algn="just"/>
            <a:endParaRPr lang="es-ES" dirty="0"/>
          </a:p>
          <a:p>
            <a:pPr algn="just"/>
            <a:r>
              <a:rPr lang="es-ES" dirty="0"/>
              <a:t>MS-DOS era </a:t>
            </a:r>
            <a:r>
              <a:rPr lang="es-ES" dirty="0" err="1"/>
              <a:t>monoproceso</a:t>
            </a:r>
            <a:r>
              <a:rPr lang="es-ES" dirty="0"/>
              <a:t> y no ofrecía protección por la inexistencia del modo supervisor en el 8086.</a:t>
            </a:r>
          </a:p>
        </p:txBody>
      </p:sp>
      <p:pic>
        <p:nvPicPr>
          <p:cNvPr id="5" name="Imagen 4">
            <a:extLst>
              <a:ext uri="{FF2B5EF4-FFF2-40B4-BE49-F238E27FC236}">
                <a16:creationId xmlns:a16="http://schemas.microsoft.com/office/drawing/2014/main" id="{79D813EC-2BA1-440E-BF0B-FF03AD1E9AC7}"/>
              </a:ext>
            </a:extLst>
          </p:cNvPr>
          <p:cNvPicPr>
            <a:picLocks noChangeAspect="1"/>
          </p:cNvPicPr>
          <p:nvPr/>
        </p:nvPicPr>
        <p:blipFill>
          <a:blip r:embed="rId3"/>
          <a:stretch>
            <a:fillRect/>
          </a:stretch>
        </p:blipFill>
        <p:spPr>
          <a:xfrm>
            <a:off x="5064420" y="744538"/>
            <a:ext cx="3936968" cy="4170362"/>
          </a:xfrm>
          <a:prstGeom prst="rect">
            <a:avLst/>
          </a:prstGeom>
        </p:spPr>
      </p:pic>
    </p:spTree>
    <p:extLst>
      <p:ext uri="{BB962C8B-B14F-4D97-AF65-F5344CB8AC3E}">
        <p14:creationId xmlns:p14="http://schemas.microsoft.com/office/powerpoint/2010/main" val="1156283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x86</a:t>
            </a:r>
          </a:p>
        </p:txBody>
      </p:sp>
      <p:sp>
        <p:nvSpPr>
          <p:cNvPr id="3" name="CuadroTexto 2">
            <a:extLst>
              <a:ext uri="{FF2B5EF4-FFF2-40B4-BE49-F238E27FC236}">
                <a16:creationId xmlns:a16="http://schemas.microsoft.com/office/drawing/2014/main" id="{CE12D90B-AF0A-48DB-9ED7-85EA81C1398C}"/>
              </a:ext>
            </a:extLst>
          </p:cNvPr>
          <p:cNvSpPr txBox="1"/>
          <p:nvPr/>
        </p:nvSpPr>
        <p:spPr>
          <a:xfrm>
            <a:off x="1517650" y="1107688"/>
            <a:ext cx="2881815" cy="715581"/>
          </a:xfrm>
          <a:prstGeom prst="rect">
            <a:avLst/>
          </a:prstGeom>
          <a:noFill/>
        </p:spPr>
        <p:txBody>
          <a:bodyPr wrap="none" rtlCol="0">
            <a:spAutoFit/>
          </a:bodyPr>
          <a:lstStyle/>
          <a:p>
            <a:pPr algn="ctr"/>
            <a:r>
              <a:rPr lang="es-ES" dirty="0"/>
              <a:t>Modelo del 80386. Arquitectura de</a:t>
            </a:r>
          </a:p>
          <a:p>
            <a:r>
              <a:rPr lang="es-ES" dirty="0"/>
              <a:t>32 bits y bus de direcciones de 32 bits </a:t>
            </a:r>
          </a:p>
          <a:p>
            <a:pPr algn="ctr"/>
            <a:r>
              <a:rPr lang="es-ES" dirty="0"/>
              <a:t>(podía manejar hasta 4GB de RAM) </a:t>
            </a:r>
          </a:p>
        </p:txBody>
      </p:sp>
      <p:sp>
        <p:nvSpPr>
          <p:cNvPr id="6" name="CuadroTexto 5">
            <a:extLst>
              <a:ext uri="{FF2B5EF4-FFF2-40B4-BE49-F238E27FC236}">
                <a16:creationId xmlns:a16="http://schemas.microsoft.com/office/drawing/2014/main" id="{EE8682BF-79DF-4170-84A7-2B4B3169B38E}"/>
              </a:ext>
            </a:extLst>
          </p:cNvPr>
          <p:cNvSpPr txBox="1"/>
          <p:nvPr/>
        </p:nvSpPr>
        <p:spPr>
          <a:xfrm>
            <a:off x="1482785" y="2042959"/>
            <a:ext cx="2694932" cy="2631490"/>
          </a:xfrm>
          <a:prstGeom prst="rect">
            <a:avLst/>
          </a:prstGeom>
          <a:noFill/>
        </p:spPr>
        <p:txBody>
          <a:bodyPr wrap="square" rtlCol="0">
            <a:spAutoFit/>
          </a:bodyPr>
          <a:lstStyle/>
          <a:p>
            <a:pPr marL="285750" indent="-285750" algn="just">
              <a:buFont typeface="Arial" panose="020B0604020202020204" pitchFamily="34" charset="0"/>
              <a:buChar char="•"/>
            </a:pPr>
            <a:r>
              <a:rPr lang="es-ES" sz="1100" dirty="0"/>
              <a:t>EAX a EDX: Los registros se expanden a 32 bits, por compatibilidad hacia atrás se permite el acceso en modo 16 bits (AX, BX) y 8 bits en aquellos que lo soportaban en el 8086 (AH, AL, … DH, DL) </a:t>
            </a:r>
          </a:p>
          <a:p>
            <a:pPr marL="285750" indent="-285750" algn="just">
              <a:buFont typeface="Arial" panose="020B0604020202020204" pitchFamily="34" charset="0"/>
              <a:buChar char="•"/>
            </a:pPr>
            <a:r>
              <a:rPr lang="es-ES" sz="1100" dirty="0"/>
              <a:t>Los registros de manejo de direcciones también se amplían a 32 bits (ESP, EBP, EIP…) pero se permite usarlos con el nombre de 16 bits (SP, BP) para que puedan funcionar los ejecutables compilados con esa arquitectura.</a:t>
            </a:r>
          </a:p>
          <a:p>
            <a:pPr marL="285750" indent="-285750" algn="just">
              <a:buFont typeface="Arial" panose="020B0604020202020204" pitchFamily="34" charset="0"/>
              <a:buChar char="•"/>
            </a:pPr>
            <a:r>
              <a:rPr lang="es-ES" sz="1100" dirty="0"/>
              <a:t>Hay tres registros especiales de control (CR0 a CR3). El modo supervisor se fija con un bit de CR0.</a:t>
            </a:r>
          </a:p>
        </p:txBody>
      </p:sp>
      <p:pic>
        <p:nvPicPr>
          <p:cNvPr id="2050" name="Picture 2">
            <a:extLst>
              <a:ext uri="{FF2B5EF4-FFF2-40B4-BE49-F238E27FC236}">
                <a16:creationId xmlns:a16="http://schemas.microsoft.com/office/drawing/2014/main" id="{9FAD2853-368B-4788-9FE0-0E31DE68C8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9465" y="1107688"/>
            <a:ext cx="5026396" cy="3182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235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x86</a:t>
            </a:r>
          </a:p>
        </p:txBody>
      </p:sp>
      <p:sp>
        <p:nvSpPr>
          <p:cNvPr id="3" name="CuadroTexto 2">
            <a:extLst>
              <a:ext uri="{FF2B5EF4-FFF2-40B4-BE49-F238E27FC236}">
                <a16:creationId xmlns:a16="http://schemas.microsoft.com/office/drawing/2014/main" id="{CE12D90B-AF0A-48DB-9ED7-85EA81C1398C}"/>
              </a:ext>
            </a:extLst>
          </p:cNvPr>
          <p:cNvSpPr txBox="1"/>
          <p:nvPr/>
        </p:nvSpPr>
        <p:spPr>
          <a:xfrm>
            <a:off x="1441672" y="1107688"/>
            <a:ext cx="3222607" cy="1754326"/>
          </a:xfrm>
          <a:prstGeom prst="rect">
            <a:avLst/>
          </a:prstGeom>
          <a:noFill/>
        </p:spPr>
        <p:txBody>
          <a:bodyPr wrap="square" rtlCol="0">
            <a:spAutoFit/>
          </a:bodyPr>
          <a:lstStyle/>
          <a:p>
            <a:pPr algn="just"/>
            <a:r>
              <a:rPr lang="es-ES" dirty="0"/>
              <a:t>En el modelo de 32 bits, la zona baja se distribuye de la misma forma que en los micros de 16 bits y los programas de usuario se cargan en la zona extendida, por encima de 1 MB.</a:t>
            </a:r>
          </a:p>
          <a:p>
            <a:pPr algn="just"/>
            <a:endParaRPr lang="es-ES" dirty="0"/>
          </a:p>
          <a:p>
            <a:pPr algn="just"/>
            <a:r>
              <a:rPr lang="es-ES" dirty="0"/>
              <a:t>Las direcciones más altas se reservan para el mapeo de dispositivos de entrada/salida.</a:t>
            </a:r>
          </a:p>
        </p:txBody>
      </p:sp>
      <p:pic>
        <p:nvPicPr>
          <p:cNvPr id="6" name="Imagen 5">
            <a:extLst>
              <a:ext uri="{FF2B5EF4-FFF2-40B4-BE49-F238E27FC236}">
                <a16:creationId xmlns:a16="http://schemas.microsoft.com/office/drawing/2014/main" id="{8FBFD1FB-5AE5-47D3-AEDB-08E9EE53E9ED}"/>
              </a:ext>
            </a:extLst>
          </p:cNvPr>
          <p:cNvPicPr>
            <a:picLocks noChangeAspect="1"/>
          </p:cNvPicPr>
          <p:nvPr/>
        </p:nvPicPr>
        <p:blipFill>
          <a:blip r:embed="rId3"/>
          <a:stretch>
            <a:fillRect/>
          </a:stretch>
        </p:blipFill>
        <p:spPr>
          <a:xfrm>
            <a:off x="4950547" y="952477"/>
            <a:ext cx="4109563" cy="4132299"/>
          </a:xfrm>
          <a:prstGeom prst="rect">
            <a:avLst/>
          </a:prstGeom>
        </p:spPr>
      </p:pic>
    </p:spTree>
    <p:extLst>
      <p:ext uri="{BB962C8B-B14F-4D97-AF65-F5344CB8AC3E}">
        <p14:creationId xmlns:p14="http://schemas.microsoft.com/office/powerpoint/2010/main" val="27872984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x86</a:t>
            </a:r>
          </a:p>
        </p:txBody>
      </p:sp>
      <p:sp>
        <p:nvSpPr>
          <p:cNvPr id="3" name="CuadroTexto 2">
            <a:extLst>
              <a:ext uri="{FF2B5EF4-FFF2-40B4-BE49-F238E27FC236}">
                <a16:creationId xmlns:a16="http://schemas.microsoft.com/office/drawing/2014/main" id="{CE12D90B-AF0A-48DB-9ED7-85EA81C1398C}"/>
              </a:ext>
            </a:extLst>
          </p:cNvPr>
          <p:cNvSpPr txBox="1"/>
          <p:nvPr/>
        </p:nvSpPr>
        <p:spPr>
          <a:xfrm>
            <a:off x="1516047" y="1107688"/>
            <a:ext cx="2885021" cy="507831"/>
          </a:xfrm>
          <a:prstGeom prst="rect">
            <a:avLst/>
          </a:prstGeom>
          <a:noFill/>
        </p:spPr>
        <p:txBody>
          <a:bodyPr wrap="none" rtlCol="0">
            <a:spAutoFit/>
          </a:bodyPr>
          <a:lstStyle/>
          <a:p>
            <a:pPr algn="ctr"/>
            <a:r>
              <a:rPr lang="es-ES" dirty="0"/>
              <a:t>Modelo de arquitectura de</a:t>
            </a:r>
          </a:p>
          <a:p>
            <a:r>
              <a:rPr lang="es-ES" dirty="0"/>
              <a:t>32 bits y bus de direcciones de 48 bits</a:t>
            </a:r>
          </a:p>
        </p:txBody>
      </p:sp>
      <p:sp>
        <p:nvSpPr>
          <p:cNvPr id="6" name="CuadroTexto 5">
            <a:extLst>
              <a:ext uri="{FF2B5EF4-FFF2-40B4-BE49-F238E27FC236}">
                <a16:creationId xmlns:a16="http://schemas.microsoft.com/office/drawing/2014/main" id="{EE8682BF-79DF-4170-84A7-2B4B3169B38E}"/>
              </a:ext>
            </a:extLst>
          </p:cNvPr>
          <p:cNvSpPr txBox="1"/>
          <p:nvPr/>
        </p:nvSpPr>
        <p:spPr>
          <a:xfrm>
            <a:off x="1482785" y="2042959"/>
            <a:ext cx="2694932" cy="2123658"/>
          </a:xfrm>
          <a:prstGeom prst="rect">
            <a:avLst/>
          </a:prstGeom>
          <a:noFill/>
        </p:spPr>
        <p:txBody>
          <a:bodyPr wrap="square" rtlCol="0">
            <a:spAutoFit/>
          </a:bodyPr>
          <a:lstStyle/>
          <a:p>
            <a:pPr marL="285750" indent="-285750" algn="just">
              <a:buFont typeface="Arial" panose="020B0604020202020204" pitchFamily="34" charset="0"/>
              <a:buChar char="•"/>
            </a:pPr>
            <a:r>
              <a:rPr lang="es-ES" sz="1100" dirty="0"/>
              <a:t>RAX a RDX: Registros expandidos a 64 bits, por compatibilidad hacia atrás se permite el acceso en modo 32, 16 y 8 en aquellos que lo soportaban.</a:t>
            </a:r>
          </a:p>
          <a:p>
            <a:pPr marL="285750" indent="-285750" algn="just">
              <a:buFont typeface="Arial" panose="020B0604020202020204" pitchFamily="34" charset="0"/>
              <a:buChar char="•"/>
            </a:pPr>
            <a:r>
              <a:rPr lang="es-ES" sz="1100" dirty="0"/>
              <a:t>R8 a R15: Nuevos registros de propósito general de 64 bits.</a:t>
            </a:r>
          </a:p>
          <a:p>
            <a:pPr marL="285750" indent="-285750" algn="just">
              <a:buFont typeface="Arial" panose="020B0604020202020204" pitchFamily="34" charset="0"/>
              <a:buChar char="•"/>
            </a:pPr>
            <a:r>
              <a:rPr lang="es-ES" sz="1100" dirty="0"/>
              <a:t>Los registros de manejo de direcciones también se amplían a 32 bits (ESP, EBP, EIP…) pero se permite usarlos con el nombre de 16 bits (SP, BP) para que puedan funcionar los ejecutables compilados con esa arquitectura.</a:t>
            </a:r>
          </a:p>
        </p:txBody>
      </p:sp>
      <p:pic>
        <p:nvPicPr>
          <p:cNvPr id="3074" name="Picture 2" descr="alt text">
            <a:extLst>
              <a:ext uri="{FF2B5EF4-FFF2-40B4-BE49-F238E27FC236}">
                <a16:creationId xmlns:a16="http://schemas.microsoft.com/office/drawing/2014/main" id="{BAB6F884-F935-4811-8496-ED2F97CEB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088778"/>
            <a:ext cx="4457154" cy="2965943"/>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5B956640-176F-4D34-8824-69EDF2EC6E8A}"/>
              </a:ext>
            </a:extLst>
          </p:cNvPr>
          <p:cNvSpPr txBox="1"/>
          <p:nvPr/>
        </p:nvSpPr>
        <p:spPr>
          <a:xfrm>
            <a:off x="7424257" y="4244829"/>
            <a:ext cx="1442907" cy="600164"/>
          </a:xfrm>
          <a:prstGeom prst="rect">
            <a:avLst/>
          </a:prstGeom>
          <a:noFill/>
        </p:spPr>
        <p:txBody>
          <a:bodyPr wrap="square" rtlCol="0">
            <a:spAutoFit/>
          </a:bodyPr>
          <a:lstStyle/>
          <a:p>
            <a:pPr algn="ctr"/>
            <a:r>
              <a:rPr lang="es-ES" sz="1100" dirty="0"/>
              <a:t>Registros para procesamiento de </a:t>
            </a:r>
            <a:r>
              <a:rPr lang="es-ES" sz="1100" dirty="0" err="1"/>
              <a:t>streaming</a:t>
            </a:r>
            <a:endParaRPr lang="es-ES" sz="1100" dirty="0"/>
          </a:p>
        </p:txBody>
      </p:sp>
    </p:spTree>
    <p:extLst>
      <p:ext uri="{BB962C8B-B14F-4D97-AF65-F5344CB8AC3E}">
        <p14:creationId xmlns:p14="http://schemas.microsoft.com/office/powerpoint/2010/main" val="1153410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x86</a:t>
            </a:r>
          </a:p>
        </p:txBody>
      </p:sp>
      <p:pic>
        <p:nvPicPr>
          <p:cNvPr id="5122" name="Picture 2">
            <a:extLst>
              <a:ext uri="{FF2B5EF4-FFF2-40B4-BE49-F238E27FC236}">
                <a16:creationId xmlns:a16="http://schemas.microsoft.com/office/drawing/2014/main" id="{B343C37E-7027-486A-99BE-4FBC0516E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5539" y="1107688"/>
            <a:ext cx="3886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D14E7DA4-30AA-4022-8D8E-F1DF181847DD}"/>
              </a:ext>
            </a:extLst>
          </p:cNvPr>
          <p:cNvSpPr txBox="1"/>
          <p:nvPr/>
        </p:nvSpPr>
        <p:spPr>
          <a:xfrm>
            <a:off x="1441672" y="1107688"/>
            <a:ext cx="3222607" cy="2585323"/>
          </a:xfrm>
          <a:prstGeom prst="rect">
            <a:avLst/>
          </a:prstGeom>
          <a:noFill/>
        </p:spPr>
        <p:txBody>
          <a:bodyPr wrap="square" rtlCol="0">
            <a:spAutoFit/>
          </a:bodyPr>
          <a:lstStyle/>
          <a:p>
            <a:pPr algn="just"/>
            <a:r>
              <a:rPr lang="es-ES" dirty="0"/>
              <a:t>Con 64 bits pueden direccionarse 16 EB (</a:t>
            </a:r>
            <a:r>
              <a:rPr lang="es-ES" dirty="0" err="1"/>
              <a:t>ExaBytes</a:t>
            </a:r>
            <a:r>
              <a:rPr lang="es-ES" dirty="0"/>
              <a:t>) pero los micros actuales no usan todos los bits del bus, sino 48. La arquitectura prevé las futuras ampliaciones como puede verse en la figura.</a:t>
            </a:r>
          </a:p>
          <a:p>
            <a:pPr algn="just"/>
            <a:endParaRPr lang="es-ES" dirty="0"/>
          </a:p>
          <a:p>
            <a:pPr algn="just"/>
            <a:r>
              <a:rPr lang="es-ES" dirty="0"/>
              <a:t>De cara a su uso por los sistemas operativos, el </a:t>
            </a:r>
            <a:r>
              <a:rPr lang="es-ES" b="1" dirty="0"/>
              <a:t>espacio de direcciones se divide en dos mitades (</a:t>
            </a:r>
            <a:r>
              <a:rPr lang="es-ES" b="1" dirty="0" err="1"/>
              <a:t>low</a:t>
            </a:r>
            <a:r>
              <a:rPr lang="es-ES" b="1" dirty="0"/>
              <a:t> </a:t>
            </a:r>
            <a:r>
              <a:rPr lang="es-ES" b="1" dirty="0" err="1"/>
              <a:t>half</a:t>
            </a:r>
            <a:r>
              <a:rPr lang="es-ES" b="1" dirty="0"/>
              <a:t> y </a:t>
            </a:r>
            <a:r>
              <a:rPr lang="es-ES" b="1" dirty="0" err="1"/>
              <a:t>high</a:t>
            </a:r>
            <a:r>
              <a:rPr lang="es-ES" b="1" dirty="0"/>
              <a:t> </a:t>
            </a:r>
            <a:r>
              <a:rPr lang="es-ES" b="1" dirty="0" err="1"/>
              <a:t>half</a:t>
            </a:r>
            <a:r>
              <a:rPr lang="es-ES" b="1" dirty="0"/>
              <a:t>), </a:t>
            </a:r>
            <a:r>
              <a:rPr lang="es-ES" dirty="0"/>
              <a:t>la inferior se dedica a los procesos de usuario y la superior al </a:t>
            </a:r>
            <a:r>
              <a:rPr lang="es-ES" dirty="0" err="1"/>
              <a:t>kernel</a:t>
            </a:r>
            <a:r>
              <a:rPr lang="es-ES" dirty="0"/>
              <a:t> (se estudiarán los detalles en la lección 4).</a:t>
            </a:r>
          </a:p>
        </p:txBody>
      </p:sp>
      <p:sp>
        <p:nvSpPr>
          <p:cNvPr id="11" name="CuadroTexto 10">
            <a:extLst>
              <a:ext uri="{FF2B5EF4-FFF2-40B4-BE49-F238E27FC236}">
                <a16:creationId xmlns:a16="http://schemas.microsoft.com/office/drawing/2014/main" id="{00C3A5A0-7465-4F1E-AB45-4CF3450A3533}"/>
              </a:ext>
            </a:extLst>
          </p:cNvPr>
          <p:cNvSpPr txBox="1"/>
          <p:nvPr/>
        </p:nvSpPr>
        <p:spPr>
          <a:xfrm>
            <a:off x="2321652" y="4888890"/>
            <a:ext cx="5614333" cy="246221"/>
          </a:xfrm>
          <a:prstGeom prst="rect">
            <a:avLst/>
          </a:prstGeom>
          <a:noFill/>
        </p:spPr>
        <p:txBody>
          <a:bodyPr wrap="square">
            <a:spAutoFit/>
          </a:bodyPr>
          <a:lstStyle/>
          <a:p>
            <a:r>
              <a:rPr lang="es-ES" sz="1000" dirty="0">
                <a:hlinkClick r:id="rId4"/>
              </a:rPr>
              <a:t>https://software.intel.com/content/www/us/en/develop/articles/introduction-to-x64-assembly.html</a:t>
            </a:r>
            <a:endParaRPr lang="es-ES" sz="1000" dirty="0"/>
          </a:p>
        </p:txBody>
      </p:sp>
    </p:spTree>
    <p:extLst>
      <p:ext uri="{BB962C8B-B14F-4D97-AF65-F5344CB8AC3E}">
        <p14:creationId xmlns:p14="http://schemas.microsoft.com/office/powerpoint/2010/main" val="671283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x86</a:t>
            </a:r>
          </a:p>
        </p:txBody>
      </p:sp>
      <p:sp>
        <p:nvSpPr>
          <p:cNvPr id="2" name="CuadroTexto 1">
            <a:extLst>
              <a:ext uri="{FF2B5EF4-FFF2-40B4-BE49-F238E27FC236}">
                <a16:creationId xmlns:a16="http://schemas.microsoft.com/office/drawing/2014/main" id="{762613F3-D3C0-4881-9F0A-3670A70E2604}"/>
              </a:ext>
            </a:extLst>
          </p:cNvPr>
          <p:cNvSpPr txBox="1"/>
          <p:nvPr/>
        </p:nvSpPr>
        <p:spPr>
          <a:xfrm>
            <a:off x="1701731" y="1048965"/>
            <a:ext cx="3754852" cy="3831818"/>
          </a:xfrm>
          <a:prstGeom prst="rect">
            <a:avLst/>
          </a:prstGeom>
          <a:noFill/>
        </p:spPr>
        <p:txBody>
          <a:bodyPr wrap="square" rtlCol="0">
            <a:spAutoFit/>
          </a:bodyPr>
          <a:lstStyle/>
          <a:p>
            <a:pPr algn="just"/>
            <a:r>
              <a:rPr lang="es-ES" b="1" u="sng" dirty="0"/>
              <a:t>Manejo del </a:t>
            </a:r>
            <a:r>
              <a:rPr lang="es-ES" b="1" u="sng" dirty="0" err="1"/>
              <a:t>stack</a:t>
            </a:r>
            <a:endParaRPr lang="es-ES" b="1" u="sng" dirty="0"/>
          </a:p>
          <a:p>
            <a:pPr algn="just"/>
            <a:endParaRPr lang="es-ES" dirty="0"/>
          </a:p>
          <a:p>
            <a:pPr algn="just"/>
            <a:r>
              <a:rPr lang="es-ES" dirty="0"/>
              <a:t>El manejo del </a:t>
            </a:r>
            <a:r>
              <a:rPr lang="es-ES" dirty="0" err="1"/>
              <a:t>stack</a:t>
            </a:r>
            <a:r>
              <a:rPr lang="es-ES" dirty="0"/>
              <a:t> en la arquitectura x86 es convencional. Hay un registro de </a:t>
            </a:r>
            <a:r>
              <a:rPr lang="es-ES" dirty="0" err="1"/>
              <a:t>stack</a:t>
            </a:r>
            <a:r>
              <a:rPr lang="es-ES" dirty="0"/>
              <a:t> SP (ESP o RSP según la arquitectura sea de 32 </a:t>
            </a:r>
            <a:r>
              <a:rPr lang="es-ES" dirty="0" err="1"/>
              <a:t>ó</a:t>
            </a:r>
            <a:r>
              <a:rPr lang="es-ES" dirty="0"/>
              <a:t> 64 bits) que apunta al último elemento añadido. Cuando se invoca una función, el </a:t>
            </a:r>
            <a:r>
              <a:rPr lang="es-ES" dirty="0" err="1"/>
              <a:t>stack</a:t>
            </a:r>
            <a:r>
              <a:rPr lang="es-ES" dirty="0"/>
              <a:t> almacena los parámetros de entrada, la dirección de retorno y las variables locales de la función. A este conjunto se le llama </a:t>
            </a:r>
            <a:r>
              <a:rPr lang="es-ES" b="1" dirty="0" err="1"/>
              <a:t>frame</a:t>
            </a:r>
            <a:r>
              <a:rPr lang="es-ES" dirty="0"/>
              <a:t> (marco). Para facilitar el manejo de la pila, los micros Intel incorporan un </a:t>
            </a:r>
            <a:r>
              <a:rPr lang="es-ES" b="1" i="1" dirty="0" err="1"/>
              <a:t>frame</a:t>
            </a:r>
            <a:r>
              <a:rPr lang="es-ES" b="1" i="1" dirty="0"/>
              <a:t> pointer</a:t>
            </a:r>
            <a:r>
              <a:rPr lang="es-ES" dirty="0"/>
              <a:t>, (registro %</a:t>
            </a:r>
            <a:r>
              <a:rPr lang="es-ES" dirty="0" err="1"/>
              <a:t>ebp</a:t>
            </a:r>
            <a:r>
              <a:rPr lang="es-ES" dirty="0"/>
              <a:t>) situado al inicio del marco de la función en el </a:t>
            </a:r>
            <a:r>
              <a:rPr lang="es-ES" dirty="0" err="1"/>
              <a:t>stack</a:t>
            </a:r>
            <a:r>
              <a:rPr lang="es-ES" dirty="0"/>
              <a:t>. El contenido del </a:t>
            </a:r>
            <a:r>
              <a:rPr lang="es-ES" dirty="0" err="1"/>
              <a:t>stack</a:t>
            </a:r>
            <a:r>
              <a:rPr lang="es-ES" dirty="0"/>
              <a:t> pointer varía durante la ejecución de la función, no así el del </a:t>
            </a:r>
            <a:r>
              <a:rPr lang="es-ES" dirty="0" err="1"/>
              <a:t>frame</a:t>
            </a:r>
            <a:r>
              <a:rPr lang="es-ES" dirty="0"/>
              <a:t> pointer. El </a:t>
            </a:r>
            <a:r>
              <a:rPr lang="es-ES" dirty="0" err="1"/>
              <a:t>frame</a:t>
            </a:r>
            <a:r>
              <a:rPr lang="es-ES" dirty="0"/>
              <a:t> pointer salvado contiene el valor del SP antes de la llamada a la función y se usa para restaurar este registro en el retorno.</a:t>
            </a:r>
          </a:p>
        </p:txBody>
      </p:sp>
      <p:sp>
        <p:nvSpPr>
          <p:cNvPr id="8" name="CuadroTexto 7">
            <a:extLst>
              <a:ext uri="{FF2B5EF4-FFF2-40B4-BE49-F238E27FC236}">
                <a16:creationId xmlns:a16="http://schemas.microsoft.com/office/drawing/2014/main" id="{05106C97-0363-4604-A2D0-87323CF6ADB2}"/>
              </a:ext>
            </a:extLst>
          </p:cNvPr>
          <p:cNvSpPr txBox="1"/>
          <p:nvPr/>
        </p:nvSpPr>
        <p:spPr>
          <a:xfrm>
            <a:off x="2441197" y="4784095"/>
            <a:ext cx="5314275" cy="261610"/>
          </a:xfrm>
          <a:prstGeom prst="rect">
            <a:avLst/>
          </a:prstGeom>
          <a:noFill/>
        </p:spPr>
        <p:txBody>
          <a:bodyPr wrap="none" rtlCol="0">
            <a:spAutoFit/>
          </a:bodyPr>
          <a:lstStyle/>
          <a:p>
            <a:r>
              <a:rPr lang="es-ES" sz="1100" dirty="0"/>
              <a:t>Ejemplo detallado completo en </a:t>
            </a:r>
            <a:r>
              <a:rPr lang="es-ES" sz="1100" dirty="0">
                <a:hlinkClick r:id="rId3"/>
              </a:rPr>
              <a:t>https://www.cs.rutgers.edu/~pxk/419/notes/frames.html</a:t>
            </a:r>
            <a:endParaRPr lang="es-ES" sz="1100" dirty="0"/>
          </a:p>
        </p:txBody>
      </p:sp>
      <p:sp>
        <p:nvSpPr>
          <p:cNvPr id="9" name="Rectángulo 8">
            <a:extLst>
              <a:ext uri="{FF2B5EF4-FFF2-40B4-BE49-F238E27FC236}">
                <a16:creationId xmlns:a16="http://schemas.microsoft.com/office/drawing/2014/main" id="{819DCB0C-7D88-4377-B7FE-039DC2C548FC}"/>
              </a:ext>
            </a:extLst>
          </p:cNvPr>
          <p:cNvSpPr/>
          <p:nvPr/>
        </p:nvSpPr>
        <p:spPr>
          <a:xfrm>
            <a:off x="6509766" y="774226"/>
            <a:ext cx="2055303" cy="27473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10000"/>
                  </a:schemeClr>
                </a:solidFill>
              </a:rPr>
              <a:t>Parámetros de </a:t>
            </a:r>
            <a:r>
              <a:rPr lang="es-ES" dirty="0" err="1">
                <a:solidFill>
                  <a:schemeClr val="bg2">
                    <a:lumMod val="10000"/>
                  </a:schemeClr>
                </a:solidFill>
              </a:rPr>
              <a:t>fexterna</a:t>
            </a:r>
            <a:r>
              <a:rPr lang="es-ES" dirty="0">
                <a:solidFill>
                  <a:schemeClr val="bg2">
                    <a:lumMod val="10000"/>
                  </a:schemeClr>
                </a:solidFill>
              </a:rPr>
              <a:t>()</a:t>
            </a:r>
          </a:p>
        </p:txBody>
      </p:sp>
      <p:sp>
        <p:nvSpPr>
          <p:cNvPr id="10" name="Rectángulo 9">
            <a:extLst>
              <a:ext uri="{FF2B5EF4-FFF2-40B4-BE49-F238E27FC236}">
                <a16:creationId xmlns:a16="http://schemas.microsoft.com/office/drawing/2014/main" id="{BD5C49BF-B450-4EDB-A352-AD4AFFFFE874}"/>
              </a:ext>
            </a:extLst>
          </p:cNvPr>
          <p:cNvSpPr/>
          <p:nvPr/>
        </p:nvSpPr>
        <p:spPr>
          <a:xfrm>
            <a:off x="6509766" y="1321638"/>
            <a:ext cx="2055303" cy="32299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bg2">
                    <a:lumMod val="10000"/>
                  </a:schemeClr>
                </a:solidFill>
              </a:rPr>
              <a:t>Frame</a:t>
            </a:r>
            <a:r>
              <a:rPr lang="es-ES" dirty="0">
                <a:solidFill>
                  <a:schemeClr val="bg2">
                    <a:lumMod val="10000"/>
                  </a:schemeClr>
                </a:solidFill>
              </a:rPr>
              <a:t> pointer</a:t>
            </a:r>
          </a:p>
        </p:txBody>
      </p:sp>
      <p:sp>
        <p:nvSpPr>
          <p:cNvPr id="13" name="Rectángulo 12">
            <a:extLst>
              <a:ext uri="{FF2B5EF4-FFF2-40B4-BE49-F238E27FC236}">
                <a16:creationId xmlns:a16="http://schemas.microsoft.com/office/drawing/2014/main" id="{9E345479-F491-4209-B973-87FDD9028880}"/>
              </a:ext>
            </a:extLst>
          </p:cNvPr>
          <p:cNvSpPr/>
          <p:nvPr/>
        </p:nvSpPr>
        <p:spPr>
          <a:xfrm>
            <a:off x="6509766" y="1051086"/>
            <a:ext cx="2055303" cy="27473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10000"/>
                  </a:schemeClr>
                </a:solidFill>
              </a:rPr>
              <a:t>Dirección de retorno</a:t>
            </a:r>
          </a:p>
        </p:txBody>
      </p:sp>
      <p:sp>
        <p:nvSpPr>
          <p:cNvPr id="15" name="Rectángulo 14">
            <a:extLst>
              <a:ext uri="{FF2B5EF4-FFF2-40B4-BE49-F238E27FC236}">
                <a16:creationId xmlns:a16="http://schemas.microsoft.com/office/drawing/2014/main" id="{2F32681A-41EA-47F8-8201-C2AD0F671D7E}"/>
              </a:ext>
            </a:extLst>
          </p:cNvPr>
          <p:cNvSpPr/>
          <p:nvPr/>
        </p:nvSpPr>
        <p:spPr>
          <a:xfrm>
            <a:off x="6509766" y="1640448"/>
            <a:ext cx="2055303" cy="55780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10000"/>
                  </a:schemeClr>
                </a:solidFill>
              </a:rPr>
              <a:t>Variables locales </a:t>
            </a:r>
            <a:r>
              <a:rPr lang="es-ES" dirty="0" err="1">
                <a:solidFill>
                  <a:schemeClr val="bg2">
                    <a:lumMod val="10000"/>
                  </a:schemeClr>
                </a:solidFill>
              </a:rPr>
              <a:t>fexterna</a:t>
            </a:r>
            <a:r>
              <a:rPr lang="es-ES" dirty="0">
                <a:solidFill>
                  <a:schemeClr val="bg2">
                    <a:lumMod val="10000"/>
                  </a:schemeClr>
                </a:solidFill>
              </a:rPr>
              <a:t>()</a:t>
            </a:r>
          </a:p>
        </p:txBody>
      </p:sp>
      <p:sp>
        <p:nvSpPr>
          <p:cNvPr id="17" name="Rectángulo 16">
            <a:extLst>
              <a:ext uri="{FF2B5EF4-FFF2-40B4-BE49-F238E27FC236}">
                <a16:creationId xmlns:a16="http://schemas.microsoft.com/office/drawing/2014/main" id="{8F1BA32A-9A2F-41B2-8AFD-D8BA58A7E2D3}"/>
              </a:ext>
            </a:extLst>
          </p:cNvPr>
          <p:cNvSpPr/>
          <p:nvPr/>
        </p:nvSpPr>
        <p:spPr>
          <a:xfrm>
            <a:off x="6509766" y="2185830"/>
            <a:ext cx="2055303" cy="27473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10000"/>
                  </a:schemeClr>
                </a:solidFill>
              </a:rPr>
              <a:t>Parámetros de </a:t>
            </a:r>
            <a:r>
              <a:rPr lang="es-ES" dirty="0" err="1">
                <a:solidFill>
                  <a:schemeClr val="bg2">
                    <a:lumMod val="10000"/>
                  </a:schemeClr>
                </a:solidFill>
              </a:rPr>
              <a:t>finterna</a:t>
            </a:r>
            <a:r>
              <a:rPr lang="es-ES" dirty="0">
                <a:solidFill>
                  <a:schemeClr val="bg2">
                    <a:lumMod val="10000"/>
                  </a:schemeClr>
                </a:solidFill>
              </a:rPr>
              <a:t>()</a:t>
            </a:r>
          </a:p>
        </p:txBody>
      </p:sp>
      <p:sp>
        <p:nvSpPr>
          <p:cNvPr id="19" name="Rectángulo 18">
            <a:extLst>
              <a:ext uri="{FF2B5EF4-FFF2-40B4-BE49-F238E27FC236}">
                <a16:creationId xmlns:a16="http://schemas.microsoft.com/office/drawing/2014/main" id="{0EDB81CE-11B6-4D29-9C82-BD6FBE1ED0C6}"/>
              </a:ext>
            </a:extLst>
          </p:cNvPr>
          <p:cNvSpPr/>
          <p:nvPr/>
        </p:nvSpPr>
        <p:spPr>
          <a:xfrm>
            <a:off x="6509766" y="2733242"/>
            <a:ext cx="2055303" cy="32299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a:solidFill>
                  <a:schemeClr val="bg2">
                    <a:lumMod val="10000"/>
                  </a:schemeClr>
                </a:solidFill>
              </a:rPr>
              <a:t>Frame</a:t>
            </a:r>
            <a:r>
              <a:rPr lang="es-ES" dirty="0">
                <a:solidFill>
                  <a:schemeClr val="bg2">
                    <a:lumMod val="10000"/>
                  </a:schemeClr>
                </a:solidFill>
              </a:rPr>
              <a:t> pointer salvado</a:t>
            </a:r>
          </a:p>
        </p:txBody>
      </p:sp>
      <p:sp>
        <p:nvSpPr>
          <p:cNvPr id="21" name="Rectángulo 20">
            <a:extLst>
              <a:ext uri="{FF2B5EF4-FFF2-40B4-BE49-F238E27FC236}">
                <a16:creationId xmlns:a16="http://schemas.microsoft.com/office/drawing/2014/main" id="{3640B233-2145-4804-BFC8-569DEDAB9C07}"/>
              </a:ext>
            </a:extLst>
          </p:cNvPr>
          <p:cNvSpPr/>
          <p:nvPr/>
        </p:nvSpPr>
        <p:spPr>
          <a:xfrm>
            <a:off x="6509766" y="2462690"/>
            <a:ext cx="2055303" cy="27473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10000"/>
                  </a:schemeClr>
                </a:solidFill>
              </a:rPr>
              <a:t>Dirección de retorno</a:t>
            </a:r>
          </a:p>
        </p:txBody>
      </p:sp>
      <p:sp>
        <p:nvSpPr>
          <p:cNvPr id="23" name="Rectángulo 22">
            <a:extLst>
              <a:ext uri="{FF2B5EF4-FFF2-40B4-BE49-F238E27FC236}">
                <a16:creationId xmlns:a16="http://schemas.microsoft.com/office/drawing/2014/main" id="{F3D5FF43-765D-4BF5-A81F-ABAF641318D5}"/>
              </a:ext>
            </a:extLst>
          </p:cNvPr>
          <p:cNvSpPr/>
          <p:nvPr/>
        </p:nvSpPr>
        <p:spPr>
          <a:xfrm>
            <a:off x="6509766" y="3052052"/>
            <a:ext cx="2055303" cy="55780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10000"/>
                  </a:schemeClr>
                </a:solidFill>
              </a:rPr>
              <a:t>Variables locales </a:t>
            </a:r>
            <a:r>
              <a:rPr lang="es-ES" dirty="0" err="1">
                <a:solidFill>
                  <a:schemeClr val="bg2">
                    <a:lumMod val="10000"/>
                  </a:schemeClr>
                </a:solidFill>
              </a:rPr>
              <a:t>finterna</a:t>
            </a:r>
            <a:r>
              <a:rPr lang="es-ES" dirty="0">
                <a:solidFill>
                  <a:schemeClr val="bg2">
                    <a:lumMod val="10000"/>
                  </a:schemeClr>
                </a:solidFill>
              </a:rPr>
              <a:t>()</a:t>
            </a:r>
          </a:p>
        </p:txBody>
      </p:sp>
      <p:sp>
        <p:nvSpPr>
          <p:cNvPr id="25" name="Forma libre: forma 24">
            <a:extLst>
              <a:ext uri="{FF2B5EF4-FFF2-40B4-BE49-F238E27FC236}">
                <a16:creationId xmlns:a16="http://schemas.microsoft.com/office/drawing/2014/main" id="{B61E3078-CB42-4BB6-BFC8-F41F735C9709}"/>
              </a:ext>
            </a:extLst>
          </p:cNvPr>
          <p:cNvSpPr/>
          <p:nvPr/>
        </p:nvSpPr>
        <p:spPr>
          <a:xfrm>
            <a:off x="8565069" y="2235594"/>
            <a:ext cx="390732" cy="682263"/>
          </a:xfrm>
          <a:custGeom>
            <a:avLst/>
            <a:gdLst>
              <a:gd name="connsiteX0" fmla="*/ 0 w 346297"/>
              <a:gd name="connsiteY0" fmla="*/ 1208015 h 1208015"/>
              <a:gd name="connsiteX1" fmla="*/ 293615 w 346297"/>
              <a:gd name="connsiteY1" fmla="*/ 780176 h 1208015"/>
              <a:gd name="connsiteX2" fmla="*/ 327171 w 346297"/>
              <a:gd name="connsiteY2" fmla="*/ 285226 h 1208015"/>
              <a:gd name="connsiteX3" fmla="*/ 83890 w 346297"/>
              <a:gd name="connsiteY3" fmla="*/ 0 h 1208015"/>
            </a:gdLst>
            <a:ahLst/>
            <a:cxnLst>
              <a:cxn ang="0">
                <a:pos x="connsiteX0" y="connsiteY0"/>
              </a:cxn>
              <a:cxn ang="0">
                <a:pos x="connsiteX1" y="connsiteY1"/>
              </a:cxn>
              <a:cxn ang="0">
                <a:pos x="connsiteX2" y="connsiteY2"/>
              </a:cxn>
              <a:cxn ang="0">
                <a:pos x="connsiteX3" y="connsiteY3"/>
              </a:cxn>
            </a:cxnLst>
            <a:rect l="l" t="t" r="r" b="b"/>
            <a:pathLst>
              <a:path w="346297" h="1208015">
                <a:moveTo>
                  <a:pt x="0" y="1208015"/>
                </a:moveTo>
                <a:cubicBezTo>
                  <a:pt x="119543" y="1070994"/>
                  <a:pt x="239086" y="933974"/>
                  <a:pt x="293615" y="780176"/>
                </a:cubicBezTo>
                <a:cubicBezTo>
                  <a:pt x="348144" y="626378"/>
                  <a:pt x="362125" y="415255"/>
                  <a:pt x="327171" y="285226"/>
                </a:cubicBezTo>
                <a:cubicBezTo>
                  <a:pt x="292217" y="155197"/>
                  <a:pt x="141215" y="51732"/>
                  <a:pt x="83890" y="0"/>
                </a:cubicBezTo>
              </a:path>
            </a:pathLst>
          </a:custGeom>
          <a:noFill/>
          <a:ln>
            <a:solidFill>
              <a:srgbClr val="ED7D3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uadroTexto 25">
            <a:extLst>
              <a:ext uri="{FF2B5EF4-FFF2-40B4-BE49-F238E27FC236}">
                <a16:creationId xmlns:a16="http://schemas.microsoft.com/office/drawing/2014/main" id="{60B502A5-3CE4-49D4-923B-B3D19480AB0A}"/>
              </a:ext>
            </a:extLst>
          </p:cNvPr>
          <p:cNvSpPr txBox="1"/>
          <p:nvPr/>
        </p:nvSpPr>
        <p:spPr>
          <a:xfrm>
            <a:off x="5599182" y="3392742"/>
            <a:ext cx="437877" cy="300082"/>
          </a:xfrm>
          <a:prstGeom prst="rect">
            <a:avLst/>
          </a:prstGeom>
          <a:noFill/>
          <a:ln>
            <a:solidFill>
              <a:schemeClr val="accent5"/>
            </a:solidFill>
          </a:ln>
        </p:spPr>
        <p:txBody>
          <a:bodyPr wrap="none" rtlCol="0">
            <a:spAutoFit/>
          </a:bodyPr>
          <a:lstStyle/>
          <a:p>
            <a:r>
              <a:rPr lang="es-ES" dirty="0"/>
              <a:t>ESP</a:t>
            </a:r>
          </a:p>
        </p:txBody>
      </p:sp>
      <p:sp>
        <p:nvSpPr>
          <p:cNvPr id="27" name="CuadroTexto 26">
            <a:extLst>
              <a:ext uri="{FF2B5EF4-FFF2-40B4-BE49-F238E27FC236}">
                <a16:creationId xmlns:a16="http://schemas.microsoft.com/office/drawing/2014/main" id="{F6F74627-3BB9-4460-851F-CA97AEA5CABA}"/>
              </a:ext>
            </a:extLst>
          </p:cNvPr>
          <p:cNvSpPr txBox="1"/>
          <p:nvPr/>
        </p:nvSpPr>
        <p:spPr>
          <a:xfrm>
            <a:off x="5591135" y="3047003"/>
            <a:ext cx="453970" cy="300082"/>
          </a:xfrm>
          <a:prstGeom prst="rect">
            <a:avLst/>
          </a:prstGeom>
          <a:noFill/>
          <a:ln>
            <a:solidFill>
              <a:schemeClr val="accent5"/>
            </a:solidFill>
          </a:ln>
        </p:spPr>
        <p:txBody>
          <a:bodyPr wrap="none" rtlCol="0">
            <a:spAutoFit/>
          </a:bodyPr>
          <a:lstStyle/>
          <a:p>
            <a:r>
              <a:rPr lang="es-ES" dirty="0"/>
              <a:t>EBP</a:t>
            </a:r>
          </a:p>
        </p:txBody>
      </p:sp>
      <p:cxnSp>
        <p:nvCxnSpPr>
          <p:cNvPr id="30" name="Conector recto de flecha 29">
            <a:extLst>
              <a:ext uri="{FF2B5EF4-FFF2-40B4-BE49-F238E27FC236}">
                <a16:creationId xmlns:a16="http://schemas.microsoft.com/office/drawing/2014/main" id="{5FB38AA7-FFF6-4B65-A2B9-0451FBF1BDC9}"/>
              </a:ext>
            </a:extLst>
          </p:cNvPr>
          <p:cNvCxnSpPr>
            <a:stCxn id="26" idx="3"/>
          </p:cNvCxnSpPr>
          <p:nvPr/>
        </p:nvCxnSpPr>
        <p:spPr>
          <a:xfrm>
            <a:off x="6037059" y="3542783"/>
            <a:ext cx="472707" cy="67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EE07B23C-933C-44F6-92F2-529DB074AF51}"/>
              </a:ext>
            </a:extLst>
          </p:cNvPr>
          <p:cNvCxnSpPr>
            <a:cxnSpLocks/>
          </p:cNvCxnSpPr>
          <p:nvPr/>
        </p:nvCxnSpPr>
        <p:spPr>
          <a:xfrm flipV="1">
            <a:off x="6037058" y="2765594"/>
            <a:ext cx="472708" cy="424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5E3EAB79-F40A-4839-91A8-BFAE0BB67354}"/>
              </a:ext>
            </a:extLst>
          </p:cNvPr>
          <p:cNvSpPr txBox="1"/>
          <p:nvPr/>
        </p:nvSpPr>
        <p:spPr>
          <a:xfrm>
            <a:off x="6291653" y="3815473"/>
            <a:ext cx="2525086" cy="430887"/>
          </a:xfrm>
          <a:prstGeom prst="rect">
            <a:avLst/>
          </a:prstGeom>
          <a:noFill/>
        </p:spPr>
        <p:txBody>
          <a:bodyPr wrap="square" rtlCol="0">
            <a:spAutoFit/>
          </a:bodyPr>
          <a:lstStyle/>
          <a:p>
            <a:pPr algn="ctr"/>
            <a:r>
              <a:rPr lang="es-ES" sz="1100" dirty="0"/>
              <a:t>En este ejemplo la función </a:t>
            </a:r>
            <a:r>
              <a:rPr lang="es-ES" sz="1100" dirty="0" err="1"/>
              <a:t>finterna</a:t>
            </a:r>
            <a:r>
              <a:rPr lang="es-ES" sz="1100" dirty="0"/>
              <a:t>() ha sido invocada desde </a:t>
            </a:r>
            <a:r>
              <a:rPr lang="es-ES" sz="1100" dirty="0" err="1"/>
              <a:t>fexterna</a:t>
            </a:r>
            <a:r>
              <a:rPr lang="es-ES" sz="1100" dirty="0"/>
              <a:t>()</a:t>
            </a:r>
          </a:p>
        </p:txBody>
      </p:sp>
    </p:spTree>
    <p:extLst>
      <p:ext uri="{BB962C8B-B14F-4D97-AF65-F5344CB8AC3E}">
        <p14:creationId xmlns:p14="http://schemas.microsoft.com/office/powerpoint/2010/main" val="3453398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PC</a:t>
            </a:r>
          </a:p>
        </p:txBody>
      </p:sp>
      <p:sp>
        <p:nvSpPr>
          <p:cNvPr id="3" name="CuadroTexto 2">
            <a:extLst>
              <a:ext uri="{FF2B5EF4-FFF2-40B4-BE49-F238E27FC236}">
                <a16:creationId xmlns:a16="http://schemas.microsoft.com/office/drawing/2014/main" id="{3F3CF15C-3827-4C3C-B2F8-4DE84F3BCCA9}"/>
              </a:ext>
            </a:extLst>
          </p:cNvPr>
          <p:cNvSpPr txBox="1"/>
          <p:nvPr/>
        </p:nvSpPr>
        <p:spPr>
          <a:xfrm>
            <a:off x="1331843" y="4828509"/>
            <a:ext cx="3419063" cy="300082"/>
          </a:xfrm>
          <a:prstGeom prst="rect">
            <a:avLst/>
          </a:prstGeom>
          <a:noFill/>
        </p:spPr>
        <p:txBody>
          <a:bodyPr wrap="square" rtlCol="0">
            <a:spAutoFit/>
          </a:bodyPr>
          <a:lstStyle/>
          <a:p>
            <a:r>
              <a:rPr lang="es-ES" dirty="0"/>
              <a:t>Chipset hasta 2011 (primera generación i3, i5)</a:t>
            </a:r>
          </a:p>
        </p:txBody>
      </p:sp>
      <p:pic>
        <p:nvPicPr>
          <p:cNvPr id="5124" name="Picture 4">
            <a:extLst>
              <a:ext uri="{FF2B5EF4-FFF2-40B4-BE49-F238E27FC236}">
                <a16:creationId xmlns:a16="http://schemas.microsoft.com/office/drawing/2014/main" id="{401E21C8-6E09-461F-BA28-F2170B0B49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8869" y="1054007"/>
            <a:ext cx="2404227" cy="3702326"/>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Intel Core i9-9900K CPU Review: 8-Core 9th Gen Coffee Lake ...">
            <a:extLst>
              <a:ext uri="{FF2B5EF4-FFF2-40B4-BE49-F238E27FC236}">
                <a16:creationId xmlns:a16="http://schemas.microsoft.com/office/drawing/2014/main" id="{C4470591-A1AD-49D3-89EE-1052E8C417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5340" y="1054007"/>
            <a:ext cx="3598877" cy="3397542"/>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0A19E10E-DFCE-4FD8-BAF5-49B34072CBBB}"/>
              </a:ext>
            </a:extLst>
          </p:cNvPr>
          <p:cNvSpPr txBox="1"/>
          <p:nvPr/>
        </p:nvSpPr>
        <p:spPr>
          <a:xfrm>
            <a:off x="5531652" y="4470718"/>
            <a:ext cx="3233256" cy="715581"/>
          </a:xfrm>
          <a:prstGeom prst="rect">
            <a:avLst/>
          </a:prstGeom>
          <a:noFill/>
        </p:spPr>
        <p:txBody>
          <a:bodyPr wrap="square" rtlCol="0">
            <a:spAutoFit/>
          </a:bodyPr>
          <a:lstStyle/>
          <a:p>
            <a:pPr algn="ctr"/>
            <a:r>
              <a:rPr lang="es-ES" dirty="0"/>
              <a:t>Chipset de la 9º generación</a:t>
            </a:r>
          </a:p>
          <a:p>
            <a:pPr algn="ctr"/>
            <a:r>
              <a:rPr lang="es-ES" dirty="0"/>
              <a:t>Básicamente, el </a:t>
            </a:r>
            <a:r>
              <a:rPr lang="es-ES" dirty="0" err="1"/>
              <a:t>Northbridge</a:t>
            </a:r>
            <a:r>
              <a:rPr lang="es-ES" dirty="0"/>
              <a:t> se ha migrado al chip del microprocesador</a:t>
            </a:r>
          </a:p>
        </p:txBody>
      </p:sp>
    </p:spTree>
    <p:extLst>
      <p:ext uri="{BB962C8B-B14F-4D97-AF65-F5344CB8AC3E}">
        <p14:creationId xmlns:p14="http://schemas.microsoft.com/office/powerpoint/2010/main" val="3099582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ARM</a:t>
            </a:r>
          </a:p>
        </p:txBody>
      </p:sp>
      <p:sp>
        <p:nvSpPr>
          <p:cNvPr id="3" name="CuadroTexto 2">
            <a:extLst>
              <a:ext uri="{FF2B5EF4-FFF2-40B4-BE49-F238E27FC236}">
                <a16:creationId xmlns:a16="http://schemas.microsoft.com/office/drawing/2014/main" id="{CE12D90B-AF0A-48DB-9ED7-85EA81C1398C}"/>
              </a:ext>
            </a:extLst>
          </p:cNvPr>
          <p:cNvSpPr txBox="1"/>
          <p:nvPr/>
        </p:nvSpPr>
        <p:spPr>
          <a:xfrm>
            <a:off x="1517650" y="1107688"/>
            <a:ext cx="6940550" cy="3416320"/>
          </a:xfrm>
          <a:prstGeom prst="rect">
            <a:avLst/>
          </a:prstGeom>
          <a:noFill/>
        </p:spPr>
        <p:txBody>
          <a:bodyPr wrap="square" rtlCol="0">
            <a:spAutoFit/>
          </a:bodyPr>
          <a:lstStyle/>
          <a:p>
            <a:pPr algn="just"/>
            <a:r>
              <a:rPr lang="es-ES" dirty="0"/>
              <a:t>ARM no es un fabricante de chips sino una arquitectura diseñada por una empresa británica del mismo nombre (</a:t>
            </a:r>
            <a:r>
              <a:rPr lang="es-ES" dirty="0" err="1"/>
              <a:t>Advanced</a:t>
            </a:r>
            <a:r>
              <a:rPr lang="es-ES" dirty="0"/>
              <a:t> RISC Machines), que la licencia a distintos fabricantes. Los microprocesadores Qualcomm Snap Dragon o Huawei Kirin tienen arquitectura ARM, también son ARM los micros de TSMC para el iPhone o los que instala Samsung en sus equipos. En Raspberry Pi se usa un único circuito fabricado por Broadcom que incluye un procesador ARM de gama baja junto con elementos (Ethernet, USB, GPU).</a:t>
            </a:r>
          </a:p>
          <a:p>
            <a:pPr algn="just"/>
            <a:endParaRPr lang="es-ES" dirty="0"/>
          </a:p>
          <a:p>
            <a:pPr algn="just"/>
            <a:r>
              <a:rPr lang="es-ES" dirty="0"/>
              <a:t>La historia de ARM es larga, actualmente va por la versión 8. Son micros de 64 bits, de arquitectura RISC. Los micros RISC tienen un juego de instrucciones de código máquina mucho más simple que el de los micros CISC como x86. Esto facilita el diseño hardware y los hace muy eficientes energéticamente. A cambio, los compiladores son más complejos.</a:t>
            </a:r>
          </a:p>
          <a:p>
            <a:pPr algn="just"/>
            <a:endParaRPr lang="es-ES" dirty="0"/>
          </a:p>
          <a:p>
            <a:pPr algn="just"/>
            <a:r>
              <a:rPr lang="es-ES" dirty="0"/>
              <a:t>El juego de instrucciones de ARM es del tipo Load and Store, no puede hacer operaciones directamente sobre contenidos de memoria, siempre tiene que llevarlos a un registro. Tampoco puede hacer operaciones entre dos direcciones de memoria, siempre deben pasar por un registro.</a:t>
            </a:r>
          </a:p>
        </p:txBody>
      </p:sp>
      <p:sp>
        <p:nvSpPr>
          <p:cNvPr id="5" name="CuadroTexto 4">
            <a:extLst>
              <a:ext uri="{FF2B5EF4-FFF2-40B4-BE49-F238E27FC236}">
                <a16:creationId xmlns:a16="http://schemas.microsoft.com/office/drawing/2014/main" id="{A1BF70BF-EE24-4A79-89E1-F2041D994B35}"/>
              </a:ext>
            </a:extLst>
          </p:cNvPr>
          <p:cNvSpPr txBox="1"/>
          <p:nvPr/>
        </p:nvSpPr>
        <p:spPr>
          <a:xfrm>
            <a:off x="2368731" y="4687103"/>
            <a:ext cx="5730240" cy="400110"/>
          </a:xfrm>
          <a:prstGeom prst="rect">
            <a:avLst/>
          </a:prstGeom>
          <a:noFill/>
        </p:spPr>
        <p:txBody>
          <a:bodyPr wrap="square" rtlCol="0">
            <a:spAutoFit/>
          </a:bodyPr>
          <a:lstStyle/>
          <a:p>
            <a:pPr algn="ctr"/>
            <a:r>
              <a:rPr lang="es-ES" sz="1000" dirty="0"/>
              <a:t>La </a:t>
            </a:r>
            <a:r>
              <a:rPr lang="es-ES" sz="1000" dirty="0">
                <a:hlinkClick r:id="rId3" action="ppaction://hlinkfile"/>
              </a:rPr>
              <a:t>documentación del fabricante</a:t>
            </a:r>
            <a:r>
              <a:rPr lang="es-ES" sz="1000" dirty="0"/>
              <a:t> es excelente. Puede bajarse el manual de arquitectura completo,</a:t>
            </a:r>
          </a:p>
          <a:p>
            <a:pPr algn="ctr"/>
            <a:r>
              <a:rPr lang="es-ES" sz="1000" dirty="0"/>
              <a:t>son más de 8000 páginas.</a:t>
            </a:r>
          </a:p>
        </p:txBody>
      </p:sp>
    </p:spTree>
    <p:extLst>
      <p:ext uri="{BB962C8B-B14F-4D97-AF65-F5344CB8AC3E}">
        <p14:creationId xmlns:p14="http://schemas.microsoft.com/office/powerpoint/2010/main" val="3085074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ARM</a:t>
            </a:r>
          </a:p>
        </p:txBody>
      </p:sp>
      <p:pic>
        <p:nvPicPr>
          <p:cNvPr id="7172" name="Picture 4">
            <a:extLst>
              <a:ext uri="{FF2B5EF4-FFF2-40B4-BE49-F238E27FC236}">
                <a16:creationId xmlns:a16="http://schemas.microsoft.com/office/drawing/2014/main" id="{E4CAF9ED-5310-4A65-99E2-DF220BFD7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492" y="744538"/>
            <a:ext cx="4201767" cy="4201767"/>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7DD99B09-11D7-48D8-A269-4547BB012C49}"/>
              </a:ext>
            </a:extLst>
          </p:cNvPr>
          <p:cNvSpPr txBox="1"/>
          <p:nvPr/>
        </p:nvSpPr>
        <p:spPr>
          <a:xfrm>
            <a:off x="1351720" y="1260476"/>
            <a:ext cx="1156086" cy="400110"/>
          </a:xfrm>
          <a:prstGeom prst="rect">
            <a:avLst/>
          </a:prstGeom>
          <a:noFill/>
        </p:spPr>
        <p:txBody>
          <a:bodyPr wrap="none" rtlCol="0">
            <a:spAutoFit/>
          </a:bodyPr>
          <a:lstStyle/>
          <a:p>
            <a:r>
              <a:rPr lang="es-ES" sz="1000" dirty="0"/>
              <a:t>Registros en modo</a:t>
            </a:r>
          </a:p>
          <a:p>
            <a:r>
              <a:rPr lang="es-ES" sz="1000" dirty="0"/>
              <a:t>usuario</a:t>
            </a:r>
          </a:p>
        </p:txBody>
      </p:sp>
      <p:cxnSp>
        <p:nvCxnSpPr>
          <p:cNvPr id="7" name="Conector recto de flecha 6">
            <a:extLst>
              <a:ext uri="{FF2B5EF4-FFF2-40B4-BE49-F238E27FC236}">
                <a16:creationId xmlns:a16="http://schemas.microsoft.com/office/drawing/2014/main" id="{C3736DE2-D0A2-4642-B4EE-5E2D2A5AA7E1}"/>
              </a:ext>
            </a:extLst>
          </p:cNvPr>
          <p:cNvCxnSpPr>
            <a:cxnSpLocks/>
          </p:cNvCxnSpPr>
          <p:nvPr/>
        </p:nvCxnSpPr>
        <p:spPr>
          <a:xfrm flipV="1">
            <a:off x="2753139" y="1260476"/>
            <a:ext cx="576470" cy="111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ángulo 12">
            <a:extLst>
              <a:ext uri="{FF2B5EF4-FFF2-40B4-BE49-F238E27FC236}">
                <a16:creationId xmlns:a16="http://schemas.microsoft.com/office/drawing/2014/main" id="{A812C408-6D4F-470E-85DB-872E013F50C4}"/>
              </a:ext>
            </a:extLst>
          </p:cNvPr>
          <p:cNvSpPr/>
          <p:nvPr/>
        </p:nvSpPr>
        <p:spPr>
          <a:xfrm>
            <a:off x="3876261" y="1113183"/>
            <a:ext cx="3428998" cy="2584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000"/>
          </a:p>
        </p:txBody>
      </p:sp>
      <p:sp>
        <p:nvSpPr>
          <p:cNvPr id="14" name="CuadroTexto 13">
            <a:extLst>
              <a:ext uri="{FF2B5EF4-FFF2-40B4-BE49-F238E27FC236}">
                <a16:creationId xmlns:a16="http://schemas.microsoft.com/office/drawing/2014/main" id="{E2DE13F5-5008-4730-9A6D-69745D6D088B}"/>
              </a:ext>
            </a:extLst>
          </p:cNvPr>
          <p:cNvSpPr txBox="1"/>
          <p:nvPr/>
        </p:nvSpPr>
        <p:spPr>
          <a:xfrm>
            <a:off x="7372348" y="988475"/>
            <a:ext cx="1540565" cy="246221"/>
          </a:xfrm>
          <a:prstGeom prst="rect">
            <a:avLst/>
          </a:prstGeom>
          <a:noFill/>
        </p:spPr>
        <p:txBody>
          <a:bodyPr wrap="square" rtlCol="0">
            <a:spAutoFit/>
          </a:bodyPr>
          <a:lstStyle/>
          <a:p>
            <a:r>
              <a:rPr lang="es-ES" sz="1000" dirty="0">
                <a:solidFill>
                  <a:srgbClr val="FF0000"/>
                </a:solidFill>
              </a:rPr>
              <a:t>Modos privilegiados</a:t>
            </a:r>
          </a:p>
        </p:txBody>
      </p:sp>
      <p:sp>
        <p:nvSpPr>
          <p:cNvPr id="15" name="CuadroTexto 14">
            <a:extLst>
              <a:ext uri="{FF2B5EF4-FFF2-40B4-BE49-F238E27FC236}">
                <a16:creationId xmlns:a16="http://schemas.microsoft.com/office/drawing/2014/main" id="{805E952B-1A4A-4B05-BD98-9AA70F398C58}"/>
              </a:ext>
            </a:extLst>
          </p:cNvPr>
          <p:cNvSpPr txBox="1"/>
          <p:nvPr/>
        </p:nvSpPr>
        <p:spPr>
          <a:xfrm>
            <a:off x="2215812" y="4201065"/>
            <a:ext cx="444352" cy="246221"/>
          </a:xfrm>
          <a:prstGeom prst="rect">
            <a:avLst/>
          </a:prstGeom>
          <a:noFill/>
        </p:spPr>
        <p:txBody>
          <a:bodyPr wrap="none" rtlCol="0">
            <a:spAutoFit/>
          </a:bodyPr>
          <a:lstStyle/>
          <a:p>
            <a:r>
              <a:rPr lang="es-ES" sz="1000" dirty="0" err="1"/>
              <a:t>Flags</a:t>
            </a:r>
            <a:endParaRPr lang="es-ES" sz="1000" dirty="0"/>
          </a:p>
        </p:txBody>
      </p:sp>
      <p:cxnSp>
        <p:nvCxnSpPr>
          <p:cNvPr id="18" name="Conector recto de flecha 17">
            <a:extLst>
              <a:ext uri="{FF2B5EF4-FFF2-40B4-BE49-F238E27FC236}">
                <a16:creationId xmlns:a16="http://schemas.microsoft.com/office/drawing/2014/main" id="{3D3F1F7C-CB81-495F-9DA9-91543FCA02F9}"/>
              </a:ext>
            </a:extLst>
          </p:cNvPr>
          <p:cNvCxnSpPr>
            <a:cxnSpLocks/>
          </p:cNvCxnSpPr>
          <p:nvPr/>
        </p:nvCxnSpPr>
        <p:spPr>
          <a:xfrm>
            <a:off x="2674492" y="4398962"/>
            <a:ext cx="543161" cy="102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D1F33DA1-86C5-443D-8798-1B4FD5707BA1}"/>
              </a:ext>
            </a:extLst>
          </p:cNvPr>
          <p:cNvSpPr txBox="1"/>
          <p:nvPr/>
        </p:nvSpPr>
        <p:spPr>
          <a:xfrm>
            <a:off x="1284604" y="4631126"/>
            <a:ext cx="1751799" cy="400110"/>
          </a:xfrm>
          <a:prstGeom prst="rect">
            <a:avLst/>
          </a:prstGeom>
          <a:noFill/>
        </p:spPr>
        <p:txBody>
          <a:bodyPr wrap="square" rtlCol="0">
            <a:spAutoFit/>
          </a:bodyPr>
          <a:lstStyle/>
          <a:p>
            <a:r>
              <a:rPr lang="es-ES" sz="1000" dirty="0"/>
              <a:t>CPSR de usuario salvado en los modos privilegiados</a:t>
            </a:r>
          </a:p>
        </p:txBody>
      </p:sp>
      <p:cxnSp>
        <p:nvCxnSpPr>
          <p:cNvPr id="22" name="Conector recto de flecha 21">
            <a:extLst>
              <a:ext uri="{FF2B5EF4-FFF2-40B4-BE49-F238E27FC236}">
                <a16:creationId xmlns:a16="http://schemas.microsoft.com/office/drawing/2014/main" id="{CAA07254-0FE9-4956-9F16-089CBDF1692B}"/>
              </a:ext>
            </a:extLst>
          </p:cNvPr>
          <p:cNvCxnSpPr>
            <a:cxnSpLocks/>
          </p:cNvCxnSpPr>
          <p:nvPr/>
        </p:nvCxnSpPr>
        <p:spPr>
          <a:xfrm>
            <a:off x="2863970" y="4799051"/>
            <a:ext cx="10122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779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ARM</a:t>
            </a:r>
          </a:p>
        </p:txBody>
      </p:sp>
      <p:pic>
        <p:nvPicPr>
          <p:cNvPr id="7170" name="Picture 2">
            <a:extLst>
              <a:ext uri="{FF2B5EF4-FFF2-40B4-BE49-F238E27FC236}">
                <a16:creationId xmlns:a16="http://schemas.microsoft.com/office/drawing/2014/main" id="{30C9BF35-D77C-4570-97DF-16A46EDA33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3170" y="744538"/>
            <a:ext cx="3475302" cy="4170362"/>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FC6995EA-22C2-43E8-A95E-0C387F57D0F8}"/>
              </a:ext>
            </a:extLst>
          </p:cNvPr>
          <p:cNvSpPr txBox="1"/>
          <p:nvPr/>
        </p:nvSpPr>
        <p:spPr>
          <a:xfrm>
            <a:off x="1517650" y="1121559"/>
            <a:ext cx="3054350" cy="3416320"/>
          </a:xfrm>
          <a:prstGeom prst="rect">
            <a:avLst/>
          </a:prstGeom>
          <a:noFill/>
        </p:spPr>
        <p:txBody>
          <a:bodyPr wrap="square" rtlCol="0">
            <a:spAutoFit/>
          </a:bodyPr>
          <a:lstStyle/>
          <a:p>
            <a:pPr algn="just"/>
            <a:r>
              <a:rPr lang="es-ES" dirty="0"/>
              <a:t>La arquitectura de un equipo basado en</a:t>
            </a:r>
          </a:p>
          <a:p>
            <a:pPr algn="just"/>
            <a:r>
              <a:rPr lang="es-ES" dirty="0"/>
              <a:t>ARM refleja su evolución en el entorno de dispositivos móviles.</a:t>
            </a:r>
          </a:p>
          <a:p>
            <a:pPr algn="just"/>
            <a:endParaRPr lang="es-ES" dirty="0"/>
          </a:p>
          <a:p>
            <a:pPr algn="just"/>
            <a:r>
              <a:rPr lang="es-ES" dirty="0"/>
              <a:t>ARM permite manejar memoria virtual pero en los teléfonos móviles no usa swap como se hace en un PC de sobremesa, hay otros mecanismos.</a:t>
            </a:r>
          </a:p>
          <a:p>
            <a:pPr algn="just"/>
            <a:endParaRPr lang="es-ES" dirty="0"/>
          </a:p>
          <a:p>
            <a:pPr algn="just"/>
            <a:r>
              <a:rPr lang="es-ES" dirty="0"/>
              <a:t>Existen portados de Linux a arquitecturas ARM, como Raspbian para </a:t>
            </a:r>
            <a:r>
              <a:rPr lang="es-ES" dirty="0" err="1"/>
              <a:t>RaspBerry</a:t>
            </a:r>
            <a:r>
              <a:rPr lang="es-ES" dirty="0"/>
              <a:t> que usan swap de modo habitual.</a:t>
            </a:r>
          </a:p>
          <a:p>
            <a:pPr algn="just"/>
            <a:endParaRPr lang="es-ES" dirty="0"/>
          </a:p>
          <a:p>
            <a:pPr algn="just"/>
            <a:r>
              <a:rPr lang="es-ES" dirty="0"/>
              <a:t>En verano de 2020 Apple ha anunciado que migrará todos sus equipos de sobremesa a RAM</a:t>
            </a:r>
          </a:p>
        </p:txBody>
      </p:sp>
    </p:spTree>
    <p:extLst>
      <p:ext uri="{BB962C8B-B14F-4D97-AF65-F5344CB8AC3E}">
        <p14:creationId xmlns:p14="http://schemas.microsoft.com/office/powerpoint/2010/main" val="1419072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517650" y="228600"/>
            <a:ext cx="7626350" cy="515938"/>
          </a:xfrm>
        </p:spPr>
        <p:txBody>
          <a:bodyPr/>
          <a:lstStyle/>
          <a:p>
            <a:r>
              <a:rPr lang="es-ES" dirty="0"/>
              <a:t>Arquitectura ARM</a:t>
            </a:r>
          </a:p>
        </p:txBody>
      </p:sp>
      <p:pic>
        <p:nvPicPr>
          <p:cNvPr id="10242" name="Picture 2" descr="Windows RT: características y limitaciones">
            <a:extLst>
              <a:ext uri="{FF2B5EF4-FFF2-40B4-BE49-F238E27FC236}">
                <a16:creationId xmlns:a16="http://schemas.microsoft.com/office/drawing/2014/main" id="{967A1981-4116-4FF4-AF53-BF5AA5324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6075" y="1074254"/>
            <a:ext cx="4286250" cy="198120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519B882A-0188-485D-A778-8286EEDB7DC3}"/>
              </a:ext>
            </a:extLst>
          </p:cNvPr>
          <p:cNvSpPr txBox="1"/>
          <p:nvPr/>
        </p:nvSpPr>
        <p:spPr>
          <a:xfrm>
            <a:off x="1517650" y="3295717"/>
            <a:ext cx="7387811" cy="1754326"/>
          </a:xfrm>
          <a:prstGeom prst="rect">
            <a:avLst/>
          </a:prstGeom>
          <a:noFill/>
        </p:spPr>
        <p:txBody>
          <a:bodyPr wrap="square" rtlCol="0">
            <a:spAutoFit/>
          </a:bodyPr>
          <a:lstStyle/>
          <a:p>
            <a:pPr algn="just"/>
            <a:r>
              <a:rPr lang="es-ES" dirty="0"/>
              <a:t>En 2011 Microsoft lanzó Windows RT que era un portado de Windows 8 a ARM. Fue un fracaso comercial pero no porque funcionase mal. La razón es que los códigos máquina de ARM e Intel no son compatibles, solo podían instalarse aquellas aplicaciones migradas a ARM por Microsoft o terceros. En contraste, Windows 10 puede ejecutar aplicaciones </a:t>
            </a:r>
            <a:r>
              <a:rPr lang="es-ES" dirty="0" err="1"/>
              <a:t>legacy</a:t>
            </a:r>
            <a:r>
              <a:rPr lang="es-ES" dirty="0"/>
              <a:t> Win32 sin ningún problema.</a:t>
            </a:r>
          </a:p>
          <a:p>
            <a:pPr algn="just"/>
            <a:endParaRPr lang="es-ES" dirty="0"/>
          </a:p>
          <a:p>
            <a:pPr algn="just"/>
            <a:r>
              <a:rPr lang="es-ES" dirty="0"/>
              <a:t>Esta historia ilustra un hecho muy importante. El éxito de un Sistema Operativo no reside tanto en su bondad técnica como en el ecosistema de desarrolladores dispuestos a trabajar en él. Este mismo motivo llevó al cierre a Sistemas Operativos móviles como Firefox OS o Windows Mobile. </a:t>
            </a:r>
          </a:p>
        </p:txBody>
      </p:sp>
    </p:spTree>
    <p:extLst>
      <p:ext uri="{BB962C8B-B14F-4D97-AF65-F5344CB8AC3E}">
        <p14:creationId xmlns:p14="http://schemas.microsoft.com/office/powerpoint/2010/main" val="6547609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9498800-69DB-4069-936C-38D95788F591}"/>
              </a:ext>
            </a:extLst>
          </p:cNvPr>
          <p:cNvPicPr>
            <a:picLocks noChangeAspect="1"/>
          </p:cNvPicPr>
          <p:nvPr/>
        </p:nvPicPr>
        <p:blipFill>
          <a:blip r:embed="rId3"/>
          <a:stretch>
            <a:fillRect/>
          </a:stretch>
        </p:blipFill>
        <p:spPr>
          <a:xfrm>
            <a:off x="5064902" y="1557028"/>
            <a:ext cx="3854963" cy="3206869"/>
          </a:xfrm>
          <a:prstGeom prst="rect">
            <a:avLst/>
          </a:prstGeom>
        </p:spPr>
      </p:pic>
      <p:sp>
        <p:nvSpPr>
          <p:cNvPr id="4" name="3 Título"/>
          <p:cNvSpPr>
            <a:spLocks noGrp="1"/>
          </p:cNvSpPr>
          <p:nvPr>
            <p:ph type="title" idx="4294967295"/>
          </p:nvPr>
        </p:nvSpPr>
        <p:spPr>
          <a:xfrm>
            <a:off x="1517650" y="228600"/>
            <a:ext cx="7626350" cy="515938"/>
          </a:xfrm>
        </p:spPr>
        <p:txBody>
          <a:bodyPr/>
          <a:lstStyle/>
          <a:p>
            <a:r>
              <a:rPr lang="es-ES" dirty="0"/>
              <a:t>Intel vs ARM</a:t>
            </a:r>
          </a:p>
        </p:txBody>
      </p:sp>
      <p:pic>
        <p:nvPicPr>
          <p:cNvPr id="5" name="Imagen 4">
            <a:extLst>
              <a:ext uri="{FF2B5EF4-FFF2-40B4-BE49-F238E27FC236}">
                <a16:creationId xmlns:a16="http://schemas.microsoft.com/office/drawing/2014/main" id="{168F8566-66CE-4803-A164-00BCEB8EF810}"/>
              </a:ext>
            </a:extLst>
          </p:cNvPr>
          <p:cNvPicPr>
            <a:picLocks noChangeAspect="1"/>
          </p:cNvPicPr>
          <p:nvPr/>
        </p:nvPicPr>
        <p:blipFill>
          <a:blip r:embed="rId4"/>
          <a:stretch>
            <a:fillRect/>
          </a:stretch>
        </p:blipFill>
        <p:spPr>
          <a:xfrm>
            <a:off x="1433310" y="2420748"/>
            <a:ext cx="4238886" cy="2343149"/>
          </a:xfrm>
          <a:prstGeom prst="rect">
            <a:avLst/>
          </a:prstGeom>
        </p:spPr>
      </p:pic>
      <p:pic>
        <p:nvPicPr>
          <p:cNvPr id="9" name="Imagen 8">
            <a:extLst>
              <a:ext uri="{FF2B5EF4-FFF2-40B4-BE49-F238E27FC236}">
                <a16:creationId xmlns:a16="http://schemas.microsoft.com/office/drawing/2014/main" id="{39A95022-8D11-4234-B8FD-15488B5C928F}"/>
              </a:ext>
            </a:extLst>
          </p:cNvPr>
          <p:cNvPicPr>
            <a:picLocks noChangeAspect="1"/>
          </p:cNvPicPr>
          <p:nvPr/>
        </p:nvPicPr>
        <p:blipFill>
          <a:blip r:embed="rId5"/>
          <a:stretch>
            <a:fillRect/>
          </a:stretch>
        </p:blipFill>
        <p:spPr>
          <a:xfrm>
            <a:off x="2328533" y="850554"/>
            <a:ext cx="1358970" cy="1009702"/>
          </a:xfrm>
          <a:prstGeom prst="rect">
            <a:avLst/>
          </a:prstGeom>
        </p:spPr>
      </p:pic>
      <p:sp>
        <p:nvSpPr>
          <p:cNvPr id="10" name="CuadroTexto 9">
            <a:extLst>
              <a:ext uri="{FF2B5EF4-FFF2-40B4-BE49-F238E27FC236}">
                <a16:creationId xmlns:a16="http://schemas.microsoft.com/office/drawing/2014/main" id="{7C3D38DC-00C9-4BE4-9455-43AC75BE3FCA}"/>
              </a:ext>
            </a:extLst>
          </p:cNvPr>
          <p:cNvSpPr txBox="1"/>
          <p:nvPr/>
        </p:nvSpPr>
        <p:spPr>
          <a:xfrm>
            <a:off x="8445260" y="1256946"/>
            <a:ext cx="537327" cy="300082"/>
          </a:xfrm>
          <a:prstGeom prst="rect">
            <a:avLst/>
          </a:prstGeom>
          <a:noFill/>
        </p:spPr>
        <p:txBody>
          <a:bodyPr wrap="none" rtlCol="0">
            <a:spAutoFit/>
          </a:bodyPr>
          <a:lstStyle/>
          <a:p>
            <a:r>
              <a:rPr lang="es-ES" b="1" dirty="0"/>
              <a:t>ARM</a:t>
            </a:r>
          </a:p>
        </p:txBody>
      </p:sp>
      <p:sp>
        <p:nvSpPr>
          <p:cNvPr id="11" name="CuadroTexto 10">
            <a:extLst>
              <a:ext uri="{FF2B5EF4-FFF2-40B4-BE49-F238E27FC236}">
                <a16:creationId xmlns:a16="http://schemas.microsoft.com/office/drawing/2014/main" id="{A4DB3755-05A2-4210-87E4-6A6D3E947789}"/>
              </a:ext>
            </a:extLst>
          </p:cNvPr>
          <p:cNvSpPr txBox="1"/>
          <p:nvPr/>
        </p:nvSpPr>
        <p:spPr>
          <a:xfrm>
            <a:off x="1375414" y="2117274"/>
            <a:ext cx="441146" cy="300082"/>
          </a:xfrm>
          <a:prstGeom prst="rect">
            <a:avLst/>
          </a:prstGeom>
          <a:noFill/>
        </p:spPr>
        <p:txBody>
          <a:bodyPr wrap="none" rtlCol="0">
            <a:spAutoFit/>
          </a:bodyPr>
          <a:lstStyle/>
          <a:p>
            <a:r>
              <a:rPr lang="es-ES" b="1" dirty="0"/>
              <a:t>x86</a:t>
            </a:r>
          </a:p>
        </p:txBody>
      </p:sp>
      <p:sp>
        <p:nvSpPr>
          <p:cNvPr id="23" name="Flecha: doblada hacia arriba 22">
            <a:extLst>
              <a:ext uri="{FF2B5EF4-FFF2-40B4-BE49-F238E27FC236}">
                <a16:creationId xmlns:a16="http://schemas.microsoft.com/office/drawing/2014/main" id="{660CDFA7-46B2-4A1F-9D1A-5791A63611E0}"/>
              </a:ext>
            </a:extLst>
          </p:cNvPr>
          <p:cNvSpPr/>
          <p:nvPr/>
        </p:nvSpPr>
        <p:spPr>
          <a:xfrm rot="5400000">
            <a:off x="2201431" y="2234003"/>
            <a:ext cx="1785902" cy="673025"/>
          </a:xfrm>
          <a:prstGeom prst="bentUpArrow">
            <a:avLst>
              <a:gd name="adj1" fmla="val 3705"/>
              <a:gd name="adj2" fmla="val 5018"/>
              <a:gd name="adj3" fmla="val 18591"/>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Flecha: doblada hacia arriba 23">
            <a:extLst>
              <a:ext uri="{FF2B5EF4-FFF2-40B4-BE49-F238E27FC236}">
                <a16:creationId xmlns:a16="http://schemas.microsoft.com/office/drawing/2014/main" id="{AC09E1D1-7212-4646-BD91-F35387033F82}"/>
              </a:ext>
            </a:extLst>
          </p:cNvPr>
          <p:cNvSpPr/>
          <p:nvPr/>
        </p:nvSpPr>
        <p:spPr>
          <a:xfrm rot="5400000">
            <a:off x="2067207" y="2607585"/>
            <a:ext cx="2433915" cy="332802"/>
          </a:xfrm>
          <a:prstGeom prst="bentUpArrow">
            <a:avLst>
              <a:gd name="adj1" fmla="val 5683"/>
              <a:gd name="adj2" fmla="val 12708"/>
              <a:gd name="adj3" fmla="val 25000"/>
            </a:avLst>
          </a:prstGeom>
          <a:solidFill>
            <a:srgbClr val="E79D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Flecha: doblada hacia arriba 25">
            <a:extLst>
              <a:ext uri="{FF2B5EF4-FFF2-40B4-BE49-F238E27FC236}">
                <a16:creationId xmlns:a16="http://schemas.microsoft.com/office/drawing/2014/main" id="{D42DA36B-5D67-4EEF-8E23-EBA463A36244}"/>
              </a:ext>
            </a:extLst>
          </p:cNvPr>
          <p:cNvSpPr/>
          <p:nvPr/>
        </p:nvSpPr>
        <p:spPr>
          <a:xfrm rot="5400000">
            <a:off x="2363124" y="2549579"/>
            <a:ext cx="2130440" cy="145338"/>
          </a:xfrm>
          <a:prstGeom prst="bentUpArrow">
            <a:avLst>
              <a:gd name="adj1" fmla="val 5683"/>
              <a:gd name="adj2" fmla="val 12708"/>
              <a:gd name="adj3" fmla="val 2500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Flecha: doblada hacia arriba 27">
            <a:extLst>
              <a:ext uri="{FF2B5EF4-FFF2-40B4-BE49-F238E27FC236}">
                <a16:creationId xmlns:a16="http://schemas.microsoft.com/office/drawing/2014/main" id="{2612528B-8DBA-4436-ABD3-C6EDA6B1BFF8}"/>
              </a:ext>
            </a:extLst>
          </p:cNvPr>
          <p:cNvSpPr/>
          <p:nvPr/>
        </p:nvSpPr>
        <p:spPr>
          <a:xfrm rot="5400000">
            <a:off x="2162050" y="1655705"/>
            <a:ext cx="1557321" cy="1019710"/>
          </a:xfrm>
          <a:prstGeom prst="bentUpArrow">
            <a:avLst>
              <a:gd name="adj1" fmla="val 1600"/>
              <a:gd name="adj2" fmla="val 2913"/>
              <a:gd name="adj3" fmla="val 10592"/>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Flecha: curvada hacia la izquierda 29">
            <a:extLst>
              <a:ext uri="{FF2B5EF4-FFF2-40B4-BE49-F238E27FC236}">
                <a16:creationId xmlns:a16="http://schemas.microsoft.com/office/drawing/2014/main" id="{F27B107E-C747-4C1F-8808-FB74EF3AEBF2}"/>
              </a:ext>
            </a:extLst>
          </p:cNvPr>
          <p:cNvSpPr/>
          <p:nvPr/>
        </p:nvSpPr>
        <p:spPr>
          <a:xfrm flipV="1">
            <a:off x="3687503" y="3313414"/>
            <a:ext cx="145339" cy="759853"/>
          </a:xfrm>
          <a:prstGeom prst="curvedLef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2" name="CuadroTexto 1">
            <a:extLst>
              <a:ext uri="{FF2B5EF4-FFF2-40B4-BE49-F238E27FC236}">
                <a16:creationId xmlns:a16="http://schemas.microsoft.com/office/drawing/2014/main" id="{7DBFA69E-7478-448D-A6D9-66C0CED01D4F}"/>
              </a:ext>
            </a:extLst>
          </p:cNvPr>
          <p:cNvSpPr txBox="1"/>
          <p:nvPr/>
        </p:nvSpPr>
        <p:spPr>
          <a:xfrm>
            <a:off x="3117763" y="4854664"/>
            <a:ext cx="4424609" cy="261610"/>
          </a:xfrm>
          <a:prstGeom prst="rect">
            <a:avLst/>
          </a:prstGeom>
          <a:noFill/>
        </p:spPr>
        <p:txBody>
          <a:bodyPr wrap="none" rtlCol="0">
            <a:spAutoFit/>
          </a:bodyPr>
          <a:lstStyle/>
          <a:p>
            <a:r>
              <a:rPr lang="en-US" sz="1100" dirty="0">
                <a:hlinkClick r:id="rId6"/>
              </a:rPr>
              <a:t>Why should I learn assembly language in 2020? (complete waste of time?)</a:t>
            </a:r>
            <a:endParaRPr lang="es-ES" sz="1100" dirty="0"/>
          </a:p>
        </p:txBody>
      </p:sp>
    </p:spTree>
    <p:extLst>
      <p:ext uri="{BB962C8B-B14F-4D97-AF65-F5344CB8AC3E}">
        <p14:creationId xmlns:p14="http://schemas.microsoft.com/office/powerpoint/2010/main" val="4212702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Virtualización</a:t>
            </a:r>
          </a:p>
        </p:txBody>
      </p:sp>
      <p:pic>
        <p:nvPicPr>
          <p:cNvPr id="8194" name="Picture 2">
            <a:extLst>
              <a:ext uri="{FF2B5EF4-FFF2-40B4-BE49-F238E27FC236}">
                <a16:creationId xmlns:a16="http://schemas.microsoft.com/office/drawing/2014/main" id="{A195CD89-AB19-4730-A60E-D42870CA0A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8944" y="1152526"/>
            <a:ext cx="3637341" cy="3272778"/>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D214BD5B-23E1-4882-83F4-7ED91866E506}"/>
              </a:ext>
            </a:extLst>
          </p:cNvPr>
          <p:cNvSpPr txBox="1"/>
          <p:nvPr/>
        </p:nvSpPr>
        <p:spPr>
          <a:xfrm>
            <a:off x="1776414" y="1178805"/>
            <a:ext cx="2795586" cy="3208571"/>
          </a:xfrm>
          <a:prstGeom prst="rect">
            <a:avLst/>
          </a:prstGeom>
          <a:noFill/>
        </p:spPr>
        <p:txBody>
          <a:bodyPr wrap="square" rtlCol="0">
            <a:spAutoFit/>
          </a:bodyPr>
          <a:lstStyle/>
          <a:p>
            <a:pPr algn="just"/>
            <a:r>
              <a:rPr lang="es-ES" dirty="0"/>
              <a:t>Para termina la lección, una nota sobre algo que no veremos en este curso pero de lo que sí haremos uso es la virtualización de HW (con </a:t>
            </a:r>
            <a:r>
              <a:rPr lang="es-ES" dirty="0" err="1"/>
              <a:t>OracleVM</a:t>
            </a:r>
            <a:r>
              <a:rPr lang="es-ES" dirty="0"/>
              <a:t> y QEMU).</a:t>
            </a:r>
          </a:p>
          <a:p>
            <a:endParaRPr lang="es-ES" dirty="0"/>
          </a:p>
          <a:p>
            <a:pPr algn="just"/>
            <a:r>
              <a:rPr lang="es-ES" dirty="0"/>
              <a:t>Los microprocesadores modernos ofrecen la posibilidad de usar un hipervisor, una combinación de SW y HW que presenta recursos de HW virtual a los sistemas operativos invitados que después se instalan sobre esta capa. </a:t>
            </a:r>
          </a:p>
          <a:p>
            <a:r>
              <a:rPr lang="es-ES" dirty="0"/>
              <a:t>En los equipos Intel, el hipervisor se ejecuta en el anillo 1 de privilegio.</a:t>
            </a:r>
          </a:p>
        </p:txBody>
      </p:sp>
      <p:sp>
        <p:nvSpPr>
          <p:cNvPr id="3" name="CuadroTexto 2">
            <a:extLst>
              <a:ext uri="{FF2B5EF4-FFF2-40B4-BE49-F238E27FC236}">
                <a16:creationId xmlns:a16="http://schemas.microsoft.com/office/drawing/2014/main" id="{AE2A57BC-579D-4CED-BB83-2E898E43F828}"/>
              </a:ext>
            </a:extLst>
          </p:cNvPr>
          <p:cNvSpPr txBox="1"/>
          <p:nvPr/>
        </p:nvSpPr>
        <p:spPr>
          <a:xfrm flipH="1">
            <a:off x="1936523" y="4564497"/>
            <a:ext cx="6729654" cy="507831"/>
          </a:xfrm>
          <a:prstGeom prst="rect">
            <a:avLst/>
          </a:prstGeom>
          <a:noFill/>
        </p:spPr>
        <p:txBody>
          <a:bodyPr wrap="square" rtlCol="0">
            <a:spAutoFit/>
          </a:bodyPr>
          <a:lstStyle/>
          <a:p>
            <a:pPr algn="ctr"/>
            <a:r>
              <a:rPr lang="es-ES" dirty="0">
                <a:solidFill>
                  <a:srgbClr val="FF0000"/>
                </a:solidFill>
              </a:rPr>
              <a:t>La terminología es engañosa. La gestión de memoria virtual no tiene nada que ver con los recursos de virtualización de la CPU. </a:t>
            </a:r>
          </a:p>
        </p:txBody>
      </p:sp>
    </p:spTree>
    <p:extLst>
      <p:ext uri="{BB962C8B-B14F-4D97-AF65-F5344CB8AC3E}">
        <p14:creationId xmlns:p14="http://schemas.microsoft.com/office/powerpoint/2010/main" val="5732614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Virtualización</a:t>
            </a:r>
          </a:p>
        </p:txBody>
      </p:sp>
      <p:sp>
        <p:nvSpPr>
          <p:cNvPr id="2" name="CuadroTexto 1">
            <a:extLst>
              <a:ext uri="{FF2B5EF4-FFF2-40B4-BE49-F238E27FC236}">
                <a16:creationId xmlns:a16="http://schemas.microsoft.com/office/drawing/2014/main" id="{D214BD5B-23E1-4882-83F4-7ED91866E506}"/>
              </a:ext>
            </a:extLst>
          </p:cNvPr>
          <p:cNvSpPr txBox="1"/>
          <p:nvPr/>
        </p:nvSpPr>
        <p:spPr>
          <a:xfrm>
            <a:off x="1776414" y="1025173"/>
            <a:ext cx="6889763" cy="1546577"/>
          </a:xfrm>
          <a:prstGeom prst="rect">
            <a:avLst/>
          </a:prstGeom>
          <a:noFill/>
        </p:spPr>
        <p:txBody>
          <a:bodyPr wrap="square" rtlCol="0">
            <a:spAutoFit/>
          </a:bodyPr>
          <a:lstStyle/>
          <a:p>
            <a:pPr algn="just"/>
            <a:r>
              <a:rPr lang="es-ES" dirty="0"/>
              <a:t>El hipervisor o monitor es un software que permite virtualizar el hardware y poder instalar en una misma máquina física distintos sistemas operativos. Los más antiguos son los de tipo I, que se ejecutan fuera del SO, directamente sobre el hardware (por eso se conocen como </a:t>
            </a:r>
            <a:r>
              <a:rPr lang="es-ES" dirty="0" err="1"/>
              <a:t>bare</a:t>
            </a:r>
            <a:r>
              <a:rPr lang="es-ES" dirty="0"/>
              <a:t> metal) Se emplean sobre todo en los centros de datos.</a:t>
            </a:r>
          </a:p>
          <a:p>
            <a:pPr algn="just"/>
            <a:endParaRPr lang="es-ES" dirty="0"/>
          </a:p>
          <a:p>
            <a:pPr algn="just"/>
            <a:r>
              <a:rPr lang="es-ES" dirty="0"/>
              <a:t>Los de tipo II se ejecutan sobre el sistema operativo anfitrión (host) sobre el que se </a:t>
            </a:r>
            <a:r>
              <a:rPr lang="es-ES" dirty="0" err="1"/>
              <a:t>puedn</a:t>
            </a:r>
            <a:r>
              <a:rPr lang="es-ES" dirty="0"/>
              <a:t> instalar los invitados. A esta categoría pertenece Oracle VM y QEMU.</a:t>
            </a:r>
          </a:p>
        </p:txBody>
      </p:sp>
      <p:sp>
        <p:nvSpPr>
          <p:cNvPr id="3" name="CuadroTexto 2">
            <a:extLst>
              <a:ext uri="{FF2B5EF4-FFF2-40B4-BE49-F238E27FC236}">
                <a16:creationId xmlns:a16="http://schemas.microsoft.com/office/drawing/2014/main" id="{AE2A57BC-579D-4CED-BB83-2E898E43F828}"/>
              </a:ext>
            </a:extLst>
          </p:cNvPr>
          <p:cNvSpPr txBox="1"/>
          <p:nvPr/>
        </p:nvSpPr>
        <p:spPr>
          <a:xfrm flipH="1">
            <a:off x="3258565" y="4614818"/>
            <a:ext cx="1457657" cy="300082"/>
          </a:xfrm>
          <a:prstGeom prst="rect">
            <a:avLst/>
          </a:prstGeom>
          <a:noFill/>
        </p:spPr>
        <p:txBody>
          <a:bodyPr wrap="square" rtlCol="0">
            <a:spAutoFit/>
          </a:bodyPr>
          <a:lstStyle/>
          <a:p>
            <a:pPr algn="ctr"/>
            <a:r>
              <a:rPr lang="es-ES" dirty="0"/>
              <a:t>Tipo I</a:t>
            </a:r>
          </a:p>
        </p:txBody>
      </p:sp>
      <p:pic>
        <p:nvPicPr>
          <p:cNvPr id="1026" name="Picture 2">
            <a:extLst>
              <a:ext uri="{FF2B5EF4-FFF2-40B4-BE49-F238E27FC236}">
                <a16:creationId xmlns:a16="http://schemas.microsoft.com/office/drawing/2014/main" id="{47D1D9D2-23CD-4F47-BE2E-4D38938FD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3703" y="2677718"/>
            <a:ext cx="2067382" cy="16885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5F1B992-2FE3-4772-AFB6-9D2BA85A983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43295" y="2677718"/>
            <a:ext cx="1715121" cy="1688542"/>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0D7E539E-42EB-4B3D-8A04-133AD656FE45}"/>
              </a:ext>
            </a:extLst>
          </p:cNvPr>
          <p:cNvSpPr txBox="1"/>
          <p:nvPr/>
        </p:nvSpPr>
        <p:spPr>
          <a:xfrm flipH="1">
            <a:off x="6172026" y="4538618"/>
            <a:ext cx="1457657" cy="300082"/>
          </a:xfrm>
          <a:prstGeom prst="rect">
            <a:avLst/>
          </a:prstGeom>
          <a:noFill/>
        </p:spPr>
        <p:txBody>
          <a:bodyPr wrap="square" rtlCol="0">
            <a:spAutoFit/>
          </a:bodyPr>
          <a:lstStyle/>
          <a:p>
            <a:pPr algn="ctr"/>
            <a:r>
              <a:rPr lang="es-ES" dirty="0"/>
              <a:t>Tipo II</a:t>
            </a:r>
          </a:p>
        </p:txBody>
      </p:sp>
    </p:spTree>
    <p:extLst>
      <p:ext uri="{BB962C8B-B14F-4D97-AF65-F5344CB8AC3E}">
        <p14:creationId xmlns:p14="http://schemas.microsoft.com/office/powerpoint/2010/main" val="2904554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Virtualización</a:t>
            </a:r>
          </a:p>
        </p:txBody>
      </p:sp>
      <p:sp>
        <p:nvSpPr>
          <p:cNvPr id="2" name="CuadroTexto 1">
            <a:extLst>
              <a:ext uri="{FF2B5EF4-FFF2-40B4-BE49-F238E27FC236}">
                <a16:creationId xmlns:a16="http://schemas.microsoft.com/office/drawing/2014/main" id="{D214BD5B-23E1-4882-83F4-7ED91866E506}"/>
              </a:ext>
            </a:extLst>
          </p:cNvPr>
          <p:cNvSpPr txBox="1"/>
          <p:nvPr/>
        </p:nvSpPr>
        <p:spPr>
          <a:xfrm>
            <a:off x="1776414" y="1025173"/>
            <a:ext cx="6889763" cy="1338828"/>
          </a:xfrm>
          <a:prstGeom prst="rect">
            <a:avLst/>
          </a:prstGeom>
          <a:noFill/>
        </p:spPr>
        <p:txBody>
          <a:bodyPr wrap="square" rtlCol="0">
            <a:spAutoFit/>
          </a:bodyPr>
          <a:lstStyle/>
          <a:p>
            <a:pPr algn="just"/>
            <a:r>
              <a:rPr lang="es-ES" dirty="0"/>
              <a:t>Un contenedor es un paquete de software que contiene todo el entorno necesario para su ejecución (ejecutables, librerías, permisos, variables, …). Se ejecutan en un servidor (como </a:t>
            </a:r>
            <a:r>
              <a:rPr lang="es-ES" i="1" dirty="0"/>
              <a:t>Docker </a:t>
            </a:r>
            <a:r>
              <a:rPr lang="es-ES" i="1" dirty="0" err="1"/>
              <a:t>Engine</a:t>
            </a:r>
            <a:r>
              <a:rPr lang="es-ES" dirty="0"/>
              <a:t>) que se monta sobre el Sistema Operativo anfitrión. Los contenedores comparten el SO anfitrión, pero Docker consigue que los procesos de cada contenedor queden aislados de los otros usando la funcionalidad </a:t>
            </a:r>
            <a:r>
              <a:rPr lang="es-ES" sz="1100" dirty="0" err="1">
                <a:latin typeface="Lucida Sans Typewriter" panose="020B0509030504030204" pitchFamily="49" charset="0"/>
              </a:rPr>
              <a:t>namespaces</a:t>
            </a:r>
            <a:r>
              <a:rPr lang="es-ES" dirty="0"/>
              <a:t> de Linux y controla el uso máximo de recursos con </a:t>
            </a:r>
            <a:r>
              <a:rPr lang="es-ES" sz="1100" dirty="0" err="1">
                <a:latin typeface="Lucida Sans Typewriter" panose="020B0509030504030204" pitchFamily="49" charset="0"/>
              </a:rPr>
              <a:t>cgroup</a:t>
            </a:r>
            <a:r>
              <a:rPr lang="es-ES" dirty="0"/>
              <a:t>.</a:t>
            </a:r>
          </a:p>
        </p:txBody>
      </p:sp>
      <p:pic>
        <p:nvPicPr>
          <p:cNvPr id="7" name="Imagen 6">
            <a:extLst>
              <a:ext uri="{FF2B5EF4-FFF2-40B4-BE49-F238E27FC236}">
                <a16:creationId xmlns:a16="http://schemas.microsoft.com/office/drawing/2014/main" id="{8EB62158-4F5D-4050-A849-068F0C22AB4A}"/>
              </a:ext>
            </a:extLst>
          </p:cNvPr>
          <p:cNvPicPr>
            <a:picLocks noChangeAspect="1"/>
          </p:cNvPicPr>
          <p:nvPr/>
        </p:nvPicPr>
        <p:blipFill>
          <a:blip r:embed="rId3">
            <a:clrChange>
              <a:clrFrom>
                <a:srgbClr val="F0F1F3"/>
              </a:clrFrom>
              <a:clrTo>
                <a:srgbClr val="F0F1F3">
                  <a:alpha val="0"/>
                </a:srgbClr>
              </a:clrTo>
            </a:clrChange>
          </a:blip>
          <a:stretch>
            <a:fillRect/>
          </a:stretch>
        </p:blipFill>
        <p:spPr>
          <a:xfrm>
            <a:off x="2729554" y="2571750"/>
            <a:ext cx="5343447" cy="2166613"/>
          </a:xfrm>
          <a:prstGeom prst="rect">
            <a:avLst/>
          </a:prstGeom>
        </p:spPr>
      </p:pic>
    </p:spTree>
    <p:extLst>
      <p:ext uri="{BB962C8B-B14F-4D97-AF65-F5344CB8AC3E}">
        <p14:creationId xmlns:p14="http://schemas.microsoft.com/office/powerpoint/2010/main" val="2195053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Virtualización</a:t>
            </a:r>
          </a:p>
        </p:txBody>
      </p:sp>
      <p:sp>
        <p:nvSpPr>
          <p:cNvPr id="2" name="CuadroTexto 1">
            <a:extLst>
              <a:ext uri="{FF2B5EF4-FFF2-40B4-BE49-F238E27FC236}">
                <a16:creationId xmlns:a16="http://schemas.microsoft.com/office/drawing/2014/main" id="{D214BD5B-23E1-4882-83F4-7ED91866E506}"/>
              </a:ext>
            </a:extLst>
          </p:cNvPr>
          <p:cNvSpPr txBox="1"/>
          <p:nvPr/>
        </p:nvSpPr>
        <p:spPr>
          <a:xfrm>
            <a:off x="1776414" y="1025173"/>
            <a:ext cx="6889763" cy="3416320"/>
          </a:xfrm>
          <a:prstGeom prst="rect">
            <a:avLst/>
          </a:prstGeom>
          <a:noFill/>
        </p:spPr>
        <p:txBody>
          <a:bodyPr wrap="square" rtlCol="0">
            <a:spAutoFit/>
          </a:bodyPr>
          <a:lstStyle/>
          <a:p>
            <a:pPr algn="just"/>
            <a:r>
              <a:rPr lang="es-ES" dirty="0"/>
              <a:t>Docker y otros productos similares se apoyan en la virtualización a nivel del sistema operativo que ofrece Linux. Mientras un proceso puede acceder a todos los recursos de la máquina (siempre que esté autorizado) en un contenedor solo puede ver los que se conceden de antemano al contenedor, por eso da la sensación de que hay varias máquinas en paralelo, pero solo se está ejecutando una instancia del sistema operativo.</a:t>
            </a:r>
          </a:p>
          <a:p>
            <a:pPr algn="just"/>
            <a:endParaRPr lang="es-ES" dirty="0"/>
          </a:p>
          <a:p>
            <a:pPr algn="just"/>
            <a:r>
              <a:rPr lang="es-ES" dirty="0"/>
              <a:t>Una limitación importante es que no podemos ejecutar contenedores de un sistema operativo diferente al del host (sí pueden diferir las versiones). Si tenemos una máquina Linux, los contenedores no pueden lanzar aplicaciones Windows y viceversa. Esto no ocurre con las máquinas virtuales.</a:t>
            </a:r>
          </a:p>
          <a:p>
            <a:pPr algn="just"/>
            <a:endParaRPr lang="es-ES" dirty="0"/>
          </a:p>
          <a:p>
            <a:pPr algn="just"/>
            <a:r>
              <a:rPr lang="es-ES" dirty="0"/>
              <a:t>Con la tecnología de contenedores, por el contrario, podemos lanzar muchas más instancias de un proceso que las posibles con una máquina virtual en una misma máquina física. En cada VM tenemos que reservar CPU, RAM y disco, que se asignan aunque no estén en uso. En Docker, es el motor el que optimiza ese uso. El arranque es también rapidísimo, aunque los contenedores funcionan sin estado, es decir, en el siguiente arranque no tienen persistencia.</a:t>
            </a:r>
          </a:p>
        </p:txBody>
      </p:sp>
    </p:spTree>
    <p:extLst>
      <p:ext uri="{BB962C8B-B14F-4D97-AF65-F5344CB8AC3E}">
        <p14:creationId xmlns:p14="http://schemas.microsoft.com/office/powerpoint/2010/main" val="20777307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idx="4294967295"/>
          </p:nvPr>
        </p:nvSpPr>
        <p:spPr>
          <a:xfrm>
            <a:off x="1776414" y="228600"/>
            <a:ext cx="7049872" cy="530817"/>
          </a:xfrm>
        </p:spPr>
        <p:txBody>
          <a:bodyPr/>
          <a:lstStyle/>
          <a:p>
            <a:r>
              <a:rPr lang="es-ES" dirty="0"/>
              <a:t>Virtualización</a:t>
            </a:r>
          </a:p>
        </p:txBody>
      </p:sp>
      <p:pic>
        <p:nvPicPr>
          <p:cNvPr id="11" name="Imagen 10">
            <a:extLst>
              <a:ext uri="{FF2B5EF4-FFF2-40B4-BE49-F238E27FC236}">
                <a16:creationId xmlns:a16="http://schemas.microsoft.com/office/drawing/2014/main" id="{9505B41C-3894-4236-9541-DC9E0415F6AE}"/>
              </a:ext>
            </a:extLst>
          </p:cNvPr>
          <p:cNvPicPr>
            <a:picLocks noChangeAspect="1"/>
          </p:cNvPicPr>
          <p:nvPr/>
        </p:nvPicPr>
        <p:blipFill>
          <a:blip r:embed="rId3"/>
          <a:stretch>
            <a:fillRect/>
          </a:stretch>
        </p:blipFill>
        <p:spPr>
          <a:xfrm>
            <a:off x="2096453" y="837221"/>
            <a:ext cx="6277928" cy="3310916"/>
          </a:xfrm>
          <a:prstGeom prst="rect">
            <a:avLst/>
          </a:prstGeom>
        </p:spPr>
      </p:pic>
      <p:sp>
        <p:nvSpPr>
          <p:cNvPr id="13" name="CuadroTexto 12">
            <a:extLst>
              <a:ext uri="{FF2B5EF4-FFF2-40B4-BE49-F238E27FC236}">
                <a16:creationId xmlns:a16="http://schemas.microsoft.com/office/drawing/2014/main" id="{1FE3174B-ADE3-4676-BD0C-5EEFCC9CBFBB}"/>
              </a:ext>
            </a:extLst>
          </p:cNvPr>
          <p:cNvSpPr txBox="1"/>
          <p:nvPr/>
        </p:nvSpPr>
        <p:spPr>
          <a:xfrm>
            <a:off x="1776414" y="4141611"/>
            <a:ext cx="6889763" cy="715581"/>
          </a:xfrm>
          <a:prstGeom prst="rect">
            <a:avLst/>
          </a:prstGeom>
          <a:noFill/>
        </p:spPr>
        <p:txBody>
          <a:bodyPr wrap="square" rtlCol="0">
            <a:spAutoFit/>
          </a:bodyPr>
          <a:lstStyle/>
          <a:p>
            <a:pPr algn="just"/>
            <a:r>
              <a:rPr lang="es-ES" dirty="0"/>
              <a:t>Docker funciona con un modelo cliente-servidor. El cliente puede ser una Shell de comandos o una API y no tiene por qué estar en la misma máquina que el demonio. </a:t>
            </a:r>
            <a:r>
              <a:rPr lang="es-ES" dirty="0" err="1"/>
              <a:t>Registry</a:t>
            </a:r>
            <a:r>
              <a:rPr lang="es-ES" dirty="0"/>
              <a:t> es el repositorio de imágenes.</a:t>
            </a:r>
          </a:p>
        </p:txBody>
      </p:sp>
    </p:spTree>
    <p:extLst>
      <p:ext uri="{BB962C8B-B14F-4D97-AF65-F5344CB8AC3E}">
        <p14:creationId xmlns:p14="http://schemas.microsoft.com/office/powerpoint/2010/main" val="3747398366"/>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3AC239DE-4495-45AB-A642-84873D6EC143}" vid="{ADDCAA0F-EA35-422D-841E-59E8EF71B2C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E6A9B1AE3C694449E1CBECB26767C28" ma:contentTypeVersion="0" ma:contentTypeDescription="Crear nuevo documento." ma:contentTypeScope="" ma:versionID="f939733f7a29ff16f56243c74c11c85c">
  <xsd:schema xmlns:xsd="http://www.w3.org/2001/XMLSchema" xmlns:xs="http://www.w3.org/2001/XMLSchema" xmlns:p="http://schemas.microsoft.com/office/2006/metadata/properties" targetNamespace="http://schemas.microsoft.com/office/2006/metadata/properties" ma:root="true" ma:fieldsID="ebba8a198e9bb40c3eeca6d0bd4125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AB788B-E2DA-4E16-B351-E0EC0D46F47D}">
  <ds:schemaRefs>
    <ds:schemaRef ds:uri="http://schemas.microsoft.com/sharepoint/v3/contenttype/forms"/>
  </ds:schemaRefs>
</ds:datastoreItem>
</file>

<file path=customXml/itemProps2.xml><?xml version="1.0" encoding="utf-8"?>
<ds:datastoreItem xmlns:ds="http://schemas.openxmlformats.org/officeDocument/2006/customXml" ds:itemID="{C2331040-8433-4BD1-90D6-FEBE17A71FCC}">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FA80CCC-508F-47A8-A8E6-442477940E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6396</TotalTime>
  <Words>5189</Words>
  <Application>Microsoft Office PowerPoint</Application>
  <PresentationFormat>Presentación en pantalla (16:9)</PresentationFormat>
  <Paragraphs>312</Paragraphs>
  <Slides>43</Slides>
  <Notes>43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43</vt:i4>
      </vt:variant>
    </vt:vector>
  </HeadingPairs>
  <TitlesOfParts>
    <vt:vector size="50" baseType="lpstr">
      <vt:lpstr>Arial</vt:lpstr>
      <vt:lpstr>Calibri</vt:lpstr>
      <vt:lpstr>Calibri Light</vt:lpstr>
      <vt:lpstr>Lucida Console</vt:lpstr>
      <vt:lpstr>Lucida Sans Typewriter</vt:lpstr>
      <vt:lpstr>Times New Roman</vt:lpstr>
      <vt:lpstr>Tema de Office</vt:lpstr>
      <vt:lpstr>     Sistemas Operativos  2. Conceptos básicos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Arquitectura x86</vt:lpstr>
      <vt:lpstr>Arquitectura x86</vt:lpstr>
      <vt:lpstr>Arquitectura x86</vt:lpstr>
      <vt:lpstr>Arquitectura x86</vt:lpstr>
      <vt:lpstr>Arquitectura x86</vt:lpstr>
      <vt:lpstr>Arquitectura x86</vt:lpstr>
      <vt:lpstr>Arquitectura x86</vt:lpstr>
      <vt:lpstr>Arquitectura PC</vt:lpstr>
      <vt:lpstr>Arquitectura ARM</vt:lpstr>
      <vt:lpstr>Arquitectura ARM</vt:lpstr>
      <vt:lpstr>Arquitectura ARM</vt:lpstr>
      <vt:lpstr>Arquitectura ARM</vt:lpstr>
      <vt:lpstr>Intel vs ARM</vt:lpstr>
      <vt:lpstr>Virtualización</vt:lpstr>
      <vt:lpstr>Virtualización</vt:lpstr>
      <vt:lpstr>Virtualización</vt:lpstr>
      <vt:lpstr>Virtualización</vt:lpstr>
      <vt:lpstr>Virtualización</vt:lpstr>
    </vt:vector>
  </TitlesOfParts>
  <Company>Universidad Pontificia Comillas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 la presentación</dc:title>
  <dc:creator>Carmen Escudero Guirado</dc:creator>
  <cp:lastModifiedBy>Miguel Angel Mesas Uzal</cp:lastModifiedBy>
  <cp:revision>451</cp:revision>
  <dcterms:created xsi:type="dcterms:W3CDTF">2017-07-19T07:53:01Z</dcterms:created>
  <dcterms:modified xsi:type="dcterms:W3CDTF">2021-09-21T14:00:45Z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0x010100AE6A9B1AE3C694449E1CBECB26767C28</vt:lpwstr>
  </property>
</Properties>
</file>