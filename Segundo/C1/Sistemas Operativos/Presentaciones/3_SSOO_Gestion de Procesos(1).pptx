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21" r:id="rId45"/>
    <p:sldId id="299" r:id="rId46"/>
    <p:sldId id="300" r:id="rId47"/>
    <p:sldId id="322"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Lst>
  <p:sldSz cx="9144000" cy="5143500" type="screen16x9"/>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19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2" name="PlaceHolder 1"/>
          <p:cNvSpPr>
            <a:spLocks noGrp="1" noRot="1" noChangeAspect="1"/>
          </p:cNvSpPr>
          <p:nvPr>
            <p:ph type="sldImg"/>
          </p:nvPr>
        </p:nvSpPr>
        <p:spPr>
          <a:xfrm>
            <a:off x="216000" y="812520"/>
            <a:ext cx="7127280" cy="4008960"/>
          </a:xfrm>
          <a:prstGeom prst="rect">
            <a:avLst/>
          </a:prstGeom>
        </p:spPr>
        <p:txBody>
          <a:bodyPr lIns="0" tIns="0" rIns="0" bIns="0" anchor="ctr"/>
          <a:lstStyle/>
          <a:p>
            <a:r>
              <a:rPr lang="es-ES" sz="1350" b="0" strike="noStrike" spc="-1">
                <a:solidFill>
                  <a:srgbClr val="000000"/>
                </a:solidFill>
                <a:latin typeface="Calibri"/>
              </a:rPr>
              <a:t>Pulse para desplazar la página</a:t>
            </a:r>
          </a:p>
        </p:txBody>
      </p:sp>
      <p:sp>
        <p:nvSpPr>
          <p:cNvPr id="123" name="PlaceHolder 2"/>
          <p:cNvSpPr>
            <a:spLocks noGrp="1"/>
          </p:cNvSpPr>
          <p:nvPr>
            <p:ph type="body"/>
          </p:nvPr>
        </p:nvSpPr>
        <p:spPr>
          <a:xfrm>
            <a:off x="756000" y="5078520"/>
            <a:ext cx="6047640" cy="4811040"/>
          </a:xfrm>
          <a:prstGeom prst="rect">
            <a:avLst/>
          </a:prstGeom>
        </p:spPr>
        <p:txBody>
          <a:bodyPr lIns="0" tIns="0" rIns="0" bIns="0"/>
          <a:lstStyle/>
          <a:p>
            <a:r>
              <a:rPr lang="es-ES" sz="2000" b="0" strike="noStrike" spc="-1">
                <a:latin typeface="Arial"/>
              </a:rPr>
              <a:t>Pulse para editar el formato de las notas</a:t>
            </a:r>
          </a:p>
        </p:txBody>
      </p:sp>
      <p:sp>
        <p:nvSpPr>
          <p:cNvPr id="124" name="PlaceHolder 3"/>
          <p:cNvSpPr>
            <a:spLocks noGrp="1"/>
          </p:cNvSpPr>
          <p:nvPr>
            <p:ph type="hdr"/>
          </p:nvPr>
        </p:nvSpPr>
        <p:spPr>
          <a:xfrm>
            <a:off x="0" y="0"/>
            <a:ext cx="3280680" cy="534240"/>
          </a:xfrm>
          <a:prstGeom prst="rect">
            <a:avLst/>
          </a:prstGeom>
        </p:spPr>
        <p:txBody>
          <a:bodyPr lIns="0" tIns="0" rIns="0" bIns="0"/>
          <a:lstStyle/>
          <a:p>
            <a:r>
              <a:rPr lang="es-ES" sz="1400" b="0" strike="noStrike" spc="-1">
                <a:latin typeface="Times New Roman"/>
              </a:rPr>
              <a:t> </a:t>
            </a:r>
          </a:p>
        </p:txBody>
      </p:sp>
      <p:sp>
        <p:nvSpPr>
          <p:cNvPr id="125" name="PlaceHolder 4"/>
          <p:cNvSpPr>
            <a:spLocks noGrp="1"/>
          </p:cNvSpPr>
          <p:nvPr>
            <p:ph type="dt"/>
          </p:nvPr>
        </p:nvSpPr>
        <p:spPr>
          <a:xfrm>
            <a:off x="4278960" y="0"/>
            <a:ext cx="3280680" cy="534240"/>
          </a:xfrm>
          <a:prstGeom prst="rect">
            <a:avLst/>
          </a:prstGeom>
        </p:spPr>
        <p:txBody>
          <a:bodyPr lIns="0" tIns="0" rIns="0" bIns="0"/>
          <a:lstStyle/>
          <a:p>
            <a:pPr algn="r"/>
            <a:r>
              <a:rPr lang="es-ES" sz="1400" b="0" strike="noStrike" spc="-1">
                <a:latin typeface="Times New Roman"/>
              </a:rPr>
              <a:t> </a:t>
            </a:r>
          </a:p>
        </p:txBody>
      </p:sp>
      <p:sp>
        <p:nvSpPr>
          <p:cNvPr id="126" name="PlaceHolder 5"/>
          <p:cNvSpPr>
            <a:spLocks noGrp="1"/>
          </p:cNvSpPr>
          <p:nvPr>
            <p:ph type="ftr"/>
          </p:nvPr>
        </p:nvSpPr>
        <p:spPr>
          <a:xfrm>
            <a:off x="0" y="10157400"/>
            <a:ext cx="3280680" cy="534240"/>
          </a:xfrm>
          <a:prstGeom prst="rect">
            <a:avLst/>
          </a:prstGeom>
        </p:spPr>
        <p:txBody>
          <a:bodyPr lIns="0" tIns="0" rIns="0" bIns="0" anchor="b"/>
          <a:lstStyle/>
          <a:p>
            <a:r>
              <a:rPr lang="es-ES" sz="1400" b="0" strike="noStrike" spc="-1">
                <a:latin typeface="Times New Roman"/>
              </a:rPr>
              <a:t> </a:t>
            </a:r>
          </a:p>
        </p:txBody>
      </p:sp>
      <p:sp>
        <p:nvSpPr>
          <p:cNvPr id="127" name="PlaceHolder 6"/>
          <p:cNvSpPr>
            <a:spLocks noGrp="1"/>
          </p:cNvSpPr>
          <p:nvPr>
            <p:ph type="sldNum"/>
          </p:nvPr>
        </p:nvSpPr>
        <p:spPr>
          <a:xfrm>
            <a:off x="4278960" y="10157400"/>
            <a:ext cx="3280680" cy="534240"/>
          </a:xfrm>
          <a:prstGeom prst="rect">
            <a:avLst/>
          </a:prstGeom>
        </p:spPr>
        <p:txBody>
          <a:bodyPr lIns="0" tIns="0" rIns="0" bIns="0" anchor="b"/>
          <a:lstStyle/>
          <a:p>
            <a:pPr algn="r"/>
            <a:fld id="{9D433688-6D32-48F7-B308-A96197FD4BE3}" type="slidenum">
              <a:rPr lang="es-ES" sz="1400" b="0" strike="noStrike" spc="-1">
                <a:latin typeface="Times New Roman"/>
              </a:rPr>
              <a:t>‹Nº›</a:t>
            </a:fld>
            <a:endParaRPr lang="es-E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1" name="PlaceHolder 1"/>
          <p:cNvSpPr>
            <a:spLocks noGrp="1" noRot="1" noChangeAspect="1"/>
          </p:cNvSpPr>
          <p:nvPr>
            <p:ph type="sldImg"/>
          </p:nvPr>
        </p:nvSpPr>
        <p:spPr>
          <a:xfrm>
            <a:off x="685800" y="1143000"/>
            <a:ext cx="5486400" cy="3086100"/>
          </a:xfrm>
          <a:prstGeom prst="rect">
            <a:avLst/>
          </a:prstGeom>
        </p:spPr>
      </p:sp>
      <p:sp>
        <p:nvSpPr>
          <p:cNvPr id="1082"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083" name="TextShape 3"/>
          <p:cNvSpPr txBox="1"/>
          <p:nvPr/>
        </p:nvSpPr>
        <p:spPr>
          <a:xfrm>
            <a:off x="3884760" y="8685360"/>
            <a:ext cx="2971440" cy="458280"/>
          </a:xfrm>
          <a:prstGeom prst="rect">
            <a:avLst/>
          </a:prstGeom>
          <a:noFill/>
          <a:ln>
            <a:noFill/>
          </a:ln>
        </p:spPr>
        <p:txBody>
          <a:bodyPr anchor="b"/>
          <a:lstStyle/>
          <a:p>
            <a:pPr algn="r">
              <a:lnSpc>
                <a:spcPct val="100000"/>
              </a:lnSpc>
            </a:pPr>
            <a:fld id="{901B6E81-DED3-474A-A443-A9165B1C40EA}" type="slidenum">
              <a:rPr lang="es-ES" sz="1200" b="0" strike="noStrike" spc="-1">
                <a:latin typeface="Times New Roman"/>
              </a:rPr>
              <a:t>1</a:t>
            </a:fld>
            <a:endParaRPr lang="es-E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 name="PlaceHolder 1"/>
          <p:cNvSpPr>
            <a:spLocks noGrp="1" noRot="1" noChangeAspect="1"/>
          </p:cNvSpPr>
          <p:nvPr>
            <p:ph type="sldImg"/>
          </p:nvPr>
        </p:nvSpPr>
        <p:spPr>
          <a:xfrm>
            <a:off x="685800" y="1143000"/>
            <a:ext cx="5486400" cy="3086100"/>
          </a:xfrm>
          <a:prstGeom prst="rect">
            <a:avLst/>
          </a:prstGeom>
        </p:spPr>
      </p:sp>
      <p:sp>
        <p:nvSpPr>
          <p:cNvPr id="1085"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086" name="TextShape 3"/>
          <p:cNvSpPr txBox="1"/>
          <p:nvPr/>
        </p:nvSpPr>
        <p:spPr>
          <a:xfrm>
            <a:off x="3884760" y="8685360"/>
            <a:ext cx="2971440" cy="458280"/>
          </a:xfrm>
          <a:prstGeom prst="rect">
            <a:avLst/>
          </a:prstGeom>
          <a:noFill/>
          <a:ln>
            <a:noFill/>
          </a:ln>
        </p:spPr>
        <p:txBody>
          <a:bodyPr anchor="b"/>
          <a:lstStyle/>
          <a:p>
            <a:pPr algn="r">
              <a:lnSpc>
                <a:spcPct val="100000"/>
              </a:lnSpc>
            </a:pPr>
            <a:fld id="{532340D8-6D8F-496D-9B11-A5E7E2A12923}" type="slidenum">
              <a:rPr lang="es-ES" sz="1200" b="0" strike="noStrike" spc="-1">
                <a:solidFill>
                  <a:srgbClr val="000000"/>
                </a:solidFill>
                <a:latin typeface="+mn-lt"/>
                <a:ea typeface="+mn-ea"/>
              </a:rPr>
              <a:t>2</a:t>
            </a:fld>
            <a:endParaRPr lang="es-ES"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 name="PlaceHolder 1"/>
          <p:cNvSpPr>
            <a:spLocks noGrp="1" noRot="1" noChangeAspect="1"/>
          </p:cNvSpPr>
          <p:nvPr>
            <p:ph type="sldImg"/>
          </p:nvPr>
        </p:nvSpPr>
        <p:spPr>
          <a:xfrm>
            <a:off x="685800" y="1143000"/>
            <a:ext cx="5486400" cy="3086100"/>
          </a:xfrm>
          <a:prstGeom prst="rect">
            <a:avLst/>
          </a:prstGeom>
        </p:spPr>
      </p:sp>
      <p:sp>
        <p:nvSpPr>
          <p:cNvPr id="1088"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089" name="TextShape 3"/>
          <p:cNvSpPr txBox="1"/>
          <p:nvPr/>
        </p:nvSpPr>
        <p:spPr>
          <a:xfrm>
            <a:off x="3884760" y="8685360"/>
            <a:ext cx="2971440" cy="458280"/>
          </a:xfrm>
          <a:prstGeom prst="rect">
            <a:avLst/>
          </a:prstGeom>
          <a:noFill/>
          <a:ln>
            <a:noFill/>
          </a:ln>
        </p:spPr>
        <p:txBody>
          <a:bodyPr anchor="b"/>
          <a:lstStyle/>
          <a:p>
            <a:pPr algn="r">
              <a:lnSpc>
                <a:spcPct val="100000"/>
              </a:lnSpc>
            </a:pPr>
            <a:fld id="{6D3A1FCD-F8EE-4326-BA8A-E991FDE25B8B}" type="slidenum">
              <a:rPr lang="es-ES" sz="1200" b="0" strike="noStrike" spc="-1">
                <a:solidFill>
                  <a:srgbClr val="000000"/>
                </a:solidFill>
                <a:latin typeface="+mn-lt"/>
                <a:ea typeface="+mn-ea"/>
              </a:rPr>
              <a:t>3</a:t>
            </a:fld>
            <a:endParaRPr lang="es-E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 name="PlaceHolder 1"/>
          <p:cNvSpPr>
            <a:spLocks noGrp="1" noRot="1" noChangeAspect="1"/>
          </p:cNvSpPr>
          <p:nvPr>
            <p:ph type="sldImg"/>
          </p:nvPr>
        </p:nvSpPr>
        <p:spPr>
          <a:xfrm>
            <a:off x="685800" y="1143000"/>
            <a:ext cx="5486400" cy="3086100"/>
          </a:xfrm>
          <a:prstGeom prst="rect">
            <a:avLst/>
          </a:prstGeom>
        </p:spPr>
      </p:sp>
      <p:sp>
        <p:nvSpPr>
          <p:cNvPr id="1091"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092" name="TextShape 3"/>
          <p:cNvSpPr txBox="1"/>
          <p:nvPr/>
        </p:nvSpPr>
        <p:spPr>
          <a:xfrm>
            <a:off x="3884760" y="8685360"/>
            <a:ext cx="2971440" cy="458280"/>
          </a:xfrm>
          <a:prstGeom prst="rect">
            <a:avLst/>
          </a:prstGeom>
          <a:noFill/>
          <a:ln>
            <a:noFill/>
          </a:ln>
        </p:spPr>
        <p:txBody>
          <a:bodyPr anchor="b"/>
          <a:lstStyle/>
          <a:p>
            <a:pPr algn="r">
              <a:lnSpc>
                <a:spcPct val="100000"/>
              </a:lnSpc>
            </a:pPr>
            <a:fld id="{76B23E48-4DEA-46C2-91D6-F88D2E16A2CF}" type="slidenum">
              <a:rPr lang="es-ES" sz="1200" b="0" strike="noStrike" spc="-1">
                <a:solidFill>
                  <a:srgbClr val="000000"/>
                </a:solidFill>
                <a:latin typeface="+mn-lt"/>
                <a:ea typeface="+mn-ea"/>
              </a:rPr>
              <a:t>4</a:t>
            </a:fld>
            <a:endParaRPr lang="es-E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PlaceHolder 1"/>
          <p:cNvSpPr>
            <a:spLocks noGrp="1" noRot="1" noChangeAspect="1"/>
          </p:cNvSpPr>
          <p:nvPr>
            <p:ph type="sldImg"/>
          </p:nvPr>
        </p:nvSpPr>
        <p:spPr>
          <a:xfrm>
            <a:off x="685800" y="1143000"/>
            <a:ext cx="5486400" cy="3086100"/>
          </a:xfrm>
          <a:prstGeom prst="rect">
            <a:avLst/>
          </a:prstGeom>
        </p:spPr>
      </p:sp>
      <p:sp>
        <p:nvSpPr>
          <p:cNvPr id="1094"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095" name="TextShape 3"/>
          <p:cNvSpPr txBox="1"/>
          <p:nvPr/>
        </p:nvSpPr>
        <p:spPr>
          <a:xfrm>
            <a:off x="3884760" y="8685360"/>
            <a:ext cx="2971440" cy="458280"/>
          </a:xfrm>
          <a:prstGeom prst="rect">
            <a:avLst/>
          </a:prstGeom>
          <a:noFill/>
          <a:ln>
            <a:noFill/>
          </a:ln>
        </p:spPr>
        <p:txBody>
          <a:bodyPr anchor="b"/>
          <a:lstStyle/>
          <a:p>
            <a:pPr algn="r">
              <a:lnSpc>
                <a:spcPct val="100000"/>
              </a:lnSpc>
            </a:pPr>
            <a:fld id="{2564D3ED-C94B-4AD5-947C-A86B79001E34}" type="slidenum">
              <a:rPr lang="es-ES" sz="1200" b="0" strike="noStrike" spc="-1">
                <a:solidFill>
                  <a:srgbClr val="000000"/>
                </a:solidFill>
                <a:latin typeface="+mn-lt"/>
                <a:ea typeface="+mn-ea"/>
              </a:rPr>
              <a:t>5</a:t>
            </a:fld>
            <a:endParaRPr lang="es-ES"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PlaceHolder 1"/>
          <p:cNvSpPr>
            <a:spLocks noGrp="1" noRot="1" noChangeAspect="1"/>
          </p:cNvSpPr>
          <p:nvPr>
            <p:ph type="sldImg"/>
          </p:nvPr>
        </p:nvSpPr>
        <p:spPr>
          <a:xfrm>
            <a:off x="685800" y="1143000"/>
            <a:ext cx="5486400" cy="3086100"/>
          </a:xfrm>
          <a:prstGeom prst="rect">
            <a:avLst/>
          </a:prstGeom>
        </p:spPr>
      </p:sp>
      <p:sp>
        <p:nvSpPr>
          <p:cNvPr id="1097"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098" name="TextShape 3"/>
          <p:cNvSpPr txBox="1"/>
          <p:nvPr/>
        </p:nvSpPr>
        <p:spPr>
          <a:xfrm>
            <a:off x="3884760" y="8685360"/>
            <a:ext cx="2971440" cy="458280"/>
          </a:xfrm>
          <a:prstGeom prst="rect">
            <a:avLst/>
          </a:prstGeom>
          <a:noFill/>
          <a:ln>
            <a:noFill/>
          </a:ln>
        </p:spPr>
        <p:txBody>
          <a:bodyPr anchor="b"/>
          <a:lstStyle/>
          <a:p>
            <a:pPr algn="r">
              <a:lnSpc>
                <a:spcPct val="100000"/>
              </a:lnSpc>
            </a:pPr>
            <a:fld id="{3A2F4B9C-485C-4697-94D5-F91FA4F05109}" type="slidenum">
              <a:rPr lang="es-ES" sz="1200" b="0" strike="noStrike" spc="-1">
                <a:solidFill>
                  <a:srgbClr val="000000"/>
                </a:solidFill>
                <a:latin typeface="+mn-lt"/>
                <a:ea typeface="+mn-ea"/>
              </a:rPr>
              <a:t>6</a:t>
            </a:fld>
            <a:endParaRPr lang="es-ES" sz="1200" b="0" strike="noStrike" spc="-1">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p:spPr>
      </p:sp>
      <p:sp>
        <p:nvSpPr>
          <p:cNvPr id="1100"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01" name="TextShape 3"/>
          <p:cNvSpPr txBox="1"/>
          <p:nvPr/>
        </p:nvSpPr>
        <p:spPr>
          <a:xfrm>
            <a:off x="3884760" y="8685360"/>
            <a:ext cx="2971440" cy="458280"/>
          </a:xfrm>
          <a:prstGeom prst="rect">
            <a:avLst/>
          </a:prstGeom>
          <a:noFill/>
          <a:ln>
            <a:noFill/>
          </a:ln>
        </p:spPr>
        <p:txBody>
          <a:bodyPr anchor="b"/>
          <a:lstStyle/>
          <a:p>
            <a:pPr algn="r">
              <a:lnSpc>
                <a:spcPct val="100000"/>
              </a:lnSpc>
            </a:pPr>
            <a:fld id="{DFFB5275-0CC3-4CB4-A61A-D2294ECF6841}" type="slidenum">
              <a:rPr lang="es-ES" sz="1200" b="0" strike="noStrike" spc="-1">
                <a:solidFill>
                  <a:srgbClr val="000000"/>
                </a:solidFill>
                <a:latin typeface="+mn-lt"/>
                <a:ea typeface="+mn-ea"/>
              </a:rPr>
              <a:t>7</a:t>
            </a:fld>
            <a:endParaRPr lang="es-ES"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PlaceHolder 1"/>
          <p:cNvSpPr>
            <a:spLocks noGrp="1" noRot="1" noChangeAspect="1"/>
          </p:cNvSpPr>
          <p:nvPr>
            <p:ph type="sldImg"/>
          </p:nvPr>
        </p:nvSpPr>
        <p:spPr>
          <a:xfrm>
            <a:off x="685800" y="1143000"/>
            <a:ext cx="5486400" cy="3086100"/>
          </a:xfrm>
          <a:prstGeom prst="rect">
            <a:avLst/>
          </a:prstGeom>
        </p:spPr>
      </p:sp>
      <p:sp>
        <p:nvSpPr>
          <p:cNvPr id="1103"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04" name="TextShape 3"/>
          <p:cNvSpPr txBox="1"/>
          <p:nvPr/>
        </p:nvSpPr>
        <p:spPr>
          <a:xfrm>
            <a:off x="3884760" y="8685360"/>
            <a:ext cx="2971440" cy="458280"/>
          </a:xfrm>
          <a:prstGeom prst="rect">
            <a:avLst/>
          </a:prstGeom>
          <a:noFill/>
          <a:ln>
            <a:noFill/>
          </a:ln>
        </p:spPr>
        <p:txBody>
          <a:bodyPr anchor="b"/>
          <a:lstStyle/>
          <a:p>
            <a:pPr algn="r">
              <a:lnSpc>
                <a:spcPct val="100000"/>
              </a:lnSpc>
            </a:pPr>
            <a:fld id="{BD282F37-AF6C-4A3E-9D7A-464C21AE8F66}" type="slidenum">
              <a:rPr lang="es-ES" sz="1200" b="0" strike="noStrike" spc="-1">
                <a:solidFill>
                  <a:srgbClr val="000000"/>
                </a:solidFill>
                <a:latin typeface="+mn-lt"/>
                <a:ea typeface="+mn-ea"/>
              </a:rPr>
              <a:t>8</a:t>
            </a:fld>
            <a:endParaRPr lang="es-ES" sz="1200" b="0" strike="noStrike" spc="-1">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 name="PlaceHolder 1"/>
          <p:cNvSpPr>
            <a:spLocks noGrp="1" noRot="1" noChangeAspect="1"/>
          </p:cNvSpPr>
          <p:nvPr>
            <p:ph type="sldImg"/>
          </p:nvPr>
        </p:nvSpPr>
        <p:spPr>
          <a:xfrm>
            <a:off x="685800" y="1143000"/>
            <a:ext cx="5486400" cy="3086100"/>
          </a:xfrm>
          <a:prstGeom prst="rect">
            <a:avLst/>
          </a:prstGeom>
        </p:spPr>
      </p:sp>
      <p:sp>
        <p:nvSpPr>
          <p:cNvPr id="1106"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07" name="TextShape 3"/>
          <p:cNvSpPr txBox="1"/>
          <p:nvPr/>
        </p:nvSpPr>
        <p:spPr>
          <a:xfrm>
            <a:off x="3884760" y="8685360"/>
            <a:ext cx="2971440" cy="458280"/>
          </a:xfrm>
          <a:prstGeom prst="rect">
            <a:avLst/>
          </a:prstGeom>
          <a:noFill/>
          <a:ln>
            <a:noFill/>
          </a:ln>
        </p:spPr>
        <p:txBody>
          <a:bodyPr anchor="b"/>
          <a:lstStyle/>
          <a:p>
            <a:pPr algn="r">
              <a:lnSpc>
                <a:spcPct val="100000"/>
              </a:lnSpc>
            </a:pPr>
            <a:fld id="{9E7AF370-4C14-4B9F-A521-5192A4498289}" type="slidenum">
              <a:rPr lang="es-ES" sz="1200" b="0" strike="noStrike" spc="-1">
                <a:solidFill>
                  <a:srgbClr val="000000"/>
                </a:solidFill>
                <a:latin typeface="+mn-lt"/>
                <a:ea typeface="+mn-ea"/>
              </a:rPr>
              <a:t>9</a:t>
            </a:fld>
            <a:endParaRPr lang="es-ES" sz="1200" b="0" strike="noStrike" spc="-1">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 name="PlaceHolder 1"/>
          <p:cNvSpPr>
            <a:spLocks noGrp="1" noRot="1" noChangeAspect="1"/>
          </p:cNvSpPr>
          <p:nvPr>
            <p:ph type="sldImg"/>
          </p:nvPr>
        </p:nvSpPr>
        <p:spPr>
          <a:xfrm>
            <a:off x="685800" y="1143000"/>
            <a:ext cx="5486400" cy="3086100"/>
          </a:xfrm>
          <a:prstGeom prst="rect">
            <a:avLst/>
          </a:prstGeom>
        </p:spPr>
      </p:sp>
      <p:sp>
        <p:nvSpPr>
          <p:cNvPr id="1109"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10" name="TextShape 3"/>
          <p:cNvSpPr txBox="1"/>
          <p:nvPr/>
        </p:nvSpPr>
        <p:spPr>
          <a:xfrm>
            <a:off x="3884760" y="8685360"/>
            <a:ext cx="2971440" cy="458280"/>
          </a:xfrm>
          <a:prstGeom prst="rect">
            <a:avLst/>
          </a:prstGeom>
          <a:noFill/>
          <a:ln>
            <a:noFill/>
          </a:ln>
        </p:spPr>
        <p:txBody>
          <a:bodyPr anchor="b"/>
          <a:lstStyle/>
          <a:p>
            <a:pPr algn="r">
              <a:lnSpc>
                <a:spcPct val="100000"/>
              </a:lnSpc>
            </a:pPr>
            <a:fld id="{0572AE75-D485-438C-9731-A5376036816A}" type="slidenum">
              <a:rPr lang="es-ES" sz="1200" b="0" strike="noStrike" spc="-1">
                <a:solidFill>
                  <a:srgbClr val="000000"/>
                </a:solidFill>
                <a:latin typeface="+mn-lt"/>
                <a:ea typeface="+mn-ea"/>
              </a:rPr>
              <a:t>10</a:t>
            </a:fld>
            <a:endParaRPr lang="es-ES" sz="1200" b="0" strike="noStrike" spc="-1">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 name="PlaceHolder 1"/>
          <p:cNvSpPr>
            <a:spLocks noGrp="1" noRot="1" noChangeAspect="1"/>
          </p:cNvSpPr>
          <p:nvPr>
            <p:ph type="sldImg"/>
          </p:nvPr>
        </p:nvSpPr>
        <p:spPr>
          <a:xfrm>
            <a:off x="685800" y="1143000"/>
            <a:ext cx="5486400" cy="3086100"/>
          </a:xfrm>
          <a:prstGeom prst="rect">
            <a:avLst/>
          </a:prstGeom>
        </p:spPr>
      </p:sp>
      <p:sp>
        <p:nvSpPr>
          <p:cNvPr id="1112"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2000" b="0" strike="noStrike" spc="-1">
                <a:latin typeface="Arial"/>
              </a:rPr>
              <a:t>Imagen: https://upload.wikimedia.org/wikipedia/commons/0/07/Zombie_process_diag.png</a:t>
            </a:r>
          </a:p>
        </p:txBody>
      </p:sp>
      <p:sp>
        <p:nvSpPr>
          <p:cNvPr id="1113" name="TextShape 3"/>
          <p:cNvSpPr txBox="1"/>
          <p:nvPr/>
        </p:nvSpPr>
        <p:spPr>
          <a:xfrm>
            <a:off x="3884760" y="8685360"/>
            <a:ext cx="2971440" cy="458280"/>
          </a:xfrm>
          <a:prstGeom prst="rect">
            <a:avLst/>
          </a:prstGeom>
          <a:noFill/>
          <a:ln>
            <a:noFill/>
          </a:ln>
        </p:spPr>
        <p:txBody>
          <a:bodyPr anchor="b"/>
          <a:lstStyle/>
          <a:p>
            <a:pPr algn="r">
              <a:lnSpc>
                <a:spcPct val="100000"/>
              </a:lnSpc>
            </a:pPr>
            <a:fld id="{99489E99-F189-4BDF-BBDD-50C345BED331}" type="slidenum">
              <a:rPr lang="es-ES" sz="1200" b="0" strike="noStrike" spc="-1">
                <a:solidFill>
                  <a:srgbClr val="000000"/>
                </a:solidFill>
                <a:latin typeface="+mn-lt"/>
                <a:ea typeface="+mn-ea"/>
              </a:rPr>
              <a:t>11</a:t>
            </a:fld>
            <a:endParaRPr lang="es-ES" sz="1200" b="0" strike="noStrike" spc="-1">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 name="PlaceHolder 1"/>
          <p:cNvSpPr>
            <a:spLocks noGrp="1" noRot="1" noChangeAspect="1"/>
          </p:cNvSpPr>
          <p:nvPr>
            <p:ph type="sldImg"/>
          </p:nvPr>
        </p:nvSpPr>
        <p:spPr>
          <a:xfrm>
            <a:off x="685800" y="1143000"/>
            <a:ext cx="5486400" cy="3086100"/>
          </a:xfrm>
          <a:prstGeom prst="rect">
            <a:avLst/>
          </a:prstGeom>
        </p:spPr>
      </p:sp>
      <p:sp>
        <p:nvSpPr>
          <p:cNvPr id="1115"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16" name="TextShape 3"/>
          <p:cNvSpPr txBox="1"/>
          <p:nvPr/>
        </p:nvSpPr>
        <p:spPr>
          <a:xfrm>
            <a:off x="3884760" y="8685360"/>
            <a:ext cx="2971440" cy="458280"/>
          </a:xfrm>
          <a:prstGeom prst="rect">
            <a:avLst/>
          </a:prstGeom>
          <a:noFill/>
          <a:ln>
            <a:noFill/>
          </a:ln>
        </p:spPr>
        <p:txBody>
          <a:bodyPr anchor="b"/>
          <a:lstStyle/>
          <a:p>
            <a:pPr algn="r">
              <a:lnSpc>
                <a:spcPct val="100000"/>
              </a:lnSpc>
            </a:pPr>
            <a:fld id="{AB944699-C9B1-4235-B791-79B47D12FAED}" type="slidenum">
              <a:rPr lang="es-ES" sz="1200" b="0" strike="noStrike" spc="-1">
                <a:solidFill>
                  <a:srgbClr val="000000"/>
                </a:solidFill>
                <a:latin typeface="+mn-lt"/>
                <a:ea typeface="+mn-ea"/>
              </a:rPr>
              <a:t>12</a:t>
            </a:fld>
            <a:endParaRPr lang="es-ES" sz="1200" b="0" strike="noStrike" spc="-1">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 name="PlaceHolder 1"/>
          <p:cNvSpPr>
            <a:spLocks noGrp="1" noRot="1" noChangeAspect="1"/>
          </p:cNvSpPr>
          <p:nvPr>
            <p:ph type="sldImg"/>
          </p:nvPr>
        </p:nvSpPr>
        <p:spPr>
          <a:xfrm>
            <a:off x="685800" y="1143000"/>
            <a:ext cx="5486400" cy="3086100"/>
          </a:xfrm>
          <a:prstGeom prst="rect">
            <a:avLst/>
          </a:prstGeom>
        </p:spPr>
      </p:sp>
      <p:sp>
        <p:nvSpPr>
          <p:cNvPr id="1118"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19" name="TextShape 3"/>
          <p:cNvSpPr txBox="1"/>
          <p:nvPr/>
        </p:nvSpPr>
        <p:spPr>
          <a:xfrm>
            <a:off x="3884760" y="8685360"/>
            <a:ext cx="2971440" cy="458280"/>
          </a:xfrm>
          <a:prstGeom prst="rect">
            <a:avLst/>
          </a:prstGeom>
          <a:noFill/>
          <a:ln>
            <a:noFill/>
          </a:ln>
        </p:spPr>
        <p:txBody>
          <a:bodyPr anchor="b"/>
          <a:lstStyle/>
          <a:p>
            <a:pPr algn="r">
              <a:lnSpc>
                <a:spcPct val="100000"/>
              </a:lnSpc>
            </a:pPr>
            <a:fld id="{74295ABE-ED9A-4D9A-8705-FD98F05CD80D}" type="slidenum">
              <a:rPr lang="es-ES" sz="1200" b="0" strike="noStrike" spc="-1">
                <a:solidFill>
                  <a:srgbClr val="000000"/>
                </a:solidFill>
                <a:latin typeface="+mn-lt"/>
                <a:ea typeface="+mn-ea"/>
              </a:rPr>
              <a:t>13</a:t>
            </a:fld>
            <a:endParaRPr lang="es-ES" sz="1200" b="0" strike="noStrike" spc="-1">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PlaceHolder 1"/>
          <p:cNvSpPr>
            <a:spLocks noGrp="1" noRot="1" noChangeAspect="1"/>
          </p:cNvSpPr>
          <p:nvPr>
            <p:ph type="sldImg"/>
          </p:nvPr>
        </p:nvSpPr>
        <p:spPr>
          <a:xfrm>
            <a:off x="685800" y="1143000"/>
            <a:ext cx="5486400" cy="3086100"/>
          </a:xfrm>
          <a:prstGeom prst="rect">
            <a:avLst/>
          </a:prstGeom>
        </p:spPr>
      </p:sp>
      <p:sp>
        <p:nvSpPr>
          <p:cNvPr id="1121"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22" name="TextShape 3"/>
          <p:cNvSpPr txBox="1"/>
          <p:nvPr/>
        </p:nvSpPr>
        <p:spPr>
          <a:xfrm>
            <a:off x="3884760" y="8685360"/>
            <a:ext cx="2971440" cy="458280"/>
          </a:xfrm>
          <a:prstGeom prst="rect">
            <a:avLst/>
          </a:prstGeom>
          <a:noFill/>
          <a:ln>
            <a:noFill/>
          </a:ln>
        </p:spPr>
        <p:txBody>
          <a:bodyPr anchor="b"/>
          <a:lstStyle/>
          <a:p>
            <a:pPr algn="r">
              <a:lnSpc>
                <a:spcPct val="100000"/>
              </a:lnSpc>
            </a:pPr>
            <a:fld id="{9A152D7F-A73F-4D4A-8633-83961F21D02C}" type="slidenum">
              <a:rPr lang="es-ES" sz="1200" b="0" strike="noStrike" spc="-1">
                <a:solidFill>
                  <a:srgbClr val="000000"/>
                </a:solidFill>
                <a:latin typeface="+mn-lt"/>
                <a:ea typeface="+mn-ea"/>
              </a:rPr>
              <a:t>14</a:t>
            </a:fld>
            <a:endParaRPr lang="es-ES" sz="1200" b="0" strike="noStrike" spc="-1">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PlaceHolder 1"/>
          <p:cNvSpPr>
            <a:spLocks noGrp="1" noRot="1" noChangeAspect="1"/>
          </p:cNvSpPr>
          <p:nvPr>
            <p:ph type="sldImg"/>
          </p:nvPr>
        </p:nvSpPr>
        <p:spPr>
          <a:xfrm>
            <a:off x="685800" y="1143000"/>
            <a:ext cx="5486400" cy="3086100"/>
          </a:xfrm>
          <a:prstGeom prst="rect">
            <a:avLst/>
          </a:prstGeom>
        </p:spPr>
      </p:sp>
      <p:sp>
        <p:nvSpPr>
          <p:cNvPr id="1124"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25" name="TextShape 3"/>
          <p:cNvSpPr txBox="1"/>
          <p:nvPr/>
        </p:nvSpPr>
        <p:spPr>
          <a:xfrm>
            <a:off x="3884760" y="8685360"/>
            <a:ext cx="2971440" cy="458280"/>
          </a:xfrm>
          <a:prstGeom prst="rect">
            <a:avLst/>
          </a:prstGeom>
          <a:noFill/>
          <a:ln>
            <a:noFill/>
          </a:ln>
        </p:spPr>
        <p:txBody>
          <a:bodyPr anchor="b"/>
          <a:lstStyle/>
          <a:p>
            <a:pPr algn="r">
              <a:lnSpc>
                <a:spcPct val="100000"/>
              </a:lnSpc>
            </a:pPr>
            <a:fld id="{C8D8CB88-9757-41D4-A1BA-64EE1AAFAA4F}" type="slidenum">
              <a:rPr lang="es-ES" sz="1200" b="0" strike="noStrike" spc="-1">
                <a:solidFill>
                  <a:srgbClr val="000000"/>
                </a:solidFill>
                <a:latin typeface="+mn-lt"/>
                <a:ea typeface="+mn-ea"/>
              </a:rPr>
              <a:t>24</a:t>
            </a:fld>
            <a:endParaRPr lang="es-ES" sz="1200" b="0" strike="noStrike" spc="-1">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PlaceHolder 1"/>
          <p:cNvSpPr>
            <a:spLocks noGrp="1" noRot="1" noChangeAspect="1"/>
          </p:cNvSpPr>
          <p:nvPr>
            <p:ph type="sldImg"/>
          </p:nvPr>
        </p:nvSpPr>
        <p:spPr>
          <a:xfrm>
            <a:off x="685800" y="1143000"/>
            <a:ext cx="5486400" cy="3086100"/>
          </a:xfrm>
          <a:prstGeom prst="rect">
            <a:avLst/>
          </a:prstGeom>
        </p:spPr>
      </p:sp>
      <p:sp>
        <p:nvSpPr>
          <p:cNvPr id="1127"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28" name="TextShape 3"/>
          <p:cNvSpPr txBox="1"/>
          <p:nvPr/>
        </p:nvSpPr>
        <p:spPr>
          <a:xfrm>
            <a:off x="3884760" y="8685360"/>
            <a:ext cx="2971440" cy="458280"/>
          </a:xfrm>
          <a:prstGeom prst="rect">
            <a:avLst/>
          </a:prstGeom>
          <a:noFill/>
          <a:ln>
            <a:noFill/>
          </a:ln>
        </p:spPr>
        <p:txBody>
          <a:bodyPr anchor="b"/>
          <a:lstStyle/>
          <a:p>
            <a:pPr algn="r">
              <a:lnSpc>
                <a:spcPct val="100000"/>
              </a:lnSpc>
            </a:pPr>
            <a:fld id="{A5EE2E7C-9F0A-4747-A8D2-0EEAE2196A74}" type="slidenum">
              <a:rPr lang="es-ES" sz="1200" b="0" strike="noStrike" spc="-1">
                <a:solidFill>
                  <a:srgbClr val="000000"/>
                </a:solidFill>
                <a:latin typeface="+mn-lt"/>
                <a:ea typeface="+mn-ea"/>
              </a:rPr>
              <a:t>25</a:t>
            </a:fld>
            <a:endParaRPr lang="es-ES" sz="1200" b="0" strike="noStrike" spc="-1">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 name="PlaceHolder 1"/>
          <p:cNvSpPr>
            <a:spLocks noGrp="1" noRot="1" noChangeAspect="1"/>
          </p:cNvSpPr>
          <p:nvPr>
            <p:ph type="sldImg"/>
          </p:nvPr>
        </p:nvSpPr>
        <p:spPr>
          <a:xfrm>
            <a:off x="685800" y="1143000"/>
            <a:ext cx="5486400" cy="3086100"/>
          </a:xfrm>
          <a:prstGeom prst="rect">
            <a:avLst/>
          </a:prstGeom>
        </p:spPr>
      </p:sp>
      <p:sp>
        <p:nvSpPr>
          <p:cNvPr id="1130"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31" name="TextShape 3"/>
          <p:cNvSpPr txBox="1"/>
          <p:nvPr/>
        </p:nvSpPr>
        <p:spPr>
          <a:xfrm>
            <a:off x="3884760" y="8685360"/>
            <a:ext cx="2971440" cy="458280"/>
          </a:xfrm>
          <a:prstGeom prst="rect">
            <a:avLst/>
          </a:prstGeom>
          <a:noFill/>
          <a:ln>
            <a:noFill/>
          </a:ln>
        </p:spPr>
        <p:txBody>
          <a:bodyPr anchor="b"/>
          <a:lstStyle/>
          <a:p>
            <a:pPr algn="r">
              <a:lnSpc>
                <a:spcPct val="100000"/>
              </a:lnSpc>
            </a:pPr>
            <a:fld id="{49AC6509-A850-4DA3-9ED4-E1D5B25FE7B2}" type="slidenum">
              <a:rPr lang="es-ES" sz="1200" b="0" strike="noStrike" spc="-1">
                <a:solidFill>
                  <a:srgbClr val="000000"/>
                </a:solidFill>
                <a:latin typeface="+mn-lt"/>
                <a:ea typeface="+mn-ea"/>
              </a:rPr>
              <a:t>26</a:t>
            </a:fld>
            <a:endParaRPr lang="es-ES" sz="1200" b="0" strike="noStrike" spc="-1">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 name="PlaceHolder 1"/>
          <p:cNvSpPr>
            <a:spLocks noGrp="1" noRot="1" noChangeAspect="1"/>
          </p:cNvSpPr>
          <p:nvPr>
            <p:ph type="sldImg"/>
          </p:nvPr>
        </p:nvSpPr>
        <p:spPr>
          <a:xfrm>
            <a:off x="685800" y="1143000"/>
            <a:ext cx="5486400" cy="3086100"/>
          </a:xfrm>
          <a:prstGeom prst="rect">
            <a:avLst/>
          </a:prstGeom>
        </p:spPr>
      </p:sp>
      <p:sp>
        <p:nvSpPr>
          <p:cNvPr id="1133"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34" name="TextShape 3"/>
          <p:cNvSpPr txBox="1"/>
          <p:nvPr/>
        </p:nvSpPr>
        <p:spPr>
          <a:xfrm>
            <a:off x="3884760" y="8685360"/>
            <a:ext cx="2971440" cy="458280"/>
          </a:xfrm>
          <a:prstGeom prst="rect">
            <a:avLst/>
          </a:prstGeom>
          <a:noFill/>
          <a:ln>
            <a:noFill/>
          </a:ln>
        </p:spPr>
        <p:txBody>
          <a:bodyPr anchor="b"/>
          <a:lstStyle/>
          <a:p>
            <a:pPr algn="r">
              <a:lnSpc>
                <a:spcPct val="100000"/>
              </a:lnSpc>
            </a:pPr>
            <a:fld id="{B95091BB-FCD7-4E07-81D4-AC32C3BB2FDE}" type="slidenum">
              <a:rPr lang="es-ES" sz="1200" b="0" strike="noStrike" spc="-1">
                <a:solidFill>
                  <a:srgbClr val="000000"/>
                </a:solidFill>
                <a:latin typeface="+mn-lt"/>
                <a:ea typeface="+mn-ea"/>
              </a:rPr>
              <a:t>27</a:t>
            </a:fld>
            <a:endParaRPr lang="es-ES" sz="1200" b="0" strike="noStrike" spc="-1">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 name="PlaceHolder 1"/>
          <p:cNvSpPr>
            <a:spLocks noGrp="1" noRot="1" noChangeAspect="1"/>
          </p:cNvSpPr>
          <p:nvPr>
            <p:ph type="sldImg"/>
          </p:nvPr>
        </p:nvSpPr>
        <p:spPr>
          <a:xfrm>
            <a:off x="685800" y="1143000"/>
            <a:ext cx="5486400" cy="3086100"/>
          </a:xfrm>
          <a:prstGeom prst="rect">
            <a:avLst/>
          </a:prstGeom>
        </p:spPr>
      </p:sp>
      <p:sp>
        <p:nvSpPr>
          <p:cNvPr id="1136"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37" name="TextShape 3"/>
          <p:cNvSpPr txBox="1"/>
          <p:nvPr/>
        </p:nvSpPr>
        <p:spPr>
          <a:xfrm>
            <a:off x="3884760" y="8685360"/>
            <a:ext cx="2971440" cy="458280"/>
          </a:xfrm>
          <a:prstGeom prst="rect">
            <a:avLst/>
          </a:prstGeom>
          <a:noFill/>
          <a:ln>
            <a:noFill/>
          </a:ln>
        </p:spPr>
        <p:txBody>
          <a:bodyPr anchor="b"/>
          <a:lstStyle/>
          <a:p>
            <a:pPr algn="r">
              <a:lnSpc>
                <a:spcPct val="100000"/>
              </a:lnSpc>
            </a:pPr>
            <a:fld id="{6DD5DBC7-0B68-451B-9AE3-325447EFF95D}" type="slidenum">
              <a:rPr lang="es-ES" sz="1200" b="0" strike="noStrike" spc="-1">
                <a:solidFill>
                  <a:srgbClr val="000000"/>
                </a:solidFill>
                <a:latin typeface="+mn-lt"/>
                <a:ea typeface="+mn-ea"/>
              </a:rPr>
              <a:t>28</a:t>
            </a:fld>
            <a:endParaRPr lang="es-ES" sz="1200" b="0" strike="noStrike" spc="-1">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 name="PlaceHolder 1"/>
          <p:cNvSpPr>
            <a:spLocks noGrp="1" noRot="1" noChangeAspect="1"/>
          </p:cNvSpPr>
          <p:nvPr>
            <p:ph type="sldImg"/>
          </p:nvPr>
        </p:nvSpPr>
        <p:spPr>
          <a:xfrm>
            <a:off x="685800" y="1143000"/>
            <a:ext cx="5486400" cy="3086100"/>
          </a:xfrm>
          <a:prstGeom prst="rect">
            <a:avLst/>
          </a:prstGeom>
        </p:spPr>
      </p:sp>
      <p:sp>
        <p:nvSpPr>
          <p:cNvPr id="1139"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40" name="TextShape 3"/>
          <p:cNvSpPr txBox="1"/>
          <p:nvPr/>
        </p:nvSpPr>
        <p:spPr>
          <a:xfrm>
            <a:off x="3884760" y="8685360"/>
            <a:ext cx="2971440" cy="458280"/>
          </a:xfrm>
          <a:prstGeom prst="rect">
            <a:avLst/>
          </a:prstGeom>
          <a:noFill/>
          <a:ln>
            <a:noFill/>
          </a:ln>
        </p:spPr>
        <p:txBody>
          <a:bodyPr anchor="b"/>
          <a:lstStyle/>
          <a:p>
            <a:pPr algn="r">
              <a:lnSpc>
                <a:spcPct val="100000"/>
              </a:lnSpc>
            </a:pPr>
            <a:fld id="{6AF73986-EF6A-4293-9161-210261C36BC8}" type="slidenum">
              <a:rPr lang="es-ES" sz="1200" b="0" strike="noStrike" spc="-1">
                <a:solidFill>
                  <a:srgbClr val="000000"/>
                </a:solidFill>
                <a:latin typeface="+mn-lt"/>
                <a:ea typeface="+mn-ea"/>
              </a:rPr>
              <a:t>29</a:t>
            </a:fld>
            <a:endParaRPr lang="es-ES" sz="1200" b="0" strike="noStrike" spc="-1">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 name="PlaceHolder 1"/>
          <p:cNvSpPr>
            <a:spLocks noGrp="1" noRot="1" noChangeAspect="1"/>
          </p:cNvSpPr>
          <p:nvPr>
            <p:ph type="sldImg"/>
          </p:nvPr>
        </p:nvSpPr>
        <p:spPr>
          <a:xfrm>
            <a:off x="685800" y="1143000"/>
            <a:ext cx="5486400" cy="3086100"/>
          </a:xfrm>
          <a:prstGeom prst="rect">
            <a:avLst/>
          </a:prstGeom>
        </p:spPr>
      </p:sp>
      <p:sp>
        <p:nvSpPr>
          <p:cNvPr id="1142"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43" name="TextShape 3"/>
          <p:cNvSpPr txBox="1"/>
          <p:nvPr/>
        </p:nvSpPr>
        <p:spPr>
          <a:xfrm>
            <a:off x="3884760" y="8685360"/>
            <a:ext cx="2971440" cy="458280"/>
          </a:xfrm>
          <a:prstGeom prst="rect">
            <a:avLst/>
          </a:prstGeom>
          <a:noFill/>
          <a:ln>
            <a:noFill/>
          </a:ln>
        </p:spPr>
        <p:txBody>
          <a:bodyPr anchor="b"/>
          <a:lstStyle/>
          <a:p>
            <a:pPr algn="r">
              <a:lnSpc>
                <a:spcPct val="100000"/>
              </a:lnSpc>
            </a:pPr>
            <a:fld id="{B3B6412B-6D8B-4CB9-A51A-9CD6C92A1E91}" type="slidenum">
              <a:rPr lang="es-ES" sz="1200" b="0" strike="noStrike" spc="-1">
                <a:solidFill>
                  <a:srgbClr val="000000"/>
                </a:solidFill>
                <a:latin typeface="+mn-lt"/>
                <a:ea typeface="+mn-ea"/>
              </a:rPr>
              <a:t>30</a:t>
            </a:fld>
            <a:endParaRPr lang="es-ES" sz="1200" b="0" strike="noStrike" spc="-1">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 name="PlaceHolder 1"/>
          <p:cNvSpPr>
            <a:spLocks noGrp="1" noRot="1" noChangeAspect="1"/>
          </p:cNvSpPr>
          <p:nvPr>
            <p:ph type="sldImg"/>
          </p:nvPr>
        </p:nvSpPr>
        <p:spPr>
          <a:xfrm>
            <a:off x="685800" y="1143000"/>
            <a:ext cx="5486400" cy="3086100"/>
          </a:xfrm>
          <a:prstGeom prst="rect">
            <a:avLst/>
          </a:prstGeom>
        </p:spPr>
      </p:sp>
      <p:sp>
        <p:nvSpPr>
          <p:cNvPr id="1145"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46" name="TextShape 3"/>
          <p:cNvSpPr txBox="1"/>
          <p:nvPr/>
        </p:nvSpPr>
        <p:spPr>
          <a:xfrm>
            <a:off x="3884760" y="8685360"/>
            <a:ext cx="2971440" cy="458280"/>
          </a:xfrm>
          <a:prstGeom prst="rect">
            <a:avLst/>
          </a:prstGeom>
          <a:noFill/>
          <a:ln>
            <a:noFill/>
          </a:ln>
        </p:spPr>
        <p:txBody>
          <a:bodyPr anchor="b"/>
          <a:lstStyle/>
          <a:p>
            <a:pPr algn="r">
              <a:lnSpc>
                <a:spcPct val="100000"/>
              </a:lnSpc>
            </a:pPr>
            <a:fld id="{7588BB22-49AA-480E-AD6A-59CF39EEA9E5}" type="slidenum">
              <a:rPr lang="es-ES" sz="1200" b="0" strike="noStrike" spc="-1">
                <a:solidFill>
                  <a:srgbClr val="000000"/>
                </a:solidFill>
                <a:latin typeface="+mn-lt"/>
                <a:ea typeface="+mn-ea"/>
              </a:rPr>
              <a:t>31</a:t>
            </a:fld>
            <a:endParaRPr lang="es-ES" sz="1200" b="0" strike="noStrike" spc="-1">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685800" y="1143000"/>
            <a:ext cx="5486400" cy="3086100"/>
          </a:xfrm>
          <a:prstGeom prst="rect">
            <a:avLst/>
          </a:prstGeom>
        </p:spPr>
      </p:sp>
      <p:sp>
        <p:nvSpPr>
          <p:cNvPr id="1148"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49" name="TextShape 3"/>
          <p:cNvSpPr txBox="1"/>
          <p:nvPr/>
        </p:nvSpPr>
        <p:spPr>
          <a:xfrm>
            <a:off x="3884760" y="8685360"/>
            <a:ext cx="2971440" cy="458280"/>
          </a:xfrm>
          <a:prstGeom prst="rect">
            <a:avLst/>
          </a:prstGeom>
          <a:noFill/>
          <a:ln>
            <a:noFill/>
          </a:ln>
        </p:spPr>
        <p:txBody>
          <a:bodyPr anchor="b"/>
          <a:lstStyle/>
          <a:p>
            <a:pPr algn="r">
              <a:lnSpc>
                <a:spcPct val="100000"/>
              </a:lnSpc>
            </a:pPr>
            <a:fld id="{78AFBB5A-F479-4C19-B874-73D2A9A5D429}" type="slidenum">
              <a:rPr lang="es-ES" sz="1200" b="0" strike="noStrike" spc="-1">
                <a:solidFill>
                  <a:srgbClr val="000000"/>
                </a:solidFill>
                <a:latin typeface="+mn-lt"/>
                <a:ea typeface="+mn-ea"/>
              </a:rPr>
              <a:t>32</a:t>
            </a:fld>
            <a:endParaRPr lang="es-ES" sz="1200" b="0" strike="noStrike" spc="-1">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0" name="PlaceHolder 1"/>
          <p:cNvSpPr>
            <a:spLocks noGrp="1" noRot="1" noChangeAspect="1"/>
          </p:cNvSpPr>
          <p:nvPr>
            <p:ph type="sldImg"/>
          </p:nvPr>
        </p:nvSpPr>
        <p:spPr>
          <a:xfrm>
            <a:off x="685800" y="1143000"/>
            <a:ext cx="5486400" cy="3086100"/>
          </a:xfrm>
          <a:prstGeom prst="rect">
            <a:avLst/>
          </a:prstGeom>
        </p:spPr>
      </p:sp>
      <p:sp>
        <p:nvSpPr>
          <p:cNvPr id="1151"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2000" b="0" strike="noStrike" spc="-1">
                <a:latin typeface="Arial"/>
              </a:rPr>
              <a:t>Imagen: https://www.cs.miami.edu/home/visser/Courses/CSC322-09S/Content/UNIXProgramming/UNIXThreads.shtml</a:t>
            </a:r>
          </a:p>
        </p:txBody>
      </p:sp>
      <p:sp>
        <p:nvSpPr>
          <p:cNvPr id="1152" name="TextShape 3"/>
          <p:cNvSpPr txBox="1"/>
          <p:nvPr/>
        </p:nvSpPr>
        <p:spPr>
          <a:xfrm>
            <a:off x="3884760" y="8685360"/>
            <a:ext cx="2971440" cy="458280"/>
          </a:xfrm>
          <a:prstGeom prst="rect">
            <a:avLst/>
          </a:prstGeom>
          <a:noFill/>
          <a:ln>
            <a:noFill/>
          </a:ln>
        </p:spPr>
        <p:txBody>
          <a:bodyPr anchor="b"/>
          <a:lstStyle/>
          <a:p>
            <a:pPr algn="r">
              <a:lnSpc>
                <a:spcPct val="100000"/>
              </a:lnSpc>
            </a:pPr>
            <a:fld id="{F4834C54-3DC0-4B91-9EE4-A50A33A2F91F}" type="slidenum">
              <a:rPr lang="es-ES" sz="1200" b="0" strike="noStrike" spc="-1">
                <a:solidFill>
                  <a:srgbClr val="000000"/>
                </a:solidFill>
                <a:latin typeface="+mn-lt"/>
                <a:ea typeface="+mn-ea"/>
              </a:rPr>
              <a:t>33</a:t>
            </a:fld>
            <a:endParaRPr lang="es-ES" sz="1200" b="0" strike="noStrike" spc="-1">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3" name="PlaceHolder 1"/>
          <p:cNvSpPr>
            <a:spLocks noGrp="1" noRot="1" noChangeAspect="1"/>
          </p:cNvSpPr>
          <p:nvPr>
            <p:ph type="sldImg"/>
          </p:nvPr>
        </p:nvSpPr>
        <p:spPr>
          <a:xfrm>
            <a:off x="685800" y="1143000"/>
            <a:ext cx="5486400" cy="3086100"/>
          </a:xfrm>
          <a:prstGeom prst="rect">
            <a:avLst/>
          </a:prstGeom>
        </p:spPr>
      </p:sp>
      <p:sp>
        <p:nvSpPr>
          <p:cNvPr id="1154"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55" name="TextShape 3"/>
          <p:cNvSpPr txBox="1"/>
          <p:nvPr/>
        </p:nvSpPr>
        <p:spPr>
          <a:xfrm>
            <a:off x="3884760" y="8685360"/>
            <a:ext cx="2971440" cy="458280"/>
          </a:xfrm>
          <a:prstGeom prst="rect">
            <a:avLst/>
          </a:prstGeom>
          <a:noFill/>
          <a:ln>
            <a:noFill/>
          </a:ln>
        </p:spPr>
        <p:txBody>
          <a:bodyPr anchor="b"/>
          <a:lstStyle/>
          <a:p>
            <a:pPr algn="r">
              <a:lnSpc>
                <a:spcPct val="100000"/>
              </a:lnSpc>
            </a:pPr>
            <a:fld id="{6E3F3D19-B740-4FE4-8A52-B79C71FFAE27}" type="slidenum">
              <a:rPr lang="es-ES" sz="1200" b="0" strike="noStrike" spc="-1">
                <a:solidFill>
                  <a:srgbClr val="000000"/>
                </a:solidFill>
                <a:latin typeface="+mn-lt"/>
                <a:ea typeface="+mn-ea"/>
              </a:rPr>
              <a:t>34</a:t>
            </a:fld>
            <a:endParaRPr lang="es-ES" sz="1200" b="0" strike="noStrike" spc="-1">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6" name="PlaceHolder 1"/>
          <p:cNvSpPr>
            <a:spLocks noGrp="1" noRot="1" noChangeAspect="1"/>
          </p:cNvSpPr>
          <p:nvPr>
            <p:ph type="sldImg"/>
          </p:nvPr>
        </p:nvSpPr>
        <p:spPr>
          <a:xfrm>
            <a:off x="685800" y="1143000"/>
            <a:ext cx="5486400" cy="3086100"/>
          </a:xfrm>
          <a:prstGeom prst="rect">
            <a:avLst/>
          </a:prstGeom>
        </p:spPr>
      </p:sp>
      <p:sp>
        <p:nvSpPr>
          <p:cNvPr id="1157"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1000" b="0" strike="noStrike" spc="-1">
                <a:latin typeface="Arial"/>
              </a:rPr>
              <a:t>http://www.it.uu.se/education/course/homepage/os/vt18/images/module-4/process-with-three-threads.png</a:t>
            </a:r>
          </a:p>
        </p:txBody>
      </p:sp>
      <p:sp>
        <p:nvSpPr>
          <p:cNvPr id="1158" name="TextShape 3"/>
          <p:cNvSpPr txBox="1"/>
          <p:nvPr/>
        </p:nvSpPr>
        <p:spPr>
          <a:xfrm>
            <a:off x="3884760" y="8685360"/>
            <a:ext cx="2971440" cy="458280"/>
          </a:xfrm>
          <a:prstGeom prst="rect">
            <a:avLst/>
          </a:prstGeom>
          <a:noFill/>
          <a:ln>
            <a:noFill/>
          </a:ln>
        </p:spPr>
        <p:txBody>
          <a:bodyPr anchor="b"/>
          <a:lstStyle/>
          <a:p>
            <a:pPr algn="r">
              <a:lnSpc>
                <a:spcPct val="100000"/>
              </a:lnSpc>
            </a:pPr>
            <a:fld id="{8E4A407B-29F0-49C7-8E67-33CE8CAF75C4}" type="slidenum">
              <a:rPr lang="es-ES" sz="1200" b="0" strike="noStrike" spc="-1">
                <a:solidFill>
                  <a:srgbClr val="000000"/>
                </a:solidFill>
                <a:latin typeface="+mn-lt"/>
                <a:ea typeface="+mn-ea"/>
              </a:rPr>
              <a:t>35</a:t>
            </a:fld>
            <a:endParaRPr lang="es-ES" sz="1200" b="0" strike="noStrike" spc="-1">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9" name="PlaceHolder 1"/>
          <p:cNvSpPr>
            <a:spLocks noGrp="1" noRot="1" noChangeAspect="1"/>
          </p:cNvSpPr>
          <p:nvPr>
            <p:ph type="sldImg"/>
          </p:nvPr>
        </p:nvSpPr>
        <p:spPr>
          <a:xfrm>
            <a:off x="685800" y="1143000"/>
            <a:ext cx="5486400" cy="3086100"/>
          </a:xfrm>
          <a:prstGeom prst="rect">
            <a:avLst/>
          </a:prstGeom>
        </p:spPr>
      </p:sp>
      <p:sp>
        <p:nvSpPr>
          <p:cNvPr id="1160"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61" name="TextShape 3"/>
          <p:cNvSpPr txBox="1"/>
          <p:nvPr/>
        </p:nvSpPr>
        <p:spPr>
          <a:xfrm>
            <a:off x="3884760" y="8685360"/>
            <a:ext cx="2971440" cy="458280"/>
          </a:xfrm>
          <a:prstGeom prst="rect">
            <a:avLst/>
          </a:prstGeom>
          <a:noFill/>
          <a:ln>
            <a:noFill/>
          </a:ln>
        </p:spPr>
        <p:txBody>
          <a:bodyPr anchor="b"/>
          <a:lstStyle/>
          <a:p>
            <a:pPr algn="r">
              <a:lnSpc>
                <a:spcPct val="100000"/>
              </a:lnSpc>
            </a:pPr>
            <a:fld id="{8A8DF1CF-55FA-48EA-8308-25FD447FC76B}" type="slidenum">
              <a:rPr lang="es-ES" sz="1200" b="0" strike="noStrike" spc="-1">
                <a:solidFill>
                  <a:srgbClr val="000000"/>
                </a:solidFill>
                <a:latin typeface="+mn-lt"/>
                <a:ea typeface="+mn-ea"/>
              </a:rPr>
              <a:t>36</a:t>
            </a:fld>
            <a:endParaRPr lang="es-ES" sz="1200" b="0" strike="noStrike" spc="-1">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2" name="PlaceHolder 1"/>
          <p:cNvSpPr>
            <a:spLocks noGrp="1" noRot="1" noChangeAspect="1"/>
          </p:cNvSpPr>
          <p:nvPr>
            <p:ph type="sldImg"/>
          </p:nvPr>
        </p:nvSpPr>
        <p:spPr>
          <a:xfrm>
            <a:off x="685800" y="1143000"/>
            <a:ext cx="5486400" cy="3086100"/>
          </a:xfrm>
          <a:prstGeom prst="rect">
            <a:avLst/>
          </a:prstGeom>
        </p:spPr>
      </p:sp>
      <p:sp>
        <p:nvSpPr>
          <p:cNvPr id="1163"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64" name="TextShape 3"/>
          <p:cNvSpPr txBox="1"/>
          <p:nvPr/>
        </p:nvSpPr>
        <p:spPr>
          <a:xfrm>
            <a:off x="3884760" y="8685360"/>
            <a:ext cx="2971440" cy="458280"/>
          </a:xfrm>
          <a:prstGeom prst="rect">
            <a:avLst/>
          </a:prstGeom>
          <a:noFill/>
          <a:ln>
            <a:noFill/>
          </a:ln>
        </p:spPr>
        <p:txBody>
          <a:bodyPr anchor="b"/>
          <a:lstStyle/>
          <a:p>
            <a:pPr algn="r">
              <a:lnSpc>
                <a:spcPct val="100000"/>
              </a:lnSpc>
            </a:pPr>
            <a:fld id="{3AACE31C-008A-4AB2-88F8-D4512366FB78}" type="slidenum">
              <a:rPr lang="es-ES" sz="1200" b="0" strike="noStrike" spc="-1">
                <a:solidFill>
                  <a:srgbClr val="000000"/>
                </a:solidFill>
                <a:latin typeface="+mn-lt"/>
                <a:ea typeface="+mn-ea"/>
              </a:rPr>
              <a:t>37</a:t>
            </a:fld>
            <a:endParaRPr lang="es-ES" sz="1200" b="0" strike="noStrike" spc="-1">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5" name="PlaceHolder 1"/>
          <p:cNvSpPr>
            <a:spLocks noGrp="1" noRot="1" noChangeAspect="1"/>
          </p:cNvSpPr>
          <p:nvPr>
            <p:ph type="sldImg"/>
          </p:nvPr>
        </p:nvSpPr>
        <p:spPr>
          <a:xfrm>
            <a:off x="685800" y="1143000"/>
            <a:ext cx="5486400" cy="3086100"/>
          </a:xfrm>
          <a:prstGeom prst="rect">
            <a:avLst/>
          </a:prstGeom>
        </p:spPr>
      </p:sp>
      <p:sp>
        <p:nvSpPr>
          <p:cNvPr id="1166"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67" name="TextShape 3"/>
          <p:cNvSpPr txBox="1"/>
          <p:nvPr/>
        </p:nvSpPr>
        <p:spPr>
          <a:xfrm>
            <a:off x="3884760" y="8685360"/>
            <a:ext cx="2971440" cy="458280"/>
          </a:xfrm>
          <a:prstGeom prst="rect">
            <a:avLst/>
          </a:prstGeom>
          <a:noFill/>
          <a:ln>
            <a:noFill/>
          </a:ln>
        </p:spPr>
        <p:txBody>
          <a:bodyPr anchor="b"/>
          <a:lstStyle/>
          <a:p>
            <a:pPr algn="r">
              <a:lnSpc>
                <a:spcPct val="100000"/>
              </a:lnSpc>
            </a:pPr>
            <a:fld id="{3BF49D88-1C94-467D-B4E0-0A5BAC648C5E}" type="slidenum">
              <a:rPr lang="es-ES" sz="1200" b="0" strike="noStrike" spc="-1">
                <a:solidFill>
                  <a:srgbClr val="000000"/>
                </a:solidFill>
                <a:latin typeface="+mn-lt"/>
                <a:ea typeface="+mn-ea"/>
              </a:rPr>
              <a:t>38</a:t>
            </a:fld>
            <a:endParaRPr lang="es-ES" sz="1200" b="0" strike="noStrike" spc="-1">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 name="PlaceHolder 1"/>
          <p:cNvSpPr>
            <a:spLocks noGrp="1" noRot="1" noChangeAspect="1"/>
          </p:cNvSpPr>
          <p:nvPr>
            <p:ph type="sldImg"/>
          </p:nvPr>
        </p:nvSpPr>
        <p:spPr>
          <a:xfrm>
            <a:off x="685800" y="1143000"/>
            <a:ext cx="5486400" cy="3086100"/>
          </a:xfrm>
          <a:prstGeom prst="rect">
            <a:avLst/>
          </a:prstGeom>
        </p:spPr>
      </p:sp>
      <p:sp>
        <p:nvSpPr>
          <p:cNvPr id="1169"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70" name="TextShape 3"/>
          <p:cNvSpPr txBox="1"/>
          <p:nvPr/>
        </p:nvSpPr>
        <p:spPr>
          <a:xfrm>
            <a:off x="3884760" y="8685360"/>
            <a:ext cx="2971440" cy="458280"/>
          </a:xfrm>
          <a:prstGeom prst="rect">
            <a:avLst/>
          </a:prstGeom>
          <a:noFill/>
          <a:ln>
            <a:noFill/>
          </a:ln>
        </p:spPr>
        <p:txBody>
          <a:bodyPr anchor="b"/>
          <a:lstStyle/>
          <a:p>
            <a:pPr algn="r">
              <a:lnSpc>
                <a:spcPct val="100000"/>
              </a:lnSpc>
            </a:pPr>
            <a:fld id="{11044F2F-0E92-430A-8BE0-EFF176F51BA1}" type="slidenum">
              <a:rPr lang="es-ES" sz="1200" b="0" strike="noStrike" spc="-1">
                <a:solidFill>
                  <a:srgbClr val="000000"/>
                </a:solidFill>
                <a:latin typeface="+mn-lt"/>
                <a:ea typeface="+mn-ea"/>
              </a:rPr>
              <a:t>39</a:t>
            </a:fld>
            <a:endParaRPr lang="es-ES" sz="1200" b="0" strike="noStrike" spc="-1">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1" name="PlaceHolder 1"/>
          <p:cNvSpPr>
            <a:spLocks noGrp="1" noRot="1" noChangeAspect="1"/>
          </p:cNvSpPr>
          <p:nvPr>
            <p:ph type="sldImg"/>
          </p:nvPr>
        </p:nvSpPr>
        <p:spPr>
          <a:xfrm>
            <a:off x="685800" y="1143000"/>
            <a:ext cx="5486400" cy="3086100"/>
          </a:xfrm>
          <a:prstGeom prst="rect">
            <a:avLst/>
          </a:prstGeom>
        </p:spPr>
      </p:sp>
      <p:sp>
        <p:nvSpPr>
          <p:cNvPr id="1172"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73" name="TextShape 3"/>
          <p:cNvSpPr txBox="1"/>
          <p:nvPr/>
        </p:nvSpPr>
        <p:spPr>
          <a:xfrm>
            <a:off x="3884760" y="8685360"/>
            <a:ext cx="2971440" cy="458280"/>
          </a:xfrm>
          <a:prstGeom prst="rect">
            <a:avLst/>
          </a:prstGeom>
          <a:noFill/>
          <a:ln>
            <a:noFill/>
          </a:ln>
        </p:spPr>
        <p:txBody>
          <a:bodyPr anchor="b"/>
          <a:lstStyle/>
          <a:p>
            <a:pPr algn="r">
              <a:lnSpc>
                <a:spcPct val="100000"/>
              </a:lnSpc>
            </a:pPr>
            <a:fld id="{D6E3462D-A6B0-4D6C-8344-4189C3A564F1}" type="slidenum">
              <a:rPr lang="es-ES" sz="1200" b="0" strike="noStrike" spc="-1">
                <a:solidFill>
                  <a:srgbClr val="000000"/>
                </a:solidFill>
                <a:latin typeface="+mn-lt"/>
                <a:ea typeface="+mn-ea"/>
              </a:rPr>
              <a:t>40</a:t>
            </a:fld>
            <a:endParaRPr lang="es-ES" sz="1200" b="0" strike="noStrike" spc="-1">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 name="PlaceHolder 1"/>
          <p:cNvSpPr>
            <a:spLocks noGrp="1" noRot="1" noChangeAspect="1"/>
          </p:cNvSpPr>
          <p:nvPr>
            <p:ph type="sldImg"/>
          </p:nvPr>
        </p:nvSpPr>
        <p:spPr>
          <a:xfrm>
            <a:off x="685800" y="1143000"/>
            <a:ext cx="5486400" cy="3086100"/>
          </a:xfrm>
          <a:prstGeom prst="rect">
            <a:avLst/>
          </a:prstGeom>
        </p:spPr>
      </p:sp>
      <p:sp>
        <p:nvSpPr>
          <p:cNvPr id="1175"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76" name="TextShape 3"/>
          <p:cNvSpPr txBox="1"/>
          <p:nvPr/>
        </p:nvSpPr>
        <p:spPr>
          <a:xfrm>
            <a:off x="3884760" y="8685360"/>
            <a:ext cx="2971440" cy="458280"/>
          </a:xfrm>
          <a:prstGeom prst="rect">
            <a:avLst/>
          </a:prstGeom>
          <a:noFill/>
          <a:ln>
            <a:noFill/>
          </a:ln>
        </p:spPr>
        <p:txBody>
          <a:bodyPr anchor="b"/>
          <a:lstStyle/>
          <a:p>
            <a:pPr algn="r">
              <a:lnSpc>
                <a:spcPct val="100000"/>
              </a:lnSpc>
            </a:pPr>
            <a:fld id="{B63C76CC-0666-400B-B607-8C83416D436A}" type="slidenum">
              <a:rPr lang="es-ES" sz="1200" b="0" strike="noStrike" spc="-1">
                <a:solidFill>
                  <a:srgbClr val="000000"/>
                </a:solidFill>
                <a:latin typeface="+mn-lt"/>
                <a:ea typeface="+mn-ea"/>
              </a:rPr>
              <a:t>41</a:t>
            </a:fld>
            <a:endParaRPr lang="es-ES" sz="1200" b="0" strike="noStrike" spc="-1">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 name="PlaceHolder 1"/>
          <p:cNvSpPr>
            <a:spLocks noGrp="1" noRot="1" noChangeAspect="1"/>
          </p:cNvSpPr>
          <p:nvPr>
            <p:ph type="sldImg"/>
          </p:nvPr>
        </p:nvSpPr>
        <p:spPr>
          <a:xfrm>
            <a:off x="685800" y="1143000"/>
            <a:ext cx="5486400" cy="3086100"/>
          </a:xfrm>
          <a:prstGeom prst="rect">
            <a:avLst/>
          </a:prstGeom>
        </p:spPr>
      </p:sp>
      <p:sp>
        <p:nvSpPr>
          <p:cNvPr id="1178"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2000" b="0" strike="noStrike" spc="-1">
                <a:latin typeface="Arial"/>
              </a:rPr>
              <a:t>Imagen: https://www.pexels.com/photo/woman-leaning-on-her-table-4064171/</a:t>
            </a:r>
          </a:p>
        </p:txBody>
      </p:sp>
      <p:sp>
        <p:nvSpPr>
          <p:cNvPr id="1179" name="TextShape 3"/>
          <p:cNvSpPr txBox="1"/>
          <p:nvPr/>
        </p:nvSpPr>
        <p:spPr>
          <a:xfrm>
            <a:off x="3884760" y="8685360"/>
            <a:ext cx="2971440" cy="458280"/>
          </a:xfrm>
          <a:prstGeom prst="rect">
            <a:avLst/>
          </a:prstGeom>
          <a:noFill/>
          <a:ln>
            <a:noFill/>
          </a:ln>
        </p:spPr>
        <p:txBody>
          <a:bodyPr anchor="b"/>
          <a:lstStyle/>
          <a:p>
            <a:pPr algn="r">
              <a:lnSpc>
                <a:spcPct val="100000"/>
              </a:lnSpc>
            </a:pPr>
            <a:fld id="{331DEB4B-C098-46EE-B592-802F1662FC14}" type="slidenum">
              <a:rPr lang="es-ES" sz="1200" b="0" strike="noStrike" spc="-1">
                <a:solidFill>
                  <a:srgbClr val="000000"/>
                </a:solidFill>
                <a:latin typeface="+mn-lt"/>
                <a:ea typeface="+mn-ea"/>
              </a:rPr>
              <a:t>42</a:t>
            </a:fld>
            <a:endParaRPr lang="es-ES" sz="1200" b="0" strike="noStrike" spc="-1">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0" name="PlaceHolder 1"/>
          <p:cNvSpPr>
            <a:spLocks noGrp="1" noRot="1" noChangeAspect="1"/>
          </p:cNvSpPr>
          <p:nvPr>
            <p:ph type="sldImg"/>
          </p:nvPr>
        </p:nvSpPr>
        <p:spPr>
          <a:xfrm>
            <a:off x="685800" y="1143000"/>
            <a:ext cx="5486400" cy="3086100"/>
          </a:xfrm>
          <a:prstGeom prst="rect">
            <a:avLst/>
          </a:prstGeom>
        </p:spPr>
      </p:sp>
      <p:sp>
        <p:nvSpPr>
          <p:cNvPr id="1181"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82" name="TextShape 3"/>
          <p:cNvSpPr txBox="1"/>
          <p:nvPr/>
        </p:nvSpPr>
        <p:spPr>
          <a:xfrm>
            <a:off x="3884760" y="8685360"/>
            <a:ext cx="2971440" cy="458280"/>
          </a:xfrm>
          <a:prstGeom prst="rect">
            <a:avLst/>
          </a:prstGeom>
          <a:noFill/>
          <a:ln>
            <a:noFill/>
          </a:ln>
        </p:spPr>
        <p:txBody>
          <a:bodyPr anchor="b"/>
          <a:lstStyle/>
          <a:p>
            <a:pPr algn="r">
              <a:lnSpc>
                <a:spcPct val="100000"/>
              </a:lnSpc>
            </a:pPr>
            <a:fld id="{670EF42B-D2AC-4BB4-9277-BC058BB555ED}" type="slidenum">
              <a:rPr lang="es-ES" sz="1200" b="0" strike="noStrike" spc="-1">
                <a:latin typeface="Times New Roman"/>
              </a:rPr>
              <a:t>43</a:t>
            </a:fld>
            <a:endParaRPr lang="es-ES" sz="1200" b="0" strike="noStrike" spc="-1">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0" name="PlaceHolder 1"/>
          <p:cNvSpPr>
            <a:spLocks noGrp="1" noRot="1" noChangeAspect="1"/>
          </p:cNvSpPr>
          <p:nvPr>
            <p:ph type="sldImg"/>
          </p:nvPr>
        </p:nvSpPr>
        <p:spPr>
          <a:xfrm>
            <a:off x="685800" y="1143000"/>
            <a:ext cx="5486400" cy="3086100"/>
          </a:xfrm>
          <a:prstGeom prst="rect">
            <a:avLst/>
          </a:prstGeom>
        </p:spPr>
      </p:sp>
      <p:sp>
        <p:nvSpPr>
          <p:cNvPr id="1181"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82" name="TextShape 3"/>
          <p:cNvSpPr txBox="1"/>
          <p:nvPr/>
        </p:nvSpPr>
        <p:spPr>
          <a:xfrm>
            <a:off x="3884760" y="8685360"/>
            <a:ext cx="2971440" cy="458280"/>
          </a:xfrm>
          <a:prstGeom prst="rect">
            <a:avLst/>
          </a:prstGeom>
          <a:noFill/>
          <a:ln>
            <a:noFill/>
          </a:ln>
        </p:spPr>
        <p:txBody>
          <a:bodyPr anchor="b"/>
          <a:lstStyle/>
          <a:p>
            <a:pPr algn="r">
              <a:lnSpc>
                <a:spcPct val="100000"/>
              </a:lnSpc>
            </a:pPr>
            <a:fld id="{670EF42B-D2AC-4BB4-9277-BC058BB555ED}" type="slidenum">
              <a:rPr lang="es-ES" sz="1200" b="0" strike="noStrike" spc="-1">
                <a:latin typeface="Times New Roman"/>
              </a:rPr>
              <a:t>44</a:t>
            </a:fld>
            <a:endParaRPr lang="es-ES" sz="1200" b="0" strike="noStrike" spc="-1">
              <a:latin typeface="Times New Roman"/>
            </a:endParaRPr>
          </a:p>
        </p:txBody>
      </p:sp>
    </p:spTree>
    <p:extLst>
      <p:ext uri="{BB962C8B-B14F-4D97-AF65-F5344CB8AC3E}">
        <p14:creationId xmlns:p14="http://schemas.microsoft.com/office/powerpoint/2010/main" val="17743051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3" name="PlaceHolder 1"/>
          <p:cNvSpPr>
            <a:spLocks noGrp="1" noRot="1" noChangeAspect="1"/>
          </p:cNvSpPr>
          <p:nvPr>
            <p:ph type="sldImg"/>
          </p:nvPr>
        </p:nvSpPr>
        <p:spPr>
          <a:xfrm>
            <a:off x="685800" y="1143000"/>
            <a:ext cx="5486400" cy="3086100"/>
          </a:xfrm>
          <a:prstGeom prst="rect">
            <a:avLst/>
          </a:prstGeom>
        </p:spPr>
      </p:sp>
      <p:sp>
        <p:nvSpPr>
          <p:cNvPr id="1184"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2000" b="0" strike="noStrike" spc="-1">
                <a:latin typeface="Arial"/>
              </a:rPr>
              <a:t>https://commons.wikimedia.org/wiki/File:Wooden_rollercoaster_at_Happy_Valley_Shanghai.jpg</a:t>
            </a:r>
          </a:p>
        </p:txBody>
      </p:sp>
      <p:sp>
        <p:nvSpPr>
          <p:cNvPr id="1185" name="TextShape 3"/>
          <p:cNvSpPr txBox="1"/>
          <p:nvPr/>
        </p:nvSpPr>
        <p:spPr>
          <a:xfrm>
            <a:off x="3884760" y="8685360"/>
            <a:ext cx="2971440" cy="458280"/>
          </a:xfrm>
          <a:prstGeom prst="rect">
            <a:avLst/>
          </a:prstGeom>
          <a:noFill/>
          <a:ln>
            <a:noFill/>
          </a:ln>
        </p:spPr>
        <p:txBody>
          <a:bodyPr anchor="b"/>
          <a:lstStyle/>
          <a:p>
            <a:pPr algn="r">
              <a:lnSpc>
                <a:spcPct val="100000"/>
              </a:lnSpc>
            </a:pPr>
            <a:fld id="{CA23DDA4-07BF-4500-BFC5-E7E5F185F4CF}" type="slidenum">
              <a:rPr lang="es-ES" sz="1200" b="0" strike="noStrike" spc="-1">
                <a:solidFill>
                  <a:srgbClr val="000000"/>
                </a:solidFill>
                <a:latin typeface="+mn-lt"/>
                <a:ea typeface="+mn-ea"/>
              </a:rPr>
              <a:t>45</a:t>
            </a:fld>
            <a:endParaRPr lang="es-ES" sz="1200" b="0" strike="noStrike" spc="-1">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6" name="PlaceHolder 1"/>
          <p:cNvSpPr>
            <a:spLocks noGrp="1" noRot="1" noChangeAspect="1"/>
          </p:cNvSpPr>
          <p:nvPr>
            <p:ph type="sldImg"/>
          </p:nvPr>
        </p:nvSpPr>
        <p:spPr>
          <a:xfrm>
            <a:off x="685800" y="1143000"/>
            <a:ext cx="5486400" cy="3086100"/>
          </a:xfrm>
          <a:prstGeom prst="rect">
            <a:avLst/>
          </a:prstGeom>
        </p:spPr>
      </p:sp>
      <p:sp>
        <p:nvSpPr>
          <p:cNvPr id="1187"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88" name="TextShape 3"/>
          <p:cNvSpPr txBox="1"/>
          <p:nvPr/>
        </p:nvSpPr>
        <p:spPr>
          <a:xfrm>
            <a:off x="3884760" y="8685360"/>
            <a:ext cx="2971440" cy="458280"/>
          </a:xfrm>
          <a:prstGeom prst="rect">
            <a:avLst/>
          </a:prstGeom>
          <a:noFill/>
          <a:ln>
            <a:noFill/>
          </a:ln>
        </p:spPr>
        <p:txBody>
          <a:bodyPr anchor="b"/>
          <a:lstStyle/>
          <a:p>
            <a:pPr algn="r">
              <a:lnSpc>
                <a:spcPct val="100000"/>
              </a:lnSpc>
            </a:pPr>
            <a:fld id="{1EB92606-4823-41F2-9802-5EDE341C1373}" type="slidenum">
              <a:rPr lang="es-ES" sz="1200" b="0" strike="noStrike" spc="-1">
                <a:latin typeface="Times New Roman"/>
              </a:rPr>
              <a:t>46</a:t>
            </a:fld>
            <a:endParaRPr lang="es-ES" sz="1200" b="0" strike="noStrike" spc="-1">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0" name="PlaceHolder 1"/>
          <p:cNvSpPr>
            <a:spLocks noGrp="1" noRot="1" noChangeAspect="1"/>
          </p:cNvSpPr>
          <p:nvPr>
            <p:ph type="sldImg"/>
          </p:nvPr>
        </p:nvSpPr>
        <p:spPr>
          <a:xfrm>
            <a:off x="685800" y="1143000"/>
            <a:ext cx="5486400" cy="3086100"/>
          </a:xfrm>
          <a:prstGeom prst="rect">
            <a:avLst/>
          </a:prstGeom>
        </p:spPr>
      </p:sp>
      <p:sp>
        <p:nvSpPr>
          <p:cNvPr id="1181"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82" name="TextShape 3"/>
          <p:cNvSpPr txBox="1"/>
          <p:nvPr/>
        </p:nvSpPr>
        <p:spPr>
          <a:xfrm>
            <a:off x="3884760" y="8685360"/>
            <a:ext cx="2971440" cy="458280"/>
          </a:xfrm>
          <a:prstGeom prst="rect">
            <a:avLst/>
          </a:prstGeom>
          <a:noFill/>
          <a:ln>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670EF42B-D2AC-4BB4-9277-BC058BB555ED}" type="slidenum">
              <a:rPr kumimoji="0" lang="es-ES" sz="1200" b="0" i="0" u="none" strike="noStrike" kern="1200" cap="none" spc="-1" normalizeH="0" baseline="0" noProof="0">
                <a:ln>
                  <a:noFill/>
                </a:ln>
                <a:solidFill>
                  <a:prstClr val="black"/>
                </a:solidFill>
                <a:effectLst/>
                <a:uLnTx/>
                <a:uFillTx/>
                <a:latin typeface="Times New Roman"/>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s-ES" sz="1200" b="0" i="0" u="none" strike="noStrike" kern="1200" cap="none" spc="-1" normalizeH="0" baseline="0" noProof="0">
              <a:ln>
                <a:noFill/>
              </a:ln>
              <a:solidFill>
                <a:prstClr val="black"/>
              </a:solidFill>
              <a:effectLst/>
              <a:uLnTx/>
              <a:uFillTx/>
              <a:latin typeface="Times New Roman"/>
            </a:endParaRPr>
          </a:p>
        </p:txBody>
      </p:sp>
    </p:spTree>
    <p:extLst>
      <p:ext uri="{BB962C8B-B14F-4D97-AF65-F5344CB8AC3E}">
        <p14:creationId xmlns:p14="http://schemas.microsoft.com/office/powerpoint/2010/main" val="28628388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 name="PlaceHolder 1"/>
          <p:cNvSpPr>
            <a:spLocks noGrp="1" noRot="1" noChangeAspect="1"/>
          </p:cNvSpPr>
          <p:nvPr>
            <p:ph type="sldImg"/>
          </p:nvPr>
        </p:nvSpPr>
        <p:spPr>
          <a:xfrm>
            <a:off x="685800" y="1143000"/>
            <a:ext cx="5486400" cy="3086100"/>
          </a:xfrm>
          <a:prstGeom prst="rect">
            <a:avLst/>
          </a:prstGeom>
        </p:spPr>
      </p:sp>
      <p:sp>
        <p:nvSpPr>
          <p:cNvPr id="1190"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91" name="TextShape 3"/>
          <p:cNvSpPr txBox="1"/>
          <p:nvPr/>
        </p:nvSpPr>
        <p:spPr>
          <a:xfrm>
            <a:off x="3884760" y="8685360"/>
            <a:ext cx="2971440" cy="458280"/>
          </a:xfrm>
          <a:prstGeom prst="rect">
            <a:avLst/>
          </a:prstGeom>
          <a:noFill/>
          <a:ln>
            <a:noFill/>
          </a:ln>
        </p:spPr>
        <p:txBody>
          <a:bodyPr anchor="b"/>
          <a:lstStyle/>
          <a:p>
            <a:pPr algn="r">
              <a:lnSpc>
                <a:spcPct val="100000"/>
              </a:lnSpc>
            </a:pPr>
            <a:fld id="{286A3F4E-ADDB-4106-AFEB-EFCE3CFA29A5}" type="slidenum">
              <a:rPr lang="es-ES" sz="1200" b="0" strike="noStrike" spc="-1">
                <a:solidFill>
                  <a:srgbClr val="000000"/>
                </a:solidFill>
                <a:latin typeface="+mn-lt"/>
                <a:ea typeface="+mn-ea"/>
              </a:rPr>
              <a:t>48</a:t>
            </a:fld>
            <a:endParaRPr lang="es-ES" sz="1200" b="0" strike="noStrike" spc="-1">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2" name="PlaceHolder 1"/>
          <p:cNvSpPr>
            <a:spLocks noGrp="1" noRot="1" noChangeAspect="1"/>
          </p:cNvSpPr>
          <p:nvPr>
            <p:ph type="sldImg"/>
          </p:nvPr>
        </p:nvSpPr>
        <p:spPr>
          <a:xfrm>
            <a:off x="685800" y="1143000"/>
            <a:ext cx="5486400" cy="3086100"/>
          </a:xfrm>
          <a:prstGeom prst="rect">
            <a:avLst/>
          </a:prstGeom>
        </p:spPr>
      </p:sp>
      <p:sp>
        <p:nvSpPr>
          <p:cNvPr id="1193"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94" name="TextShape 3"/>
          <p:cNvSpPr txBox="1"/>
          <p:nvPr/>
        </p:nvSpPr>
        <p:spPr>
          <a:xfrm>
            <a:off x="3884760" y="8685360"/>
            <a:ext cx="2971440" cy="458280"/>
          </a:xfrm>
          <a:prstGeom prst="rect">
            <a:avLst/>
          </a:prstGeom>
          <a:noFill/>
          <a:ln>
            <a:noFill/>
          </a:ln>
        </p:spPr>
        <p:txBody>
          <a:bodyPr anchor="b"/>
          <a:lstStyle/>
          <a:p>
            <a:pPr algn="r">
              <a:lnSpc>
                <a:spcPct val="100000"/>
              </a:lnSpc>
            </a:pPr>
            <a:fld id="{4A525C03-DBD3-4D92-96EB-2ED63D838479}" type="slidenum">
              <a:rPr lang="es-ES" sz="1200" b="0" strike="noStrike" spc="-1">
                <a:solidFill>
                  <a:srgbClr val="000000"/>
                </a:solidFill>
                <a:latin typeface="+mn-lt"/>
                <a:ea typeface="+mn-ea"/>
              </a:rPr>
              <a:t>49</a:t>
            </a:fld>
            <a:endParaRPr lang="es-ES" sz="1200" b="0" strike="noStrike" spc="-1">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5" name="PlaceHolder 1"/>
          <p:cNvSpPr>
            <a:spLocks noGrp="1" noRot="1" noChangeAspect="1"/>
          </p:cNvSpPr>
          <p:nvPr>
            <p:ph type="sldImg"/>
          </p:nvPr>
        </p:nvSpPr>
        <p:spPr>
          <a:xfrm>
            <a:off x="685800" y="1143000"/>
            <a:ext cx="5486400" cy="3086100"/>
          </a:xfrm>
          <a:prstGeom prst="rect">
            <a:avLst/>
          </a:prstGeom>
        </p:spPr>
      </p:sp>
      <p:sp>
        <p:nvSpPr>
          <p:cNvPr id="1196"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197" name="TextShape 3"/>
          <p:cNvSpPr txBox="1"/>
          <p:nvPr/>
        </p:nvSpPr>
        <p:spPr>
          <a:xfrm>
            <a:off x="3884760" y="8685360"/>
            <a:ext cx="2971440" cy="458280"/>
          </a:xfrm>
          <a:prstGeom prst="rect">
            <a:avLst/>
          </a:prstGeom>
          <a:noFill/>
          <a:ln>
            <a:noFill/>
          </a:ln>
        </p:spPr>
        <p:txBody>
          <a:bodyPr anchor="b"/>
          <a:lstStyle/>
          <a:p>
            <a:pPr algn="r">
              <a:lnSpc>
                <a:spcPct val="100000"/>
              </a:lnSpc>
            </a:pPr>
            <a:fld id="{B5CC88AE-5277-4DEF-A818-7EE6E19E02B2}" type="slidenum">
              <a:rPr lang="es-ES" sz="1200" b="0" strike="noStrike" spc="-1">
                <a:latin typeface="Times New Roman"/>
              </a:rPr>
              <a:t>50</a:t>
            </a:fld>
            <a:endParaRPr lang="es-ES" sz="1200" b="0" strike="noStrike" spc="-1">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 name="PlaceHolder 1"/>
          <p:cNvSpPr>
            <a:spLocks noGrp="1" noRot="1" noChangeAspect="1"/>
          </p:cNvSpPr>
          <p:nvPr>
            <p:ph type="sldImg"/>
          </p:nvPr>
        </p:nvSpPr>
        <p:spPr>
          <a:xfrm>
            <a:off x="685800" y="1143000"/>
            <a:ext cx="5486400" cy="3086100"/>
          </a:xfrm>
          <a:prstGeom prst="rect">
            <a:avLst/>
          </a:prstGeom>
        </p:spPr>
      </p:sp>
      <p:sp>
        <p:nvSpPr>
          <p:cNvPr id="1199"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2000" b="0" strike="noStrike" spc="-1">
                <a:latin typeface="Arial"/>
              </a:rPr>
              <a:t>Imagen: https://upload.wikimedia.org/wikipedia/commons/6/65/Simplified_Structure_of_the_Linux_Kernel.svg</a:t>
            </a:r>
          </a:p>
        </p:txBody>
      </p:sp>
      <p:sp>
        <p:nvSpPr>
          <p:cNvPr id="1200" name="TextShape 3"/>
          <p:cNvSpPr txBox="1"/>
          <p:nvPr/>
        </p:nvSpPr>
        <p:spPr>
          <a:xfrm>
            <a:off x="3884760" y="8685360"/>
            <a:ext cx="2971440" cy="458280"/>
          </a:xfrm>
          <a:prstGeom prst="rect">
            <a:avLst/>
          </a:prstGeom>
          <a:noFill/>
          <a:ln>
            <a:noFill/>
          </a:ln>
        </p:spPr>
        <p:txBody>
          <a:bodyPr anchor="b"/>
          <a:lstStyle/>
          <a:p>
            <a:pPr algn="r">
              <a:lnSpc>
                <a:spcPct val="100000"/>
              </a:lnSpc>
            </a:pPr>
            <a:fld id="{32286F1A-53EA-415B-A63A-420D65CDA06B}" type="slidenum">
              <a:rPr lang="es-ES" sz="1200" b="0" strike="noStrike" spc="-1">
                <a:solidFill>
                  <a:srgbClr val="000000"/>
                </a:solidFill>
                <a:latin typeface="+mn-lt"/>
                <a:ea typeface="+mn-ea"/>
              </a:rPr>
              <a:t>51</a:t>
            </a:fld>
            <a:endParaRPr lang="es-ES" sz="1200" b="0" strike="noStrike" spc="-1">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 name="PlaceHolder 1"/>
          <p:cNvSpPr>
            <a:spLocks noGrp="1" noRot="1" noChangeAspect="1"/>
          </p:cNvSpPr>
          <p:nvPr>
            <p:ph type="sldImg"/>
          </p:nvPr>
        </p:nvSpPr>
        <p:spPr>
          <a:xfrm>
            <a:off x="685800" y="1143000"/>
            <a:ext cx="5486400" cy="3086100"/>
          </a:xfrm>
          <a:prstGeom prst="rect">
            <a:avLst/>
          </a:prstGeom>
        </p:spPr>
      </p:sp>
      <p:sp>
        <p:nvSpPr>
          <p:cNvPr id="1202"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203" name="TextShape 3"/>
          <p:cNvSpPr txBox="1"/>
          <p:nvPr/>
        </p:nvSpPr>
        <p:spPr>
          <a:xfrm>
            <a:off x="3884760" y="8685360"/>
            <a:ext cx="2971440" cy="458280"/>
          </a:xfrm>
          <a:prstGeom prst="rect">
            <a:avLst/>
          </a:prstGeom>
          <a:noFill/>
          <a:ln>
            <a:noFill/>
          </a:ln>
        </p:spPr>
        <p:txBody>
          <a:bodyPr anchor="b"/>
          <a:lstStyle/>
          <a:p>
            <a:pPr algn="r">
              <a:lnSpc>
                <a:spcPct val="100000"/>
              </a:lnSpc>
            </a:pPr>
            <a:fld id="{130F3276-E797-460B-9E56-2C6D80ED31A9}" type="slidenum">
              <a:rPr lang="es-ES" sz="1200" b="0" strike="noStrike" spc="-1">
                <a:solidFill>
                  <a:srgbClr val="000000"/>
                </a:solidFill>
                <a:latin typeface="+mn-lt"/>
                <a:ea typeface="+mn-ea"/>
              </a:rPr>
              <a:t>52</a:t>
            </a:fld>
            <a:endParaRPr lang="es-ES" sz="1200" b="0" strike="noStrike" spc="-1">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4" name="PlaceHolder 1"/>
          <p:cNvSpPr>
            <a:spLocks noGrp="1" noRot="1" noChangeAspect="1"/>
          </p:cNvSpPr>
          <p:nvPr>
            <p:ph type="sldImg"/>
          </p:nvPr>
        </p:nvSpPr>
        <p:spPr>
          <a:xfrm>
            <a:off x="685800" y="1143000"/>
            <a:ext cx="5486400" cy="3086100"/>
          </a:xfrm>
          <a:prstGeom prst="rect">
            <a:avLst/>
          </a:prstGeom>
        </p:spPr>
      </p:sp>
      <p:sp>
        <p:nvSpPr>
          <p:cNvPr id="1205"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206" name="TextShape 3"/>
          <p:cNvSpPr txBox="1"/>
          <p:nvPr/>
        </p:nvSpPr>
        <p:spPr>
          <a:xfrm>
            <a:off x="3884760" y="8685360"/>
            <a:ext cx="2971440" cy="458280"/>
          </a:xfrm>
          <a:prstGeom prst="rect">
            <a:avLst/>
          </a:prstGeom>
          <a:noFill/>
          <a:ln>
            <a:noFill/>
          </a:ln>
        </p:spPr>
        <p:txBody>
          <a:bodyPr anchor="b"/>
          <a:lstStyle/>
          <a:p>
            <a:pPr algn="r">
              <a:lnSpc>
                <a:spcPct val="100000"/>
              </a:lnSpc>
            </a:pPr>
            <a:fld id="{19D3C9C4-F357-4968-8957-E42BEAF737D4}" type="slidenum">
              <a:rPr lang="es-ES" sz="1200" b="0" strike="noStrike" spc="-1">
                <a:solidFill>
                  <a:srgbClr val="000000"/>
                </a:solidFill>
                <a:latin typeface="+mn-lt"/>
                <a:ea typeface="+mn-ea"/>
              </a:rPr>
              <a:t>53</a:t>
            </a:fld>
            <a:endParaRPr lang="es-ES" sz="1200" b="0" strike="noStrike" spc="-1">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7" name="PlaceHolder 1"/>
          <p:cNvSpPr>
            <a:spLocks noGrp="1" noRot="1" noChangeAspect="1"/>
          </p:cNvSpPr>
          <p:nvPr>
            <p:ph type="sldImg"/>
          </p:nvPr>
        </p:nvSpPr>
        <p:spPr>
          <a:xfrm>
            <a:off x="685800" y="1143000"/>
            <a:ext cx="5486400" cy="3086100"/>
          </a:xfrm>
          <a:prstGeom prst="rect">
            <a:avLst/>
          </a:prstGeom>
        </p:spPr>
      </p:sp>
      <p:sp>
        <p:nvSpPr>
          <p:cNvPr id="1208"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2000" b="0" strike="noStrike" spc="-1">
                <a:latin typeface="Arial"/>
              </a:rPr>
              <a:t>Imagen: https://es.wikipedia.org/wiki/Árbol_binario</a:t>
            </a:r>
          </a:p>
        </p:txBody>
      </p:sp>
      <p:sp>
        <p:nvSpPr>
          <p:cNvPr id="1209" name="TextShape 3"/>
          <p:cNvSpPr txBox="1"/>
          <p:nvPr/>
        </p:nvSpPr>
        <p:spPr>
          <a:xfrm>
            <a:off x="3884760" y="8685360"/>
            <a:ext cx="2971440" cy="458280"/>
          </a:xfrm>
          <a:prstGeom prst="rect">
            <a:avLst/>
          </a:prstGeom>
          <a:noFill/>
          <a:ln>
            <a:noFill/>
          </a:ln>
        </p:spPr>
        <p:txBody>
          <a:bodyPr anchor="b"/>
          <a:lstStyle/>
          <a:p>
            <a:pPr algn="r">
              <a:lnSpc>
                <a:spcPct val="100000"/>
              </a:lnSpc>
            </a:pPr>
            <a:fld id="{F5BF7A59-EB6F-4262-BD73-3D2A895B5B11}" type="slidenum">
              <a:rPr lang="es-ES" sz="1200" b="0" strike="noStrike" spc="-1">
                <a:solidFill>
                  <a:srgbClr val="000000"/>
                </a:solidFill>
                <a:latin typeface="+mn-lt"/>
                <a:ea typeface="+mn-ea"/>
              </a:rPr>
              <a:t>54</a:t>
            </a:fld>
            <a:endParaRPr lang="es-ES" sz="1200" b="0" strike="noStrike" spc="-1">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0" name="PlaceHolder 1"/>
          <p:cNvSpPr>
            <a:spLocks noGrp="1" noRot="1" noChangeAspect="1"/>
          </p:cNvSpPr>
          <p:nvPr>
            <p:ph type="sldImg"/>
          </p:nvPr>
        </p:nvSpPr>
        <p:spPr>
          <a:xfrm>
            <a:off x="685800" y="1143000"/>
            <a:ext cx="5486400" cy="3086100"/>
          </a:xfrm>
          <a:prstGeom prst="rect">
            <a:avLst/>
          </a:prstGeom>
        </p:spPr>
      </p:sp>
      <p:sp>
        <p:nvSpPr>
          <p:cNvPr id="1211"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212" name="TextShape 3"/>
          <p:cNvSpPr txBox="1"/>
          <p:nvPr/>
        </p:nvSpPr>
        <p:spPr>
          <a:xfrm>
            <a:off x="3884760" y="8685360"/>
            <a:ext cx="2971440" cy="458280"/>
          </a:xfrm>
          <a:prstGeom prst="rect">
            <a:avLst/>
          </a:prstGeom>
          <a:noFill/>
          <a:ln>
            <a:noFill/>
          </a:ln>
        </p:spPr>
        <p:txBody>
          <a:bodyPr anchor="b"/>
          <a:lstStyle/>
          <a:p>
            <a:pPr algn="r">
              <a:lnSpc>
                <a:spcPct val="100000"/>
              </a:lnSpc>
            </a:pPr>
            <a:fld id="{47AB1DE9-F36E-4F82-B2E3-1C9D1A90F2BF}" type="slidenum">
              <a:rPr lang="es-ES" sz="1200" b="0" strike="noStrike" spc="-1">
                <a:solidFill>
                  <a:srgbClr val="000000"/>
                </a:solidFill>
                <a:latin typeface="+mn-lt"/>
                <a:ea typeface="+mn-ea"/>
              </a:rPr>
              <a:t>55</a:t>
            </a:fld>
            <a:endParaRPr lang="es-ES" sz="1200" b="0" strike="noStrike" spc="-1">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3" name="PlaceHolder 1"/>
          <p:cNvSpPr>
            <a:spLocks noGrp="1" noRot="1" noChangeAspect="1"/>
          </p:cNvSpPr>
          <p:nvPr>
            <p:ph type="sldImg"/>
          </p:nvPr>
        </p:nvSpPr>
        <p:spPr>
          <a:xfrm>
            <a:off x="685800" y="1143000"/>
            <a:ext cx="5486400" cy="3086100"/>
          </a:xfrm>
          <a:prstGeom prst="rect">
            <a:avLst/>
          </a:prstGeom>
        </p:spPr>
      </p:sp>
      <p:sp>
        <p:nvSpPr>
          <p:cNvPr id="1214"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2000" b="0" strike="noStrike" spc="-1">
                <a:latin typeface="Arial"/>
              </a:rPr>
              <a:t>Imagen: https://es.wikipedia.org/wiki/Árbol_binario</a:t>
            </a:r>
          </a:p>
        </p:txBody>
      </p:sp>
      <p:sp>
        <p:nvSpPr>
          <p:cNvPr id="1215" name="TextShape 3"/>
          <p:cNvSpPr txBox="1"/>
          <p:nvPr/>
        </p:nvSpPr>
        <p:spPr>
          <a:xfrm>
            <a:off x="3884760" y="8685360"/>
            <a:ext cx="2971440" cy="458280"/>
          </a:xfrm>
          <a:prstGeom prst="rect">
            <a:avLst/>
          </a:prstGeom>
          <a:noFill/>
          <a:ln>
            <a:noFill/>
          </a:ln>
        </p:spPr>
        <p:txBody>
          <a:bodyPr anchor="b"/>
          <a:lstStyle/>
          <a:p>
            <a:pPr algn="r">
              <a:lnSpc>
                <a:spcPct val="100000"/>
              </a:lnSpc>
            </a:pPr>
            <a:fld id="{650F0582-D8AB-4E76-A6AA-31863F17FED6}" type="slidenum">
              <a:rPr lang="es-ES" sz="1200" b="0" strike="noStrike" spc="-1">
                <a:solidFill>
                  <a:srgbClr val="000000"/>
                </a:solidFill>
                <a:latin typeface="+mn-lt"/>
                <a:ea typeface="+mn-ea"/>
              </a:rPr>
              <a:t>56</a:t>
            </a:fld>
            <a:endParaRPr lang="es-ES" sz="1200" b="0" strike="noStrike" spc="-1">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6" name="PlaceHolder 1"/>
          <p:cNvSpPr>
            <a:spLocks noGrp="1" noRot="1" noChangeAspect="1"/>
          </p:cNvSpPr>
          <p:nvPr>
            <p:ph type="sldImg"/>
          </p:nvPr>
        </p:nvSpPr>
        <p:spPr>
          <a:xfrm>
            <a:off x="685800" y="1143000"/>
            <a:ext cx="5486400" cy="3086100"/>
          </a:xfrm>
          <a:prstGeom prst="rect">
            <a:avLst/>
          </a:prstGeom>
        </p:spPr>
      </p:sp>
      <p:sp>
        <p:nvSpPr>
          <p:cNvPr id="1217" name="PlaceHolder 2"/>
          <p:cNvSpPr>
            <a:spLocks noGrp="1"/>
          </p:cNvSpPr>
          <p:nvPr>
            <p:ph type="body"/>
          </p:nvPr>
        </p:nvSpPr>
        <p:spPr>
          <a:xfrm>
            <a:off x="685800" y="4400640"/>
            <a:ext cx="5486040" cy="3600000"/>
          </a:xfrm>
          <a:prstGeom prst="rect">
            <a:avLst/>
          </a:prstGeom>
        </p:spPr>
        <p:txBody>
          <a:bodyPr/>
          <a:lstStyle/>
          <a:p>
            <a:pPr marL="216000" indent="-216000">
              <a:lnSpc>
                <a:spcPct val="100000"/>
              </a:lnSpc>
            </a:pPr>
            <a:r>
              <a:rPr lang="es-ES" sz="2000" b="0" strike="noStrike" spc="-1">
                <a:latin typeface="Arial"/>
              </a:rPr>
              <a:t>Imagen: https://es.wikipedia.org/wiki/Árbol_binario</a:t>
            </a:r>
          </a:p>
        </p:txBody>
      </p:sp>
      <p:sp>
        <p:nvSpPr>
          <p:cNvPr id="1218" name="TextShape 3"/>
          <p:cNvSpPr txBox="1"/>
          <p:nvPr/>
        </p:nvSpPr>
        <p:spPr>
          <a:xfrm>
            <a:off x="3884760" y="8685360"/>
            <a:ext cx="2971440" cy="458280"/>
          </a:xfrm>
          <a:prstGeom prst="rect">
            <a:avLst/>
          </a:prstGeom>
          <a:noFill/>
          <a:ln>
            <a:noFill/>
          </a:ln>
        </p:spPr>
        <p:txBody>
          <a:bodyPr anchor="b"/>
          <a:lstStyle/>
          <a:p>
            <a:pPr algn="r">
              <a:lnSpc>
                <a:spcPct val="100000"/>
              </a:lnSpc>
            </a:pPr>
            <a:fld id="{CD1736C2-2711-4E46-9C43-D77408F20D36}" type="slidenum">
              <a:rPr lang="es-ES" sz="1200" b="0" strike="noStrike" spc="-1">
                <a:solidFill>
                  <a:srgbClr val="000000"/>
                </a:solidFill>
                <a:latin typeface="+mn-lt"/>
                <a:ea typeface="+mn-ea"/>
              </a:rPr>
              <a:t>57</a:t>
            </a:fld>
            <a:endParaRPr lang="es-ES" sz="1200" b="0" strike="noStrike" spc="-1">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9" name="PlaceHolder 1"/>
          <p:cNvSpPr>
            <a:spLocks noGrp="1" noRot="1" noChangeAspect="1"/>
          </p:cNvSpPr>
          <p:nvPr>
            <p:ph type="sldImg"/>
          </p:nvPr>
        </p:nvSpPr>
        <p:spPr>
          <a:xfrm>
            <a:off x="685800" y="1143000"/>
            <a:ext cx="5486400" cy="3086100"/>
          </a:xfrm>
          <a:prstGeom prst="rect">
            <a:avLst/>
          </a:prstGeom>
        </p:spPr>
      </p:sp>
      <p:sp>
        <p:nvSpPr>
          <p:cNvPr id="1220"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221" name="TextShape 3"/>
          <p:cNvSpPr txBox="1"/>
          <p:nvPr/>
        </p:nvSpPr>
        <p:spPr>
          <a:xfrm>
            <a:off x="3884760" y="8685360"/>
            <a:ext cx="2971440" cy="458280"/>
          </a:xfrm>
          <a:prstGeom prst="rect">
            <a:avLst/>
          </a:prstGeom>
          <a:noFill/>
          <a:ln>
            <a:noFill/>
          </a:ln>
        </p:spPr>
        <p:txBody>
          <a:bodyPr anchor="b"/>
          <a:lstStyle/>
          <a:p>
            <a:pPr algn="r">
              <a:lnSpc>
                <a:spcPct val="100000"/>
              </a:lnSpc>
            </a:pPr>
            <a:fld id="{54A55AC4-2596-4033-A215-E5581AC9AB8A}" type="slidenum">
              <a:rPr lang="es-ES" sz="1200" b="0" strike="noStrike" spc="-1">
                <a:solidFill>
                  <a:srgbClr val="000000"/>
                </a:solidFill>
                <a:latin typeface="+mn-lt"/>
                <a:ea typeface="+mn-ea"/>
              </a:rPr>
              <a:t>58</a:t>
            </a:fld>
            <a:endParaRPr lang="es-ES" sz="1200" b="0" strike="noStrike" spc="-1">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 name="PlaceHolder 1"/>
          <p:cNvSpPr>
            <a:spLocks noGrp="1" noRot="1" noChangeAspect="1"/>
          </p:cNvSpPr>
          <p:nvPr>
            <p:ph type="sldImg"/>
          </p:nvPr>
        </p:nvSpPr>
        <p:spPr>
          <a:xfrm>
            <a:off x="685800" y="1143000"/>
            <a:ext cx="5486400" cy="3086100"/>
          </a:xfrm>
          <a:prstGeom prst="rect">
            <a:avLst/>
          </a:prstGeom>
        </p:spPr>
      </p:sp>
      <p:sp>
        <p:nvSpPr>
          <p:cNvPr id="1223"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224" name="TextShape 3"/>
          <p:cNvSpPr txBox="1"/>
          <p:nvPr/>
        </p:nvSpPr>
        <p:spPr>
          <a:xfrm>
            <a:off x="3884760" y="8685360"/>
            <a:ext cx="2971440" cy="458280"/>
          </a:xfrm>
          <a:prstGeom prst="rect">
            <a:avLst/>
          </a:prstGeom>
          <a:noFill/>
          <a:ln>
            <a:noFill/>
          </a:ln>
        </p:spPr>
        <p:txBody>
          <a:bodyPr anchor="b"/>
          <a:lstStyle/>
          <a:p>
            <a:pPr algn="r">
              <a:lnSpc>
                <a:spcPct val="100000"/>
              </a:lnSpc>
            </a:pPr>
            <a:fld id="{88F03FE3-519F-4442-9412-F8FE8B18ADAD}" type="slidenum">
              <a:rPr lang="es-ES" sz="1200" b="0" strike="noStrike" spc="-1">
                <a:solidFill>
                  <a:srgbClr val="000000"/>
                </a:solidFill>
                <a:latin typeface="+mn-lt"/>
                <a:ea typeface="+mn-ea"/>
              </a:rPr>
              <a:t>59</a:t>
            </a:fld>
            <a:endParaRPr lang="es-ES" sz="1200" b="0" strike="noStrike" spc="-1">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5" name="PlaceHolder 1"/>
          <p:cNvSpPr>
            <a:spLocks noGrp="1" noRot="1" noChangeAspect="1"/>
          </p:cNvSpPr>
          <p:nvPr>
            <p:ph type="sldImg"/>
          </p:nvPr>
        </p:nvSpPr>
        <p:spPr>
          <a:xfrm>
            <a:off x="685800" y="1143000"/>
            <a:ext cx="5486400" cy="3086100"/>
          </a:xfrm>
          <a:prstGeom prst="rect">
            <a:avLst/>
          </a:prstGeom>
        </p:spPr>
      </p:sp>
      <p:sp>
        <p:nvSpPr>
          <p:cNvPr id="1226"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227" name="TextShape 3"/>
          <p:cNvSpPr txBox="1"/>
          <p:nvPr/>
        </p:nvSpPr>
        <p:spPr>
          <a:xfrm>
            <a:off x="3884760" y="8685360"/>
            <a:ext cx="2971440" cy="458280"/>
          </a:xfrm>
          <a:prstGeom prst="rect">
            <a:avLst/>
          </a:prstGeom>
          <a:noFill/>
          <a:ln>
            <a:noFill/>
          </a:ln>
        </p:spPr>
        <p:txBody>
          <a:bodyPr anchor="b"/>
          <a:lstStyle/>
          <a:p>
            <a:pPr algn="r">
              <a:lnSpc>
                <a:spcPct val="100000"/>
              </a:lnSpc>
            </a:pPr>
            <a:fld id="{A6FCBF82-E499-4485-8EEE-A09819B67BE9}" type="slidenum">
              <a:rPr lang="es-ES" sz="1200" b="0" strike="noStrike" spc="-1">
                <a:solidFill>
                  <a:srgbClr val="000000"/>
                </a:solidFill>
                <a:latin typeface="+mn-lt"/>
                <a:ea typeface="+mn-ea"/>
              </a:rPr>
              <a:t>60</a:t>
            </a:fld>
            <a:endParaRPr lang="es-ES" sz="1200" b="0" strike="noStrike" spc="-1">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 name="PlaceHolder 1"/>
          <p:cNvSpPr>
            <a:spLocks noGrp="1" noRot="1" noChangeAspect="1"/>
          </p:cNvSpPr>
          <p:nvPr>
            <p:ph type="sldImg"/>
          </p:nvPr>
        </p:nvSpPr>
        <p:spPr>
          <a:xfrm>
            <a:off x="685800" y="1143000"/>
            <a:ext cx="5486400" cy="3086100"/>
          </a:xfrm>
          <a:prstGeom prst="rect">
            <a:avLst/>
          </a:prstGeom>
        </p:spPr>
      </p:sp>
      <p:sp>
        <p:nvSpPr>
          <p:cNvPr id="1229"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230" name="TextShape 3"/>
          <p:cNvSpPr txBox="1"/>
          <p:nvPr/>
        </p:nvSpPr>
        <p:spPr>
          <a:xfrm>
            <a:off x="3884760" y="8685360"/>
            <a:ext cx="2971440" cy="458280"/>
          </a:xfrm>
          <a:prstGeom prst="rect">
            <a:avLst/>
          </a:prstGeom>
          <a:noFill/>
          <a:ln>
            <a:noFill/>
          </a:ln>
        </p:spPr>
        <p:txBody>
          <a:bodyPr anchor="b"/>
          <a:lstStyle/>
          <a:p>
            <a:pPr algn="r">
              <a:lnSpc>
                <a:spcPct val="100000"/>
              </a:lnSpc>
            </a:pPr>
            <a:fld id="{F36BAF5F-A27C-4439-B16F-6EABED71598F}" type="slidenum">
              <a:rPr lang="es-ES" sz="1200" b="0" strike="noStrike" spc="-1">
                <a:solidFill>
                  <a:srgbClr val="000000"/>
                </a:solidFill>
                <a:latin typeface="+mn-lt"/>
                <a:ea typeface="+mn-ea"/>
              </a:rPr>
              <a:t>61</a:t>
            </a:fld>
            <a:endParaRPr lang="es-ES" sz="1200" b="0" strike="noStrike" spc="-1">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 name="PlaceHolder 1"/>
          <p:cNvSpPr>
            <a:spLocks noGrp="1" noRot="1" noChangeAspect="1"/>
          </p:cNvSpPr>
          <p:nvPr>
            <p:ph type="sldImg"/>
          </p:nvPr>
        </p:nvSpPr>
        <p:spPr>
          <a:xfrm>
            <a:off x="685800" y="1143000"/>
            <a:ext cx="5486400" cy="3086100"/>
          </a:xfrm>
          <a:prstGeom prst="rect">
            <a:avLst/>
          </a:prstGeom>
        </p:spPr>
      </p:sp>
      <p:sp>
        <p:nvSpPr>
          <p:cNvPr id="1232" name="PlaceHolder 2"/>
          <p:cNvSpPr>
            <a:spLocks noGrp="1"/>
          </p:cNvSpPr>
          <p:nvPr>
            <p:ph type="body"/>
          </p:nvPr>
        </p:nvSpPr>
        <p:spPr>
          <a:xfrm>
            <a:off x="685800" y="4400640"/>
            <a:ext cx="5486040" cy="3600000"/>
          </a:xfrm>
          <a:prstGeom prst="rect">
            <a:avLst/>
          </a:prstGeom>
        </p:spPr>
        <p:txBody>
          <a:bodyPr/>
          <a:lstStyle/>
          <a:p>
            <a:endParaRPr lang="es-ES" sz="2000" b="0" strike="noStrike" spc="-1">
              <a:latin typeface="Arial"/>
            </a:endParaRPr>
          </a:p>
        </p:txBody>
      </p:sp>
      <p:sp>
        <p:nvSpPr>
          <p:cNvPr id="1233" name="TextShape 3"/>
          <p:cNvSpPr txBox="1"/>
          <p:nvPr/>
        </p:nvSpPr>
        <p:spPr>
          <a:xfrm>
            <a:off x="3884760" y="8685360"/>
            <a:ext cx="2971440" cy="458280"/>
          </a:xfrm>
          <a:prstGeom prst="rect">
            <a:avLst/>
          </a:prstGeom>
          <a:noFill/>
          <a:ln>
            <a:noFill/>
          </a:ln>
        </p:spPr>
        <p:txBody>
          <a:bodyPr anchor="b"/>
          <a:lstStyle/>
          <a:p>
            <a:pPr algn="r">
              <a:lnSpc>
                <a:spcPct val="100000"/>
              </a:lnSpc>
            </a:pPr>
            <a:fld id="{AB163FC7-B662-447C-9366-A13E4D5921A0}" type="slidenum">
              <a:rPr lang="es-ES" sz="1200" b="0" strike="noStrike" spc="-1">
                <a:solidFill>
                  <a:srgbClr val="000000"/>
                </a:solidFill>
                <a:latin typeface="+mn-lt"/>
                <a:ea typeface="+mn-ea"/>
              </a:rPr>
              <a:t>62</a:t>
            </a:fld>
            <a:endParaRPr lang="es-E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5B7E3F4-BDC7-448D-AA6B-A23F66ADFB14}"/>
              </a:ext>
            </a:extLst>
          </p:cNvPr>
          <p:cNvSpPr txBox="1"/>
          <p:nvPr userDrawn="1"/>
        </p:nvSpPr>
        <p:spPr>
          <a:xfrm rot="16200000">
            <a:off x="-605643" y="332956"/>
            <a:ext cx="1380564" cy="169277"/>
          </a:xfrm>
          <a:prstGeom prst="rect">
            <a:avLst/>
          </a:prstGeom>
          <a:noFill/>
        </p:spPr>
        <p:txBody>
          <a:bodyPr wrap="square" rtlCol="0">
            <a:spAutoFit/>
          </a:bodyPr>
          <a:lstStyle/>
          <a:p>
            <a:r>
              <a:rPr lang="es-ES" sz="500" dirty="0">
                <a:solidFill>
                  <a:schemeClr val="bg2">
                    <a:lumMod val="90000"/>
                  </a:schemeClr>
                </a:solidFill>
              </a:rPr>
              <a:t>SSOO Javier García Algarra 2020</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3 Marcador de pie de página">
            <a:extLst>
              <a:ext uri="{FF2B5EF4-FFF2-40B4-BE49-F238E27FC236}">
                <a16:creationId xmlns:a16="http://schemas.microsoft.com/office/drawing/2014/main" id="{749EC5CE-810F-4117-BBA0-B107EC391EF1}"/>
              </a:ext>
            </a:extLst>
          </p:cNvPr>
          <p:cNvSpPr>
            <a:spLocks noGrp="1"/>
          </p:cNvSpPr>
          <p:nvPr>
            <p:ph type="ftr" sz="quarter" idx="4294967295"/>
          </p:nvPr>
        </p:nvSpPr>
        <p:spPr>
          <a:xfrm>
            <a:off x="6589986" y="1588"/>
            <a:ext cx="2340883" cy="366274"/>
          </a:xfrm>
          <a:prstGeom prst="rect">
            <a:avLst/>
          </a:prstGeom>
        </p:spPr>
        <p:txBody>
          <a:bodyPr/>
          <a:lstStyle>
            <a:lvl1pPr algn="r">
              <a:defRPr sz="1050" b="1">
                <a:solidFill>
                  <a:schemeClr val="bg2">
                    <a:lumMod val="75000"/>
                  </a:schemeClr>
                </a:solidFill>
              </a:defRPr>
            </a:lvl1pPr>
          </a:lstStyle>
          <a:p>
            <a:r>
              <a:rPr lang="es-ES"/>
              <a:t>SSOO 2020-2021 Javier Gª Algarra</a:t>
            </a:r>
            <a:endParaRPr lang="es-ES" dirty="0"/>
          </a:p>
        </p:txBody>
      </p:sp>
    </p:spTree>
    <p:extLst>
      <p:ext uri="{BB962C8B-B14F-4D97-AF65-F5344CB8AC3E}">
        <p14:creationId xmlns:p14="http://schemas.microsoft.com/office/powerpoint/2010/main" val="1502510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62396" y="1454706"/>
            <a:ext cx="6115731" cy="2139553"/>
          </a:xfrm>
        </p:spPr>
        <p:txBody>
          <a:bodyPr anchor="b"/>
          <a:lstStyle>
            <a:lvl1pPr>
              <a:defRPr sz="4800">
                <a:solidFill>
                  <a:schemeClr val="accent1">
                    <a:lumMod val="50000"/>
                  </a:schemeClr>
                </a:solidFill>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762396" y="3614500"/>
            <a:ext cx="6115732" cy="1125140"/>
          </a:xfrm>
        </p:spPr>
        <p:txBody>
          <a:bodyPr>
            <a:normAutofit/>
          </a:bodyPr>
          <a:lstStyle>
            <a:lvl1pPr marL="0" indent="0">
              <a:buNone/>
              <a:defRPr sz="24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el estilo de texto del patrón</a:t>
            </a:r>
          </a:p>
        </p:txBody>
      </p:sp>
      <p:pic>
        <p:nvPicPr>
          <p:cNvPr id="2050" name="Picture 2" descr="Imagen relacionada">
            <a:extLst>
              <a:ext uri="{FF2B5EF4-FFF2-40B4-BE49-F238E27FC236}">
                <a16:creationId xmlns:a16="http://schemas.microsoft.com/office/drawing/2014/main" id="{DE157B29-00A7-4167-8C14-2765A1C6B7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75112" y="170447"/>
            <a:ext cx="3169752" cy="63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209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8280" y="0"/>
            <a:ext cx="1211040" cy="5142960"/>
          </a:xfrm>
          <a:prstGeom prst="rect">
            <a:avLst/>
          </a:prstGeom>
          <a:solidFill>
            <a:srgbClr val="0D4B92"/>
          </a:solidFill>
          <a:ln>
            <a:noFill/>
          </a:ln>
        </p:spPr>
        <p:style>
          <a:lnRef idx="2">
            <a:schemeClr val="accent1">
              <a:shade val="50000"/>
            </a:schemeClr>
          </a:lnRef>
          <a:fillRef idx="1">
            <a:schemeClr val="accent1"/>
          </a:fillRef>
          <a:effectRef idx="0">
            <a:schemeClr val="accent1"/>
          </a:effectRef>
          <a:fontRef idx="minor"/>
        </p:style>
      </p:sp>
      <p:pic>
        <p:nvPicPr>
          <p:cNvPr id="42" name="Picture 2"/>
          <p:cNvPicPr/>
          <p:nvPr/>
        </p:nvPicPr>
        <p:blipFill>
          <a:blip r:embed="rId5"/>
          <a:srcRect t="10620" r="4264" b="35523"/>
          <a:stretch/>
        </p:blipFill>
        <p:spPr>
          <a:xfrm>
            <a:off x="-8280" y="4398840"/>
            <a:ext cx="1211040" cy="681120"/>
          </a:xfrm>
          <a:prstGeom prst="rect">
            <a:avLst/>
          </a:prstGeom>
          <a:ln>
            <a:noFill/>
          </a:ln>
        </p:spPr>
      </p:pic>
      <p:sp>
        <p:nvSpPr>
          <p:cNvPr id="43" name="PlaceHolder 2"/>
          <p:cNvSpPr>
            <a:spLocks noGrp="1"/>
          </p:cNvSpPr>
          <p:nvPr>
            <p:ph type="title"/>
          </p:nvPr>
        </p:nvSpPr>
        <p:spPr>
          <a:xfrm>
            <a:off x="457200" y="205200"/>
            <a:ext cx="8229240" cy="858600"/>
          </a:xfrm>
          <a:prstGeom prst="rect">
            <a:avLst/>
          </a:prstGeom>
        </p:spPr>
        <p:txBody>
          <a:bodyPr lIns="0" tIns="0" rIns="0" bIns="0" anchor="ctr"/>
          <a:lstStyle/>
          <a:p>
            <a:r>
              <a:rPr lang="es-ES" sz="1350" b="0" strike="noStrike" spc="-1">
                <a:solidFill>
                  <a:srgbClr val="000000"/>
                </a:solidFill>
                <a:latin typeface="Calibri"/>
              </a:rPr>
              <a:t>Pulse para editar el formato del texto de título</a:t>
            </a:r>
          </a:p>
        </p:txBody>
      </p:sp>
      <p:sp>
        <p:nvSpPr>
          <p:cNvPr id="44" name="PlaceHolder 3"/>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ES" sz="2400" b="0" strike="noStrike" spc="-1">
                <a:solidFill>
                  <a:srgbClr val="000000"/>
                </a:solidFill>
                <a:latin typeface="Calibri Light"/>
              </a:rPr>
              <a:t>Pulse para editar el formato de esquema del texto</a:t>
            </a:r>
          </a:p>
          <a:p>
            <a:pPr marL="864000" lvl="1" indent="-324000">
              <a:spcBef>
                <a:spcPts val="1134"/>
              </a:spcBef>
              <a:buClr>
                <a:srgbClr val="000000"/>
              </a:buClr>
              <a:buSzPct val="75000"/>
              <a:buFont typeface="Symbol" charset="2"/>
              <a:buChar char=""/>
            </a:pPr>
            <a:r>
              <a:rPr lang="es-ES" sz="1600" b="0" strike="noStrike" spc="-1">
                <a:solidFill>
                  <a:srgbClr val="000000"/>
                </a:solidFill>
                <a:latin typeface="Calibri Light"/>
              </a:rPr>
              <a:t>Segundo nivel del esquema</a:t>
            </a:r>
          </a:p>
          <a:p>
            <a:pPr marL="1296000" lvl="2" indent="-288000">
              <a:spcBef>
                <a:spcPts val="850"/>
              </a:spcBef>
              <a:buClr>
                <a:srgbClr val="000000"/>
              </a:buClr>
              <a:buSzPct val="45000"/>
              <a:buFont typeface="Wingdings" charset="2"/>
              <a:buChar char=""/>
            </a:pPr>
            <a:r>
              <a:rPr lang="es-ES" sz="1350" b="0" strike="noStrike" spc="-1">
                <a:solidFill>
                  <a:srgbClr val="000000"/>
                </a:solidFill>
                <a:latin typeface="Calibri Light"/>
              </a:rPr>
              <a:t>Tercer nivel del esquema</a:t>
            </a:r>
          </a:p>
          <a:p>
            <a:pPr marL="1728000" lvl="3" indent="-216000">
              <a:spcBef>
                <a:spcPts val="567"/>
              </a:spcBef>
              <a:buClr>
                <a:srgbClr val="000000"/>
              </a:buClr>
              <a:buSzPct val="75000"/>
              <a:buFont typeface="Symbol" charset="2"/>
              <a:buChar char=""/>
            </a:pPr>
            <a:r>
              <a:rPr lang="es-ES" sz="1350" b="0" strike="noStrike" spc="-1">
                <a:solidFill>
                  <a:srgbClr val="000000"/>
                </a:solidFill>
                <a:latin typeface="Calibri Light"/>
              </a:rPr>
              <a:t>Cuarto nivel del esquema</a:t>
            </a:r>
          </a:p>
          <a:p>
            <a:pPr marL="2160000" lvl="4" indent="-216000">
              <a:spcBef>
                <a:spcPts val="283"/>
              </a:spcBef>
              <a:buClr>
                <a:srgbClr val="000000"/>
              </a:buClr>
              <a:buSzPct val="45000"/>
              <a:buFont typeface="Wingdings" charset="2"/>
              <a:buChar char=""/>
            </a:pPr>
            <a:r>
              <a:rPr lang="es-ES" sz="2000" b="0" strike="noStrike" spc="-1">
                <a:solidFill>
                  <a:srgbClr val="000000"/>
                </a:solidFill>
                <a:latin typeface="Calibri Light"/>
              </a:rPr>
              <a:t>Quinto nivel del esquema</a:t>
            </a:r>
          </a:p>
          <a:p>
            <a:pPr marL="2592000" lvl="5" indent="-216000">
              <a:spcBef>
                <a:spcPts val="283"/>
              </a:spcBef>
              <a:buClr>
                <a:srgbClr val="000000"/>
              </a:buClr>
              <a:buSzPct val="45000"/>
              <a:buFont typeface="Wingdings" charset="2"/>
              <a:buChar char=""/>
            </a:pPr>
            <a:r>
              <a:rPr lang="es-ES" sz="2000" b="0" strike="noStrike" spc="-1">
                <a:solidFill>
                  <a:srgbClr val="000000"/>
                </a:solidFill>
                <a:latin typeface="Calibri Light"/>
              </a:rPr>
              <a:t>Sexto nivel del esquema</a:t>
            </a:r>
          </a:p>
          <a:p>
            <a:pPr marL="3024000" lvl="6" indent="-216000">
              <a:spcBef>
                <a:spcPts val="283"/>
              </a:spcBef>
              <a:buClr>
                <a:srgbClr val="000000"/>
              </a:buClr>
              <a:buSzPct val="45000"/>
              <a:buFont typeface="Wingdings" charset="2"/>
              <a:buChar char=""/>
            </a:pPr>
            <a:r>
              <a:rPr lang="es-ES" sz="2000" b="0" strike="noStrike" spc="-1">
                <a:solidFill>
                  <a:srgbClr val="000000"/>
                </a:solidFill>
                <a:latin typeface="Calibri Light"/>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avier.algarra@u-tad.com"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hyperlink" Target="http://creativecommons.org/licenses/by/4.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www.tldp.org/LDP/tlk/ds/ds.htm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tldp.org/LDP/tlk/ds/ds.html"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www.google.es/url?sa=t&amp;rct=j&amp;q=&amp;esrc=s&amp;source=web&amp;cd=&amp;ved=2ahUKEwjd1bPpgaDrAhWyyIUKHXCSDb4QFjAAegQIAxAB&amp;url=http%3A%2F%2Flsi.ugr.es%2Fjagomez%2Fsisopi_archivos%2FCambio_contexto.ppt&amp;usg=AOvVaw1dqrWB2h5kS_050c3u65-I"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medium.com/@ppan.brian/context-switch-from-xv6-aedcb1246cd"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www.cs.columbia.edu/~nahum/w6998/papers/2003-wilcox-softirq.pdf"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totozhang.github.io/2016-01-16-linux-zombieprocess/"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hyperlink" Target="https://www.cnblogs.com/andypeker/p/9558539.html"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28.wmf"/><Relationship Id="rId4" Type="http://schemas.openxmlformats.org/officeDocument/2006/relationships/image" Target="../media/image27.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31.wmf"/><Relationship Id="rId4" Type="http://schemas.openxmlformats.org/officeDocument/2006/relationships/image" Target="../media/image30.wmf"/></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hyperlink" Target="https://es.wikipedia.org/wiki/&#193;rbol_binario"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hyperlink" Target="https://developer.ibm.com/tutorials/l-completely-fair-scheduler/"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file:///\\home\yo\Escritorio\Sistemas_Operativos\2020-2021\slides\Algunos%20usuarios%20se%20quejan" TargetMode="External"/><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hyperlink" Target="https://dev.to/satorutakeuchi/a-brief-history-of-the-linux-kernel-s-process-scheduler-the-very-first-scheduler-v0-01-9e4"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web.cs.ucdavis.edu/~roper/ecs150/ULE.pdf" TargetMode="External"/><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Shape 1"/>
          <p:cNvSpPr txBox="1"/>
          <p:nvPr/>
        </p:nvSpPr>
        <p:spPr>
          <a:xfrm>
            <a:off x="1568880" y="1400400"/>
            <a:ext cx="7103880" cy="1520640"/>
          </a:xfrm>
          <a:prstGeom prst="rect">
            <a:avLst/>
          </a:prstGeom>
          <a:solidFill>
            <a:srgbClr val="FFFFFF"/>
          </a:solidFill>
          <a:ln>
            <a:noFill/>
          </a:ln>
        </p:spPr>
        <p:txBody>
          <a:bodyPr anchor="b"/>
          <a:lstStyle/>
          <a:p>
            <a:pPr algn="ctr">
              <a:lnSpc>
                <a:spcPct val="90000"/>
              </a:lnSpc>
            </a:pPr>
            <a:br>
              <a:rPr dirty="0"/>
            </a:br>
            <a:br>
              <a:rPr dirty="0"/>
            </a:br>
            <a:br>
              <a:rPr dirty="0"/>
            </a:br>
            <a:br>
              <a:rPr dirty="0"/>
            </a:br>
            <a:r>
              <a:rPr lang="es-ES" sz="2000" b="0" strike="noStrike" spc="-1" dirty="0">
                <a:solidFill>
                  <a:srgbClr val="1F4E79"/>
                </a:solidFill>
                <a:latin typeface="Calibri Light"/>
              </a:rPr>
              <a:t>Sistemas Operativos</a:t>
            </a:r>
            <a:br>
              <a:rPr dirty="0"/>
            </a:br>
            <a:br>
              <a:rPr dirty="0"/>
            </a:br>
            <a:r>
              <a:rPr lang="es-ES" sz="4000" b="0" strike="noStrike" spc="-1" dirty="0">
                <a:solidFill>
                  <a:srgbClr val="1F4E79"/>
                </a:solidFill>
                <a:latin typeface="Calibri Light"/>
              </a:rPr>
              <a:t>3. Gestión de procesos</a:t>
            </a:r>
            <a:endParaRPr lang="es-ES" sz="4000" b="0" strike="noStrike" spc="-1" dirty="0">
              <a:solidFill>
                <a:srgbClr val="000000"/>
              </a:solidFill>
              <a:latin typeface="Calibri"/>
            </a:endParaRPr>
          </a:p>
        </p:txBody>
      </p:sp>
      <p:sp>
        <p:nvSpPr>
          <p:cNvPr id="129" name="TextShape 2"/>
          <p:cNvSpPr txBox="1"/>
          <p:nvPr/>
        </p:nvSpPr>
        <p:spPr>
          <a:xfrm>
            <a:off x="1665540" y="2975760"/>
            <a:ext cx="6910560" cy="1746720"/>
          </a:xfrm>
          <a:prstGeom prst="rect">
            <a:avLst/>
          </a:prstGeom>
          <a:noFill/>
          <a:ln>
            <a:noFill/>
          </a:ln>
        </p:spPr>
        <p:txBody>
          <a:bodyPr>
            <a:normAutofit fontScale="62500" lnSpcReduction="20000"/>
          </a:bodyPr>
          <a:lstStyle/>
          <a:p>
            <a:pPr algn="r">
              <a:lnSpc>
                <a:spcPct val="90000"/>
              </a:lnSpc>
              <a:spcBef>
                <a:spcPts val="751"/>
              </a:spcBef>
            </a:pPr>
            <a:endParaRPr lang="es-ES" sz="2400" b="0" strike="noStrike" spc="-1" dirty="0">
              <a:solidFill>
                <a:srgbClr val="000000"/>
              </a:solidFill>
              <a:latin typeface="Calibri Light"/>
            </a:endParaRPr>
          </a:p>
          <a:p>
            <a:pPr algn="r">
              <a:lnSpc>
                <a:spcPct val="90000"/>
              </a:lnSpc>
              <a:spcBef>
                <a:spcPts val="751"/>
              </a:spcBef>
            </a:pPr>
            <a:endParaRPr lang="es-ES" sz="2400" b="0" strike="noStrike" spc="-1" dirty="0">
              <a:solidFill>
                <a:srgbClr val="000000"/>
              </a:solidFill>
              <a:latin typeface="Calibri Light"/>
            </a:endParaRPr>
          </a:p>
          <a:p>
            <a:pPr algn="r">
              <a:lnSpc>
                <a:spcPct val="90000"/>
              </a:lnSpc>
              <a:spcBef>
                <a:spcPts val="751"/>
              </a:spcBef>
            </a:pPr>
            <a:r>
              <a:rPr lang="es-ES" sz="1800" b="0" strike="noStrike" spc="-1" dirty="0">
                <a:solidFill>
                  <a:srgbClr val="8B8B8B"/>
                </a:solidFill>
                <a:latin typeface="Calibri Light"/>
              </a:rPr>
              <a:t>Javier García Algarra</a:t>
            </a:r>
            <a:endParaRPr lang="es-ES" sz="1800" b="0" strike="noStrike" spc="-1" dirty="0">
              <a:solidFill>
                <a:srgbClr val="000000"/>
              </a:solidFill>
              <a:latin typeface="Calibri Light"/>
            </a:endParaRPr>
          </a:p>
          <a:p>
            <a:pPr algn="r">
              <a:lnSpc>
                <a:spcPct val="90000"/>
              </a:lnSpc>
              <a:spcBef>
                <a:spcPts val="751"/>
              </a:spcBef>
            </a:pPr>
            <a:r>
              <a:rPr lang="es-ES" sz="1800" b="0" strike="noStrike" spc="-1" dirty="0">
                <a:solidFill>
                  <a:srgbClr val="8B8B8B"/>
                </a:solidFill>
                <a:latin typeface="Calibri Light"/>
                <a:hlinkClick r:id="rId3"/>
              </a:rPr>
              <a:t>javier.algarra@u-tad.com</a:t>
            </a:r>
            <a:endParaRPr lang="es-ES" sz="1800" b="0" strike="noStrike" spc="-1" dirty="0">
              <a:solidFill>
                <a:srgbClr val="8B8B8B"/>
              </a:solidFill>
              <a:latin typeface="Calibri Light"/>
            </a:endParaRPr>
          </a:p>
          <a:p>
            <a:pPr algn="r">
              <a:lnSpc>
                <a:spcPct val="90000"/>
              </a:lnSpc>
              <a:spcBef>
                <a:spcPts val="751"/>
              </a:spcBef>
            </a:pPr>
            <a:r>
              <a:rPr lang="es-ES" sz="1800" b="0" strike="noStrike" spc="-1" dirty="0">
                <a:solidFill>
                  <a:srgbClr val="000000"/>
                </a:solidFill>
                <a:latin typeface="Calibri Light"/>
              </a:rPr>
              <a:t>Miguel Ángel Mesas</a:t>
            </a:r>
          </a:p>
          <a:p>
            <a:pPr algn="r">
              <a:lnSpc>
                <a:spcPct val="90000"/>
              </a:lnSpc>
              <a:spcBef>
                <a:spcPts val="751"/>
              </a:spcBef>
            </a:pPr>
            <a:r>
              <a:rPr lang="es-ES" sz="1800" b="0" strike="noStrike" spc="-1" dirty="0">
                <a:solidFill>
                  <a:srgbClr val="000000"/>
                </a:solidFill>
                <a:latin typeface="Calibri Light"/>
              </a:rPr>
              <a:t>miguel.mesas@u-tad.com</a:t>
            </a:r>
          </a:p>
          <a:p>
            <a:pPr algn="r">
              <a:lnSpc>
                <a:spcPct val="90000"/>
              </a:lnSpc>
              <a:spcBef>
                <a:spcPts val="751"/>
              </a:spcBef>
            </a:pPr>
            <a:r>
              <a:rPr lang="es-ES" sz="1800" b="0" strike="noStrike" spc="-1" dirty="0">
                <a:solidFill>
                  <a:srgbClr val="8B8B8B"/>
                </a:solidFill>
                <a:latin typeface="Calibri Light"/>
              </a:rPr>
              <a:t>2021-2022</a:t>
            </a:r>
            <a:endParaRPr lang="es-ES" sz="1800" b="0" strike="noStrike" spc="-1" dirty="0">
              <a:solidFill>
                <a:srgbClr val="000000"/>
              </a:solidFill>
              <a:latin typeface="Calibri Light"/>
            </a:endParaRPr>
          </a:p>
        </p:txBody>
      </p:sp>
      <p:sp>
        <p:nvSpPr>
          <p:cNvPr id="130" name="CustomShape 3"/>
          <p:cNvSpPr/>
          <p:nvPr/>
        </p:nvSpPr>
        <p:spPr>
          <a:xfrm>
            <a:off x="1174320" y="4667760"/>
            <a:ext cx="9143640" cy="396360"/>
          </a:xfrm>
          <a:prstGeom prst="rect">
            <a:avLst/>
          </a:prstGeom>
          <a:noFill/>
          <a:ln>
            <a:noFill/>
          </a:ln>
        </p:spPr>
        <p:style>
          <a:lnRef idx="0">
            <a:scrgbClr r="0" g="0" b="0"/>
          </a:lnRef>
          <a:fillRef idx="0">
            <a:scrgbClr r="0" g="0" b="0"/>
          </a:fillRef>
          <a:effectRef idx="0">
            <a:scrgbClr r="0" g="0" b="0"/>
          </a:effectRef>
          <a:fontRef idx="minor"/>
        </p:style>
        <p:txBody>
          <a:bodyPr anchor="ctr"/>
          <a:lstStyle/>
          <a:p>
            <a:pPr>
              <a:lnSpc>
                <a:spcPct val="100000"/>
              </a:lnSpc>
            </a:pPr>
            <a:r>
              <a:rPr lang="es-ES" sz="1200" b="0" u="sng" strike="noStrike" spc="-1">
                <a:solidFill>
                  <a:srgbClr val="0066CC"/>
                </a:solidFill>
                <a:uFillTx/>
                <a:latin typeface="Times New Roman"/>
              </a:rPr>
              <a:t> </a:t>
            </a:r>
            <a:br/>
            <a:r>
              <a:rPr lang="es-ES" sz="800" b="0" strike="noStrike" spc="-1">
                <a:solidFill>
                  <a:srgbClr val="000000"/>
                </a:solidFill>
                <a:latin typeface="Calibri Light"/>
              </a:rPr>
              <a:t>Sistemas Operativos by Javier García Algarra is licensed under a </a:t>
            </a:r>
            <a:r>
              <a:rPr lang="es-ES" sz="800" b="0" u="sng" strike="noStrike" spc="-1">
                <a:solidFill>
                  <a:srgbClr val="0563C1"/>
                </a:solidFill>
                <a:uFillTx/>
                <a:latin typeface="Calibri Light"/>
                <a:hlinkClick r:id="rId4"/>
              </a:rPr>
              <a:t>Creative Commons Reconocimiento 4.0 Internacional License</a:t>
            </a:r>
            <a:r>
              <a:rPr lang="es-ES" sz="800" b="0" strike="noStrike" spc="-1">
                <a:solidFill>
                  <a:srgbClr val="000000"/>
                </a:solidFill>
                <a:latin typeface="Calibri Light"/>
              </a:rPr>
              <a:t>. </a:t>
            </a:r>
            <a:endParaRPr lang="es-ES" sz="800" b="0" strike="noStrike" spc="-1">
              <a:latin typeface="Arial"/>
            </a:endParaRPr>
          </a:p>
        </p:txBody>
      </p:sp>
      <p:pic>
        <p:nvPicPr>
          <p:cNvPr id="131" name="Picture 2"/>
          <p:cNvPicPr/>
          <p:nvPr/>
        </p:nvPicPr>
        <p:blipFill>
          <a:blip r:embed="rId5"/>
          <a:stretch/>
        </p:blipFill>
        <p:spPr>
          <a:xfrm>
            <a:off x="1265760" y="4722480"/>
            <a:ext cx="761760" cy="1425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1"/>
          <p:cNvSpPr/>
          <p:nvPr/>
        </p:nvSpPr>
        <p:spPr>
          <a:xfrm>
            <a:off x="1757880" y="1268640"/>
            <a:ext cx="6861960" cy="3254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600" b="0" strike="noStrike" spc="-1">
                <a:solidFill>
                  <a:srgbClr val="000000"/>
                </a:solidFill>
                <a:latin typeface="Calibri"/>
              </a:rPr>
              <a:t>En la lección anterior hicimos una analogía con la programación orientada a objetos. El programa ejecutable es la clase y el proceso es una instancia de dicha clase.</a:t>
            </a:r>
            <a:endParaRPr lang="es-ES" sz="1600" b="0" strike="noStrike" spc="-1">
              <a:latin typeface="Arial"/>
            </a:endParaRPr>
          </a:p>
          <a:p>
            <a:pPr algn="just">
              <a:lnSpc>
                <a:spcPct val="100000"/>
              </a:lnSpc>
            </a:pPr>
            <a:endParaRPr lang="es-ES" sz="1600" b="0" strike="noStrike" spc="-1">
              <a:latin typeface="Arial"/>
            </a:endParaRPr>
          </a:p>
          <a:p>
            <a:pPr algn="just">
              <a:lnSpc>
                <a:spcPct val="100000"/>
              </a:lnSpc>
            </a:pPr>
            <a:r>
              <a:rPr lang="es-ES" sz="1600" b="0" strike="noStrike" spc="-1">
                <a:solidFill>
                  <a:srgbClr val="000000"/>
                </a:solidFill>
                <a:latin typeface="Calibri"/>
              </a:rPr>
              <a:t>Al igual que los objetos, los procesos se tienen que instanciar, inicializar, ejecutar y destruir de forma ordenada. La gestión de procesos es la función clave del Sistema Operativo. Tiene qué decidir en todo momento qué proceso ocupa la CPU, debe ser capaz de que los cambios de contexto sean transparentes al programador, debe asegurar que todos reciben atención adecuada en función de sus características… y todo en el tiempo más reducido posible.</a:t>
            </a:r>
            <a:endParaRPr lang="es-ES" sz="1600" b="0" strike="noStrike" spc="-1">
              <a:latin typeface="Arial"/>
            </a:endParaRPr>
          </a:p>
          <a:p>
            <a:pPr algn="just">
              <a:lnSpc>
                <a:spcPct val="100000"/>
              </a:lnSpc>
            </a:pPr>
            <a:endParaRPr lang="es-ES" sz="1600" b="0" strike="noStrike" spc="-1">
              <a:latin typeface="Arial"/>
            </a:endParaRPr>
          </a:p>
          <a:p>
            <a:pPr algn="just">
              <a:lnSpc>
                <a:spcPct val="100000"/>
              </a:lnSpc>
            </a:pPr>
            <a:r>
              <a:rPr lang="es-ES" sz="1600" b="0" strike="noStrike" spc="-1">
                <a:solidFill>
                  <a:srgbClr val="000000"/>
                </a:solidFill>
                <a:latin typeface="Calibri"/>
              </a:rPr>
              <a:t>En esta lección aprenderemos todas estas funciones usando ejemplos de Linux, xv6 y BSD.</a:t>
            </a:r>
            <a:endParaRPr lang="es-ES" sz="1600" b="0" strike="noStrike" spc="-1">
              <a:latin typeface="Arial"/>
            </a:endParaRPr>
          </a:p>
        </p:txBody>
      </p:sp>
      <p:sp>
        <p:nvSpPr>
          <p:cNvPr id="133" name="CustomShape 2"/>
          <p:cNvSpPr/>
          <p:nvPr/>
        </p:nvSpPr>
        <p:spPr>
          <a:xfrm>
            <a:off x="1517760" y="228600"/>
            <a:ext cx="7625880" cy="51480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Introducción</a:t>
            </a:r>
            <a:endParaRPr lang="es-ES" sz="3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Proceso</a:t>
            </a:r>
            <a:endParaRPr lang="es-ES" sz="3600" b="0" strike="noStrike" spc="-1">
              <a:solidFill>
                <a:srgbClr val="000000"/>
              </a:solidFill>
              <a:latin typeface="Calibri"/>
            </a:endParaRPr>
          </a:p>
        </p:txBody>
      </p:sp>
      <p:sp>
        <p:nvSpPr>
          <p:cNvPr id="135" name="CustomShape 2"/>
          <p:cNvSpPr/>
          <p:nvPr/>
        </p:nvSpPr>
        <p:spPr>
          <a:xfrm>
            <a:off x="1776240" y="892800"/>
            <a:ext cx="6609600" cy="111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Un proceso es un programa en ejecución. El proceso consta de una </a:t>
            </a:r>
            <a:r>
              <a:rPr lang="es-ES" sz="1350" b="1" strike="noStrike" spc="-1">
                <a:solidFill>
                  <a:srgbClr val="000000"/>
                </a:solidFill>
                <a:latin typeface="Calibri"/>
              </a:rPr>
              <a:t>imagen de memoria</a:t>
            </a:r>
            <a:r>
              <a:rPr lang="es-ES" sz="1350" b="0" strike="noStrike" spc="-1">
                <a:solidFill>
                  <a:srgbClr val="000000"/>
                </a:solidFill>
                <a:latin typeface="Calibri"/>
              </a:rPr>
              <a:t>, compuesta por el código ejecutable, sus variables, el </a:t>
            </a:r>
            <a:r>
              <a:rPr lang="es-ES" sz="1350" b="0" i="1" strike="noStrike" spc="-1">
                <a:solidFill>
                  <a:srgbClr val="000000"/>
                </a:solidFill>
                <a:latin typeface="Calibri"/>
              </a:rPr>
              <a:t>heap</a:t>
            </a:r>
            <a:r>
              <a:rPr lang="es-ES" sz="1350" b="0" strike="noStrike" spc="-1">
                <a:solidFill>
                  <a:srgbClr val="000000"/>
                </a:solidFill>
                <a:latin typeface="Calibri"/>
              </a:rPr>
              <a:t>, el </a:t>
            </a:r>
            <a:r>
              <a:rPr lang="es-ES" sz="1350" b="0" i="1" strike="noStrike" spc="-1">
                <a:solidFill>
                  <a:srgbClr val="000000"/>
                </a:solidFill>
                <a:latin typeface="Calibri"/>
              </a:rPr>
              <a:t>stack</a:t>
            </a:r>
            <a:r>
              <a:rPr lang="es-ES" sz="1350" b="0" strike="noStrike" spc="-1">
                <a:solidFill>
                  <a:srgbClr val="000000"/>
                </a:solidFill>
                <a:latin typeface="Calibri"/>
              </a:rPr>
              <a:t> y las librerías que usa si son dinámicas (si son estáticas son parte del texto). Esta imagen de memoria se instancia en la memoria física del ordenador de forma completa si trabaja con memorial real o una combinación de memoria y disco si usa memoria virtual.</a:t>
            </a:r>
            <a:endParaRPr lang="es-ES" sz="1350" b="0" strike="noStrike" spc="-1">
              <a:latin typeface="Arial"/>
            </a:endParaRPr>
          </a:p>
        </p:txBody>
      </p:sp>
      <p:sp>
        <p:nvSpPr>
          <p:cNvPr id="136" name="CustomShape 3"/>
          <p:cNvSpPr/>
          <p:nvPr/>
        </p:nvSpPr>
        <p:spPr>
          <a:xfrm>
            <a:off x="2429640" y="2764440"/>
            <a:ext cx="1445400" cy="495720"/>
          </a:xfrm>
          <a:prstGeom prst="rect">
            <a:avLst/>
          </a:prstGeom>
          <a:solidFill>
            <a:srgbClr val="FAEAF9"/>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0" strike="noStrike" spc="-1">
                <a:solidFill>
                  <a:srgbClr val="000000"/>
                </a:solidFill>
                <a:latin typeface="Calibri"/>
              </a:rPr>
              <a:t>Imagen de memoria</a:t>
            </a:r>
            <a:endParaRPr lang="es-ES" sz="1100" b="0" strike="noStrike" spc="-1">
              <a:latin typeface="Arial"/>
            </a:endParaRPr>
          </a:p>
        </p:txBody>
      </p:sp>
      <p:sp>
        <p:nvSpPr>
          <p:cNvPr id="137" name="CustomShape 4"/>
          <p:cNvSpPr/>
          <p:nvPr/>
        </p:nvSpPr>
        <p:spPr>
          <a:xfrm>
            <a:off x="2429640" y="3671280"/>
            <a:ext cx="1445400" cy="49572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0" strike="noStrike" spc="-1">
                <a:solidFill>
                  <a:srgbClr val="000000"/>
                </a:solidFill>
                <a:latin typeface="Calibri"/>
              </a:rPr>
              <a:t>Kernel</a:t>
            </a:r>
            <a:endParaRPr lang="es-ES" sz="1100" b="0" strike="noStrike" spc="-1">
              <a:latin typeface="Arial"/>
            </a:endParaRPr>
          </a:p>
        </p:txBody>
      </p:sp>
      <p:sp>
        <p:nvSpPr>
          <p:cNvPr id="138" name="CustomShape 5"/>
          <p:cNvSpPr/>
          <p:nvPr/>
        </p:nvSpPr>
        <p:spPr>
          <a:xfrm>
            <a:off x="2412360" y="2353680"/>
            <a:ext cx="1462680" cy="1813680"/>
          </a:xfrm>
          <a:prstGeom prst="rect">
            <a:avLst/>
          </a:prstGeom>
          <a:noFill/>
          <a:ln w="28440"/>
        </p:spPr>
        <p:style>
          <a:lnRef idx="2">
            <a:schemeClr val="accent1">
              <a:shade val="50000"/>
            </a:schemeClr>
          </a:lnRef>
          <a:fillRef idx="1">
            <a:schemeClr val="accent1"/>
          </a:fillRef>
          <a:effectRef idx="0">
            <a:schemeClr val="accent1"/>
          </a:effectRef>
          <a:fontRef idx="minor"/>
        </p:style>
      </p:sp>
      <p:sp>
        <p:nvSpPr>
          <p:cNvPr id="139" name="CustomShape 6"/>
          <p:cNvSpPr/>
          <p:nvPr/>
        </p:nvSpPr>
        <p:spPr>
          <a:xfrm>
            <a:off x="4130640" y="3785760"/>
            <a:ext cx="1799280" cy="1018440"/>
          </a:xfrm>
          <a:prstGeom prst="wedgeRectCallout">
            <a:avLst>
              <a:gd name="adj1" fmla="val -84254"/>
              <a:gd name="adj2" fmla="val -32297"/>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p:style>
      </p:sp>
      <p:sp>
        <p:nvSpPr>
          <p:cNvPr id="140" name="CustomShape 7"/>
          <p:cNvSpPr/>
          <p:nvPr/>
        </p:nvSpPr>
        <p:spPr>
          <a:xfrm>
            <a:off x="4206240" y="3823560"/>
            <a:ext cx="801000" cy="343800"/>
          </a:xfrm>
          <a:prstGeom prst="rect">
            <a:avLst/>
          </a:prstGeom>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000000"/>
                </a:solidFill>
                <a:latin typeface="Calibri"/>
              </a:rPr>
              <a:t>BCP</a:t>
            </a:r>
            <a:endParaRPr lang="es-ES" sz="1100" b="0" strike="noStrike" spc="-1">
              <a:latin typeface="Arial"/>
            </a:endParaRPr>
          </a:p>
        </p:txBody>
      </p:sp>
      <p:sp>
        <p:nvSpPr>
          <p:cNvPr id="141" name="CustomShape 8"/>
          <p:cNvSpPr/>
          <p:nvPr/>
        </p:nvSpPr>
        <p:spPr>
          <a:xfrm>
            <a:off x="4206240" y="4239720"/>
            <a:ext cx="801000" cy="442800"/>
          </a:xfrm>
          <a:prstGeom prst="rect">
            <a:avLst/>
          </a:prstGeom>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000000"/>
                </a:solidFill>
                <a:latin typeface="Calibri"/>
              </a:rPr>
              <a:t>Tabla de páginas</a:t>
            </a:r>
            <a:endParaRPr lang="es-ES" sz="1100" b="0" strike="noStrike" spc="-1">
              <a:latin typeface="Arial"/>
            </a:endParaRPr>
          </a:p>
        </p:txBody>
      </p:sp>
      <p:sp>
        <p:nvSpPr>
          <p:cNvPr id="142" name="CustomShape 9"/>
          <p:cNvSpPr/>
          <p:nvPr/>
        </p:nvSpPr>
        <p:spPr>
          <a:xfrm>
            <a:off x="5068440" y="3824640"/>
            <a:ext cx="801000" cy="343800"/>
          </a:xfrm>
          <a:prstGeom prst="rect">
            <a:avLst/>
          </a:prstGeom>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000000"/>
                </a:solidFill>
                <a:latin typeface="Calibri"/>
              </a:rPr>
              <a:t>Mapa E/S</a:t>
            </a:r>
            <a:endParaRPr lang="es-ES" sz="1100" b="0" strike="noStrike" spc="-1">
              <a:latin typeface="Arial"/>
            </a:endParaRPr>
          </a:p>
        </p:txBody>
      </p:sp>
      <p:sp>
        <p:nvSpPr>
          <p:cNvPr id="143" name="CustomShape 10"/>
          <p:cNvSpPr/>
          <p:nvPr/>
        </p:nvSpPr>
        <p:spPr>
          <a:xfrm>
            <a:off x="2760480" y="2053440"/>
            <a:ext cx="83340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1" strike="noStrike" spc="-1">
                <a:solidFill>
                  <a:srgbClr val="000000"/>
                </a:solidFill>
                <a:latin typeface="Calibri"/>
              </a:rPr>
              <a:t>Memoria</a:t>
            </a:r>
            <a:endParaRPr lang="es-ES" sz="1350" b="0" strike="noStrike" spc="-1">
              <a:latin typeface="Arial"/>
            </a:endParaRPr>
          </a:p>
        </p:txBody>
      </p:sp>
      <p:sp>
        <p:nvSpPr>
          <p:cNvPr id="144" name="CustomShape 11"/>
          <p:cNvSpPr/>
          <p:nvPr/>
        </p:nvSpPr>
        <p:spPr>
          <a:xfrm>
            <a:off x="4339800" y="2334960"/>
            <a:ext cx="1799280" cy="1224000"/>
          </a:xfrm>
          <a:prstGeom prst="wedgeRectCallout">
            <a:avLst>
              <a:gd name="adj1" fmla="val -80867"/>
              <a:gd name="adj2" fmla="val 13857"/>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p:style>
      </p:sp>
      <p:sp>
        <p:nvSpPr>
          <p:cNvPr id="145" name="CustomShape 12"/>
          <p:cNvSpPr/>
          <p:nvPr/>
        </p:nvSpPr>
        <p:spPr>
          <a:xfrm>
            <a:off x="4493520" y="2409120"/>
            <a:ext cx="1436400" cy="149760"/>
          </a:xfrm>
          <a:prstGeom prst="rect">
            <a:avLst/>
          </a:prstGeom>
          <a:solidFill>
            <a:srgbClr val="FAEAF9"/>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0" strike="noStrike" spc="-1">
                <a:solidFill>
                  <a:srgbClr val="000000"/>
                </a:solidFill>
                <a:latin typeface="Calibri"/>
              </a:rPr>
              <a:t>Texto</a:t>
            </a:r>
            <a:endParaRPr lang="es-ES" sz="1100" b="0" strike="noStrike" spc="-1">
              <a:latin typeface="Arial"/>
            </a:endParaRPr>
          </a:p>
        </p:txBody>
      </p:sp>
      <p:sp>
        <p:nvSpPr>
          <p:cNvPr id="146" name="CustomShape 13"/>
          <p:cNvSpPr/>
          <p:nvPr/>
        </p:nvSpPr>
        <p:spPr>
          <a:xfrm>
            <a:off x="4493520" y="2558880"/>
            <a:ext cx="1436400" cy="149760"/>
          </a:xfrm>
          <a:prstGeom prst="rect">
            <a:avLst/>
          </a:prstGeom>
          <a:solidFill>
            <a:srgbClr val="FAEAF9"/>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0" strike="noStrike" spc="-1">
                <a:solidFill>
                  <a:srgbClr val="000000"/>
                </a:solidFill>
                <a:latin typeface="Calibri"/>
              </a:rPr>
              <a:t>Variables estáticas</a:t>
            </a:r>
            <a:endParaRPr lang="es-ES" sz="1100" b="0" strike="noStrike" spc="-1">
              <a:latin typeface="Arial"/>
            </a:endParaRPr>
          </a:p>
        </p:txBody>
      </p:sp>
      <p:sp>
        <p:nvSpPr>
          <p:cNvPr id="147" name="CustomShape 14"/>
          <p:cNvSpPr/>
          <p:nvPr/>
        </p:nvSpPr>
        <p:spPr>
          <a:xfrm>
            <a:off x="4493520" y="2769120"/>
            <a:ext cx="1436400" cy="280440"/>
          </a:xfrm>
          <a:prstGeom prst="rect">
            <a:avLst/>
          </a:prstGeom>
          <a:solidFill>
            <a:srgbClr val="FAEAF9"/>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0" strike="noStrike" spc="-1">
                <a:solidFill>
                  <a:srgbClr val="000000"/>
                </a:solidFill>
                <a:latin typeface="Calibri"/>
              </a:rPr>
              <a:t>Heap</a:t>
            </a:r>
            <a:endParaRPr lang="es-ES" sz="1100" b="0" strike="noStrike" spc="-1">
              <a:latin typeface="Arial"/>
            </a:endParaRPr>
          </a:p>
        </p:txBody>
      </p:sp>
      <p:sp>
        <p:nvSpPr>
          <p:cNvPr id="148" name="CustomShape 15"/>
          <p:cNvSpPr/>
          <p:nvPr/>
        </p:nvSpPr>
        <p:spPr>
          <a:xfrm>
            <a:off x="4493520" y="3125160"/>
            <a:ext cx="1436400" cy="405360"/>
          </a:xfrm>
          <a:prstGeom prst="rect">
            <a:avLst/>
          </a:prstGeom>
          <a:solidFill>
            <a:srgbClr val="FAEAF9"/>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0" strike="noStrike" spc="-1">
                <a:solidFill>
                  <a:srgbClr val="000000"/>
                </a:solidFill>
                <a:latin typeface="Calibri"/>
              </a:rPr>
              <a:t>Stack</a:t>
            </a:r>
            <a:endParaRPr lang="es-ES" sz="1100" b="0" strike="noStrike" spc="-1">
              <a:latin typeface="Arial"/>
            </a:endParaRPr>
          </a:p>
        </p:txBody>
      </p:sp>
      <p:sp>
        <p:nvSpPr>
          <p:cNvPr id="149" name="CustomShape 16"/>
          <p:cNvSpPr/>
          <p:nvPr/>
        </p:nvSpPr>
        <p:spPr>
          <a:xfrm>
            <a:off x="4493520" y="3121920"/>
            <a:ext cx="1436400" cy="149760"/>
          </a:xfrm>
          <a:prstGeom prst="rect">
            <a:avLst/>
          </a:prstGeom>
          <a:solidFill>
            <a:srgbClr val="E79DE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0" strike="noStrike" spc="-1">
                <a:solidFill>
                  <a:srgbClr val="000000"/>
                </a:solidFill>
                <a:latin typeface="Calibri"/>
              </a:rPr>
              <a:t>Entorno del proceso</a:t>
            </a:r>
            <a:endParaRPr lang="es-ES" sz="1100" b="0" strike="noStrike" spc="-1">
              <a:latin typeface="Arial"/>
            </a:endParaRPr>
          </a:p>
        </p:txBody>
      </p:sp>
      <p:sp>
        <p:nvSpPr>
          <p:cNvPr id="150" name="CustomShape 17"/>
          <p:cNvSpPr/>
          <p:nvPr/>
        </p:nvSpPr>
        <p:spPr>
          <a:xfrm>
            <a:off x="6435720" y="2334960"/>
            <a:ext cx="1271160" cy="1056600"/>
          </a:xfrm>
          <a:prstGeom prst="rect">
            <a:avLst/>
          </a:prstGeom>
          <a:solidFill>
            <a:schemeClr val="bg1"/>
          </a:solidFill>
          <a:ln/>
        </p:spPr>
        <p:style>
          <a:lnRef idx="2">
            <a:schemeClr val="accent1">
              <a:shade val="50000"/>
            </a:schemeClr>
          </a:lnRef>
          <a:fillRef idx="1">
            <a:schemeClr val="accent1"/>
          </a:fillRef>
          <a:effectRef idx="0">
            <a:schemeClr val="accent1"/>
          </a:effectRef>
          <a:fontRef idx="minor"/>
        </p:style>
      </p:sp>
      <p:sp>
        <p:nvSpPr>
          <p:cNvPr id="151" name="CustomShape 18"/>
          <p:cNvSpPr/>
          <p:nvPr/>
        </p:nvSpPr>
        <p:spPr>
          <a:xfrm>
            <a:off x="6834960" y="2023920"/>
            <a:ext cx="47376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1" strike="noStrike" spc="-1">
                <a:solidFill>
                  <a:srgbClr val="000000"/>
                </a:solidFill>
                <a:latin typeface="Calibri"/>
              </a:rPr>
              <a:t>CPU</a:t>
            </a:r>
            <a:endParaRPr lang="es-ES" sz="1350" b="0" strike="noStrike" spc="-1">
              <a:latin typeface="Arial"/>
            </a:endParaRPr>
          </a:p>
        </p:txBody>
      </p:sp>
      <p:sp>
        <p:nvSpPr>
          <p:cNvPr id="152" name="CustomShape 19"/>
          <p:cNvSpPr/>
          <p:nvPr/>
        </p:nvSpPr>
        <p:spPr>
          <a:xfrm>
            <a:off x="6603840" y="2444760"/>
            <a:ext cx="912240" cy="112680"/>
          </a:xfrm>
          <a:prstGeom prst="rect">
            <a:avLst/>
          </a:prstGeom>
          <a:solidFill>
            <a:schemeClr val="bg1"/>
          </a:solidFill>
          <a:ln/>
        </p:spPr>
        <p:style>
          <a:lnRef idx="2">
            <a:schemeClr val="accent1">
              <a:shade val="50000"/>
            </a:schemeClr>
          </a:lnRef>
          <a:fillRef idx="1">
            <a:schemeClr val="accent1"/>
          </a:fillRef>
          <a:effectRef idx="0">
            <a:schemeClr val="accent1"/>
          </a:effectRef>
          <a:fontRef idx="minor"/>
        </p:style>
      </p:sp>
      <p:sp>
        <p:nvSpPr>
          <p:cNvPr id="153" name="CustomShape 20"/>
          <p:cNvSpPr/>
          <p:nvPr/>
        </p:nvSpPr>
        <p:spPr>
          <a:xfrm>
            <a:off x="6603840" y="2557800"/>
            <a:ext cx="912240" cy="112680"/>
          </a:xfrm>
          <a:prstGeom prst="rect">
            <a:avLst/>
          </a:prstGeom>
          <a:solidFill>
            <a:schemeClr val="bg1"/>
          </a:solidFill>
          <a:ln/>
        </p:spPr>
        <p:style>
          <a:lnRef idx="2">
            <a:schemeClr val="accent1">
              <a:shade val="50000"/>
            </a:schemeClr>
          </a:lnRef>
          <a:fillRef idx="1">
            <a:schemeClr val="accent1"/>
          </a:fillRef>
          <a:effectRef idx="0">
            <a:schemeClr val="accent1"/>
          </a:effectRef>
          <a:fontRef idx="minor"/>
        </p:style>
      </p:sp>
      <p:sp>
        <p:nvSpPr>
          <p:cNvPr id="154" name="CustomShape 21"/>
          <p:cNvSpPr/>
          <p:nvPr/>
        </p:nvSpPr>
        <p:spPr>
          <a:xfrm>
            <a:off x="6603840" y="2670480"/>
            <a:ext cx="912240" cy="112680"/>
          </a:xfrm>
          <a:prstGeom prst="rect">
            <a:avLst/>
          </a:prstGeom>
          <a:solidFill>
            <a:schemeClr val="bg1"/>
          </a:solidFill>
          <a:ln/>
        </p:spPr>
        <p:style>
          <a:lnRef idx="2">
            <a:schemeClr val="accent1">
              <a:shade val="50000"/>
            </a:schemeClr>
          </a:lnRef>
          <a:fillRef idx="1">
            <a:schemeClr val="accent1"/>
          </a:fillRef>
          <a:effectRef idx="0">
            <a:schemeClr val="accent1"/>
          </a:effectRef>
          <a:fontRef idx="minor"/>
        </p:style>
      </p:sp>
      <p:sp>
        <p:nvSpPr>
          <p:cNvPr id="155" name="CustomShape 22"/>
          <p:cNvSpPr/>
          <p:nvPr/>
        </p:nvSpPr>
        <p:spPr>
          <a:xfrm>
            <a:off x="6603840" y="2783520"/>
            <a:ext cx="912240" cy="112680"/>
          </a:xfrm>
          <a:prstGeom prst="rect">
            <a:avLst/>
          </a:prstGeom>
          <a:solidFill>
            <a:schemeClr val="bg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000000"/>
                </a:solidFill>
                <a:latin typeface="Calibri"/>
              </a:rPr>
              <a:t>PC</a:t>
            </a:r>
            <a:endParaRPr lang="es-ES" sz="1100" b="0" strike="noStrike" spc="-1">
              <a:latin typeface="Arial"/>
            </a:endParaRPr>
          </a:p>
        </p:txBody>
      </p:sp>
      <p:sp>
        <p:nvSpPr>
          <p:cNvPr id="156" name="CustomShape 23"/>
          <p:cNvSpPr/>
          <p:nvPr/>
        </p:nvSpPr>
        <p:spPr>
          <a:xfrm>
            <a:off x="6603840" y="2896200"/>
            <a:ext cx="912240" cy="112680"/>
          </a:xfrm>
          <a:prstGeom prst="rect">
            <a:avLst/>
          </a:prstGeom>
          <a:solidFill>
            <a:schemeClr val="bg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000000"/>
                </a:solidFill>
                <a:latin typeface="Calibri"/>
              </a:rPr>
              <a:t>SP</a:t>
            </a:r>
            <a:endParaRPr lang="es-ES" sz="1100" b="0" strike="noStrike" spc="-1">
              <a:latin typeface="Arial"/>
            </a:endParaRPr>
          </a:p>
        </p:txBody>
      </p:sp>
      <p:sp>
        <p:nvSpPr>
          <p:cNvPr id="157" name="CustomShape 24"/>
          <p:cNvSpPr/>
          <p:nvPr/>
        </p:nvSpPr>
        <p:spPr>
          <a:xfrm>
            <a:off x="6603840" y="3009240"/>
            <a:ext cx="912240" cy="112680"/>
          </a:xfrm>
          <a:prstGeom prst="rect">
            <a:avLst/>
          </a:prstGeom>
          <a:solidFill>
            <a:schemeClr val="bg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000000"/>
                </a:solidFill>
                <a:latin typeface="Calibri"/>
              </a:rPr>
              <a:t>IR</a:t>
            </a:r>
            <a:endParaRPr lang="es-ES" sz="1100" b="0" strike="noStrike" spc="-1">
              <a:latin typeface="Arial"/>
            </a:endParaRPr>
          </a:p>
        </p:txBody>
      </p:sp>
      <p:sp>
        <p:nvSpPr>
          <p:cNvPr id="158" name="CustomShape 25"/>
          <p:cNvSpPr/>
          <p:nvPr/>
        </p:nvSpPr>
        <p:spPr>
          <a:xfrm>
            <a:off x="6603840" y="3657600"/>
            <a:ext cx="1181160" cy="1056600"/>
          </a:xfrm>
          <a:prstGeom prst="flowChartMagneticDisk">
            <a:avLst/>
          </a:prstGeom>
          <a:noFill/>
          <a:ln w="19080">
            <a:solidFill>
              <a:schemeClr val="bg2">
                <a:lumMod val="75000"/>
              </a:schemeClr>
            </a:solidFill>
          </a:ln>
        </p:spPr>
        <p:style>
          <a:lnRef idx="2">
            <a:schemeClr val="accent1">
              <a:shade val="50000"/>
            </a:schemeClr>
          </a:lnRef>
          <a:fillRef idx="1">
            <a:schemeClr val="accent1"/>
          </a:fillRef>
          <a:effectRef idx="0">
            <a:schemeClr val="accent1"/>
          </a:effectRef>
          <a:fontRef idx="minor"/>
        </p:style>
      </p:sp>
      <p:sp>
        <p:nvSpPr>
          <p:cNvPr id="159" name="CustomShape 26"/>
          <p:cNvSpPr/>
          <p:nvPr/>
        </p:nvSpPr>
        <p:spPr>
          <a:xfrm>
            <a:off x="6693840" y="4028040"/>
            <a:ext cx="1001160" cy="338400"/>
          </a:xfrm>
          <a:prstGeom prst="rect">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000000"/>
                </a:solidFill>
                <a:latin typeface="Calibri"/>
              </a:rPr>
              <a:t>Ejecutable</a:t>
            </a:r>
            <a:endParaRPr lang="es-ES" sz="1350" b="0" strike="noStrike" spc="-1">
              <a:latin typeface="Arial"/>
            </a:endParaRPr>
          </a:p>
        </p:txBody>
      </p:sp>
      <p:sp>
        <p:nvSpPr>
          <p:cNvPr id="160" name="CustomShape 27"/>
          <p:cNvSpPr/>
          <p:nvPr/>
        </p:nvSpPr>
        <p:spPr>
          <a:xfrm>
            <a:off x="6846480" y="4447440"/>
            <a:ext cx="669600" cy="184320"/>
          </a:xfrm>
          <a:prstGeom prst="rect">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000000"/>
                </a:solidFill>
                <a:latin typeface="Calibri"/>
              </a:rPr>
              <a:t>swap</a:t>
            </a:r>
            <a:endParaRPr lang="es-ES" sz="1350" b="0" strike="noStrike" spc="-1">
              <a:latin typeface="Arial"/>
            </a:endParaRPr>
          </a:p>
        </p:txBody>
      </p:sp>
      <p:sp>
        <p:nvSpPr>
          <p:cNvPr id="161" name="CustomShape 28"/>
          <p:cNvSpPr/>
          <p:nvPr/>
        </p:nvSpPr>
        <p:spPr>
          <a:xfrm>
            <a:off x="5065560" y="4245840"/>
            <a:ext cx="801000" cy="468000"/>
          </a:xfrm>
          <a:prstGeom prst="rect">
            <a:avLst/>
          </a:prstGeom>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000000"/>
                </a:solidFill>
                <a:latin typeface="Calibri"/>
              </a:rPr>
              <a:t>Kernel stack</a:t>
            </a:r>
            <a:endParaRPr lang="es-ES" sz="11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dirty="0">
                <a:solidFill>
                  <a:srgbClr val="5B9BD5"/>
                </a:solidFill>
                <a:latin typeface="Calibri Light"/>
              </a:rPr>
              <a:t>Mapa del Proceso</a:t>
            </a:r>
            <a:endParaRPr lang="es-ES" sz="3600" b="0" strike="noStrike" spc="-1" dirty="0">
              <a:solidFill>
                <a:srgbClr val="000000"/>
              </a:solidFill>
              <a:latin typeface="Calibri"/>
            </a:endParaRPr>
          </a:p>
        </p:txBody>
      </p:sp>
      <p:sp>
        <p:nvSpPr>
          <p:cNvPr id="163" name="CustomShape 2"/>
          <p:cNvSpPr/>
          <p:nvPr/>
        </p:nvSpPr>
        <p:spPr>
          <a:xfrm>
            <a:off x="1776240" y="892800"/>
            <a:ext cx="686196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dirty="0">
                <a:solidFill>
                  <a:srgbClr val="000000"/>
                </a:solidFill>
                <a:latin typeface="Calibri"/>
              </a:rPr>
              <a:t>Además de los datos en memoria, el proceso necesita otras informaciones para funcionar correctamente.</a:t>
            </a:r>
            <a:endParaRPr lang="es-ES" sz="1350" b="0" strike="noStrike" spc="-1" dirty="0">
              <a:latin typeface="Arial"/>
            </a:endParaRPr>
          </a:p>
          <a:p>
            <a:pPr algn="just">
              <a:lnSpc>
                <a:spcPct val="100000"/>
              </a:lnSpc>
            </a:pPr>
            <a:endParaRPr lang="es-ES" sz="1350" b="0" strike="noStrike" spc="-1" dirty="0">
              <a:latin typeface="Arial"/>
            </a:endParaRPr>
          </a:p>
          <a:p>
            <a:pPr marL="285840" indent="-285480" algn="just">
              <a:lnSpc>
                <a:spcPct val="100000"/>
              </a:lnSpc>
              <a:buClr>
                <a:srgbClr val="000000"/>
              </a:buClr>
              <a:buFont typeface="Arial"/>
              <a:buChar char="•"/>
            </a:pPr>
            <a:r>
              <a:rPr lang="es-ES" sz="1350" b="1" strike="noStrike" spc="-1" dirty="0">
                <a:solidFill>
                  <a:srgbClr val="000000"/>
                </a:solidFill>
                <a:latin typeface="Calibri"/>
              </a:rPr>
              <a:t>Registros de la CPU</a:t>
            </a:r>
            <a:r>
              <a:rPr lang="es-ES" sz="1350" b="0" strike="noStrike" spc="-1" dirty="0">
                <a:solidFill>
                  <a:srgbClr val="000000"/>
                </a:solidFill>
                <a:latin typeface="Calibri"/>
              </a:rPr>
              <a:t>. Mientras dura la ejecución de un proceso los registros de propósito general contienen datos de su propiedad. También es información crítica para el proceso la del contador de programa (PC), puntero de pila (SP) o registro de interrupción (IR), entre otros. Estos registros se guardarán en </a:t>
            </a:r>
            <a:r>
              <a:rPr lang="es-ES" sz="1350" b="0" strike="noStrike" spc="-1">
                <a:solidFill>
                  <a:srgbClr val="000000"/>
                </a:solidFill>
                <a:latin typeface="Calibri"/>
              </a:rPr>
              <a:t>el BCP proceso </a:t>
            </a:r>
            <a:r>
              <a:rPr lang="es-ES" sz="1350" b="0" strike="noStrike" spc="-1" dirty="0">
                <a:solidFill>
                  <a:srgbClr val="000000"/>
                </a:solidFill>
                <a:latin typeface="Calibri"/>
              </a:rPr>
              <a:t>si es expulsado de la CPU para poder volver al punto correcto de ejecución. Se conocen como </a:t>
            </a:r>
            <a:r>
              <a:rPr lang="es-ES" sz="1350" b="1" strike="noStrike" spc="-1" dirty="0">
                <a:solidFill>
                  <a:srgbClr val="000000"/>
                </a:solidFill>
                <a:latin typeface="Calibri"/>
              </a:rPr>
              <a:t>estado del procesador.</a:t>
            </a:r>
            <a:endParaRPr lang="es-ES" sz="1350" b="0" strike="noStrike" spc="-1" dirty="0">
              <a:latin typeface="Arial"/>
            </a:endParaRPr>
          </a:p>
          <a:p>
            <a:pPr marL="285840" indent="-285480" algn="just">
              <a:lnSpc>
                <a:spcPct val="100000"/>
              </a:lnSpc>
              <a:buClr>
                <a:srgbClr val="000000"/>
              </a:buClr>
              <a:buFont typeface="Arial"/>
              <a:buChar char="•"/>
            </a:pPr>
            <a:r>
              <a:rPr lang="es-ES" sz="1350" b="1" strike="noStrike" spc="-1" dirty="0">
                <a:solidFill>
                  <a:srgbClr val="000000"/>
                </a:solidFill>
                <a:latin typeface="Calibri"/>
              </a:rPr>
              <a:t>Entorno. </a:t>
            </a:r>
            <a:r>
              <a:rPr lang="es-ES" sz="1350" b="0" strike="noStrike" spc="-1" dirty="0">
                <a:solidFill>
                  <a:srgbClr val="000000"/>
                </a:solidFill>
                <a:latin typeface="Calibri"/>
              </a:rPr>
              <a:t>Datos globales que hereda el proceso al nacer como $PATH o $HOME. Son pares clave/valor que se pasan por el </a:t>
            </a:r>
            <a:r>
              <a:rPr lang="es-ES" sz="1350" b="0" strike="noStrike" spc="-1" dirty="0" err="1">
                <a:solidFill>
                  <a:srgbClr val="000000"/>
                </a:solidFill>
                <a:latin typeface="Calibri"/>
              </a:rPr>
              <a:t>stack</a:t>
            </a:r>
            <a:r>
              <a:rPr lang="es-ES" sz="1350" b="0" strike="noStrike" spc="-1" dirty="0">
                <a:solidFill>
                  <a:srgbClr val="000000"/>
                </a:solidFill>
                <a:latin typeface="Calibri"/>
              </a:rPr>
              <a:t> del proceso al crearlo.</a:t>
            </a:r>
            <a:endParaRPr lang="es-ES" sz="1350" b="0" strike="noStrike" spc="-1" dirty="0">
              <a:latin typeface="Arial"/>
            </a:endParaRPr>
          </a:p>
          <a:p>
            <a:pPr marL="285840" indent="-285480" algn="just">
              <a:lnSpc>
                <a:spcPct val="100000"/>
              </a:lnSpc>
              <a:buClr>
                <a:srgbClr val="000000"/>
              </a:buClr>
              <a:buFont typeface="Arial"/>
              <a:buChar char="•"/>
            </a:pPr>
            <a:r>
              <a:rPr lang="es-ES" sz="1350" b="1" strike="noStrike" spc="-1" dirty="0">
                <a:solidFill>
                  <a:srgbClr val="000000"/>
                </a:solidFill>
                <a:latin typeface="Calibri"/>
              </a:rPr>
              <a:t>Metadatos</a:t>
            </a:r>
            <a:r>
              <a:rPr lang="es-ES" sz="1350" b="0" strike="noStrike" spc="-1" dirty="0">
                <a:solidFill>
                  <a:srgbClr val="000000"/>
                </a:solidFill>
                <a:latin typeface="Calibri"/>
              </a:rPr>
              <a:t>. Datos sobre el proceso que produce el Sistema Operativo durante la ejecución y que residen en la zona de memoria del </a:t>
            </a:r>
            <a:r>
              <a:rPr lang="es-ES" sz="1350" b="0" strike="noStrike" spc="-1" dirty="0" err="1">
                <a:solidFill>
                  <a:srgbClr val="000000"/>
                </a:solidFill>
                <a:latin typeface="Calibri"/>
              </a:rPr>
              <a:t>kernel</a:t>
            </a:r>
            <a:r>
              <a:rPr lang="es-ES" sz="1350" b="0" strike="noStrike" spc="-1" dirty="0">
                <a:solidFill>
                  <a:srgbClr val="000000"/>
                </a:solidFill>
                <a:latin typeface="Calibri"/>
              </a:rPr>
              <a:t>. El </a:t>
            </a:r>
            <a:r>
              <a:rPr lang="es-ES" sz="1350" b="1" strike="noStrike" spc="-1" dirty="0">
                <a:solidFill>
                  <a:srgbClr val="000000"/>
                </a:solidFill>
                <a:latin typeface="Calibri"/>
              </a:rPr>
              <a:t>Bloque de Control de Proceso (BCP) </a:t>
            </a:r>
            <a:r>
              <a:rPr lang="es-ES" sz="1350" b="0" strike="noStrike" spc="-1" dirty="0">
                <a:solidFill>
                  <a:srgbClr val="000000"/>
                </a:solidFill>
                <a:latin typeface="Calibri"/>
              </a:rPr>
              <a:t>guarda la identidad del proceso, su prioridad, su estado, etc. La </a:t>
            </a:r>
            <a:r>
              <a:rPr lang="es-ES" sz="1350" b="1" strike="noStrike" spc="-1" dirty="0">
                <a:solidFill>
                  <a:srgbClr val="000000"/>
                </a:solidFill>
                <a:latin typeface="Calibri"/>
              </a:rPr>
              <a:t>tabla de páginas</a:t>
            </a:r>
            <a:r>
              <a:rPr lang="es-ES" sz="1350" b="0" strike="noStrike" spc="-1" dirty="0">
                <a:solidFill>
                  <a:srgbClr val="000000"/>
                </a:solidFill>
                <a:latin typeface="Calibri"/>
              </a:rPr>
              <a:t> guarda la correspondencia entre las páginas de memoria virtual y los marcos en los que está cargado el proceso. El </a:t>
            </a:r>
            <a:r>
              <a:rPr lang="es-ES" sz="1350" b="1" strike="noStrike" spc="-1" dirty="0">
                <a:solidFill>
                  <a:srgbClr val="000000"/>
                </a:solidFill>
                <a:latin typeface="Calibri"/>
              </a:rPr>
              <a:t>mapa de E/S </a:t>
            </a:r>
            <a:r>
              <a:rPr lang="es-ES" sz="1350" b="0" strike="noStrike" spc="-1" dirty="0">
                <a:solidFill>
                  <a:srgbClr val="000000"/>
                </a:solidFill>
                <a:latin typeface="Calibri"/>
              </a:rPr>
              <a:t>almacena información sobre los descriptores de dispositivos de entrada/salida y ficheros que usa el proceso. </a:t>
            </a:r>
            <a:endParaRPr lang="es-ES" sz="1350" b="0" strike="noStrike" spc="-1" dirty="0">
              <a:latin typeface="Arial"/>
            </a:endParaRPr>
          </a:p>
          <a:p>
            <a:pPr marL="285840" indent="-285480" algn="just">
              <a:lnSpc>
                <a:spcPct val="100000"/>
              </a:lnSpc>
              <a:buClr>
                <a:srgbClr val="000000"/>
              </a:buClr>
              <a:buFont typeface="Arial"/>
              <a:buChar char="•"/>
            </a:pPr>
            <a:r>
              <a:rPr lang="es-ES" sz="1350" b="0" strike="noStrike" spc="-1" dirty="0">
                <a:solidFill>
                  <a:srgbClr val="000000"/>
                </a:solidFill>
                <a:latin typeface="Calibri"/>
              </a:rPr>
              <a:t>En el </a:t>
            </a:r>
            <a:r>
              <a:rPr lang="es-ES" sz="1350" b="1" strike="noStrike" spc="-1" dirty="0">
                <a:solidFill>
                  <a:srgbClr val="000000"/>
                </a:solidFill>
                <a:latin typeface="Calibri"/>
              </a:rPr>
              <a:t>disco</a:t>
            </a:r>
            <a:r>
              <a:rPr lang="es-ES" sz="1350" b="0" strike="noStrike" spc="-1" dirty="0">
                <a:solidFill>
                  <a:srgbClr val="000000"/>
                </a:solidFill>
                <a:latin typeface="Calibri"/>
              </a:rPr>
              <a:t> se guarda el código ejecutable del programa. También las páginas de la zona de swap cuando hay memoria virtual.</a:t>
            </a:r>
            <a:endParaRPr lang="es-ES" sz="135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Mapa del proceso en xv6</a:t>
            </a:r>
            <a:endParaRPr lang="es-ES" sz="3600" b="0" strike="noStrike" spc="-1">
              <a:solidFill>
                <a:srgbClr val="000000"/>
              </a:solidFill>
              <a:latin typeface="Calibri"/>
            </a:endParaRPr>
          </a:p>
        </p:txBody>
      </p:sp>
      <p:pic>
        <p:nvPicPr>
          <p:cNvPr id="165" name="Imagen 4"/>
          <p:cNvPicPr/>
          <p:nvPr/>
        </p:nvPicPr>
        <p:blipFill>
          <a:blip r:embed="rId3"/>
          <a:stretch/>
        </p:blipFill>
        <p:spPr>
          <a:xfrm>
            <a:off x="5778360" y="1306440"/>
            <a:ext cx="2846880" cy="3225960"/>
          </a:xfrm>
          <a:prstGeom prst="rect">
            <a:avLst/>
          </a:prstGeom>
          <a:ln>
            <a:noFill/>
          </a:ln>
        </p:spPr>
      </p:pic>
      <p:sp>
        <p:nvSpPr>
          <p:cNvPr id="166" name="CustomShape 2"/>
          <p:cNvSpPr/>
          <p:nvPr/>
        </p:nvSpPr>
        <p:spPr>
          <a:xfrm>
            <a:off x="1776240" y="1306440"/>
            <a:ext cx="3526920" cy="3584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En xv6 la imagen del proceso se instancia entre la dirección 00000000H y 80000000H. Por encima de esa dirección y hasta FE000000H se ubica el kernel. Este es el mapa de memoria que ve la CPU.</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Los procesos tienen dos stacks, uno en la zona de usuario (stack del proceso) y otro en la del kernel (stack del kernel). Esto es posible porque la arquitectura de Intel ofrece dos registros distintos SP y SP’ con este fin.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existencia de dos pilas permite no tener que hacer cambio de contexto solo por el paso de modo usuario a supervisor. Además, aunque la pila del proceso se corrompa, la del kernel no sufre y puede tratar la excepción</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Mapa del proceso en xv6</a:t>
            </a:r>
            <a:endParaRPr lang="es-ES" sz="3600" b="0" strike="noStrike" spc="-1">
              <a:solidFill>
                <a:srgbClr val="000000"/>
              </a:solidFill>
              <a:latin typeface="Calibri"/>
            </a:endParaRPr>
          </a:p>
        </p:txBody>
      </p:sp>
      <p:sp>
        <p:nvSpPr>
          <p:cNvPr id="168" name="CustomShape 2"/>
          <p:cNvSpPr/>
          <p:nvPr/>
        </p:nvSpPr>
        <p:spPr>
          <a:xfrm>
            <a:off x="1776240" y="923040"/>
            <a:ext cx="646164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Cada proceso tiene su propio BCP, con la siguiente estructura (fichero</a:t>
            </a:r>
            <a:r>
              <a:rPr lang="es-ES" sz="1200" b="0" strike="noStrike" spc="-1">
                <a:solidFill>
                  <a:srgbClr val="000000"/>
                </a:solidFill>
                <a:latin typeface="Lucida Console"/>
              </a:rPr>
              <a:t> proc.h</a:t>
            </a:r>
            <a:r>
              <a:rPr lang="es-ES" sz="1350" b="0" strike="noStrike" spc="-1">
                <a:solidFill>
                  <a:srgbClr val="000000"/>
                </a:solidFill>
                <a:latin typeface="Calibri"/>
              </a:rPr>
              <a:t>):</a:t>
            </a:r>
            <a:endParaRPr lang="es-ES" sz="1350" b="0" strike="noStrike" spc="-1">
              <a:latin typeface="Arial"/>
            </a:endParaRPr>
          </a:p>
        </p:txBody>
      </p:sp>
      <p:pic>
        <p:nvPicPr>
          <p:cNvPr id="169" name="Imagen 2"/>
          <p:cNvPicPr/>
          <p:nvPr/>
        </p:nvPicPr>
        <p:blipFill>
          <a:blip r:embed="rId3"/>
          <a:stretch/>
        </p:blipFill>
        <p:spPr>
          <a:xfrm>
            <a:off x="1776240" y="1464120"/>
            <a:ext cx="5629320" cy="2657520"/>
          </a:xfrm>
          <a:prstGeom prst="rect">
            <a:avLst/>
          </a:prstGeom>
          <a:ln>
            <a:noFill/>
          </a:ln>
        </p:spPr>
      </p:pic>
      <p:sp>
        <p:nvSpPr>
          <p:cNvPr id="170" name="CustomShape 3"/>
          <p:cNvSpPr/>
          <p:nvPr/>
        </p:nvSpPr>
        <p:spPr>
          <a:xfrm>
            <a:off x="7132320" y="366624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Nombre del ejecutable</a:t>
            </a:r>
            <a:endParaRPr lang="es-ES" sz="1100" b="0" strike="noStrike" spc="-1">
              <a:latin typeface="Arial"/>
            </a:endParaRPr>
          </a:p>
        </p:txBody>
      </p:sp>
      <p:sp>
        <p:nvSpPr>
          <p:cNvPr id="171" name="CustomShape 4"/>
          <p:cNvSpPr/>
          <p:nvPr/>
        </p:nvSpPr>
        <p:spPr>
          <a:xfrm>
            <a:off x="7132320" y="189036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Puntero a la tabla de páginas</a:t>
            </a:r>
            <a:endParaRPr lang="es-ES" sz="1100" b="0" strike="noStrike" spc="-1">
              <a:latin typeface="Arial"/>
            </a:endParaRPr>
          </a:p>
        </p:txBody>
      </p:sp>
      <p:sp>
        <p:nvSpPr>
          <p:cNvPr id="172" name="CustomShape 5"/>
          <p:cNvSpPr/>
          <p:nvPr/>
        </p:nvSpPr>
        <p:spPr>
          <a:xfrm>
            <a:off x="7132320" y="205776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Pila del kernel</a:t>
            </a:r>
            <a:endParaRPr lang="es-ES" sz="1100" b="0" strike="noStrike" spc="-1">
              <a:latin typeface="Arial"/>
            </a:endParaRPr>
          </a:p>
        </p:txBody>
      </p:sp>
      <p:sp>
        <p:nvSpPr>
          <p:cNvPr id="173" name="CustomShape 6"/>
          <p:cNvSpPr/>
          <p:nvPr/>
        </p:nvSpPr>
        <p:spPr>
          <a:xfrm>
            <a:off x="7132320" y="219852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Estado </a:t>
            </a:r>
            <a:endParaRPr lang="es-ES" sz="1100" b="0" strike="noStrike" spc="-1">
              <a:latin typeface="Arial"/>
            </a:endParaRPr>
          </a:p>
        </p:txBody>
      </p:sp>
      <p:sp>
        <p:nvSpPr>
          <p:cNvPr id="174" name="CustomShape 7"/>
          <p:cNvSpPr/>
          <p:nvPr/>
        </p:nvSpPr>
        <p:spPr>
          <a:xfrm>
            <a:off x="7132320" y="233928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pid </a:t>
            </a:r>
            <a:endParaRPr lang="es-ES" sz="1100" b="0" strike="noStrike" spc="-1">
              <a:latin typeface="Arial"/>
            </a:endParaRPr>
          </a:p>
        </p:txBody>
      </p:sp>
      <p:sp>
        <p:nvSpPr>
          <p:cNvPr id="175" name="CustomShape 8"/>
          <p:cNvSpPr/>
          <p:nvPr/>
        </p:nvSpPr>
        <p:spPr>
          <a:xfrm>
            <a:off x="7132320" y="250452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Puntero al BCP del padre</a:t>
            </a:r>
            <a:endParaRPr lang="es-ES" sz="1100" b="0" strike="noStrike" spc="-1">
              <a:latin typeface="Arial"/>
            </a:endParaRPr>
          </a:p>
        </p:txBody>
      </p:sp>
      <p:sp>
        <p:nvSpPr>
          <p:cNvPr id="176" name="CustomShape 9"/>
          <p:cNvSpPr/>
          <p:nvPr/>
        </p:nvSpPr>
        <p:spPr>
          <a:xfrm>
            <a:off x="7132320" y="267948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Estado del procesador</a:t>
            </a:r>
            <a:endParaRPr lang="es-ES" sz="1100" b="0" strike="noStrike" spc="-1">
              <a:latin typeface="Arial"/>
            </a:endParaRPr>
          </a:p>
        </p:txBody>
      </p:sp>
      <p:sp>
        <p:nvSpPr>
          <p:cNvPr id="177" name="CustomShape 10"/>
          <p:cNvSpPr/>
          <p:nvPr/>
        </p:nvSpPr>
        <p:spPr>
          <a:xfrm>
            <a:off x="7132320" y="337896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Vector de ficheros abiertos</a:t>
            </a:r>
            <a:endParaRPr lang="es-ES" sz="1100" b="0" strike="noStrike" spc="-1">
              <a:latin typeface="Arial"/>
            </a:endParaRPr>
          </a:p>
        </p:txBody>
      </p:sp>
      <p:sp>
        <p:nvSpPr>
          <p:cNvPr id="178" name="CustomShape 11"/>
          <p:cNvSpPr/>
          <p:nvPr/>
        </p:nvSpPr>
        <p:spPr>
          <a:xfrm>
            <a:off x="7132320" y="351468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Directorio de ejecución</a:t>
            </a:r>
            <a:endParaRPr lang="es-ES" sz="1100" b="0" strike="noStrike" spc="-1">
              <a:latin typeface="Arial"/>
            </a:endParaRPr>
          </a:p>
        </p:txBody>
      </p:sp>
      <p:sp>
        <p:nvSpPr>
          <p:cNvPr id="179" name="CustomShape 12"/>
          <p:cNvSpPr/>
          <p:nvPr/>
        </p:nvSpPr>
        <p:spPr>
          <a:xfrm>
            <a:off x="6670800" y="284436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Contexto de la CPU en la pila del kernel</a:t>
            </a:r>
            <a:endParaRPr lang="es-ES" sz="1100" b="0" strike="noStrike" spc="-1">
              <a:latin typeface="Arial"/>
            </a:endParaRPr>
          </a:p>
        </p:txBody>
      </p:sp>
      <p:sp>
        <p:nvSpPr>
          <p:cNvPr id="180" name="CustomShape 13"/>
          <p:cNvSpPr/>
          <p:nvPr/>
        </p:nvSpPr>
        <p:spPr>
          <a:xfrm>
            <a:off x="7132320" y="1728000"/>
            <a:ext cx="29520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FF0000"/>
                </a:solidFill>
                <a:latin typeface="Calibri"/>
              </a:rPr>
              <a:t>Tamaño</a:t>
            </a:r>
            <a:endParaRPr lang="es-ES" sz="1100" b="0" strike="noStrike" spc="-1">
              <a:latin typeface="Arial"/>
            </a:endParaRPr>
          </a:p>
        </p:txBody>
      </p:sp>
      <p:sp>
        <p:nvSpPr>
          <p:cNvPr id="181" name="CustomShape 14"/>
          <p:cNvSpPr/>
          <p:nvPr/>
        </p:nvSpPr>
        <p:spPr>
          <a:xfrm>
            <a:off x="1624320" y="4826520"/>
            <a:ext cx="504612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u="sng" strike="noStrike" spc="-1">
                <a:solidFill>
                  <a:srgbClr val="0563C1"/>
                </a:solidFill>
                <a:uFillTx/>
                <a:latin typeface="Calibri"/>
                <a:hlinkClick r:id="rId4"/>
              </a:rPr>
              <a:t>https://www.tldp.org/LDP/tlk/ds/ds.html</a:t>
            </a:r>
            <a:endParaRPr lang="es-ES" sz="1350" b="0" strike="noStrike" spc="-1">
              <a:latin typeface="Arial"/>
            </a:endParaRPr>
          </a:p>
        </p:txBody>
      </p:sp>
      <p:sp>
        <p:nvSpPr>
          <p:cNvPr id="182" name="CustomShape 15"/>
          <p:cNvSpPr/>
          <p:nvPr/>
        </p:nvSpPr>
        <p:spPr>
          <a:xfrm>
            <a:off x="1624320" y="4570200"/>
            <a:ext cx="646164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La estructura del BCP en Linux se llama </a:t>
            </a:r>
            <a:r>
              <a:rPr lang="es-ES" sz="1200" b="0" strike="noStrike" spc="-1">
                <a:solidFill>
                  <a:srgbClr val="000000"/>
                </a:solidFill>
                <a:latin typeface="Lucida Console"/>
              </a:rPr>
              <a:t>task_struct </a:t>
            </a:r>
            <a:r>
              <a:rPr lang="es-ES" sz="1350" b="0" strike="noStrike" spc="-1">
                <a:solidFill>
                  <a:srgbClr val="000000"/>
                </a:solidFill>
                <a:latin typeface="Calibri"/>
              </a:rPr>
              <a:t>y puede consultarse aquí:</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Mapa del proceso en Linux</a:t>
            </a:r>
            <a:endParaRPr lang="es-ES" sz="3600" b="0" strike="noStrike" spc="-1">
              <a:solidFill>
                <a:srgbClr val="000000"/>
              </a:solidFill>
              <a:latin typeface="Calibri"/>
            </a:endParaRPr>
          </a:p>
        </p:txBody>
      </p:sp>
      <p:sp>
        <p:nvSpPr>
          <p:cNvPr id="184" name="CustomShape 2"/>
          <p:cNvSpPr/>
          <p:nvPr/>
        </p:nvSpPr>
        <p:spPr>
          <a:xfrm>
            <a:off x="1838880" y="995040"/>
            <a:ext cx="6461640" cy="21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La estructura del BCP en Linux, es mucho más compleja que en xv6. Se llama </a:t>
            </a:r>
            <a:r>
              <a:rPr lang="es-ES" sz="1200" b="0" strike="noStrike" spc="-1">
                <a:solidFill>
                  <a:srgbClr val="000000"/>
                </a:solidFill>
                <a:latin typeface="Lucida Console"/>
              </a:rPr>
              <a:t>task_struct </a:t>
            </a:r>
            <a:r>
              <a:rPr lang="es-ES" sz="1350" b="0" strike="noStrike" spc="-1">
                <a:solidFill>
                  <a:srgbClr val="000000"/>
                </a:solidFill>
                <a:latin typeface="Calibri"/>
              </a:rPr>
              <a:t>y puede consultarse en </a:t>
            </a:r>
            <a:r>
              <a:rPr lang="es-ES" sz="1350" b="0" u="sng" strike="noStrike" spc="-1">
                <a:solidFill>
                  <a:srgbClr val="0563C1"/>
                </a:solidFill>
                <a:uFillTx/>
                <a:latin typeface="Calibri"/>
                <a:hlinkClick r:id="rId3"/>
              </a:rPr>
              <a:t>https://www.tldp.org/LDP/tlk/ds/ds.html</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a:t>
            </a:r>
            <a:r>
              <a:rPr lang="es-ES" sz="1200" b="0" strike="noStrike" spc="-1">
                <a:solidFill>
                  <a:srgbClr val="000000"/>
                </a:solidFill>
                <a:latin typeface="Lucida Console"/>
              </a:rPr>
              <a:t>task_struct </a:t>
            </a:r>
            <a:r>
              <a:rPr lang="es-ES" sz="1350" b="0" strike="noStrike" spc="-1">
                <a:solidFill>
                  <a:srgbClr val="000000"/>
                </a:solidFill>
                <a:latin typeface="Calibri"/>
              </a:rPr>
              <a:t>se instancia en la pila del espacio del kernel del proceso. Para que el sistema pueda recorrer todos los BCP se organizan como una lista circular doblemente ecandenada, esto es, cada </a:t>
            </a:r>
            <a:r>
              <a:rPr lang="es-ES" sz="1200" b="0" strike="noStrike" spc="-1">
                <a:solidFill>
                  <a:srgbClr val="000000"/>
                </a:solidFill>
                <a:latin typeface="Lucida Console"/>
              </a:rPr>
              <a:t>task_struct </a:t>
            </a:r>
            <a:r>
              <a:rPr lang="es-ES" sz="1350" b="0" strike="noStrike" spc="-1">
                <a:solidFill>
                  <a:srgbClr val="000000"/>
                </a:solidFill>
                <a:latin typeface="Calibri"/>
              </a:rPr>
              <a:t>contiene un puntero hacia el stack del proceso anterior y del siguiente. Cuando se crea o destruye un proceso, el SO tiene que ser capaz de insertar o eliminar el BCP de la lista. Recuerda que un fallo en el funcionamiento de esta parte crítica provocaría un </a:t>
            </a:r>
            <a:r>
              <a:rPr lang="es-ES" sz="1350" b="0" i="1" strike="noStrike" spc="-1">
                <a:solidFill>
                  <a:srgbClr val="000000"/>
                </a:solidFill>
                <a:latin typeface="Calibri"/>
              </a:rPr>
              <a:t>kernel panic (</a:t>
            </a:r>
            <a:r>
              <a:rPr lang="es-ES" sz="1350" b="0" strike="noStrike" spc="-1">
                <a:solidFill>
                  <a:srgbClr val="000000"/>
                </a:solidFill>
                <a:latin typeface="Calibri"/>
              </a:rPr>
              <a:t>una “muerte azul” en Windows, por ejemplo).</a:t>
            </a:r>
            <a:endParaRPr lang="es-ES" sz="1350" b="0" strike="noStrike" spc="-1">
              <a:latin typeface="Arial"/>
            </a:endParaRPr>
          </a:p>
        </p:txBody>
      </p:sp>
      <p:pic>
        <p:nvPicPr>
          <p:cNvPr id="185" name="Picture 2"/>
          <p:cNvPicPr/>
          <p:nvPr/>
        </p:nvPicPr>
        <p:blipFill>
          <a:blip r:embed="rId4"/>
          <a:stretch/>
        </p:blipFill>
        <p:spPr>
          <a:xfrm>
            <a:off x="5413680" y="3070440"/>
            <a:ext cx="2768040" cy="1843920"/>
          </a:xfrm>
          <a:prstGeom prst="rect">
            <a:avLst/>
          </a:prstGeom>
          <a:ln>
            <a:noFill/>
          </a:ln>
        </p:spPr>
      </p:pic>
      <p:sp>
        <p:nvSpPr>
          <p:cNvPr id="186" name="CustomShape 3"/>
          <p:cNvSpPr/>
          <p:nvPr/>
        </p:nvSpPr>
        <p:spPr>
          <a:xfrm>
            <a:off x="1838880" y="4667400"/>
            <a:ext cx="32814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r>
              <a:rPr lang="es-ES" sz="1100" b="0" strike="noStrike" spc="-1">
                <a:solidFill>
                  <a:srgbClr val="000000"/>
                </a:solidFill>
                <a:latin typeface="Calibri"/>
              </a:rPr>
              <a:t>Un kernel panic en Unix. Mal asunto</a:t>
            </a:r>
            <a:endParaRPr lang="es-ES" sz="11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dirty="0">
                <a:solidFill>
                  <a:srgbClr val="5B9BD5"/>
                </a:solidFill>
                <a:latin typeface="Calibri Light"/>
              </a:rPr>
              <a:t>Ciclo de vida del proceso</a:t>
            </a:r>
            <a:endParaRPr lang="es-ES" sz="3600" b="0" strike="noStrike" spc="-1" dirty="0">
              <a:solidFill>
                <a:srgbClr val="000000"/>
              </a:solidFill>
              <a:latin typeface="Calibri"/>
            </a:endParaRPr>
          </a:p>
        </p:txBody>
      </p:sp>
      <p:sp>
        <p:nvSpPr>
          <p:cNvPr id="188" name="CustomShape 2"/>
          <p:cNvSpPr/>
          <p:nvPr/>
        </p:nvSpPr>
        <p:spPr>
          <a:xfrm>
            <a:off x="1776240" y="923040"/>
            <a:ext cx="6755040" cy="4201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La vida del proceso abarca desde su primera invocación hasta la liberación de todos recursos que ocupaba, tanto en el espacio usuario como en las tablas del sistema. La ejecución se verá interrumpida en múltiples ocasiones durante su existencia.</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1" u="sng" strike="noStrike" spc="-1">
                <a:solidFill>
                  <a:srgbClr val="000000"/>
                </a:solidFill>
                <a:uFillTx/>
                <a:latin typeface="Calibri"/>
              </a:rPr>
              <a:t>Creación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El proceso solo se crea por petición expresa de otro proceso (primitivas </a:t>
            </a:r>
            <a:r>
              <a:rPr lang="es-ES" sz="1100" b="0" strike="noStrike" spc="-1">
                <a:solidFill>
                  <a:srgbClr val="000000"/>
                </a:solidFill>
                <a:latin typeface="Lucida Sans Typewriter"/>
              </a:rPr>
              <a:t>fork() </a:t>
            </a:r>
            <a:r>
              <a:rPr lang="es-ES" sz="1350" b="0" strike="noStrike" spc="-1">
                <a:solidFill>
                  <a:srgbClr val="000000"/>
                </a:solidFill>
                <a:latin typeface="Calibri"/>
              </a:rPr>
              <a:t>y </a:t>
            </a:r>
            <a:r>
              <a:rPr lang="es-ES" sz="1100" b="0" strike="noStrike" spc="-1">
                <a:solidFill>
                  <a:srgbClr val="000000"/>
                </a:solidFill>
                <a:latin typeface="Lucida Sans Typewriter"/>
              </a:rPr>
              <a:t>exec()</a:t>
            </a:r>
            <a:r>
              <a:rPr lang="es-ES" sz="1350" b="0" strike="noStrike" spc="-1">
                <a:solidFill>
                  <a:srgbClr val="000000"/>
                </a:solidFill>
                <a:latin typeface="Calibri"/>
              </a:rPr>
              <a:t>). Así, cuando en la shell invocamos cualquier comando (</a:t>
            </a:r>
            <a:r>
              <a:rPr lang="es-ES" sz="1100" b="0" strike="noStrike" spc="-1">
                <a:solidFill>
                  <a:srgbClr val="000000"/>
                </a:solidFill>
                <a:latin typeface="Lucida Console"/>
              </a:rPr>
              <a:t>ls, cat, rm</a:t>
            </a:r>
            <a:r>
              <a:rPr lang="es-ES" sz="1350" b="0" strike="noStrike" spc="-1">
                <a:solidFill>
                  <a:srgbClr val="000000"/>
                </a:solidFill>
                <a:latin typeface="Calibri"/>
              </a:rPr>
              <a:t>,…) la shell es el proceso padre del ejecutable de cada uno de esos comandos. Las operaciones necesarias para crear un proceso son:</a:t>
            </a:r>
            <a:endParaRPr lang="es-ES" sz="1350" b="0" strike="noStrike" spc="-1">
              <a:latin typeface="Arial"/>
            </a:endParaRPr>
          </a:p>
          <a:p>
            <a:pPr algn="just">
              <a:lnSpc>
                <a:spcPct val="100000"/>
              </a:lnSpc>
            </a:pP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Asignar la imagen de memoria. Si el sistema usa memorial virtual (lección 4) esta parte incluirá crear y rellenar la tabla de páginas.</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Seleccionar un BCP libre en la tabla correspondiente del kernel y rellenarlo con los datos del nuevo proceso.</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Cargar el ejecutable y los datos estáticos inicializados en la memoria del proceso.</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Crear la pila y el heap.</a:t>
            </a:r>
            <a:endParaRPr lang="es-ES" sz="1350" b="0" strike="noStrike" spc="-1">
              <a:latin typeface="Arial"/>
            </a:endParaRPr>
          </a:p>
          <a:p>
            <a:pPr algn="just">
              <a:lnSpc>
                <a:spcPct val="100000"/>
              </a:lnSpc>
            </a:pPr>
            <a:r>
              <a:rPr lang="es-ES" sz="1350" b="0" strike="noStrike" spc="-1">
                <a:solidFill>
                  <a:srgbClr val="000000"/>
                </a:solidFill>
                <a:latin typeface="Calibri"/>
              </a:rPr>
              <a:t> </a:t>
            </a:r>
            <a:endParaRPr lang="es-ES" sz="1350" b="0" strike="noStrike" spc="-1">
              <a:latin typeface="Arial"/>
            </a:endParaRPr>
          </a:p>
          <a:p>
            <a:pPr algn="just">
              <a:lnSpc>
                <a:spcPct val="100000"/>
              </a:lnSpc>
            </a:pPr>
            <a:r>
              <a:rPr lang="es-ES" sz="1350" b="0" strike="noStrike" spc="-1">
                <a:solidFill>
                  <a:srgbClr val="000000"/>
                </a:solidFill>
                <a:latin typeface="Calibri"/>
              </a:rPr>
              <a:t>Mientras duren estas tareas en el estado del proceso en </a:t>
            </a:r>
            <a:r>
              <a:rPr lang="es-ES" sz="1350" b="1" strike="noStrike" spc="-1">
                <a:solidFill>
                  <a:srgbClr val="000000"/>
                </a:solidFill>
                <a:latin typeface="Calibri"/>
              </a:rPr>
              <a:t>Nuevo</a:t>
            </a:r>
            <a:r>
              <a:rPr lang="es-ES" sz="1350" b="0" strike="noStrike" spc="-1">
                <a:solidFill>
                  <a:srgbClr val="000000"/>
                </a:solidFill>
                <a:latin typeface="Calibri"/>
              </a:rPr>
              <a:t>. Al completarse se marca como </a:t>
            </a:r>
            <a:r>
              <a:rPr lang="es-ES" sz="1350" b="1" strike="noStrike" spc="-1">
                <a:solidFill>
                  <a:srgbClr val="000000"/>
                </a:solidFill>
                <a:latin typeface="Calibri"/>
              </a:rPr>
              <a:t>Listo</a:t>
            </a:r>
            <a:r>
              <a:rPr lang="es-ES" sz="1350" b="0" strike="noStrike" spc="-1">
                <a:solidFill>
                  <a:srgbClr val="000000"/>
                </a:solidFill>
                <a:latin typeface="Calibri"/>
              </a:rPr>
              <a:t> y entra en la cola del planificador.</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Ciclo de vida del proceso</a:t>
            </a:r>
            <a:endParaRPr lang="es-ES" sz="3600" b="0" strike="noStrike" spc="-1">
              <a:solidFill>
                <a:srgbClr val="000000"/>
              </a:solidFill>
              <a:latin typeface="Calibri"/>
            </a:endParaRPr>
          </a:p>
        </p:txBody>
      </p:sp>
      <p:sp>
        <p:nvSpPr>
          <p:cNvPr id="190" name="CustomShape 2"/>
          <p:cNvSpPr/>
          <p:nvPr/>
        </p:nvSpPr>
        <p:spPr>
          <a:xfrm>
            <a:off x="1776240" y="923040"/>
            <a:ext cx="6755040" cy="3584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500" b="1" u="sng" strike="noStrike" spc="-1" dirty="0">
                <a:solidFill>
                  <a:srgbClr val="000000"/>
                </a:solidFill>
                <a:uFillTx/>
                <a:latin typeface="Calibri"/>
              </a:rPr>
              <a:t>Activación</a:t>
            </a:r>
            <a:endParaRPr lang="es-ES" sz="1500" b="0" strike="noStrike" spc="-1" dirty="0">
              <a:latin typeface="Arial"/>
            </a:endParaRPr>
          </a:p>
          <a:p>
            <a:pPr algn="just">
              <a:lnSpc>
                <a:spcPct val="100000"/>
              </a:lnSpc>
            </a:pPr>
            <a:endParaRPr lang="es-ES" sz="1500" b="0" strike="noStrike" spc="-1" dirty="0">
              <a:latin typeface="Arial"/>
            </a:endParaRPr>
          </a:p>
          <a:p>
            <a:pPr algn="just">
              <a:lnSpc>
                <a:spcPct val="100000"/>
              </a:lnSpc>
            </a:pPr>
            <a:r>
              <a:rPr lang="es-ES" sz="1500" b="0" strike="noStrike" spc="-1" dirty="0">
                <a:solidFill>
                  <a:srgbClr val="000000"/>
                </a:solidFill>
                <a:latin typeface="Calibri"/>
              </a:rPr>
              <a:t>La activación del proceso consiste en ponerlo en ejecución, de ello se ocupa un componente del </a:t>
            </a:r>
            <a:r>
              <a:rPr lang="es-ES" sz="1500" b="0" i="1" strike="noStrike" spc="-1" dirty="0" err="1">
                <a:solidFill>
                  <a:srgbClr val="000000"/>
                </a:solidFill>
                <a:latin typeface="Calibri"/>
              </a:rPr>
              <a:t>kernel</a:t>
            </a:r>
            <a:r>
              <a:rPr lang="es-ES" sz="1500" b="0" strike="noStrike" spc="-1" dirty="0">
                <a:solidFill>
                  <a:srgbClr val="000000"/>
                </a:solidFill>
                <a:latin typeface="Calibri"/>
              </a:rPr>
              <a:t> llamado </a:t>
            </a:r>
            <a:r>
              <a:rPr lang="es-ES" sz="1500" b="0" i="1" strike="noStrike" spc="-1" dirty="0" err="1">
                <a:solidFill>
                  <a:srgbClr val="000000"/>
                </a:solidFill>
                <a:latin typeface="Calibri"/>
              </a:rPr>
              <a:t>dispatcher</a:t>
            </a:r>
            <a:r>
              <a:rPr lang="es-ES" sz="1500" b="0" strike="noStrike" spc="-1" dirty="0">
                <a:solidFill>
                  <a:srgbClr val="000000"/>
                </a:solidFill>
                <a:latin typeface="Calibri"/>
              </a:rPr>
              <a:t>. Para activarlo hay que recuperar los valores de los registros del micro (estado del procesador) que el proceso tenía antes de la última interrupción. Esos datos están almacenados en el BCP. </a:t>
            </a:r>
            <a:endParaRPr lang="es-ES" sz="1500" b="0" strike="noStrike" spc="-1" dirty="0">
              <a:latin typeface="Arial"/>
            </a:endParaRPr>
          </a:p>
          <a:p>
            <a:pPr algn="just">
              <a:lnSpc>
                <a:spcPct val="100000"/>
              </a:lnSpc>
            </a:pPr>
            <a:endParaRPr lang="es-ES" sz="1500" b="0" strike="noStrike" spc="-1" dirty="0">
              <a:latin typeface="Arial"/>
            </a:endParaRPr>
          </a:p>
          <a:p>
            <a:pPr algn="just">
              <a:lnSpc>
                <a:spcPct val="100000"/>
              </a:lnSpc>
            </a:pPr>
            <a:r>
              <a:rPr lang="es-ES" sz="1500" b="0" strike="noStrike" spc="-1" dirty="0">
                <a:solidFill>
                  <a:srgbClr val="000000"/>
                </a:solidFill>
                <a:latin typeface="Calibri"/>
              </a:rPr>
              <a:t>El </a:t>
            </a:r>
            <a:r>
              <a:rPr lang="es-ES" sz="1500" b="0" strike="noStrike" spc="-1" dirty="0" err="1">
                <a:solidFill>
                  <a:srgbClr val="000000"/>
                </a:solidFill>
                <a:latin typeface="Calibri"/>
              </a:rPr>
              <a:t>kernel</a:t>
            </a:r>
            <a:r>
              <a:rPr lang="es-ES" sz="1500" b="0" strike="noStrike" spc="-1" dirty="0">
                <a:solidFill>
                  <a:srgbClr val="000000"/>
                </a:solidFill>
                <a:latin typeface="Calibri"/>
              </a:rPr>
              <a:t> entra en ejecución en modo privilegiado, salva el contexto del proceso que estaba ocupando la CPU, rescata el nuevo del BCP del proceso seleccionado y antes de retornar de la interrupción al modo usuario coloca </a:t>
            </a:r>
            <a:r>
              <a:rPr lang="es-ES" sz="1500" spc="-1" dirty="0">
                <a:solidFill>
                  <a:srgbClr val="000000"/>
                </a:solidFill>
                <a:latin typeface="Calibri"/>
              </a:rPr>
              <a:t>en </a:t>
            </a:r>
            <a:r>
              <a:rPr lang="es-ES" sz="1500" spc="-1">
                <a:solidFill>
                  <a:srgbClr val="000000"/>
                </a:solidFill>
                <a:latin typeface="Calibri"/>
              </a:rPr>
              <a:t>el PC </a:t>
            </a:r>
            <a:r>
              <a:rPr lang="es-ES" sz="1500" b="0" strike="noStrike" spc="-1">
                <a:solidFill>
                  <a:srgbClr val="000000"/>
                </a:solidFill>
                <a:latin typeface="Calibri"/>
              </a:rPr>
              <a:t>el </a:t>
            </a:r>
            <a:r>
              <a:rPr lang="es-ES" sz="1500" b="0" strike="noStrike" spc="-1" dirty="0">
                <a:solidFill>
                  <a:srgbClr val="000000"/>
                </a:solidFill>
                <a:latin typeface="Calibri"/>
              </a:rPr>
              <a:t>valor de retorno de la dirección siguiente a aquella en que se interrumpió el proceso activado.</a:t>
            </a:r>
            <a:endParaRPr lang="es-ES" sz="1500" b="0" strike="noStrike" spc="-1" dirty="0">
              <a:latin typeface="Arial"/>
            </a:endParaRPr>
          </a:p>
          <a:p>
            <a:pPr algn="just">
              <a:lnSpc>
                <a:spcPct val="100000"/>
              </a:lnSpc>
            </a:pPr>
            <a:endParaRPr lang="es-ES" sz="1500" b="0" strike="noStrike" spc="-1" dirty="0">
              <a:latin typeface="Arial"/>
            </a:endParaRPr>
          </a:p>
          <a:p>
            <a:pPr algn="just">
              <a:lnSpc>
                <a:spcPct val="100000"/>
              </a:lnSpc>
            </a:pPr>
            <a:r>
              <a:rPr lang="es-ES" sz="1500" b="0" strike="noStrike" spc="-1" dirty="0">
                <a:solidFill>
                  <a:srgbClr val="000000"/>
                </a:solidFill>
                <a:latin typeface="Calibri"/>
              </a:rPr>
              <a:t>Todo este proceso es lo que se conoce como cambio de contexto y es muy costoso en tiempo. En sistemas con memoria virtual, la tabla de páginas cambia y se recarga la TLB (circuito de traducción que se explica con detalle en la lección 4).</a:t>
            </a:r>
            <a:endParaRPr lang="es-ES" sz="1500" b="0" strike="noStrike" spc="-1" dirty="0">
              <a:latin typeface="Arial"/>
            </a:endParaRPr>
          </a:p>
          <a:p>
            <a:pPr algn="just">
              <a:lnSpc>
                <a:spcPct val="100000"/>
              </a:lnSpc>
            </a:pPr>
            <a:endParaRPr lang="es-ES" sz="1500" b="0" strike="noStrike" spc="-1" dirty="0">
              <a:latin typeface="Arial"/>
            </a:endParaRPr>
          </a:p>
          <a:p>
            <a:pPr algn="just">
              <a:lnSpc>
                <a:spcPct val="100000"/>
              </a:lnSpc>
            </a:pPr>
            <a:endParaRPr lang="es-ES" sz="15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Ciclo de vida del proceso</a:t>
            </a:r>
            <a:endParaRPr lang="es-ES" sz="3600" b="0" strike="noStrike" spc="-1">
              <a:solidFill>
                <a:srgbClr val="000000"/>
              </a:solidFill>
              <a:latin typeface="Calibri"/>
            </a:endParaRPr>
          </a:p>
        </p:txBody>
      </p:sp>
      <p:sp>
        <p:nvSpPr>
          <p:cNvPr id="192" name="CustomShape 2"/>
          <p:cNvSpPr/>
          <p:nvPr/>
        </p:nvSpPr>
        <p:spPr>
          <a:xfrm>
            <a:off x="1776240" y="923040"/>
            <a:ext cx="675504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Interrupción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interrupción es una fase crítica porque activa al kernel. Puede producirse por un evento hardware o por una interrupción software (también conocido como </a:t>
            </a:r>
            <a:r>
              <a:rPr lang="es-ES" sz="1350" b="0" i="1" strike="noStrike" spc="-1">
                <a:solidFill>
                  <a:srgbClr val="000000"/>
                </a:solidFill>
                <a:latin typeface="Calibri"/>
              </a:rPr>
              <a:t>trap</a:t>
            </a:r>
            <a:r>
              <a:rPr lang="es-ES" sz="1350" b="0" strike="noStrike" spc="-1">
                <a:solidFill>
                  <a:srgbClr val="000000"/>
                </a:solidFill>
                <a:latin typeface="Calibri"/>
              </a:rPr>
              <a:t>). La interrupción hace que el procesador ejecute en modo privilegiado.</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Lo primero que hace el kernel es atender la interrupción en sí misma, enmascarando el resto. A continuación salva los registros del procesador visibles por el usuario en el stack de usuario del proceso que se está ejecutando.</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rutina de atención de la interrupción puede ser muy compleja pero en algún momento finalizará. El kernel puede haber bloqueado al proceso como consecuencia de la interrupción o haberlo expulsado a la cola de procesos en espera de ejecución (estado </a:t>
            </a:r>
            <a:r>
              <a:rPr lang="es-ES" sz="1350" b="1" strike="noStrike" spc="-1">
                <a:solidFill>
                  <a:srgbClr val="000000"/>
                </a:solidFill>
                <a:latin typeface="Calibri"/>
              </a:rPr>
              <a:t>Listo</a:t>
            </a:r>
            <a:r>
              <a:rPr lang="es-ES" sz="1350" b="0" strike="noStrike" spc="-1">
                <a:solidFill>
                  <a:srgbClr val="000000"/>
                </a:solidFill>
                <a:latin typeface="Calibri"/>
              </a:rPr>
              <a:t>). Si se produce una de esas dos circunstancias, el scheduler deberá decidir cual es el nuevo proceso que ocupa la CPU y proceder al cambio de contexto. Si, por el contrario, el proceso actual puede seguir ejecutándose, el kernel recupera el contexto desde la pila de usuario y al invocar la instrucción de retorno de interrupción, se regresa al entorno de usuario en el punto en que se interrumpió.</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Ciclo de vida del proceso</a:t>
            </a:r>
            <a:endParaRPr lang="es-ES" sz="3600" b="0" strike="noStrike" spc="-1">
              <a:solidFill>
                <a:srgbClr val="000000"/>
              </a:solidFill>
              <a:latin typeface="Calibri"/>
            </a:endParaRPr>
          </a:p>
        </p:txBody>
      </p:sp>
      <p:sp>
        <p:nvSpPr>
          <p:cNvPr id="194" name="CustomShape 2"/>
          <p:cNvSpPr/>
          <p:nvPr/>
        </p:nvSpPr>
        <p:spPr>
          <a:xfrm>
            <a:off x="1776240" y="923040"/>
            <a:ext cx="6755040" cy="3173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Finalización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Un proceso termina cuando el programador así lo decide, por ejemplo usando </a:t>
            </a:r>
            <a:r>
              <a:rPr lang="es-ES" sz="1100" b="0" strike="noStrike" spc="-1">
                <a:solidFill>
                  <a:srgbClr val="000000"/>
                </a:solidFill>
                <a:latin typeface="Lucida Sans Typewriter"/>
              </a:rPr>
              <a:t>exit() </a:t>
            </a:r>
            <a:r>
              <a:rPr lang="es-ES" sz="1350" b="0" strike="noStrike" spc="-1">
                <a:solidFill>
                  <a:srgbClr val="000000"/>
                </a:solidFill>
                <a:latin typeface="Calibri"/>
              </a:rPr>
              <a:t>o </a:t>
            </a:r>
            <a:r>
              <a:rPr lang="es-ES" sz="1100" b="0" strike="noStrike" spc="-1">
                <a:solidFill>
                  <a:srgbClr val="000000"/>
                </a:solidFill>
                <a:latin typeface="Lucida Sans Typewriter"/>
              </a:rPr>
              <a:t>return() </a:t>
            </a:r>
            <a:r>
              <a:rPr lang="es-ES" sz="1350" b="0" strike="noStrike" spc="-1">
                <a:solidFill>
                  <a:srgbClr val="000000"/>
                </a:solidFill>
                <a:latin typeface="Calibri"/>
              </a:rPr>
              <a:t>en la función </a:t>
            </a:r>
            <a:r>
              <a:rPr lang="es-ES" sz="1100" b="0" strike="noStrike" spc="-1">
                <a:solidFill>
                  <a:srgbClr val="000000"/>
                </a:solidFill>
                <a:latin typeface="Lucida Sans Typewriter"/>
              </a:rPr>
              <a:t>main() </a:t>
            </a:r>
            <a:r>
              <a:rPr lang="es-ES" sz="1350" b="0" strike="noStrike" spc="-1">
                <a:solidFill>
                  <a:srgbClr val="000000"/>
                </a:solidFill>
                <a:latin typeface="Calibri"/>
              </a:rPr>
              <a:t>de un programa en C.  También puede hacerlo de forma prematura, al recibir una señal como consecuencia de una situación anormal, como división por cero, violación de segmento, etc… </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Sea cual sea el motivo, la finalización del código del usuario no significa que el proceso deje de existir de inmediato. Hay recursos del Sistema Operativo que deben liberarse, como el BCP o la tabla de memoria y funciones que dependen del proceso muerto, como</a:t>
            </a:r>
            <a:r>
              <a:rPr lang="es-ES" sz="1100" b="0" strike="noStrike" spc="-1">
                <a:solidFill>
                  <a:srgbClr val="000000"/>
                </a:solidFill>
                <a:latin typeface="Lucida Sans Typewriter"/>
              </a:rPr>
              <a:t> wait()</a:t>
            </a:r>
            <a:r>
              <a:rPr lang="es-ES" sz="1350" b="0" strike="noStrike" spc="-1">
                <a:solidFill>
                  <a:srgbClr val="000000"/>
                </a:solidFill>
                <a:latin typeface="Calibri"/>
              </a:rPr>
              <a:t>. Así, un proceso padre puede estar bloqueado esperando la muerte de un proceso hijo. Por estas razones, el proceso no muere de inmediato sino que pasa por un estado terminal llamado zombie.</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endParaRPr lang="es-ES" sz="1350" b="0" strike="noStrike" spc="-1">
              <a:latin typeface="Arial"/>
            </a:endParaRPr>
          </a:p>
        </p:txBody>
      </p:sp>
      <p:pic>
        <p:nvPicPr>
          <p:cNvPr id="195" name="Picture 2"/>
          <p:cNvPicPr/>
          <p:nvPr/>
        </p:nvPicPr>
        <p:blipFill>
          <a:blip r:embed="rId3"/>
          <a:stretch/>
        </p:blipFill>
        <p:spPr>
          <a:xfrm>
            <a:off x="3472560" y="3583800"/>
            <a:ext cx="3602160" cy="14263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CustomShape 9"/>
          <p:cNvSpPr/>
          <p:nvPr/>
        </p:nvSpPr>
        <p:spPr>
          <a:xfrm flipV="1">
            <a:off x="4639680" y="1695960"/>
            <a:ext cx="835560" cy="683280"/>
          </a:xfrm>
          <a:custGeom>
            <a:avLst/>
            <a:gdLst/>
            <a:ahLst/>
            <a:cxnLst/>
            <a:rect l="l" t="t" r="r" b="b"/>
            <a:pathLst>
              <a:path w="21600" h="21600">
                <a:moveTo>
                  <a:pt x="0" y="0"/>
                </a:moveTo>
                <a:lnTo>
                  <a:pt x="21600" y="21600"/>
                </a:lnTo>
              </a:path>
            </a:pathLst>
          </a:custGeom>
          <a:noFill/>
          <a:ln w="57240">
            <a:tailEnd type="triangle" w="med" len="med"/>
          </a:ln>
        </p:spPr>
        <p:style>
          <a:lnRef idx="1">
            <a:schemeClr val="accent1"/>
          </a:lnRef>
          <a:fillRef idx="0">
            <a:schemeClr val="accent1"/>
          </a:fillRef>
          <a:effectRef idx="0">
            <a:schemeClr val="accent1"/>
          </a:effectRef>
          <a:fontRef idx="minor"/>
        </p:style>
      </p:sp>
      <p:sp>
        <p:nvSpPr>
          <p:cNvPr id="196"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Ciclo de vida del proceso</a:t>
            </a:r>
            <a:endParaRPr lang="es-ES" sz="3600" b="0" strike="noStrike" spc="-1">
              <a:solidFill>
                <a:srgbClr val="000000"/>
              </a:solidFill>
              <a:latin typeface="Calibri"/>
            </a:endParaRPr>
          </a:p>
        </p:txBody>
      </p:sp>
      <p:sp>
        <p:nvSpPr>
          <p:cNvPr id="197" name="CustomShape 2"/>
          <p:cNvSpPr/>
          <p:nvPr/>
        </p:nvSpPr>
        <p:spPr>
          <a:xfrm>
            <a:off x="1896480" y="1036440"/>
            <a:ext cx="680976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1" u="sng" strike="noStrike" spc="-1">
                <a:solidFill>
                  <a:srgbClr val="000000"/>
                </a:solidFill>
                <a:uFillTx/>
                <a:latin typeface="Calibri"/>
              </a:rPr>
              <a:t>Estados del proceso</a:t>
            </a:r>
            <a:endParaRPr lang="es-ES" sz="1350" b="0" strike="noStrike" spc="-1">
              <a:latin typeface="Arial"/>
            </a:endParaRPr>
          </a:p>
        </p:txBody>
      </p:sp>
      <p:sp>
        <p:nvSpPr>
          <p:cNvPr id="198" name="CustomShape 3"/>
          <p:cNvSpPr/>
          <p:nvPr/>
        </p:nvSpPr>
        <p:spPr>
          <a:xfrm>
            <a:off x="5512680" y="1036440"/>
            <a:ext cx="1349640" cy="136692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En ejecución</a:t>
            </a:r>
            <a:endParaRPr lang="es-ES" sz="1350" b="0" strike="noStrike" spc="-1">
              <a:latin typeface="Arial"/>
            </a:endParaRPr>
          </a:p>
        </p:txBody>
      </p:sp>
      <p:sp>
        <p:nvSpPr>
          <p:cNvPr id="199" name="CustomShape 4"/>
          <p:cNvSpPr/>
          <p:nvPr/>
        </p:nvSpPr>
        <p:spPr>
          <a:xfrm>
            <a:off x="5956560" y="3219120"/>
            <a:ext cx="1349640" cy="1366920"/>
          </a:xfrm>
          <a:prstGeom prst="ellipse">
            <a:avLst/>
          </a:prstGeom>
          <a:solidFill>
            <a:srgbClr val="F65068"/>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Bloqueado</a:t>
            </a:r>
            <a:endParaRPr lang="es-ES" sz="1350" b="0" strike="noStrike" spc="-1">
              <a:latin typeface="Arial"/>
            </a:endParaRPr>
          </a:p>
        </p:txBody>
      </p:sp>
      <p:sp>
        <p:nvSpPr>
          <p:cNvPr id="200" name="CustomShape 5"/>
          <p:cNvSpPr/>
          <p:nvPr/>
        </p:nvSpPr>
        <p:spPr>
          <a:xfrm>
            <a:off x="3668400" y="2273040"/>
            <a:ext cx="1349640" cy="136692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Listo</a:t>
            </a:r>
            <a:endParaRPr lang="es-ES" sz="1350" b="0" strike="noStrike" spc="-1">
              <a:latin typeface="Arial"/>
            </a:endParaRPr>
          </a:p>
        </p:txBody>
      </p:sp>
      <p:sp>
        <p:nvSpPr>
          <p:cNvPr id="201" name="CustomShape 6"/>
          <p:cNvSpPr/>
          <p:nvPr/>
        </p:nvSpPr>
        <p:spPr>
          <a:xfrm>
            <a:off x="1679760" y="2273040"/>
            <a:ext cx="1349640" cy="1366920"/>
          </a:xfrm>
          <a:prstGeom prst="ellipse">
            <a:avLst/>
          </a:prstGeom>
          <a:solidFill>
            <a:schemeClr val="bg1"/>
          </a:solidFill>
          <a:ln w="28440">
            <a:solidFill>
              <a:schemeClr val="accent5">
                <a:lumMod val="75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000000"/>
                </a:solidFill>
                <a:latin typeface="Calibri"/>
              </a:rPr>
              <a:t>Nuevo</a:t>
            </a:r>
            <a:endParaRPr lang="es-ES" sz="1350" b="0" strike="noStrike" spc="-1">
              <a:latin typeface="Arial"/>
            </a:endParaRPr>
          </a:p>
        </p:txBody>
      </p:sp>
      <p:sp>
        <p:nvSpPr>
          <p:cNvPr id="202" name="CustomShape 7"/>
          <p:cNvSpPr/>
          <p:nvPr/>
        </p:nvSpPr>
        <p:spPr>
          <a:xfrm>
            <a:off x="7603560" y="1204560"/>
            <a:ext cx="1349640" cy="136692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Zombie</a:t>
            </a:r>
            <a:endParaRPr lang="es-ES" sz="1350" b="0" strike="noStrike" spc="-1">
              <a:latin typeface="Arial"/>
            </a:endParaRPr>
          </a:p>
        </p:txBody>
      </p:sp>
      <p:sp>
        <p:nvSpPr>
          <p:cNvPr id="203" name="CustomShape 8"/>
          <p:cNvSpPr/>
          <p:nvPr/>
        </p:nvSpPr>
        <p:spPr>
          <a:xfrm>
            <a:off x="3029400" y="2956680"/>
            <a:ext cx="638640" cy="360"/>
          </a:xfrm>
          <a:custGeom>
            <a:avLst/>
            <a:gdLst/>
            <a:ahLst/>
            <a:cxnLst/>
            <a:rect l="l" t="t" r="r" b="b"/>
            <a:pathLst>
              <a:path w="21600" h="21600">
                <a:moveTo>
                  <a:pt x="0" y="0"/>
                </a:moveTo>
                <a:lnTo>
                  <a:pt x="21600" y="21600"/>
                </a:lnTo>
              </a:path>
            </a:pathLst>
          </a:custGeom>
          <a:noFill/>
          <a:ln w="57240">
            <a:solidFill>
              <a:schemeClr val="bg2">
                <a:lumMod val="75000"/>
              </a:schemeClr>
            </a:solidFill>
            <a:tailEnd type="triangle" w="med" len="med"/>
          </a:ln>
        </p:spPr>
        <p:style>
          <a:lnRef idx="1">
            <a:schemeClr val="accent1"/>
          </a:lnRef>
          <a:fillRef idx="0">
            <a:schemeClr val="accent1"/>
          </a:fillRef>
          <a:effectRef idx="0">
            <a:schemeClr val="accent1"/>
          </a:effectRef>
          <a:fontRef idx="minor"/>
        </p:style>
      </p:sp>
      <p:sp>
        <p:nvSpPr>
          <p:cNvPr id="205" name="CustomShape 10"/>
          <p:cNvSpPr/>
          <p:nvPr/>
        </p:nvSpPr>
        <p:spPr>
          <a:xfrm flipH="1">
            <a:off x="4992480" y="2273040"/>
            <a:ext cx="835560" cy="683280"/>
          </a:xfrm>
          <a:custGeom>
            <a:avLst/>
            <a:gdLst/>
            <a:ahLst/>
            <a:cxnLst/>
            <a:rect l="l" t="t" r="r" b="b"/>
            <a:pathLst>
              <a:path w="21600" h="21600">
                <a:moveTo>
                  <a:pt x="0" y="0"/>
                </a:moveTo>
                <a:lnTo>
                  <a:pt x="21600" y="21600"/>
                </a:lnTo>
              </a:path>
            </a:pathLst>
          </a:custGeom>
          <a:noFill/>
          <a:ln w="57240">
            <a:tailEnd type="triangle" w="med" len="med"/>
          </a:ln>
        </p:spPr>
        <p:style>
          <a:lnRef idx="1">
            <a:schemeClr val="accent1"/>
          </a:lnRef>
          <a:fillRef idx="0">
            <a:schemeClr val="accent1"/>
          </a:fillRef>
          <a:effectRef idx="0">
            <a:schemeClr val="accent1"/>
          </a:effectRef>
          <a:fontRef idx="minor"/>
        </p:style>
      </p:sp>
      <p:sp>
        <p:nvSpPr>
          <p:cNvPr id="206" name="CustomShape 11"/>
          <p:cNvSpPr/>
          <p:nvPr/>
        </p:nvSpPr>
        <p:spPr>
          <a:xfrm>
            <a:off x="6862320" y="1720080"/>
            <a:ext cx="740880" cy="167760"/>
          </a:xfrm>
          <a:custGeom>
            <a:avLst/>
            <a:gdLst/>
            <a:ahLst/>
            <a:cxnLst/>
            <a:rect l="l" t="t" r="r" b="b"/>
            <a:pathLst>
              <a:path w="21600" h="21600">
                <a:moveTo>
                  <a:pt x="0" y="0"/>
                </a:moveTo>
                <a:lnTo>
                  <a:pt x="21600" y="21600"/>
                </a:lnTo>
              </a:path>
            </a:pathLst>
          </a:custGeom>
          <a:noFill/>
          <a:ln w="57240">
            <a:solidFill>
              <a:srgbClr val="F65068"/>
            </a:solidFill>
            <a:tailEnd type="triangle" w="med" len="med"/>
          </a:ln>
        </p:spPr>
        <p:style>
          <a:lnRef idx="1">
            <a:schemeClr val="accent1"/>
          </a:lnRef>
          <a:fillRef idx="0">
            <a:schemeClr val="accent1"/>
          </a:fillRef>
          <a:effectRef idx="0">
            <a:schemeClr val="accent1"/>
          </a:effectRef>
          <a:fontRef idx="minor"/>
        </p:style>
      </p:sp>
      <p:sp>
        <p:nvSpPr>
          <p:cNvPr id="207" name="CustomShape 12"/>
          <p:cNvSpPr/>
          <p:nvPr/>
        </p:nvSpPr>
        <p:spPr>
          <a:xfrm flipV="1">
            <a:off x="8260920" y="2562480"/>
            <a:ext cx="360" cy="616680"/>
          </a:xfrm>
          <a:custGeom>
            <a:avLst/>
            <a:gdLst/>
            <a:ahLst/>
            <a:cxnLst/>
            <a:rect l="l" t="t" r="r" b="b"/>
            <a:pathLst>
              <a:path w="21600" h="21600">
                <a:moveTo>
                  <a:pt x="0" y="0"/>
                </a:moveTo>
                <a:lnTo>
                  <a:pt x="21600" y="21600"/>
                </a:lnTo>
              </a:path>
            </a:pathLst>
          </a:custGeom>
          <a:noFill/>
          <a:ln w="57240">
            <a:solidFill>
              <a:srgbClr val="FF0000"/>
            </a:solidFill>
            <a:tailEnd type="triangle" w="med" len="med"/>
          </a:ln>
        </p:spPr>
        <p:style>
          <a:lnRef idx="1">
            <a:schemeClr val="accent1"/>
          </a:lnRef>
          <a:fillRef idx="0">
            <a:schemeClr val="accent1"/>
          </a:fillRef>
          <a:effectRef idx="0">
            <a:schemeClr val="accent1"/>
          </a:effectRef>
          <a:fontRef idx="minor"/>
        </p:style>
      </p:sp>
      <p:sp>
        <p:nvSpPr>
          <p:cNvPr id="208" name="CustomShape 13"/>
          <p:cNvSpPr/>
          <p:nvPr/>
        </p:nvSpPr>
        <p:spPr>
          <a:xfrm>
            <a:off x="6374520" y="2379600"/>
            <a:ext cx="256680" cy="839520"/>
          </a:xfrm>
          <a:custGeom>
            <a:avLst/>
            <a:gdLst/>
            <a:ahLst/>
            <a:cxnLst/>
            <a:rect l="l" t="t" r="r" b="b"/>
            <a:pathLst>
              <a:path w="21600" h="21600">
                <a:moveTo>
                  <a:pt x="0" y="0"/>
                </a:moveTo>
                <a:lnTo>
                  <a:pt x="21600" y="21600"/>
                </a:lnTo>
              </a:path>
            </a:pathLst>
          </a:custGeom>
          <a:noFill/>
          <a:ln w="57240">
            <a:tailEnd type="triangle" w="med" len="med"/>
          </a:ln>
        </p:spPr>
        <p:style>
          <a:lnRef idx="1">
            <a:schemeClr val="accent1"/>
          </a:lnRef>
          <a:fillRef idx="0">
            <a:schemeClr val="accent1"/>
          </a:fillRef>
          <a:effectRef idx="0">
            <a:schemeClr val="accent1"/>
          </a:effectRef>
          <a:fontRef idx="minor"/>
        </p:style>
      </p:sp>
      <p:sp>
        <p:nvSpPr>
          <p:cNvPr id="209" name="CustomShape 14"/>
          <p:cNvSpPr/>
          <p:nvPr/>
        </p:nvSpPr>
        <p:spPr>
          <a:xfrm flipH="1" flipV="1">
            <a:off x="4820760" y="3439800"/>
            <a:ext cx="1145520" cy="579600"/>
          </a:xfrm>
          <a:custGeom>
            <a:avLst/>
            <a:gdLst/>
            <a:ahLst/>
            <a:cxnLst/>
            <a:rect l="l" t="t" r="r" b="b"/>
            <a:pathLst>
              <a:path w="21600" h="21600">
                <a:moveTo>
                  <a:pt x="0" y="0"/>
                </a:moveTo>
                <a:lnTo>
                  <a:pt x="21600" y="21600"/>
                </a:lnTo>
              </a:path>
            </a:pathLst>
          </a:custGeom>
          <a:noFill/>
          <a:ln w="57240">
            <a:tailEnd type="triangle" w="med" len="med"/>
          </a:ln>
        </p:spPr>
        <p:style>
          <a:lnRef idx="1">
            <a:schemeClr val="accent1"/>
          </a:lnRef>
          <a:fillRef idx="0">
            <a:schemeClr val="accent1"/>
          </a:fillRef>
          <a:effectRef idx="0">
            <a:schemeClr val="accent1"/>
          </a:effectRef>
          <a:fontRef idx="minor"/>
        </p:style>
      </p:sp>
      <p:sp>
        <p:nvSpPr>
          <p:cNvPr id="210" name="CustomShape 15"/>
          <p:cNvSpPr/>
          <p:nvPr/>
        </p:nvSpPr>
        <p:spPr>
          <a:xfrm>
            <a:off x="7795080" y="3290400"/>
            <a:ext cx="1334880" cy="501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s-ES" sz="1350" b="0" strike="noStrike" spc="-1">
                <a:solidFill>
                  <a:srgbClr val="FF0000"/>
                </a:solidFill>
                <a:latin typeface="Calibri"/>
              </a:rPr>
              <a:t>kill desde</a:t>
            </a:r>
            <a:endParaRPr lang="es-ES" sz="1350" b="0" strike="noStrike" spc="-1">
              <a:latin typeface="Arial"/>
            </a:endParaRPr>
          </a:p>
          <a:p>
            <a:pPr algn="ctr">
              <a:lnSpc>
                <a:spcPct val="100000"/>
              </a:lnSpc>
            </a:pPr>
            <a:r>
              <a:rPr lang="es-ES" sz="1350" b="0" strike="noStrike" spc="-1">
                <a:solidFill>
                  <a:srgbClr val="FF0000"/>
                </a:solidFill>
                <a:latin typeface="Calibri"/>
              </a:rPr>
              <a:t>cualquier estado</a:t>
            </a:r>
            <a:endParaRPr lang="es-ES" sz="1350" b="0" strike="noStrike" spc="-1">
              <a:latin typeface="Arial"/>
            </a:endParaRPr>
          </a:p>
        </p:txBody>
      </p:sp>
      <p:sp>
        <p:nvSpPr>
          <p:cNvPr id="211" name="CustomShape 16"/>
          <p:cNvSpPr/>
          <p:nvPr/>
        </p:nvSpPr>
        <p:spPr>
          <a:xfrm rot="18983400">
            <a:off x="2548440" y="3405960"/>
            <a:ext cx="110052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Inicilializado</a:t>
            </a:r>
            <a:endParaRPr lang="es-ES" sz="1350" b="0" strike="noStrike" spc="-1">
              <a:latin typeface="Arial"/>
            </a:endParaRPr>
          </a:p>
        </p:txBody>
      </p:sp>
      <p:sp>
        <p:nvSpPr>
          <p:cNvPr id="212" name="CustomShape 17"/>
          <p:cNvSpPr/>
          <p:nvPr/>
        </p:nvSpPr>
        <p:spPr>
          <a:xfrm rot="19140600">
            <a:off x="4342320" y="1654920"/>
            <a:ext cx="110052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Planificado</a:t>
            </a:r>
            <a:endParaRPr lang="es-ES" sz="1350" b="0" strike="noStrike" spc="-1">
              <a:latin typeface="Arial"/>
            </a:endParaRPr>
          </a:p>
        </p:txBody>
      </p:sp>
      <p:sp>
        <p:nvSpPr>
          <p:cNvPr id="213" name="CustomShape 18"/>
          <p:cNvSpPr/>
          <p:nvPr/>
        </p:nvSpPr>
        <p:spPr>
          <a:xfrm rot="19140600">
            <a:off x="5018040" y="2649600"/>
            <a:ext cx="110052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Expulsado</a:t>
            </a:r>
            <a:endParaRPr lang="es-ES" sz="1350" b="0" strike="noStrike" spc="-1">
              <a:latin typeface="Arial"/>
            </a:endParaRPr>
          </a:p>
        </p:txBody>
      </p:sp>
      <p:sp>
        <p:nvSpPr>
          <p:cNvPr id="214" name="CustomShape 19"/>
          <p:cNvSpPr/>
          <p:nvPr/>
        </p:nvSpPr>
        <p:spPr>
          <a:xfrm rot="1645800">
            <a:off x="4424040" y="3853080"/>
            <a:ext cx="1345680" cy="501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s-ES" sz="1350" b="0" strike="noStrike" spc="-1">
                <a:solidFill>
                  <a:srgbClr val="000000"/>
                </a:solidFill>
                <a:latin typeface="Calibri"/>
              </a:rPr>
              <a:t>Fin operación bloqueante</a:t>
            </a:r>
            <a:endParaRPr lang="es-ES" sz="1350" b="0" strike="noStrike" spc="-1">
              <a:latin typeface="Arial"/>
            </a:endParaRPr>
          </a:p>
        </p:txBody>
      </p:sp>
      <p:sp>
        <p:nvSpPr>
          <p:cNvPr id="215" name="CustomShape 20"/>
          <p:cNvSpPr/>
          <p:nvPr/>
        </p:nvSpPr>
        <p:spPr>
          <a:xfrm>
            <a:off x="6333120" y="2353680"/>
            <a:ext cx="1345680" cy="70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s-ES" sz="1350" b="0" strike="noStrike" spc="-1">
                <a:solidFill>
                  <a:srgbClr val="000000"/>
                </a:solidFill>
                <a:latin typeface="Calibri"/>
              </a:rPr>
              <a:t>Llamada a operación bloqueante</a:t>
            </a:r>
            <a:endParaRPr lang="es-ES" sz="1350" b="0" strike="noStrike" spc="-1">
              <a:latin typeface="Arial"/>
            </a:endParaRPr>
          </a:p>
        </p:txBody>
      </p:sp>
      <p:sp>
        <p:nvSpPr>
          <p:cNvPr id="216" name="CustomShape 21"/>
          <p:cNvSpPr/>
          <p:nvPr/>
        </p:nvSpPr>
        <p:spPr>
          <a:xfrm rot="832800">
            <a:off x="6574680" y="1418760"/>
            <a:ext cx="134568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s-ES" sz="1350" b="0" strike="noStrike" spc="-1">
                <a:solidFill>
                  <a:srgbClr val="000000"/>
                </a:solidFill>
                <a:latin typeface="Calibri"/>
              </a:rPr>
              <a:t>Finaliza</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Creación</a:t>
            </a:r>
            <a:endParaRPr lang="es-ES" sz="3600" b="0" strike="noStrike" spc="-1">
              <a:solidFill>
                <a:srgbClr val="000000"/>
              </a:solidFill>
              <a:latin typeface="Calibri"/>
            </a:endParaRPr>
          </a:p>
        </p:txBody>
      </p:sp>
      <p:sp>
        <p:nvSpPr>
          <p:cNvPr id="218" name="CustomShape 2"/>
          <p:cNvSpPr/>
          <p:nvPr/>
        </p:nvSpPr>
        <p:spPr>
          <a:xfrm>
            <a:off x="1776240" y="923040"/>
            <a:ext cx="4523400" cy="235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En UNIX todos los procesos descienden de un único padre, el proceso</a:t>
            </a:r>
            <a:r>
              <a:rPr lang="es-ES" sz="1100" b="0" strike="noStrike" spc="-1">
                <a:solidFill>
                  <a:srgbClr val="000000"/>
                </a:solidFill>
                <a:latin typeface="Lucida Sans Typewriter"/>
              </a:rPr>
              <a:t> init </a:t>
            </a:r>
            <a:r>
              <a:rPr lang="es-ES" sz="1350" b="0" strike="noStrike" spc="-1">
                <a:solidFill>
                  <a:srgbClr val="000000"/>
                </a:solidFill>
                <a:latin typeface="Calibri"/>
              </a:rPr>
              <a:t>que se crea durante el arranque. Hay dos mecanismos para crear procesos, </a:t>
            </a:r>
            <a:r>
              <a:rPr lang="es-ES" sz="1100" b="0" strike="noStrike" spc="-1">
                <a:solidFill>
                  <a:srgbClr val="000000"/>
                </a:solidFill>
                <a:latin typeface="Lucida Sans Typewriter"/>
              </a:rPr>
              <a:t>fork() </a:t>
            </a:r>
            <a:r>
              <a:rPr lang="es-ES" sz="1350" b="0" strike="noStrike" spc="-1">
                <a:solidFill>
                  <a:srgbClr val="000000"/>
                </a:solidFill>
                <a:latin typeface="Calibri"/>
              </a:rPr>
              <a:t>que produce un clon del proceso que lo invoca y </a:t>
            </a:r>
            <a:r>
              <a:rPr lang="es-ES" sz="1100" b="0" strike="noStrike" spc="-1">
                <a:solidFill>
                  <a:srgbClr val="000000"/>
                </a:solidFill>
                <a:latin typeface="Lucida Sans Typewriter"/>
              </a:rPr>
              <a:t>exec() </a:t>
            </a:r>
            <a:r>
              <a:rPr lang="es-ES" sz="1350" b="0" strike="noStrike" spc="-1">
                <a:solidFill>
                  <a:srgbClr val="000000"/>
                </a:solidFill>
                <a:latin typeface="Calibri"/>
              </a:rPr>
              <a:t>que crea un proceso con un ejecutable distinto.</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Cuando un proceso invoca un fork(), tanto el padre como el hijo continúan la ejecución en el retorno de la función. La forma de distinguirlos es porque devuelve la identidad del hijo, si ese valor es 0 entonces se trata del hijo, de lo contrario es el padre. </a:t>
            </a:r>
            <a:endParaRPr lang="es-ES" sz="1350" b="0" strike="noStrike" spc="-1">
              <a:latin typeface="Arial"/>
            </a:endParaRPr>
          </a:p>
        </p:txBody>
      </p:sp>
      <p:pic>
        <p:nvPicPr>
          <p:cNvPr id="219" name="Imagen 2"/>
          <p:cNvPicPr/>
          <p:nvPr/>
        </p:nvPicPr>
        <p:blipFill>
          <a:blip r:embed="rId3"/>
          <a:stretch/>
        </p:blipFill>
        <p:spPr>
          <a:xfrm>
            <a:off x="6300000" y="923040"/>
            <a:ext cx="2627640" cy="2664000"/>
          </a:xfrm>
          <a:prstGeom prst="rect">
            <a:avLst/>
          </a:prstGeom>
          <a:ln>
            <a:noFill/>
          </a:ln>
        </p:spPr>
      </p:pic>
      <p:pic>
        <p:nvPicPr>
          <p:cNvPr id="220" name="Imagen 6"/>
          <p:cNvPicPr/>
          <p:nvPr/>
        </p:nvPicPr>
        <p:blipFill>
          <a:blip r:embed="rId4"/>
          <a:stretch/>
        </p:blipFill>
        <p:spPr>
          <a:xfrm>
            <a:off x="2653560" y="3344400"/>
            <a:ext cx="2968200" cy="1570320"/>
          </a:xfrm>
          <a:prstGeom prst="rect">
            <a:avLst/>
          </a:prstGeom>
          <a:ln>
            <a:noFill/>
          </a:ln>
        </p:spPr>
      </p:pic>
      <p:sp>
        <p:nvSpPr>
          <p:cNvPr id="221" name="CustomShape 3"/>
          <p:cNvSpPr/>
          <p:nvPr/>
        </p:nvSpPr>
        <p:spPr>
          <a:xfrm>
            <a:off x="6316560" y="3751200"/>
            <a:ext cx="2835720" cy="1285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En xv6 el proceso inicial está en </a:t>
            </a:r>
            <a:br/>
            <a:r>
              <a:rPr lang="es-ES" sz="1350" b="0" strike="noStrike" spc="-1">
                <a:solidFill>
                  <a:srgbClr val="000000"/>
                </a:solidFill>
                <a:latin typeface="Calibri"/>
              </a:rPr>
              <a:t>el fichero </a:t>
            </a:r>
            <a:r>
              <a:rPr lang="es-ES" sz="1100" b="0" strike="noStrike" spc="-1">
                <a:solidFill>
                  <a:srgbClr val="000000"/>
                </a:solidFill>
                <a:latin typeface="Lucida Sans Typewriter"/>
              </a:rPr>
              <a:t>initcode.S</a:t>
            </a:r>
            <a:endParaRPr lang="es-ES" sz="1100" b="0" strike="noStrike" spc="-1">
              <a:latin typeface="Arial"/>
            </a:endParaRPr>
          </a:p>
          <a:p>
            <a:pPr>
              <a:lnSpc>
                <a:spcPct val="100000"/>
              </a:lnSpc>
            </a:pPr>
            <a:endParaRPr lang="es-ES" sz="1100" b="0" strike="noStrike" spc="-1">
              <a:latin typeface="Arial"/>
            </a:endParaRPr>
          </a:p>
          <a:p>
            <a:pPr>
              <a:lnSpc>
                <a:spcPct val="100000"/>
              </a:lnSpc>
            </a:pPr>
            <a:r>
              <a:rPr lang="es-ES" sz="1350" b="0" strike="noStrike" spc="-1">
                <a:solidFill>
                  <a:srgbClr val="000000"/>
                </a:solidFill>
                <a:latin typeface="Calibri"/>
              </a:rPr>
              <a:t>En Unix en </a:t>
            </a:r>
            <a:r>
              <a:rPr lang="es-ES" sz="1100" b="0" strike="noStrike" spc="-1">
                <a:solidFill>
                  <a:srgbClr val="000000"/>
                </a:solidFill>
                <a:latin typeface="Lucida Sans Typewriter"/>
              </a:rPr>
              <a:t>/sbin/init </a:t>
            </a:r>
            <a:r>
              <a:rPr lang="es-ES" sz="1350" b="0" strike="noStrike" spc="-1">
                <a:solidFill>
                  <a:srgbClr val="000000"/>
                </a:solidFill>
                <a:latin typeface="Calibri"/>
              </a:rPr>
              <a:t>y arranca</a:t>
            </a:r>
            <a:endParaRPr lang="es-ES" sz="1350" b="0" strike="noStrike" spc="-1">
              <a:latin typeface="Arial"/>
            </a:endParaRPr>
          </a:p>
          <a:p>
            <a:pPr>
              <a:lnSpc>
                <a:spcPct val="100000"/>
              </a:lnSpc>
            </a:pPr>
            <a:r>
              <a:rPr lang="es-ES" sz="1350" b="0" strike="noStrike" spc="-1">
                <a:solidFill>
                  <a:srgbClr val="000000"/>
                </a:solidFill>
                <a:latin typeface="Calibri"/>
              </a:rPr>
              <a:t>como hijos los scripts especificados en</a:t>
            </a:r>
            <a:endParaRPr lang="es-ES" sz="1350" b="0" strike="noStrike" spc="-1">
              <a:latin typeface="Arial"/>
            </a:endParaRPr>
          </a:p>
          <a:p>
            <a:pPr>
              <a:lnSpc>
                <a:spcPct val="100000"/>
              </a:lnSpc>
            </a:pPr>
            <a:r>
              <a:rPr lang="es-ES" sz="1100" b="0" strike="noStrike" spc="-1">
                <a:solidFill>
                  <a:srgbClr val="000000"/>
                </a:solidFill>
                <a:latin typeface="Lucida Sans Typewriter"/>
              </a:rPr>
              <a:t>/etc/init.d</a:t>
            </a:r>
            <a:endParaRPr lang="es-ES" sz="11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Creación</a:t>
            </a:r>
            <a:endParaRPr lang="es-ES" sz="3600" b="0" strike="noStrike" spc="-1">
              <a:solidFill>
                <a:srgbClr val="000000"/>
              </a:solidFill>
              <a:latin typeface="Calibri"/>
            </a:endParaRPr>
          </a:p>
        </p:txBody>
      </p:sp>
      <p:pic>
        <p:nvPicPr>
          <p:cNvPr id="223" name="Imagen 4"/>
          <p:cNvPicPr/>
          <p:nvPr/>
        </p:nvPicPr>
        <p:blipFill>
          <a:blip r:embed="rId3"/>
          <a:srcRect b="3288"/>
          <a:stretch/>
        </p:blipFill>
        <p:spPr>
          <a:xfrm>
            <a:off x="5430240" y="208080"/>
            <a:ext cx="3279600" cy="4571640"/>
          </a:xfrm>
          <a:prstGeom prst="rect">
            <a:avLst/>
          </a:prstGeom>
          <a:ln>
            <a:noFill/>
          </a:ln>
        </p:spPr>
      </p:pic>
      <p:sp>
        <p:nvSpPr>
          <p:cNvPr id="224" name="CustomShape 2"/>
          <p:cNvSpPr/>
          <p:nvPr/>
        </p:nvSpPr>
        <p:spPr>
          <a:xfrm>
            <a:off x="7367760" y="97920"/>
            <a:ext cx="2239200" cy="42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1" strike="noStrike" spc="-1">
                <a:solidFill>
                  <a:srgbClr val="2C34A3"/>
                </a:solidFill>
                <a:latin typeface="Calibri"/>
              </a:rPr>
              <a:t>Código de fork() en xv6</a:t>
            </a:r>
            <a:endParaRPr lang="es-ES" sz="1100" b="0" strike="noStrike" spc="-1">
              <a:latin typeface="Arial"/>
            </a:endParaRPr>
          </a:p>
          <a:p>
            <a:pPr>
              <a:lnSpc>
                <a:spcPct val="100000"/>
              </a:lnSpc>
            </a:pPr>
            <a:r>
              <a:rPr lang="es-ES" sz="1100" b="1" strike="noStrike" spc="-1">
                <a:solidFill>
                  <a:srgbClr val="2C34A3"/>
                </a:solidFill>
                <a:latin typeface="Calibri"/>
              </a:rPr>
              <a:t>Fichero proc.c</a:t>
            </a:r>
            <a:endParaRPr lang="es-ES" sz="1100" b="0" strike="noStrike" spc="-1">
              <a:latin typeface="Arial"/>
            </a:endParaRPr>
          </a:p>
        </p:txBody>
      </p:sp>
      <p:sp>
        <p:nvSpPr>
          <p:cNvPr id="225" name="CustomShape 3"/>
          <p:cNvSpPr/>
          <p:nvPr/>
        </p:nvSpPr>
        <p:spPr>
          <a:xfrm>
            <a:off x="1466280" y="1077840"/>
            <a:ext cx="4808160" cy="45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Busca un BCP no usado, fijar pid como un</a:t>
            </a:r>
            <a:endParaRPr lang="es-ES" sz="1200" b="0" strike="noStrike" spc="-1">
              <a:latin typeface="Arial"/>
            </a:endParaRPr>
          </a:p>
          <a:p>
            <a:pPr>
              <a:lnSpc>
                <a:spcPct val="100000"/>
              </a:lnSpc>
            </a:pPr>
            <a:r>
              <a:rPr lang="es-ES" sz="1200" b="0" strike="noStrike" spc="-1">
                <a:solidFill>
                  <a:srgbClr val="C55A11"/>
                </a:solidFill>
                <a:latin typeface="Arial"/>
              </a:rPr>
              <a:t>número secuencial y crear el stack del nuevo proceso. </a:t>
            </a:r>
            <a:endParaRPr lang="es-ES" sz="1200" b="0" strike="noStrike" spc="-1">
              <a:latin typeface="Arial"/>
            </a:endParaRPr>
          </a:p>
        </p:txBody>
      </p:sp>
      <p:sp>
        <p:nvSpPr>
          <p:cNvPr id="226" name="CustomShape 4"/>
          <p:cNvSpPr/>
          <p:nvPr/>
        </p:nvSpPr>
        <p:spPr>
          <a:xfrm>
            <a:off x="5430240" y="759600"/>
            <a:ext cx="1760760" cy="596160"/>
          </a:xfrm>
          <a:prstGeom prst="roundRect">
            <a:avLst>
              <a:gd name="adj" fmla="val 16667"/>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227" name="CustomShape 5"/>
          <p:cNvSpPr/>
          <p:nvPr/>
        </p:nvSpPr>
        <p:spPr>
          <a:xfrm flipV="1">
            <a:off x="4762440" y="1062360"/>
            <a:ext cx="664200" cy="15480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228" name="CustomShape 6"/>
          <p:cNvSpPr/>
          <p:nvPr/>
        </p:nvSpPr>
        <p:spPr>
          <a:xfrm>
            <a:off x="5452560" y="1399320"/>
            <a:ext cx="2986200" cy="736200"/>
          </a:xfrm>
          <a:prstGeom prst="roundRect">
            <a:avLst>
              <a:gd name="adj" fmla="val 16667"/>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229" name="CustomShape 7"/>
          <p:cNvSpPr/>
          <p:nvPr/>
        </p:nvSpPr>
        <p:spPr>
          <a:xfrm>
            <a:off x="1466280" y="1520280"/>
            <a:ext cx="480816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Copia la tabla de páginas de memoria del padre al</a:t>
            </a:r>
            <a:endParaRPr lang="es-ES" sz="1200" b="0" strike="noStrike" spc="-1">
              <a:latin typeface="Arial"/>
            </a:endParaRPr>
          </a:p>
          <a:p>
            <a:pPr>
              <a:lnSpc>
                <a:spcPct val="100000"/>
              </a:lnSpc>
            </a:pPr>
            <a:r>
              <a:rPr lang="es-ES" sz="1200" b="0" strike="noStrike" spc="-1">
                <a:solidFill>
                  <a:srgbClr val="C55A11"/>
                </a:solidFill>
                <a:latin typeface="Arial"/>
              </a:rPr>
              <a:t>hijo, si no puede libera los recursos y devuelve -1 que</a:t>
            </a:r>
            <a:endParaRPr lang="es-ES" sz="1200" b="0" strike="noStrike" spc="-1">
              <a:latin typeface="Arial"/>
            </a:endParaRPr>
          </a:p>
          <a:p>
            <a:pPr>
              <a:lnSpc>
                <a:spcPct val="100000"/>
              </a:lnSpc>
            </a:pPr>
            <a:r>
              <a:rPr lang="es-ES" sz="1200" b="0" strike="noStrike" spc="-1">
                <a:solidFill>
                  <a:srgbClr val="C55A11"/>
                </a:solidFill>
                <a:latin typeface="Arial"/>
              </a:rPr>
              <a:t>es el valor de retorno de error de la función</a:t>
            </a:r>
            <a:endParaRPr lang="es-ES" sz="1200" b="0" strike="noStrike" spc="-1">
              <a:latin typeface="Arial"/>
            </a:endParaRPr>
          </a:p>
        </p:txBody>
      </p:sp>
      <p:sp>
        <p:nvSpPr>
          <p:cNvPr id="230" name="CustomShape 8"/>
          <p:cNvSpPr/>
          <p:nvPr/>
        </p:nvSpPr>
        <p:spPr>
          <a:xfrm>
            <a:off x="4920840" y="1869840"/>
            <a:ext cx="509040" cy="36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231" name="CustomShape 9"/>
          <p:cNvSpPr/>
          <p:nvPr/>
        </p:nvSpPr>
        <p:spPr>
          <a:xfrm>
            <a:off x="5430240" y="2168280"/>
            <a:ext cx="2986200" cy="349200"/>
          </a:xfrm>
          <a:prstGeom prst="roundRect">
            <a:avLst>
              <a:gd name="adj" fmla="val 16667"/>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232" name="CustomShape 10"/>
          <p:cNvSpPr/>
          <p:nvPr/>
        </p:nvSpPr>
        <p:spPr>
          <a:xfrm>
            <a:off x="1466280" y="2169000"/>
            <a:ext cx="4808160" cy="45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Copia de valores del BCP padre (tamaño, ppid y</a:t>
            </a:r>
            <a:endParaRPr lang="es-ES" sz="1200" b="0" strike="noStrike" spc="-1">
              <a:latin typeface="Arial"/>
            </a:endParaRPr>
          </a:p>
          <a:p>
            <a:pPr>
              <a:lnSpc>
                <a:spcPct val="100000"/>
              </a:lnSpc>
            </a:pPr>
            <a:r>
              <a:rPr lang="es-ES" sz="1200" b="0" strike="noStrike" spc="-1">
                <a:solidFill>
                  <a:srgbClr val="C55A11"/>
                </a:solidFill>
                <a:latin typeface="Arial"/>
              </a:rPr>
              <a:t>trapframe, que es el contexto del procesador)</a:t>
            </a:r>
            <a:endParaRPr lang="es-ES" sz="1200" b="0" strike="noStrike" spc="-1">
              <a:latin typeface="Arial"/>
            </a:endParaRPr>
          </a:p>
        </p:txBody>
      </p:sp>
      <p:sp>
        <p:nvSpPr>
          <p:cNvPr id="233" name="CustomShape 11"/>
          <p:cNvSpPr/>
          <p:nvPr/>
        </p:nvSpPr>
        <p:spPr>
          <a:xfrm>
            <a:off x="4572000" y="2332080"/>
            <a:ext cx="666000" cy="36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234" name="CustomShape 12"/>
          <p:cNvSpPr/>
          <p:nvPr/>
        </p:nvSpPr>
        <p:spPr>
          <a:xfrm>
            <a:off x="5430240" y="2548080"/>
            <a:ext cx="2986200" cy="349200"/>
          </a:xfrm>
          <a:prstGeom prst="roundRect">
            <a:avLst>
              <a:gd name="adj" fmla="val 16667"/>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235" name="CustomShape 13"/>
          <p:cNvSpPr/>
          <p:nvPr/>
        </p:nvSpPr>
        <p:spPr>
          <a:xfrm>
            <a:off x="1466280" y="2552400"/>
            <a:ext cx="480816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Devuelve pid == 0 en el registro eax si es el hijo</a:t>
            </a:r>
            <a:endParaRPr lang="es-ES" sz="1200" b="0" strike="noStrike" spc="-1">
              <a:latin typeface="Arial"/>
            </a:endParaRPr>
          </a:p>
        </p:txBody>
      </p:sp>
      <p:sp>
        <p:nvSpPr>
          <p:cNvPr id="236" name="CustomShape 14"/>
          <p:cNvSpPr/>
          <p:nvPr/>
        </p:nvSpPr>
        <p:spPr>
          <a:xfrm>
            <a:off x="4572000" y="2699280"/>
            <a:ext cx="666000" cy="36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237" name="CustomShape 15"/>
          <p:cNvSpPr/>
          <p:nvPr/>
        </p:nvSpPr>
        <p:spPr>
          <a:xfrm>
            <a:off x="5430240" y="2897640"/>
            <a:ext cx="2986200" cy="736200"/>
          </a:xfrm>
          <a:prstGeom prst="roundRect">
            <a:avLst>
              <a:gd name="adj" fmla="val 16667"/>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238" name="CustomShape 16"/>
          <p:cNvSpPr/>
          <p:nvPr/>
        </p:nvSpPr>
        <p:spPr>
          <a:xfrm>
            <a:off x="1466280" y="3177720"/>
            <a:ext cx="480816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Copia de otros valores del padre</a:t>
            </a:r>
            <a:endParaRPr lang="es-ES" sz="1200" b="0" strike="noStrike" spc="-1">
              <a:latin typeface="Arial"/>
            </a:endParaRPr>
          </a:p>
        </p:txBody>
      </p:sp>
      <p:sp>
        <p:nvSpPr>
          <p:cNvPr id="239" name="CustomShape 17"/>
          <p:cNvSpPr/>
          <p:nvPr/>
        </p:nvSpPr>
        <p:spPr>
          <a:xfrm>
            <a:off x="3928680" y="3315960"/>
            <a:ext cx="1309320" cy="36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240" name="CustomShape 18"/>
          <p:cNvSpPr/>
          <p:nvPr/>
        </p:nvSpPr>
        <p:spPr>
          <a:xfrm>
            <a:off x="1466280" y="3917880"/>
            <a:ext cx="480816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Se marca el proceso como RUNNABLE (Listo)</a:t>
            </a:r>
            <a:endParaRPr lang="es-ES" sz="1200" b="0" strike="noStrike" spc="-1">
              <a:latin typeface="Arial"/>
            </a:endParaRPr>
          </a:p>
        </p:txBody>
      </p:sp>
      <p:sp>
        <p:nvSpPr>
          <p:cNvPr id="241" name="CustomShape 19"/>
          <p:cNvSpPr/>
          <p:nvPr/>
        </p:nvSpPr>
        <p:spPr>
          <a:xfrm>
            <a:off x="4484160" y="4056480"/>
            <a:ext cx="967680" cy="7344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242" name="CustomShape 20"/>
          <p:cNvSpPr/>
          <p:nvPr/>
        </p:nvSpPr>
        <p:spPr>
          <a:xfrm>
            <a:off x="1466280" y="4393440"/>
            <a:ext cx="480816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Devuelve el pid del hijo</a:t>
            </a:r>
            <a:endParaRPr lang="es-ES" sz="1200" b="0" strike="noStrike" spc="-1">
              <a:latin typeface="Arial"/>
            </a:endParaRPr>
          </a:p>
        </p:txBody>
      </p:sp>
      <p:sp>
        <p:nvSpPr>
          <p:cNvPr id="243" name="CustomShape 21"/>
          <p:cNvSpPr/>
          <p:nvPr/>
        </p:nvSpPr>
        <p:spPr>
          <a:xfrm>
            <a:off x="3303720" y="4532040"/>
            <a:ext cx="2148480" cy="5508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244" name="CustomShape 22"/>
          <p:cNvSpPr/>
          <p:nvPr/>
        </p:nvSpPr>
        <p:spPr>
          <a:xfrm>
            <a:off x="5423760" y="637200"/>
            <a:ext cx="1760760" cy="125640"/>
          </a:xfrm>
          <a:prstGeom prst="roundRect">
            <a:avLst>
              <a:gd name="adj" fmla="val 16667"/>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245" name="CustomShape 23"/>
          <p:cNvSpPr/>
          <p:nvPr/>
        </p:nvSpPr>
        <p:spPr>
          <a:xfrm>
            <a:off x="1466280" y="851760"/>
            <a:ext cx="480816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Datos del proceso padre</a:t>
            </a:r>
            <a:endParaRPr lang="es-ES" sz="1200" b="0" strike="noStrike" spc="-1">
              <a:latin typeface="Arial"/>
            </a:endParaRPr>
          </a:p>
        </p:txBody>
      </p:sp>
      <p:sp>
        <p:nvSpPr>
          <p:cNvPr id="246" name="CustomShape 24"/>
          <p:cNvSpPr/>
          <p:nvPr/>
        </p:nvSpPr>
        <p:spPr>
          <a:xfrm flipV="1">
            <a:off x="3200400" y="758880"/>
            <a:ext cx="2100600" cy="24948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txBox="1"/>
          <p:nvPr/>
        </p:nvSpPr>
        <p:spPr>
          <a:xfrm>
            <a:off x="8028000" y="6400800"/>
            <a:ext cx="933120" cy="456840"/>
          </a:xfrm>
          <a:prstGeom prst="rect">
            <a:avLst/>
          </a:prstGeom>
          <a:noFill/>
          <a:ln>
            <a:noFill/>
          </a:ln>
        </p:spPr>
        <p:txBody>
          <a:bodyPr/>
          <a:lstStyle/>
          <a:p>
            <a:pPr algn="r">
              <a:lnSpc>
                <a:spcPct val="100000"/>
              </a:lnSpc>
            </a:pPr>
            <a:fld id="{8465F5D9-8CE5-4A88-810B-28FF116AE6BB}" type="slidenum">
              <a:rPr lang="es-ES" sz="1600" b="0" strike="noStrike" spc="-1">
                <a:solidFill>
                  <a:srgbClr val="669900"/>
                </a:solidFill>
                <a:latin typeface="Haettenschweiler"/>
              </a:rPr>
              <a:t>15</a:t>
            </a:fld>
            <a:endParaRPr lang="es-ES" sz="1600" b="0" strike="noStrike" spc="-1">
              <a:latin typeface="Times New Roman"/>
            </a:endParaRPr>
          </a:p>
        </p:txBody>
      </p:sp>
      <p:sp>
        <p:nvSpPr>
          <p:cNvPr id="248" name="CustomShape 2"/>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 (Activación)</a:t>
            </a:r>
            <a:endParaRPr lang="es-ES" sz="3600" b="0" strike="noStrike" spc="-1">
              <a:latin typeface="Arial"/>
            </a:endParaRPr>
          </a:p>
        </p:txBody>
      </p:sp>
      <p:sp>
        <p:nvSpPr>
          <p:cNvPr id="249" name="CustomShape 3"/>
          <p:cNvSpPr/>
          <p:nvPr/>
        </p:nvSpPr>
        <p:spPr>
          <a:xfrm>
            <a:off x="1776240" y="992880"/>
            <a:ext cx="6823080" cy="3584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Se </a:t>
            </a:r>
            <a:r>
              <a:rPr lang="es-ES" sz="1350" b="1" strike="noStrike" spc="-1">
                <a:solidFill>
                  <a:srgbClr val="000000"/>
                </a:solidFill>
                <a:latin typeface="Calibri"/>
              </a:rPr>
              <a:t>denomina cambio de contexto </a:t>
            </a:r>
            <a:r>
              <a:rPr lang="es-ES" sz="1350" b="0" strike="noStrike" spc="-1">
                <a:solidFill>
                  <a:srgbClr val="000000"/>
                </a:solidFill>
                <a:latin typeface="Calibri"/>
              </a:rPr>
              <a:t>al procedimiento de desalojar a un proceso de la CPU y sustituirlo por otro. Es consecuencia de una decisión del </a:t>
            </a:r>
            <a:r>
              <a:rPr lang="es-ES" sz="1350" b="0" i="1" strike="noStrike" spc="-1">
                <a:solidFill>
                  <a:srgbClr val="000000"/>
                </a:solidFill>
                <a:latin typeface="Calibri"/>
              </a:rPr>
              <a:t>scheduler</a:t>
            </a:r>
            <a:r>
              <a:rPr lang="es-ES" sz="1350" b="0" strike="noStrike" spc="-1">
                <a:solidFill>
                  <a:srgbClr val="000000"/>
                </a:solidFill>
                <a:latin typeface="Calibri"/>
              </a:rPr>
              <a:t>. La función del kernel que se encarga de esta tarea se llama </a:t>
            </a:r>
            <a:r>
              <a:rPr lang="es-ES" sz="1350" b="0" i="1" strike="noStrike" spc="-1">
                <a:solidFill>
                  <a:srgbClr val="000000"/>
                </a:solidFill>
                <a:latin typeface="Calibri"/>
              </a:rPr>
              <a:t>dispatcher</a:t>
            </a:r>
            <a:r>
              <a:rPr lang="es-ES" sz="1350" b="0" strike="noStrike" spc="-1">
                <a:solidFill>
                  <a:srgbClr val="000000"/>
                </a:solidFill>
                <a:latin typeface="Calibri"/>
              </a:rPr>
              <a:t>.</a:t>
            </a:r>
            <a:endParaRPr lang="es-ES" sz="1350" b="0" strike="noStrike" spc="-1">
              <a:latin typeface="Arial"/>
            </a:endParaRPr>
          </a:p>
          <a:p>
            <a:pPr>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No hay que confundir el cambio de contexto con el paso de ejecución de modo usuario a modo supervisor que ocurre cuando llega una interrupción. Esta situación es mucho más liviana en cuanto a consumo de CPU, el estado del procesador se guarda en el </a:t>
            </a:r>
            <a:r>
              <a:rPr lang="es-ES" sz="1350" b="0" i="1" strike="noStrike" spc="-1">
                <a:solidFill>
                  <a:srgbClr val="000000"/>
                </a:solidFill>
                <a:latin typeface="Calibri"/>
              </a:rPr>
              <a:t>stack</a:t>
            </a:r>
            <a:r>
              <a:rPr lang="es-ES" sz="1350" b="0" strike="noStrike" spc="-1">
                <a:solidFill>
                  <a:srgbClr val="000000"/>
                </a:solidFill>
                <a:latin typeface="Calibri"/>
              </a:rPr>
              <a:t> del usuario, la interrupción se atiende, se recupera el estado desde el propio </a:t>
            </a:r>
            <a:r>
              <a:rPr lang="es-ES" sz="1350" b="0" i="1" strike="noStrike" spc="-1">
                <a:solidFill>
                  <a:srgbClr val="000000"/>
                </a:solidFill>
                <a:latin typeface="Calibri"/>
              </a:rPr>
              <a:t>stack</a:t>
            </a:r>
            <a:r>
              <a:rPr lang="es-ES" sz="1350" b="0" strike="noStrike" spc="-1">
                <a:solidFill>
                  <a:srgbClr val="000000"/>
                </a:solidFill>
                <a:latin typeface="Calibri"/>
              </a:rPr>
              <a:t> y el proceso sigue su ejecución. Puede ocurrir que como consecuencia de la interrupción el </a:t>
            </a:r>
            <a:r>
              <a:rPr lang="es-ES" sz="1350" b="0" i="1" strike="noStrike" spc="-1">
                <a:solidFill>
                  <a:srgbClr val="000000"/>
                </a:solidFill>
                <a:latin typeface="Calibri"/>
              </a:rPr>
              <a:t>scheduler</a:t>
            </a:r>
            <a:r>
              <a:rPr lang="es-ES" sz="1350" b="0" strike="noStrike" spc="-1">
                <a:solidFill>
                  <a:srgbClr val="000000"/>
                </a:solidFill>
                <a:latin typeface="Calibri"/>
              </a:rPr>
              <a:t> decidiera realizar un cambio de contexto, pero no siempre es así. En esta operación no hay cambio de la tabla de páginas de memoria, ni del código ejecutable, no se pierde la ventaja de la proximidad referencial.</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En el cambio de contexto hay que salvar los registros del procesador cuando se produjo la interrupción en su BCP. También hay que salvar los registros en el momento en que el kernel llama a la función de cambio de contexto. A continuación se recuperan los valores de los registros del BCP del proceso que se va a instanciar y finalmente se le concede control.</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TextShape 1"/>
          <p:cNvSpPr txBox="1"/>
          <p:nvPr/>
        </p:nvSpPr>
        <p:spPr>
          <a:xfrm>
            <a:off x="8028000" y="6400800"/>
            <a:ext cx="933120" cy="456840"/>
          </a:xfrm>
          <a:prstGeom prst="rect">
            <a:avLst/>
          </a:prstGeom>
          <a:noFill/>
          <a:ln>
            <a:noFill/>
          </a:ln>
        </p:spPr>
        <p:txBody>
          <a:bodyPr/>
          <a:lstStyle/>
          <a:p>
            <a:pPr algn="r">
              <a:lnSpc>
                <a:spcPct val="100000"/>
              </a:lnSpc>
            </a:pPr>
            <a:fld id="{76A346D2-414D-45E3-B887-EB3037B5C14B}" type="slidenum">
              <a:rPr lang="es-ES" sz="1600" b="0" strike="noStrike" spc="-1">
                <a:solidFill>
                  <a:srgbClr val="669900"/>
                </a:solidFill>
                <a:latin typeface="Haettenschweiler"/>
              </a:rPr>
              <a:t>16</a:t>
            </a:fld>
            <a:endParaRPr lang="es-ES" sz="1600" b="0" strike="noStrike" spc="-1">
              <a:latin typeface="Times New Roman"/>
            </a:endParaRPr>
          </a:p>
        </p:txBody>
      </p:sp>
      <p:sp>
        <p:nvSpPr>
          <p:cNvPr id="251" name="CustomShape 2"/>
          <p:cNvSpPr/>
          <p:nvPr/>
        </p:nvSpPr>
        <p:spPr>
          <a:xfrm>
            <a:off x="2303640" y="2839680"/>
            <a:ext cx="3543120" cy="199980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252" name="CustomShape 3"/>
          <p:cNvSpPr/>
          <p:nvPr/>
        </p:nvSpPr>
        <p:spPr>
          <a:xfrm>
            <a:off x="6304320" y="2211120"/>
            <a:ext cx="1542600" cy="1828440"/>
          </a:xfrm>
          <a:prstGeom prst="rect">
            <a:avLst/>
          </a:prstGeom>
          <a:solidFill>
            <a:schemeClr val="accent6">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253" name="Line 4"/>
          <p:cNvSpPr/>
          <p:nvPr/>
        </p:nvSpPr>
        <p:spPr>
          <a:xfrm>
            <a:off x="5846760" y="2839680"/>
            <a:ext cx="457200" cy="36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254" name="CustomShape 5"/>
          <p:cNvSpPr/>
          <p:nvPr/>
        </p:nvSpPr>
        <p:spPr>
          <a:xfrm>
            <a:off x="3614400" y="1274040"/>
            <a:ext cx="924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Memoria</a:t>
            </a:r>
            <a:endParaRPr lang="es-ES" sz="1500" b="0" strike="noStrike" spc="-1">
              <a:latin typeface="Arial"/>
            </a:endParaRPr>
          </a:p>
        </p:txBody>
      </p:sp>
      <p:sp>
        <p:nvSpPr>
          <p:cNvPr id="255" name="CustomShape 6"/>
          <p:cNvSpPr/>
          <p:nvPr/>
        </p:nvSpPr>
        <p:spPr>
          <a:xfrm>
            <a:off x="6329160" y="1845720"/>
            <a:ext cx="5817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CPU</a:t>
            </a:r>
            <a:endParaRPr lang="es-ES" sz="1500" b="0" strike="noStrike" spc="-1">
              <a:latin typeface="Arial"/>
            </a:endParaRPr>
          </a:p>
        </p:txBody>
      </p:sp>
      <p:sp>
        <p:nvSpPr>
          <p:cNvPr id="256" name="CustomShape 7"/>
          <p:cNvSpPr/>
          <p:nvPr/>
        </p:nvSpPr>
        <p:spPr>
          <a:xfrm>
            <a:off x="6418440" y="36972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j</a:t>
            </a:r>
            <a:endParaRPr lang="es-ES" sz="1500" b="0" strike="noStrike" spc="-1">
              <a:latin typeface="Arial"/>
            </a:endParaRPr>
          </a:p>
        </p:txBody>
      </p:sp>
      <p:sp>
        <p:nvSpPr>
          <p:cNvPr id="257" name="CustomShape 8"/>
          <p:cNvSpPr/>
          <p:nvPr/>
        </p:nvSpPr>
        <p:spPr>
          <a:xfrm>
            <a:off x="6418440" y="36972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sp>
      <p:sp>
        <p:nvSpPr>
          <p:cNvPr id="258" name="CustomShape 9"/>
          <p:cNvSpPr/>
          <p:nvPr/>
        </p:nvSpPr>
        <p:spPr>
          <a:xfrm>
            <a:off x="6418440" y="23824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n+1</a:t>
            </a:r>
            <a:endParaRPr lang="es-ES" sz="1500" b="0" strike="noStrike" spc="-1">
              <a:latin typeface="Arial"/>
            </a:endParaRPr>
          </a:p>
        </p:txBody>
      </p:sp>
      <p:sp>
        <p:nvSpPr>
          <p:cNvPr id="259" name="CustomShape 10"/>
          <p:cNvSpPr/>
          <p:nvPr/>
        </p:nvSpPr>
        <p:spPr>
          <a:xfrm>
            <a:off x="7286400" y="2360160"/>
            <a:ext cx="4446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a:t>
            </a:r>
            <a:endParaRPr lang="es-ES" sz="1500" b="0" strike="noStrike" spc="-1">
              <a:latin typeface="Arial"/>
            </a:endParaRPr>
          </a:p>
        </p:txBody>
      </p:sp>
      <p:sp>
        <p:nvSpPr>
          <p:cNvPr id="260" name="CustomShape 11"/>
          <p:cNvSpPr/>
          <p:nvPr/>
        </p:nvSpPr>
        <p:spPr>
          <a:xfrm rot="16200000">
            <a:off x="7088760" y="3332160"/>
            <a:ext cx="916920" cy="455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80000"/>
              </a:lnSpc>
            </a:pPr>
            <a:r>
              <a:rPr lang="es-ES" sz="1500" b="0" strike="noStrike" spc="-1">
                <a:solidFill>
                  <a:srgbClr val="000000"/>
                </a:solidFill>
                <a:latin typeface="Arial"/>
              </a:rPr>
              <a:t>Otros</a:t>
            </a:r>
            <a:endParaRPr lang="es-ES" sz="1500" b="0" strike="noStrike" spc="-1">
              <a:latin typeface="Arial"/>
            </a:endParaRPr>
          </a:p>
          <a:p>
            <a:pPr>
              <a:lnSpc>
                <a:spcPct val="80000"/>
              </a:lnSpc>
            </a:pPr>
            <a:r>
              <a:rPr lang="es-ES" sz="1500" b="0" strike="noStrike" spc="-1">
                <a:solidFill>
                  <a:srgbClr val="000000"/>
                </a:solidFill>
                <a:latin typeface="Arial"/>
              </a:rPr>
              <a:t>registros</a:t>
            </a:r>
            <a:endParaRPr lang="es-ES" sz="1500" b="0" strike="noStrike" spc="-1">
              <a:latin typeface="Arial"/>
            </a:endParaRPr>
          </a:p>
        </p:txBody>
      </p:sp>
      <p:sp>
        <p:nvSpPr>
          <p:cNvPr id="261" name="CustomShape 12"/>
          <p:cNvSpPr/>
          <p:nvPr/>
        </p:nvSpPr>
        <p:spPr>
          <a:xfrm>
            <a:off x="2303640" y="1639800"/>
            <a:ext cx="3543120" cy="1199880"/>
          </a:xfrm>
          <a:prstGeom prst="rect">
            <a:avLst/>
          </a:prstGeom>
          <a:solidFill>
            <a:srgbClr val="66FF99"/>
          </a:solidFill>
          <a:ln w="9360">
            <a:solidFill>
              <a:schemeClr val="tx1"/>
            </a:solidFill>
            <a:miter/>
          </a:ln>
        </p:spPr>
        <p:style>
          <a:lnRef idx="0">
            <a:scrgbClr r="0" g="0" b="0"/>
          </a:lnRef>
          <a:fillRef idx="0">
            <a:scrgbClr r="0" g="0" b="0"/>
          </a:fillRef>
          <a:effectRef idx="0">
            <a:scrgbClr r="0" g="0" b="0"/>
          </a:effectRef>
          <a:fontRef idx="minor"/>
        </p:style>
      </p:sp>
      <p:sp>
        <p:nvSpPr>
          <p:cNvPr id="262" name="CustomShape 13"/>
          <p:cNvSpPr/>
          <p:nvPr/>
        </p:nvSpPr>
        <p:spPr>
          <a:xfrm>
            <a:off x="2303640" y="2325600"/>
            <a:ext cx="3543120" cy="342720"/>
          </a:xfrm>
          <a:prstGeom prst="rect">
            <a:avLst/>
          </a:prstGeom>
          <a:solidFill>
            <a:srgbClr val="B2B2B2"/>
          </a:solidFill>
          <a:ln w="9360">
            <a:solidFill>
              <a:schemeClr val="tx1"/>
            </a:solidFill>
            <a:miter/>
          </a:ln>
        </p:spPr>
        <p:style>
          <a:lnRef idx="0">
            <a:scrgbClr r="0" g="0" b="0"/>
          </a:lnRef>
          <a:fillRef idx="0">
            <a:scrgbClr r="0" g="0" b="0"/>
          </a:fillRef>
          <a:effectRef idx="0">
            <a:scrgbClr r="0" g="0" b="0"/>
          </a:effectRef>
          <a:fontRef idx="minor"/>
        </p:style>
      </p:sp>
      <p:sp>
        <p:nvSpPr>
          <p:cNvPr id="263" name="CustomShape 14"/>
          <p:cNvSpPr/>
          <p:nvPr/>
        </p:nvSpPr>
        <p:spPr>
          <a:xfrm>
            <a:off x="2303640" y="1811160"/>
            <a:ext cx="3543120" cy="342720"/>
          </a:xfrm>
          <a:prstGeom prst="rect">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sp>
        <p:nvSpPr>
          <p:cNvPr id="264" name="CustomShape 15"/>
          <p:cNvSpPr/>
          <p:nvPr/>
        </p:nvSpPr>
        <p:spPr>
          <a:xfrm>
            <a:off x="3675240" y="398268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265" name="CustomShape 16"/>
          <p:cNvSpPr/>
          <p:nvPr/>
        </p:nvSpPr>
        <p:spPr>
          <a:xfrm>
            <a:off x="4761000" y="398268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266" name="Line 17"/>
          <p:cNvSpPr/>
          <p:nvPr/>
        </p:nvSpPr>
        <p:spPr>
          <a:xfrm>
            <a:off x="2075040" y="1982520"/>
            <a:ext cx="2286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67" name="CustomShape 18"/>
          <p:cNvSpPr/>
          <p:nvPr/>
        </p:nvSpPr>
        <p:spPr>
          <a:xfrm>
            <a:off x="1828080" y="1790280"/>
            <a:ext cx="287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n</a:t>
            </a:r>
            <a:endParaRPr lang="es-ES" sz="1500" b="0" strike="noStrike" spc="-1">
              <a:latin typeface="Arial"/>
            </a:endParaRPr>
          </a:p>
        </p:txBody>
      </p:sp>
      <p:sp>
        <p:nvSpPr>
          <p:cNvPr id="268" name="CustomShape 19"/>
          <p:cNvSpPr/>
          <p:nvPr/>
        </p:nvSpPr>
        <p:spPr>
          <a:xfrm>
            <a:off x="6418800" y="3354120"/>
            <a:ext cx="447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 . .</a:t>
            </a:r>
            <a:endParaRPr lang="es-ES" sz="1500" b="0" strike="noStrike" spc="-1">
              <a:latin typeface="Arial"/>
            </a:endParaRPr>
          </a:p>
        </p:txBody>
      </p:sp>
      <p:sp>
        <p:nvSpPr>
          <p:cNvPr id="269" name="CustomShape 20"/>
          <p:cNvSpPr/>
          <p:nvPr/>
        </p:nvSpPr>
        <p:spPr>
          <a:xfrm>
            <a:off x="4307760" y="238248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2</a:t>
            </a:r>
            <a:endParaRPr lang="es-ES" sz="1500" b="0" strike="noStrike" spc="-1">
              <a:latin typeface="Arial"/>
            </a:endParaRPr>
          </a:p>
        </p:txBody>
      </p:sp>
      <p:sp>
        <p:nvSpPr>
          <p:cNvPr id="270" name="CustomShape 21"/>
          <p:cNvSpPr/>
          <p:nvPr/>
        </p:nvSpPr>
        <p:spPr>
          <a:xfrm>
            <a:off x="3565080" y="186840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1</a:t>
            </a:r>
            <a:endParaRPr lang="es-ES" sz="1500" b="0" strike="noStrike" spc="-1">
              <a:latin typeface="Arial"/>
            </a:endParaRPr>
          </a:p>
        </p:txBody>
      </p:sp>
      <p:sp>
        <p:nvSpPr>
          <p:cNvPr id="271" name="CustomShape 22"/>
          <p:cNvSpPr/>
          <p:nvPr/>
        </p:nvSpPr>
        <p:spPr>
          <a:xfrm>
            <a:off x="3275280" y="3354120"/>
            <a:ext cx="165348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900" b="0" strike="noStrike" spc="-1">
                <a:solidFill>
                  <a:srgbClr val="000000"/>
                </a:solidFill>
                <a:latin typeface="Lucida Sans Typewriter"/>
              </a:rPr>
              <a:t>switch_context(P1,P2)</a:t>
            </a:r>
            <a:endParaRPr lang="es-ES" sz="900" b="0" strike="noStrike" spc="-1">
              <a:latin typeface="Arial"/>
            </a:endParaRPr>
          </a:p>
        </p:txBody>
      </p:sp>
      <p:sp>
        <p:nvSpPr>
          <p:cNvPr id="272" name="CustomShape 23"/>
          <p:cNvSpPr/>
          <p:nvPr/>
        </p:nvSpPr>
        <p:spPr>
          <a:xfrm>
            <a:off x="5161320" y="3125520"/>
            <a:ext cx="456840" cy="34272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273" name="CustomShape 24"/>
          <p:cNvSpPr/>
          <p:nvPr/>
        </p:nvSpPr>
        <p:spPr>
          <a:xfrm>
            <a:off x="2475000" y="3125520"/>
            <a:ext cx="456840" cy="45684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274" name="CustomShape 25"/>
          <p:cNvSpPr/>
          <p:nvPr/>
        </p:nvSpPr>
        <p:spPr>
          <a:xfrm>
            <a:off x="3675240" y="358272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275" name="CustomShape 26"/>
          <p:cNvSpPr/>
          <p:nvPr/>
        </p:nvSpPr>
        <p:spPr>
          <a:xfrm>
            <a:off x="4921200" y="285768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2</a:t>
            </a:r>
            <a:endParaRPr lang="es-ES" sz="1200" b="0" strike="noStrike" spc="-1">
              <a:latin typeface="Arial"/>
            </a:endParaRPr>
          </a:p>
        </p:txBody>
      </p:sp>
      <p:sp>
        <p:nvSpPr>
          <p:cNvPr id="276" name="CustomShape 27"/>
          <p:cNvSpPr/>
          <p:nvPr/>
        </p:nvSpPr>
        <p:spPr>
          <a:xfrm>
            <a:off x="2349360" y="285768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1</a:t>
            </a:r>
            <a:endParaRPr lang="es-ES" sz="1200" b="0" strike="noStrike" spc="-1">
              <a:latin typeface="Arial"/>
            </a:endParaRPr>
          </a:p>
        </p:txBody>
      </p:sp>
      <p:sp>
        <p:nvSpPr>
          <p:cNvPr id="277" name="CustomShape 28"/>
          <p:cNvSpPr/>
          <p:nvPr/>
        </p:nvSpPr>
        <p:spPr>
          <a:xfrm>
            <a:off x="6418440" y="32400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350" b="1" strike="noStrike" spc="-1">
                <a:solidFill>
                  <a:srgbClr val="000000"/>
                </a:solidFill>
                <a:latin typeface="Arial"/>
              </a:rPr>
              <a:t>j</a:t>
            </a:r>
            <a:endParaRPr lang="es-ES" sz="1350" b="0" strike="noStrike" spc="-1">
              <a:latin typeface="Arial"/>
            </a:endParaRPr>
          </a:p>
        </p:txBody>
      </p:sp>
      <p:sp>
        <p:nvSpPr>
          <p:cNvPr id="278" name="CustomShape 29"/>
          <p:cNvSpPr/>
          <p:nvPr/>
        </p:nvSpPr>
        <p:spPr>
          <a:xfrm>
            <a:off x="7278840" y="2668320"/>
            <a:ext cx="4341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SP</a:t>
            </a:r>
            <a:endParaRPr lang="es-ES" sz="1500" b="0" strike="noStrike" spc="-1">
              <a:latin typeface="Arial"/>
            </a:endParaRPr>
          </a:p>
        </p:txBody>
      </p:sp>
      <p:sp>
        <p:nvSpPr>
          <p:cNvPr id="279" name="CustomShape 30"/>
          <p:cNvSpPr/>
          <p:nvPr/>
        </p:nvSpPr>
        <p:spPr>
          <a:xfrm>
            <a:off x="6418440" y="36972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k</a:t>
            </a:r>
            <a:endParaRPr lang="es-ES" sz="1500" b="0" strike="noStrike" spc="-1">
              <a:latin typeface="Arial"/>
            </a:endParaRPr>
          </a:p>
        </p:txBody>
      </p:sp>
      <p:sp>
        <p:nvSpPr>
          <p:cNvPr id="280" name="CustomShape 31"/>
          <p:cNvSpPr/>
          <p:nvPr/>
        </p:nvSpPr>
        <p:spPr>
          <a:xfrm>
            <a:off x="6418440" y="272556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i</a:t>
            </a:r>
            <a:endParaRPr lang="es-ES" sz="1500" b="0" strike="noStrike" spc="-1">
              <a:latin typeface="Arial"/>
            </a:endParaRPr>
          </a:p>
        </p:txBody>
      </p:sp>
      <p:sp>
        <p:nvSpPr>
          <p:cNvPr id="281" name="Line 32"/>
          <p:cNvSpPr/>
          <p:nvPr/>
        </p:nvSpPr>
        <p:spPr>
          <a:xfrm>
            <a:off x="2131920" y="312552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282" name="CustomShape 33"/>
          <p:cNvSpPr/>
          <p:nvPr/>
        </p:nvSpPr>
        <p:spPr>
          <a:xfrm>
            <a:off x="1905120" y="2954160"/>
            <a:ext cx="2772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a:t>
            </a:r>
            <a:endParaRPr lang="es-ES" sz="1500" b="0" strike="noStrike" spc="-1">
              <a:latin typeface="Arial"/>
            </a:endParaRPr>
          </a:p>
        </p:txBody>
      </p:sp>
      <p:sp>
        <p:nvSpPr>
          <p:cNvPr id="283" name="CustomShape 34"/>
          <p:cNvSpPr/>
          <p:nvPr/>
        </p:nvSpPr>
        <p:spPr>
          <a:xfrm>
            <a:off x="4761000" y="432576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284" name="CustomShape 35"/>
          <p:cNvSpPr/>
          <p:nvPr/>
        </p:nvSpPr>
        <p:spPr>
          <a:xfrm>
            <a:off x="4761000" y="369720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285" name="CustomShape 36"/>
          <p:cNvSpPr/>
          <p:nvPr/>
        </p:nvSpPr>
        <p:spPr>
          <a:xfrm>
            <a:off x="4908600" y="441756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2</a:t>
            </a:r>
            <a:endParaRPr lang="es-ES" sz="1500" b="0" strike="noStrike" spc="-1">
              <a:latin typeface="Arial"/>
            </a:endParaRPr>
          </a:p>
        </p:txBody>
      </p:sp>
      <p:sp>
        <p:nvSpPr>
          <p:cNvPr id="286" name="CustomShape 37"/>
          <p:cNvSpPr/>
          <p:nvPr/>
        </p:nvSpPr>
        <p:spPr>
          <a:xfrm>
            <a:off x="2532240" y="398268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287" name="CustomShape 38"/>
          <p:cNvSpPr/>
          <p:nvPr/>
        </p:nvSpPr>
        <p:spPr>
          <a:xfrm>
            <a:off x="2532240" y="432576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288" name="CustomShape 39"/>
          <p:cNvSpPr/>
          <p:nvPr/>
        </p:nvSpPr>
        <p:spPr>
          <a:xfrm>
            <a:off x="2532240" y="369720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289" name="CustomShape 40"/>
          <p:cNvSpPr/>
          <p:nvPr/>
        </p:nvSpPr>
        <p:spPr>
          <a:xfrm>
            <a:off x="2679840" y="441756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1</a:t>
            </a:r>
            <a:endParaRPr lang="es-ES" sz="1500" b="0" strike="noStrike" spc="-1">
              <a:latin typeface="Arial"/>
            </a:endParaRPr>
          </a:p>
        </p:txBody>
      </p:sp>
      <p:sp>
        <p:nvSpPr>
          <p:cNvPr id="290" name="CustomShape 41"/>
          <p:cNvSpPr/>
          <p:nvPr/>
        </p:nvSpPr>
        <p:spPr>
          <a:xfrm>
            <a:off x="2360880" y="1982520"/>
            <a:ext cx="475920" cy="1142640"/>
          </a:xfrm>
          <a:custGeom>
            <a:avLst/>
            <a:gdLst/>
            <a:ahLst/>
            <a:cxnLst/>
            <a:rect l="l" t="t" r="r" b="b"/>
            <a:pathLst>
              <a:path w="400" h="960">
                <a:moveTo>
                  <a:pt x="0" y="0"/>
                </a:moveTo>
                <a:cubicBezTo>
                  <a:pt x="184" y="136"/>
                  <a:pt x="368" y="272"/>
                  <a:pt x="384" y="432"/>
                </a:cubicBezTo>
                <a:cubicBezTo>
                  <a:pt x="400" y="592"/>
                  <a:pt x="144" y="864"/>
                  <a:pt x="96" y="960"/>
                </a:cubicBezTo>
              </a:path>
            </a:pathLst>
          </a:custGeom>
          <a:noFill/>
          <a:ln w="28440">
            <a:solidFill>
              <a:srgbClr val="FF3300"/>
            </a:solidFill>
            <a:round/>
            <a:tailEnd type="triangle" w="med" len="med"/>
          </a:ln>
        </p:spPr>
        <p:style>
          <a:lnRef idx="0">
            <a:scrgbClr r="0" g="0" b="0"/>
          </a:lnRef>
          <a:fillRef idx="0">
            <a:scrgbClr r="0" g="0" b="0"/>
          </a:fillRef>
          <a:effectRef idx="0">
            <a:scrgbClr r="0" g="0" b="0"/>
          </a:effectRef>
          <a:fontRef idx="minor"/>
        </p:style>
      </p:sp>
      <p:sp>
        <p:nvSpPr>
          <p:cNvPr id="291" name="CustomShape 42"/>
          <p:cNvSpPr/>
          <p:nvPr/>
        </p:nvSpPr>
        <p:spPr>
          <a:xfrm>
            <a:off x="4820760" y="3697200"/>
            <a:ext cx="70992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t,v,x,y</a:t>
            </a:r>
            <a:endParaRPr lang="es-ES" sz="1500" b="0" strike="noStrike" spc="-1">
              <a:latin typeface="Arial"/>
            </a:endParaRPr>
          </a:p>
        </p:txBody>
      </p:sp>
      <p:sp>
        <p:nvSpPr>
          <p:cNvPr id="292" name="CustomShape 43"/>
          <p:cNvSpPr/>
          <p:nvPr/>
        </p:nvSpPr>
        <p:spPr>
          <a:xfrm>
            <a:off x="4807800" y="3982680"/>
            <a:ext cx="7419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l,n,o,p</a:t>
            </a:r>
            <a:endParaRPr lang="es-ES" sz="1500" b="0" strike="noStrike" spc="-1">
              <a:latin typeface="Arial"/>
            </a:endParaRPr>
          </a:p>
        </p:txBody>
      </p:sp>
      <p:sp>
        <p:nvSpPr>
          <p:cNvPr id="293" name="CustomShape 44"/>
          <p:cNvSpPr/>
          <p:nvPr/>
        </p:nvSpPr>
        <p:spPr>
          <a:xfrm>
            <a:off x="2478240" y="1868400"/>
            <a:ext cx="49500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1" strike="noStrike" spc="-1">
                <a:solidFill>
                  <a:srgbClr val="000000"/>
                </a:solidFill>
                <a:latin typeface="Arial"/>
              </a:rPr>
              <a:t>int c</a:t>
            </a:r>
            <a:endParaRPr lang="es-ES" sz="1200" b="0" strike="noStrike" spc="-1">
              <a:latin typeface="Arial"/>
            </a:endParaRPr>
          </a:p>
        </p:txBody>
      </p:sp>
      <p:sp>
        <p:nvSpPr>
          <p:cNvPr id="294" name="CustomShape 45"/>
          <p:cNvSpPr/>
          <p:nvPr/>
        </p:nvSpPr>
        <p:spPr>
          <a:xfrm>
            <a:off x="6007680" y="1264680"/>
            <a:ext cx="21470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9900"/>
                </a:solidFill>
                <a:latin typeface="Arial"/>
              </a:rPr>
              <a:t>Máquina en modo usuario</a:t>
            </a:r>
            <a:endParaRPr lang="es-ES" sz="1350" b="0" strike="noStrike" spc="-1">
              <a:latin typeface="Arial"/>
            </a:endParaRPr>
          </a:p>
        </p:txBody>
      </p:sp>
      <p:sp>
        <p:nvSpPr>
          <p:cNvPr id="295" name="CustomShape 46"/>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 (Activación)</a:t>
            </a:r>
            <a:endParaRPr lang="es-ES" sz="3600" b="0" strike="noStrike" spc="-1">
              <a:latin typeface="Arial"/>
            </a:endParaRPr>
          </a:p>
        </p:txBody>
      </p:sp>
      <p:sp>
        <p:nvSpPr>
          <p:cNvPr id="296" name="CustomShape 47"/>
          <p:cNvSpPr/>
          <p:nvPr/>
        </p:nvSpPr>
        <p:spPr>
          <a:xfrm>
            <a:off x="1267560" y="4905360"/>
            <a:ext cx="5718600" cy="25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50" b="0" strike="noStrike" spc="-1">
                <a:solidFill>
                  <a:srgbClr val="000000"/>
                </a:solidFill>
                <a:latin typeface="Calibri"/>
              </a:rPr>
              <a:t>Autor: </a:t>
            </a:r>
            <a:r>
              <a:rPr lang="es-ES" sz="1050" b="0" u="sng" strike="noStrike" spc="-1">
                <a:solidFill>
                  <a:srgbClr val="0563C1"/>
                </a:solidFill>
                <a:uFillTx/>
                <a:latin typeface="Calibri"/>
                <a:hlinkClick r:id="rId2"/>
              </a:rPr>
              <a:t>José Antonio Gómez</a:t>
            </a:r>
            <a:r>
              <a:rPr lang="es-ES" sz="1050" b="0" strike="noStrike" spc="-1">
                <a:solidFill>
                  <a:srgbClr val="000000"/>
                </a:solidFill>
                <a:latin typeface="Calibri"/>
              </a:rPr>
              <a:t>, UGR, reproducido con permiso</a:t>
            </a:r>
            <a:endParaRPr lang="es-ES" sz="1050" b="0" strike="noStrike" spc="-1">
              <a:latin typeface="Arial"/>
            </a:endParaRPr>
          </a:p>
        </p:txBody>
      </p:sp>
      <p:sp>
        <p:nvSpPr>
          <p:cNvPr id="297" name="CustomShape 48"/>
          <p:cNvSpPr/>
          <p:nvPr/>
        </p:nvSpPr>
        <p:spPr>
          <a:xfrm>
            <a:off x="1826280" y="746280"/>
            <a:ext cx="6823080" cy="501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Inicialmente se está ejecutando el proceso 1 y se produce una interrupción por invocación de una operación bloqueante cuando el contador de programa ejecutaba la instrucción n.</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TextShape 1"/>
          <p:cNvSpPr txBox="1"/>
          <p:nvPr/>
        </p:nvSpPr>
        <p:spPr>
          <a:xfrm>
            <a:off x="8028000" y="6400800"/>
            <a:ext cx="933120" cy="456840"/>
          </a:xfrm>
          <a:prstGeom prst="rect">
            <a:avLst/>
          </a:prstGeom>
          <a:noFill/>
          <a:ln>
            <a:noFill/>
          </a:ln>
        </p:spPr>
        <p:txBody>
          <a:bodyPr/>
          <a:lstStyle/>
          <a:p>
            <a:pPr algn="r">
              <a:lnSpc>
                <a:spcPct val="100000"/>
              </a:lnSpc>
            </a:pPr>
            <a:fld id="{CEA61B8D-8893-4BF7-8532-2DEC2224FFE3}" type="slidenum">
              <a:rPr lang="es-ES" sz="1600" b="0" strike="noStrike" spc="-1">
                <a:solidFill>
                  <a:srgbClr val="669900"/>
                </a:solidFill>
                <a:latin typeface="Haettenschweiler"/>
              </a:rPr>
              <a:t>17</a:t>
            </a:fld>
            <a:endParaRPr lang="es-ES" sz="1600" b="0" strike="noStrike" spc="-1">
              <a:latin typeface="Times New Roman"/>
            </a:endParaRPr>
          </a:p>
        </p:txBody>
      </p:sp>
      <p:sp>
        <p:nvSpPr>
          <p:cNvPr id="299" name="CustomShape 2"/>
          <p:cNvSpPr/>
          <p:nvPr/>
        </p:nvSpPr>
        <p:spPr>
          <a:xfrm>
            <a:off x="2645280" y="2571840"/>
            <a:ext cx="3543120" cy="199980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300" name="CustomShape 3"/>
          <p:cNvSpPr/>
          <p:nvPr/>
        </p:nvSpPr>
        <p:spPr>
          <a:xfrm>
            <a:off x="6645960" y="1943280"/>
            <a:ext cx="1542600" cy="1828440"/>
          </a:xfrm>
          <a:prstGeom prst="rect">
            <a:avLst/>
          </a:prstGeom>
          <a:solidFill>
            <a:schemeClr val="accent6">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301" name="Line 4"/>
          <p:cNvSpPr/>
          <p:nvPr/>
        </p:nvSpPr>
        <p:spPr>
          <a:xfrm>
            <a:off x="6188400" y="2571480"/>
            <a:ext cx="457200" cy="36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302" name="CustomShape 5"/>
          <p:cNvSpPr/>
          <p:nvPr/>
        </p:nvSpPr>
        <p:spPr>
          <a:xfrm>
            <a:off x="3956040" y="1006200"/>
            <a:ext cx="924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Memoria</a:t>
            </a:r>
            <a:endParaRPr lang="es-ES" sz="1500" b="0" strike="noStrike" spc="-1">
              <a:latin typeface="Arial"/>
            </a:endParaRPr>
          </a:p>
        </p:txBody>
      </p:sp>
      <p:sp>
        <p:nvSpPr>
          <p:cNvPr id="303" name="CustomShape 6"/>
          <p:cNvSpPr/>
          <p:nvPr/>
        </p:nvSpPr>
        <p:spPr>
          <a:xfrm>
            <a:off x="6670800" y="1577520"/>
            <a:ext cx="5817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CPU</a:t>
            </a:r>
            <a:endParaRPr lang="es-ES" sz="1500" b="0" strike="noStrike" spc="-1">
              <a:latin typeface="Arial"/>
            </a:endParaRPr>
          </a:p>
        </p:txBody>
      </p:sp>
      <p:sp>
        <p:nvSpPr>
          <p:cNvPr id="304" name="CustomShape 7"/>
          <p:cNvSpPr/>
          <p:nvPr/>
        </p:nvSpPr>
        <p:spPr>
          <a:xfrm>
            <a:off x="6760080" y="34290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j</a:t>
            </a:r>
            <a:endParaRPr lang="es-ES" sz="1500" b="0" strike="noStrike" spc="-1">
              <a:latin typeface="Arial"/>
            </a:endParaRPr>
          </a:p>
        </p:txBody>
      </p:sp>
      <p:sp>
        <p:nvSpPr>
          <p:cNvPr id="305" name="CustomShape 8"/>
          <p:cNvSpPr/>
          <p:nvPr/>
        </p:nvSpPr>
        <p:spPr>
          <a:xfrm>
            <a:off x="6760080" y="34290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sp>
      <p:sp>
        <p:nvSpPr>
          <p:cNvPr id="306" name="CustomShape 9"/>
          <p:cNvSpPr/>
          <p:nvPr/>
        </p:nvSpPr>
        <p:spPr>
          <a:xfrm>
            <a:off x="6760080" y="211464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n+1</a:t>
            </a:r>
            <a:endParaRPr lang="es-ES" sz="1500" b="0" strike="noStrike" spc="-1">
              <a:latin typeface="Arial"/>
            </a:endParaRPr>
          </a:p>
        </p:txBody>
      </p:sp>
      <p:sp>
        <p:nvSpPr>
          <p:cNvPr id="307" name="CustomShape 10"/>
          <p:cNvSpPr/>
          <p:nvPr/>
        </p:nvSpPr>
        <p:spPr>
          <a:xfrm>
            <a:off x="7628040" y="2091960"/>
            <a:ext cx="4446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a:t>
            </a:r>
            <a:endParaRPr lang="es-ES" sz="1500" b="0" strike="noStrike" spc="-1">
              <a:latin typeface="Arial"/>
            </a:endParaRPr>
          </a:p>
        </p:txBody>
      </p:sp>
      <p:sp>
        <p:nvSpPr>
          <p:cNvPr id="308" name="CustomShape 11"/>
          <p:cNvSpPr/>
          <p:nvPr/>
        </p:nvSpPr>
        <p:spPr>
          <a:xfrm rot="16200000">
            <a:off x="7430400" y="3064320"/>
            <a:ext cx="916920" cy="455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80000"/>
              </a:lnSpc>
            </a:pPr>
            <a:r>
              <a:rPr lang="es-ES" sz="1500" b="0" strike="noStrike" spc="-1">
                <a:solidFill>
                  <a:srgbClr val="000000"/>
                </a:solidFill>
                <a:latin typeface="Arial"/>
              </a:rPr>
              <a:t>Otros</a:t>
            </a:r>
            <a:endParaRPr lang="es-ES" sz="1500" b="0" strike="noStrike" spc="-1">
              <a:latin typeface="Arial"/>
            </a:endParaRPr>
          </a:p>
          <a:p>
            <a:pPr>
              <a:lnSpc>
                <a:spcPct val="80000"/>
              </a:lnSpc>
            </a:pPr>
            <a:r>
              <a:rPr lang="es-ES" sz="1500" b="0" strike="noStrike" spc="-1">
                <a:solidFill>
                  <a:srgbClr val="000000"/>
                </a:solidFill>
                <a:latin typeface="Arial"/>
              </a:rPr>
              <a:t>registros</a:t>
            </a:r>
            <a:endParaRPr lang="es-ES" sz="1500" b="0" strike="noStrike" spc="-1">
              <a:latin typeface="Arial"/>
            </a:endParaRPr>
          </a:p>
        </p:txBody>
      </p:sp>
      <p:sp>
        <p:nvSpPr>
          <p:cNvPr id="309" name="CustomShape 12"/>
          <p:cNvSpPr/>
          <p:nvPr/>
        </p:nvSpPr>
        <p:spPr>
          <a:xfrm>
            <a:off x="2645280" y="1371600"/>
            <a:ext cx="3543120" cy="1199880"/>
          </a:xfrm>
          <a:prstGeom prst="rect">
            <a:avLst/>
          </a:prstGeom>
          <a:solidFill>
            <a:srgbClr val="66FF99"/>
          </a:solidFill>
          <a:ln w="9360">
            <a:solidFill>
              <a:schemeClr val="tx1"/>
            </a:solidFill>
            <a:miter/>
          </a:ln>
        </p:spPr>
        <p:style>
          <a:lnRef idx="0">
            <a:scrgbClr r="0" g="0" b="0"/>
          </a:lnRef>
          <a:fillRef idx="0">
            <a:scrgbClr r="0" g="0" b="0"/>
          </a:fillRef>
          <a:effectRef idx="0">
            <a:scrgbClr r="0" g="0" b="0"/>
          </a:effectRef>
          <a:fontRef idx="minor"/>
        </p:style>
      </p:sp>
      <p:sp>
        <p:nvSpPr>
          <p:cNvPr id="310" name="CustomShape 13"/>
          <p:cNvSpPr/>
          <p:nvPr/>
        </p:nvSpPr>
        <p:spPr>
          <a:xfrm>
            <a:off x="2645280" y="2057400"/>
            <a:ext cx="3543120" cy="342720"/>
          </a:xfrm>
          <a:prstGeom prst="rect">
            <a:avLst/>
          </a:prstGeom>
          <a:solidFill>
            <a:srgbClr val="B2B2B2"/>
          </a:solidFill>
          <a:ln w="9360">
            <a:solidFill>
              <a:schemeClr val="tx1"/>
            </a:solidFill>
            <a:miter/>
          </a:ln>
        </p:spPr>
        <p:style>
          <a:lnRef idx="0">
            <a:scrgbClr r="0" g="0" b="0"/>
          </a:lnRef>
          <a:fillRef idx="0">
            <a:scrgbClr r="0" g="0" b="0"/>
          </a:fillRef>
          <a:effectRef idx="0">
            <a:scrgbClr r="0" g="0" b="0"/>
          </a:effectRef>
          <a:fontRef idx="minor"/>
        </p:style>
      </p:sp>
      <p:sp>
        <p:nvSpPr>
          <p:cNvPr id="311" name="CustomShape 14"/>
          <p:cNvSpPr/>
          <p:nvPr/>
        </p:nvSpPr>
        <p:spPr>
          <a:xfrm>
            <a:off x="2645280" y="1542960"/>
            <a:ext cx="3543120" cy="342720"/>
          </a:xfrm>
          <a:prstGeom prst="rect">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sp>
        <p:nvSpPr>
          <p:cNvPr id="312" name="CustomShape 15"/>
          <p:cNvSpPr/>
          <p:nvPr/>
        </p:nvSpPr>
        <p:spPr>
          <a:xfrm>
            <a:off x="4016880" y="371484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313" name="CustomShape 16"/>
          <p:cNvSpPr/>
          <p:nvPr/>
        </p:nvSpPr>
        <p:spPr>
          <a:xfrm>
            <a:off x="5102640" y="371484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14" name="Line 17"/>
          <p:cNvSpPr/>
          <p:nvPr/>
        </p:nvSpPr>
        <p:spPr>
          <a:xfrm>
            <a:off x="2416680" y="1714320"/>
            <a:ext cx="2286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315" name="CustomShape 18"/>
          <p:cNvSpPr/>
          <p:nvPr/>
        </p:nvSpPr>
        <p:spPr>
          <a:xfrm>
            <a:off x="2194560" y="1577520"/>
            <a:ext cx="287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n</a:t>
            </a:r>
            <a:endParaRPr lang="es-ES" sz="1500" b="0" strike="noStrike" spc="-1">
              <a:latin typeface="Arial"/>
            </a:endParaRPr>
          </a:p>
        </p:txBody>
      </p:sp>
      <p:sp>
        <p:nvSpPr>
          <p:cNvPr id="316" name="CustomShape 19"/>
          <p:cNvSpPr/>
          <p:nvPr/>
        </p:nvSpPr>
        <p:spPr>
          <a:xfrm>
            <a:off x="6760440" y="3086280"/>
            <a:ext cx="447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 . .</a:t>
            </a:r>
            <a:endParaRPr lang="es-ES" sz="1500" b="0" strike="noStrike" spc="-1">
              <a:latin typeface="Arial"/>
            </a:endParaRPr>
          </a:p>
        </p:txBody>
      </p:sp>
      <p:sp>
        <p:nvSpPr>
          <p:cNvPr id="317" name="CustomShape 20"/>
          <p:cNvSpPr/>
          <p:nvPr/>
        </p:nvSpPr>
        <p:spPr>
          <a:xfrm>
            <a:off x="4649400" y="211464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2</a:t>
            </a:r>
            <a:endParaRPr lang="es-ES" sz="1500" b="0" strike="noStrike" spc="-1">
              <a:latin typeface="Arial"/>
            </a:endParaRPr>
          </a:p>
        </p:txBody>
      </p:sp>
      <p:sp>
        <p:nvSpPr>
          <p:cNvPr id="318" name="CustomShape 21"/>
          <p:cNvSpPr/>
          <p:nvPr/>
        </p:nvSpPr>
        <p:spPr>
          <a:xfrm>
            <a:off x="3906720" y="160020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1</a:t>
            </a:r>
            <a:endParaRPr lang="es-ES" sz="1500" b="0" strike="noStrike" spc="-1">
              <a:latin typeface="Arial"/>
            </a:endParaRPr>
          </a:p>
        </p:txBody>
      </p:sp>
      <p:sp>
        <p:nvSpPr>
          <p:cNvPr id="319" name="CustomShape 22"/>
          <p:cNvSpPr/>
          <p:nvPr/>
        </p:nvSpPr>
        <p:spPr>
          <a:xfrm>
            <a:off x="5502960" y="2857680"/>
            <a:ext cx="456840" cy="34272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320" name="CustomShape 23"/>
          <p:cNvSpPr/>
          <p:nvPr/>
        </p:nvSpPr>
        <p:spPr>
          <a:xfrm>
            <a:off x="2816640" y="2857680"/>
            <a:ext cx="456840" cy="45684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321" name="CustomShape 24"/>
          <p:cNvSpPr/>
          <p:nvPr/>
        </p:nvSpPr>
        <p:spPr>
          <a:xfrm>
            <a:off x="4016880" y="331488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322" name="CustomShape 25"/>
          <p:cNvSpPr/>
          <p:nvPr/>
        </p:nvSpPr>
        <p:spPr>
          <a:xfrm>
            <a:off x="5262840" y="258948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2</a:t>
            </a:r>
            <a:endParaRPr lang="es-ES" sz="1200" b="0" strike="noStrike" spc="-1">
              <a:latin typeface="Arial"/>
            </a:endParaRPr>
          </a:p>
        </p:txBody>
      </p:sp>
      <p:sp>
        <p:nvSpPr>
          <p:cNvPr id="323" name="CustomShape 26"/>
          <p:cNvSpPr/>
          <p:nvPr/>
        </p:nvSpPr>
        <p:spPr>
          <a:xfrm>
            <a:off x="2691360" y="258948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1</a:t>
            </a:r>
            <a:endParaRPr lang="es-ES" sz="1200" b="0" strike="noStrike" spc="-1">
              <a:latin typeface="Arial"/>
            </a:endParaRPr>
          </a:p>
        </p:txBody>
      </p:sp>
      <p:sp>
        <p:nvSpPr>
          <p:cNvPr id="324" name="CustomShape 27"/>
          <p:cNvSpPr/>
          <p:nvPr/>
        </p:nvSpPr>
        <p:spPr>
          <a:xfrm>
            <a:off x="6760080" y="29718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350" b="1" strike="noStrike" spc="-1">
                <a:solidFill>
                  <a:srgbClr val="000000"/>
                </a:solidFill>
                <a:latin typeface="Arial"/>
              </a:rPr>
              <a:t>j</a:t>
            </a:r>
            <a:endParaRPr lang="es-ES" sz="1350" b="0" strike="noStrike" spc="-1">
              <a:latin typeface="Arial"/>
            </a:endParaRPr>
          </a:p>
        </p:txBody>
      </p:sp>
      <p:sp>
        <p:nvSpPr>
          <p:cNvPr id="325" name="CustomShape 28"/>
          <p:cNvSpPr/>
          <p:nvPr/>
        </p:nvSpPr>
        <p:spPr>
          <a:xfrm>
            <a:off x="7620480" y="2400480"/>
            <a:ext cx="4341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SP</a:t>
            </a:r>
            <a:endParaRPr lang="es-ES" sz="1500" b="0" strike="noStrike" spc="-1">
              <a:latin typeface="Arial"/>
            </a:endParaRPr>
          </a:p>
        </p:txBody>
      </p:sp>
      <p:sp>
        <p:nvSpPr>
          <p:cNvPr id="326" name="CustomShape 29"/>
          <p:cNvSpPr/>
          <p:nvPr/>
        </p:nvSpPr>
        <p:spPr>
          <a:xfrm>
            <a:off x="6760080" y="34290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k</a:t>
            </a:r>
            <a:endParaRPr lang="es-ES" sz="1500" b="0" strike="noStrike" spc="-1">
              <a:latin typeface="Arial"/>
            </a:endParaRPr>
          </a:p>
        </p:txBody>
      </p:sp>
      <p:sp>
        <p:nvSpPr>
          <p:cNvPr id="327" name="CustomShape 30"/>
          <p:cNvSpPr/>
          <p:nvPr/>
        </p:nvSpPr>
        <p:spPr>
          <a:xfrm>
            <a:off x="6760080" y="245736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i</a:t>
            </a:r>
            <a:endParaRPr lang="es-ES" sz="1500" b="0" strike="noStrike" spc="-1">
              <a:latin typeface="Arial"/>
            </a:endParaRPr>
          </a:p>
        </p:txBody>
      </p:sp>
      <p:sp>
        <p:nvSpPr>
          <p:cNvPr id="328" name="Line 31"/>
          <p:cNvSpPr/>
          <p:nvPr/>
        </p:nvSpPr>
        <p:spPr>
          <a:xfrm>
            <a:off x="2473560" y="285732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329" name="CustomShape 32"/>
          <p:cNvSpPr/>
          <p:nvPr/>
        </p:nvSpPr>
        <p:spPr>
          <a:xfrm>
            <a:off x="2246760" y="2685960"/>
            <a:ext cx="2772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a:t>
            </a:r>
            <a:endParaRPr lang="es-ES" sz="1500" b="0" strike="noStrike" spc="-1">
              <a:latin typeface="Arial"/>
            </a:endParaRPr>
          </a:p>
        </p:txBody>
      </p:sp>
      <p:sp>
        <p:nvSpPr>
          <p:cNvPr id="330" name="CustomShape 33"/>
          <p:cNvSpPr/>
          <p:nvPr/>
        </p:nvSpPr>
        <p:spPr>
          <a:xfrm>
            <a:off x="5102640" y="405756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31" name="CustomShape 34"/>
          <p:cNvSpPr/>
          <p:nvPr/>
        </p:nvSpPr>
        <p:spPr>
          <a:xfrm>
            <a:off x="5102640" y="342900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32" name="CustomShape 35"/>
          <p:cNvSpPr/>
          <p:nvPr/>
        </p:nvSpPr>
        <p:spPr>
          <a:xfrm>
            <a:off x="5250240" y="414936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2</a:t>
            </a:r>
            <a:endParaRPr lang="es-ES" sz="1500" b="0" strike="noStrike" spc="-1">
              <a:latin typeface="Arial"/>
            </a:endParaRPr>
          </a:p>
        </p:txBody>
      </p:sp>
      <p:sp>
        <p:nvSpPr>
          <p:cNvPr id="333" name="CustomShape 36"/>
          <p:cNvSpPr/>
          <p:nvPr/>
        </p:nvSpPr>
        <p:spPr>
          <a:xfrm>
            <a:off x="2873880" y="371484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34" name="CustomShape 37"/>
          <p:cNvSpPr/>
          <p:nvPr/>
        </p:nvSpPr>
        <p:spPr>
          <a:xfrm>
            <a:off x="2873880" y="405756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35" name="CustomShape 38"/>
          <p:cNvSpPr/>
          <p:nvPr/>
        </p:nvSpPr>
        <p:spPr>
          <a:xfrm>
            <a:off x="2873880" y="342900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36" name="CustomShape 39"/>
          <p:cNvSpPr/>
          <p:nvPr/>
        </p:nvSpPr>
        <p:spPr>
          <a:xfrm>
            <a:off x="3021480" y="414936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1</a:t>
            </a:r>
            <a:endParaRPr lang="es-ES" sz="1500" b="0" strike="noStrike" spc="-1">
              <a:latin typeface="Arial"/>
            </a:endParaRPr>
          </a:p>
        </p:txBody>
      </p:sp>
      <p:sp>
        <p:nvSpPr>
          <p:cNvPr id="337" name="CustomShape 40"/>
          <p:cNvSpPr/>
          <p:nvPr/>
        </p:nvSpPr>
        <p:spPr>
          <a:xfrm>
            <a:off x="6931440" y="1428840"/>
            <a:ext cx="456840" cy="2571480"/>
          </a:xfrm>
          <a:prstGeom prst="ellipse">
            <a:avLst/>
          </a:prstGeom>
          <a:noFill/>
          <a:ln w="28440" cap="rnd">
            <a:solidFill>
              <a:schemeClr val="accent2"/>
            </a:solidFill>
            <a:custDash>
              <a:ds d="400000" sp="300000"/>
            </a:custDash>
            <a:round/>
          </a:ln>
        </p:spPr>
        <p:style>
          <a:lnRef idx="0">
            <a:scrgbClr r="0" g="0" b="0"/>
          </a:lnRef>
          <a:fillRef idx="0">
            <a:scrgbClr r="0" g="0" b="0"/>
          </a:fillRef>
          <a:effectRef idx="0">
            <a:scrgbClr r="0" g="0" b="0"/>
          </a:effectRef>
          <a:fontRef idx="minor"/>
        </p:style>
      </p:sp>
      <p:sp>
        <p:nvSpPr>
          <p:cNvPr id="338" name="CustomShape 41"/>
          <p:cNvSpPr/>
          <p:nvPr/>
        </p:nvSpPr>
        <p:spPr>
          <a:xfrm>
            <a:off x="3388320" y="1542960"/>
            <a:ext cx="3600000" cy="2342880"/>
          </a:xfrm>
          <a:custGeom>
            <a:avLst/>
            <a:gdLst/>
            <a:ahLst/>
            <a:cxnLst/>
            <a:rect l="l" t="t" r="r" b="b"/>
            <a:pathLst>
              <a:path w="3072" h="1904">
                <a:moveTo>
                  <a:pt x="3072" y="272"/>
                </a:moveTo>
                <a:cubicBezTo>
                  <a:pt x="2392" y="136"/>
                  <a:pt x="1712" y="0"/>
                  <a:pt x="1200" y="272"/>
                </a:cubicBezTo>
                <a:cubicBezTo>
                  <a:pt x="688" y="544"/>
                  <a:pt x="344" y="1224"/>
                  <a:pt x="0" y="1904"/>
                </a:cubicBezTo>
              </a:path>
            </a:pathLst>
          </a:custGeom>
          <a:noFill/>
          <a:ln w="28440">
            <a:solidFill>
              <a:schemeClr val="accent2"/>
            </a:solidFill>
            <a:custDash>
              <a:ds d="400000" sp="300000"/>
            </a:custDash>
            <a:round/>
            <a:tailEnd type="triangle" w="med" len="med"/>
          </a:ln>
        </p:spPr>
        <p:style>
          <a:lnRef idx="0">
            <a:scrgbClr r="0" g="0" b="0"/>
          </a:lnRef>
          <a:fillRef idx="0">
            <a:scrgbClr r="0" g="0" b="0"/>
          </a:fillRef>
          <a:effectRef idx="0">
            <a:scrgbClr r="0" g="0" b="0"/>
          </a:effectRef>
          <a:fontRef idx="minor"/>
        </p:style>
      </p:sp>
      <p:sp>
        <p:nvSpPr>
          <p:cNvPr id="339" name="CustomShape 42"/>
          <p:cNvSpPr/>
          <p:nvPr/>
        </p:nvSpPr>
        <p:spPr>
          <a:xfrm>
            <a:off x="5162400" y="3429000"/>
            <a:ext cx="70992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t,v,x,y</a:t>
            </a:r>
            <a:endParaRPr lang="es-ES" sz="1500" b="0" strike="noStrike" spc="-1">
              <a:latin typeface="Arial"/>
            </a:endParaRPr>
          </a:p>
        </p:txBody>
      </p:sp>
      <p:sp>
        <p:nvSpPr>
          <p:cNvPr id="340" name="CustomShape 43"/>
          <p:cNvSpPr/>
          <p:nvPr/>
        </p:nvSpPr>
        <p:spPr>
          <a:xfrm>
            <a:off x="5149440" y="3714840"/>
            <a:ext cx="7419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l,n,o,p</a:t>
            </a:r>
            <a:endParaRPr lang="es-ES" sz="1500" b="0" strike="noStrike" spc="-1">
              <a:latin typeface="Arial"/>
            </a:endParaRPr>
          </a:p>
        </p:txBody>
      </p:sp>
      <p:sp>
        <p:nvSpPr>
          <p:cNvPr id="341" name="Line 44"/>
          <p:cNvSpPr/>
          <p:nvPr/>
        </p:nvSpPr>
        <p:spPr>
          <a:xfrm>
            <a:off x="2873880" y="2857320"/>
            <a:ext cx="360" cy="285840"/>
          </a:xfrm>
          <a:prstGeom prst="line">
            <a:avLst/>
          </a:prstGeom>
          <a:ln w="28440">
            <a:solidFill>
              <a:srgbClr val="FF3300"/>
            </a:solidFill>
            <a:round/>
            <a:tailEnd type="triangle" w="med" len="med"/>
          </a:ln>
        </p:spPr>
        <p:style>
          <a:lnRef idx="0">
            <a:scrgbClr r="0" g="0" b="0"/>
          </a:lnRef>
          <a:fillRef idx="0">
            <a:scrgbClr r="0" g="0" b="0"/>
          </a:fillRef>
          <a:effectRef idx="0">
            <a:scrgbClr r="0" g="0" b="0"/>
          </a:effectRef>
          <a:fontRef idx="minor"/>
        </p:style>
      </p:sp>
      <p:sp>
        <p:nvSpPr>
          <p:cNvPr id="342" name="CustomShape 45"/>
          <p:cNvSpPr/>
          <p:nvPr/>
        </p:nvSpPr>
        <p:spPr>
          <a:xfrm>
            <a:off x="1259640" y="3417120"/>
            <a:ext cx="1293480" cy="792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70000"/>
              </a:lnSpc>
            </a:pPr>
            <a:r>
              <a:rPr lang="es-ES" sz="1100" b="0" strike="noStrike" spc="-1">
                <a:solidFill>
                  <a:srgbClr val="44546A"/>
                </a:solidFill>
                <a:latin typeface="Arial"/>
              </a:rPr>
              <a:t>La CPU salva el contexto</a:t>
            </a:r>
            <a:endParaRPr lang="es-ES" sz="1100" b="0" strike="noStrike" spc="-1">
              <a:latin typeface="Arial"/>
            </a:endParaRPr>
          </a:p>
          <a:p>
            <a:pPr>
              <a:lnSpc>
                <a:spcPct val="70000"/>
              </a:lnSpc>
            </a:pPr>
            <a:r>
              <a:rPr lang="es-ES" sz="1100" b="0" strike="noStrike" spc="-1">
                <a:solidFill>
                  <a:srgbClr val="44546A"/>
                </a:solidFill>
                <a:latin typeface="Arial"/>
              </a:rPr>
              <a:t>del proceso</a:t>
            </a:r>
            <a:endParaRPr lang="es-ES" sz="1100" b="0" strike="noStrike" spc="-1">
              <a:latin typeface="Arial"/>
            </a:endParaRPr>
          </a:p>
          <a:p>
            <a:pPr>
              <a:lnSpc>
                <a:spcPct val="70000"/>
              </a:lnSpc>
            </a:pPr>
            <a:r>
              <a:rPr lang="es-ES" sz="1100" b="0" strike="noStrike" spc="-1">
                <a:solidFill>
                  <a:srgbClr val="44546A"/>
                </a:solidFill>
                <a:latin typeface="Arial"/>
              </a:rPr>
              <a:t>y empieza a ejecutar código kernel</a:t>
            </a:r>
            <a:endParaRPr lang="es-ES" sz="1100" b="0" strike="noStrike" spc="-1">
              <a:latin typeface="Arial"/>
            </a:endParaRPr>
          </a:p>
        </p:txBody>
      </p:sp>
      <p:sp>
        <p:nvSpPr>
          <p:cNvPr id="343" name="Line 46"/>
          <p:cNvSpPr/>
          <p:nvPr/>
        </p:nvSpPr>
        <p:spPr>
          <a:xfrm flipV="1">
            <a:off x="2302200" y="2971800"/>
            <a:ext cx="457200" cy="342720"/>
          </a:xfrm>
          <a:prstGeom prst="line">
            <a:avLst/>
          </a:prstGeom>
          <a:ln w="9360">
            <a:solidFill>
              <a:schemeClr val="tx2"/>
            </a:solidFill>
            <a:round/>
            <a:tailEnd type="triangle" w="med" len="med"/>
          </a:ln>
        </p:spPr>
        <p:style>
          <a:lnRef idx="0">
            <a:scrgbClr r="0" g="0" b="0"/>
          </a:lnRef>
          <a:fillRef idx="0">
            <a:scrgbClr r="0" g="0" b="0"/>
          </a:fillRef>
          <a:effectRef idx="0">
            <a:scrgbClr r="0" g="0" b="0"/>
          </a:effectRef>
          <a:fontRef idx="minor"/>
        </p:style>
      </p:sp>
      <p:sp>
        <p:nvSpPr>
          <p:cNvPr id="344" name="CustomShape 47"/>
          <p:cNvSpPr/>
          <p:nvPr/>
        </p:nvSpPr>
        <p:spPr>
          <a:xfrm>
            <a:off x="6140160" y="971640"/>
            <a:ext cx="205272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1F4E79"/>
                </a:solidFill>
                <a:latin typeface="Arial"/>
              </a:rPr>
              <a:t>Máquina en modo kernel</a:t>
            </a:r>
            <a:endParaRPr lang="es-ES" sz="1350" b="0" strike="noStrike" spc="-1">
              <a:latin typeface="Arial"/>
            </a:endParaRPr>
          </a:p>
        </p:txBody>
      </p:sp>
      <p:sp>
        <p:nvSpPr>
          <p:cNvPr id="345" name="CustomShape 48"/>
          <p:cNvSpPr/>
          <p:nvPr/>
        </p:nvSpPr>
        <p:spPr>
          <a:xfrm>
            <a:off x="1267560" y="4905360"/>
            <a:ext cx="5718600" cy="25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50" b="0" strike="noStrike" spc="-1">
                <a:solidFill>
                  <a:srgbClr val="000000"/>
                </a:solidFill>
                <a:latin typeface="Calibri"/>
              </a:rPr>
              <a:t>Autor: José Antonio Gómez, UGR, reproducido con permiso</a:t>
            </a:r>
            <a:endParaRPr lang="es-ES" sz="1050" b="0" strike="noStrike" spc="-1">
              <a:latin typeface="Arial"/>
            </a:endParaRPr>
          </a:p>
        </p:txBody>
      </p:sp>
      <p:sp>
        <p:nvSpPr>
          <p:cNvPr id="346" name="CustomShape 49"/>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a:t>
            </a:r>
            <a:endParaRPr lang="es-ES" sz="3600" b="0" strike="noStrike" spc="-1">
              <a:latin typeface="Arial"/>
            </a:endParaRPr>
          </a:p>
        </p:txBody>
      </p:sp>
      <p:sp>
        <p:nvSpPr>
          <p:cNvPr id="347" name="CustomShape 50"/>
          <p:cNvSpPr/>
          <p:nvPr/>
        </p:nvSpPr>
        <p:spPr>
          <a:xfrm>
            <a:off x="3853080" y="2977920"/>
            <a:ext cx="165348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900" b="0" strike="noStrike" spc="-1">
                <a:solidFill>
                  <a:srgbClr val="000000"/>
                </a:solidFill>
                <a:latin typeface="Lucida Sans Typewriter"/>
              </a:rPr>
              <a:t>switch_context(P1,P2)</a:t>
            </a:r>
            <a:endParaRPr lang="es-ES" sz="900" b="0" strike="noStrike" spc="-1">
              <a:latin typeface="Arial"/>
            </a:endParaRPr>
          </a:p>
        </p:txBody>
      </p:sp>
      <p:grpSp>
        <p:nvGrpSpPr>
          <p:cNvPr id="348" name="Group 51"/>
          <p:cNvGrpSpPr/>
          <p:nvPr/>
        </p:nvGrpSpPr>
        <p:grpSpPr>
          <a:xfrm>
            <a:off x="5969880" y="3522600"/>
            <a:ext cx="1835280" cy="1095120"/>
            <a:chOff x="5969880" y="3522600"/>
            <a:chExt cx="1835280" cy="1095120"/>
          </a:xfrm>
        </p:grpSpPr>
        <p:sp>
          <p:nvSpPr>
            <p:cNvPr id="349" name="CustomShape 52"/>
            <p:cNvSpPr/>
            <p:nvPr/>
          </p:nvSpPr>
          <p:spPr>
            <a:xfrm>
              <a:off x="6484680" y="3979800"/>
              <a:ext cx="1320480" cy="637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767171"/>
                  </a:solidFill>
                  <a:latin typeface="Calibri"/>
                </a:rPr>
                <a:t>Contexto kernel</a:t>
              </a:r>
              <a:endParaRPr lang="es-ES" sz="1200" b="0" strike="noStrike" spc="-1">
                <a:latin typeface="Arial"/>
              </a:endParaRPr>
            </a:p>
            <a:p>
              <a:pPr>
                <a:lnSpc>
                  <a:spcPct val="100000"/>
                </a:lnSpc>
              </a:pPr>
              <a:r>
                <a:rPr lang="es-ES" sz="1200" b="0" strike="noStrike" spc="-1">
                  <a:solidFill>
                    <a:srgbClr val="767171"/>
                  </a:solidFill>
                  <a:latin typeface="Calibri"/>
                </a:rPr>
                <a:t>Contexto usuario</a:t>
              </a:r>
              <a:endParaRPr lang="es-ES" sz="1200" b="0" strike="noStrike" spc="-1">
                <a:latin typeface="Arial"/>
              </a:endParaRPr>
            </a:p>
            <a:p>
              <a:pPr>
                <a:lnSpc>
                  <a:spcPct val="100000"/>
                </a:lnSpc>
              </a:pPr>
              <a:r>
                <a:rPr lang="es-ES" sz="1200" b="0" strike="noStrike" spc="-1">
                  <a:solidFill>
                    <a:srgbClr val="767171"/>
                  </a:solidFill>
                  <a:latin typeface="Calibri"/>
                </a:rPr>
                <a:t>Resto información</a:t>
              </a:r>
              <a:endParaRPr lang="es-ES" sz="1200" b="0" strike="noStrike" spc="-1">
                <a:latin typeface="Arial"/>
              </a:endParaRPr>
            </a:p>
          </p:txBody>
        </p:sp>
        <p:sp>
          <p:nvSpPr>
            <p:cNvPr id="350" name="Line 53"/>
            <p:cNvSpPr/>
            <p:nvPr/>
          </p:nvSpPr>
          <p:spPr>
            <a:xfrm flipH="1" flipV="1">
              <a:off x="5969880" y="3522600"/>
              <a:ext cx="571680" cy="5760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351" name="Line 54"/>
            <p:cNvSpPr/>
            <p:nvPr/>
          </p:nvSpPr>
          <p:spPr>
            <a:xfrm flipH="1" flipV="1">
              <a:off x="5969880" y="3865320"/>
              <a:ext cx="571680" cy="4572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352" name="Line 55"/>
            <p:cNvSpPr/>
            <p:nvPr/>
          </p:nvSpPr>
          <p:spPr>
            <a:xfrm flipH="1" flipV="1">
              <a:off x="5969880" y="4265640"/>
              <a:ext cx="571680" cy="2286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gr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TextShape 1"/>
          <p:cNvSpPr txBox="1"/>
          <p:nvPr/>
        </p:nvSpPr>
        <p:spPr>
          <a:xfrm>
            <a:off x="8028000" y="6400800"/>
            <a:ext cx="933120" cy="456840"/>
          </a:xfrm>
          <a:prstGeom prst="rect">
            <a:avLst/>
          </a:prstGeom>
          <a:noFill/>
          <a:ln>
            <a:noFill/>
          </a:ln>
        </p:spPr>
        <p:txBody>
          <a:bodyPr/>
          <a:lstStyle/>
          <a:p>
            <a:pPr algn="r">
              <a:lnSpc>
                <a:spcPct val="100000"/>
              </a:lnSpc>
            </a:pPr>
            <a:fld id="{13FBFAFC-8F9D-46A8-BD0B-17B8575662BD}" type="slidenum">
              <a:rPr lang="es-ES" sz="1600" b="0" strike="noStrike" spc="-1">
                <a:solidFill>
                  <a:srgbClr val="669900"/>
                </a:solidFill>
                <a:latin typeface="Haettenschweiler"/>
              </a:rPr>
              <a:t>18</a:t>
            </a:fld>
            <a:endParaRPr lang="es-ES" sz="1600" b="0" strike="noStrike" spc="-1">
              <a:latin typeface="Times New Roman"/>
            </a:endParaRPr>
          </a:p>
        </p:txBody>
      </p:sp>
      <p:sp>
        <p:nvSpPr>
          <p:cNvPr id="354" name="CustomShape 2"/>
          <p:cNvSpPr/>
          <p:nvPr/>
        </p:nvSpPr>
        <p:spPr>
          <a:xfrm>
            <a:off x="2699640" y="2594880"/>
            <a:ext cx="3543120" cy="199980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355" name="CustomShape 3"/>
          <p:cNvSpPr/>
          <p:nvPr/>
        </p:nvSpPr>
        <p:spPr>
          <a:xfrm>
            <a:off x="6699960" y="1966320"/>
            <a:ext cx="1542600" cy="1828440"/>
          </a:xfrm>
          <a:prstGeom prst="rect">
            <a:avLst/>
          </a:prstGeom>
          <a:solidFill>
            <a:schemeClr val="accent6">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356" name="Line 4"/>
          <p:cNvSpPr/>
          <p:nvPr/>
        </p:nvSpPr>
        <p:spPr>
          <a:xfrm>
            <a:off x="6242760" y="2594880"/>
            <a:ext cx="457200" cy="36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357" name="CustomShape 5"/>
          <p:cNvSpPr/>
          <p:nvPr/>
        </p:nvSpPr>
        <p:spPr>
          <a:xfrm>
            <a:off x="4010400" y="1029240"/>
            <a:ext cx="924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Memoria</a:t>
            </a:r>
            <a:endParaRPr lang="es-ES" sz="1500" b="0" strike="noStrike" spc="-1">
              <a:latin typeface="Arial"/>
            </a:endParaRPr>
          </a:p>
        </p:txBody>
      </p:sp>
      <p:sp>
        <p:nvSpPr>
          <p:cNvPr id="358" name="CustomShape 6"/>
          <p:cNvSpPr/>
          <p:nvPr/>
        </p:nvSpPr>
        <p:spPr>
          <a:xfrm>
            <a:off x="6725160" y="1600920"/>
            <a:ext cx="5817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CPU</a:t>
            </a:r>
            <a:endParaRPr lang="es-ES" sz="1500" b="0" strike="noStrike" spc="-1">
              <a:latin typeface="Arial"/>
            </a:endParaRPr>
          </a:p>
        </p:txBody>
      </p:sp>
      <p:sp>
        <p:nvSpPr>
          <p:cNvPr id="359" name="CustomShape 7"/>
          <p:cNvSpPr/>
          <p:nvPr/>
        </p:nvSpPr>
        <p:spPr>
          <a:xfrm>
            <a:off x="6814440" y="345204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j</a:t>
            </a:r>
            <a:endParaRPr lang="es-ES" sz="1500" b="0" strike="noStrike" spc="-1">
              <a:latin typeface="Arial"/>
            </a:endParaRPr>
          </a:p>
        </p:txBody>
      </p:sp>
      <p:sp>
        <p:nvSpPr>
          <p:cNvPr id="360" name="CustomShape 8"/>
          <p:cNvSpPr/>
          <p:nvPr/>
        </p:nvSpPr>
        <p:spPr>
          <a:xfrm>
            <a:off x="6814440" y="345204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sp>
      <p:sp>
        <p:nvSpPr>
          <p:cNvPr id="361" name="CustomShape 9"/>
          <p:cNvSpPr/>
          <p:nvPr/>
        </p:nvSpPr>
        <p:spPr>
          <a:xfrm>
            <a:off x="6814440" y="21376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c+i+1</a:t>
            </a:r>
            <a:endParaRPr lang="es-ES" sz="1500" b="0" strike="noStrike" spc="-1">
              <a:latin typeface="Arial"/>
            </a:endParaRPr>
          </a:p>
        </p:txBody>
      </p:sp>
      <p:sp>
        <p:nvSpPr>
          <p:cNvPr id="362" name="CustomShape 10"/>
          <p:cNvSpPr/>
          <p:nvPr/>
        </p:nvSpPr>
        <p:spPr>
          <a:xfrm>
            <a:off x="7682400" y="2115000"/>
            <a:ext cx="4446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a:t>
            </a:r>
            <a:endParaRPr lang="es-ES" sz="1500" b="0" strike="noStrike" spc="-1">
              <a:latin typeface="Arial"/>
            </a:endParaRPr>
          </a:p>
        </p:txBody>
      </p:sp>
      <p:sp>
        <p:nvSpPr>
          <p:cNvPr id="363" name="CustomShape 11"/>
          <p:cNvSpPr/>
          <p:nvPr/>
        </p:nvSpPr>
        <p:spPr>
          <a:xfrm rot="16200000">
            <a:off x="7484760" y="3087360"/>
            <a:ext cx="916920" cy="455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80000"/>
              </a:lnSpc>
            </a:pPr>
            <a:r>
              <a:rPr lang="es-ES" sz="1500" b="0" strike="noStrike" spc="-1">
                <a:solidFill>
                  <a:srgbClr val="000000"/>
                </a:solidFill>
                <a:latin typeface="Arial"/>
              </a:rPr>
              <a:t>Otros</a:t>
            </a:r>
            <a:endParaRPr lang="es-ES" sz="1500" b="0" strike="noStrike" spc="-1">
              <a:latin typeface="Arial"/>
            </a:endParaRPr>
          </a:p>
          <a:p>
            <a:pPr>
              <a:lnSpc>
                <a:spcPct val="80000"/>
              </a:lnSpc>
            </a:pPr>
            <a:r>
              <a:rPr lang="es-ES" sz="1500" b="0" strike="noStrike" spc="-1">
                <a:solidFill>
                  <a:srgbClr val="000000"/>
                </a:solidFill>
                <a:latin typeface="Arial"/>
              </a:rPr>
              <a:t>registros</a:t>
            </a:r>
            <a:endParaRPr lang="es-ES" sz="1500" b="0" strike="noStrike" spc="-1">
              <a:latin typeface="Arial"/>
            </a:endParaRPr>
          </a:p>
        </p:txBody>
      </p:sp>
      <p:sp>
        <p:nvSpPr>
          <p:cNvPr id="364" name="CustomShape 12"/>
          <p:cNvSpPr/>
          <p:nvPr/>
        </p:nvSpPr>
        <p:spPr>
          <a:xfrm>
            <a:off x="2699640" y="1394640"/>
            <a:ext cx="3543120" cy="1199880"/>
          </a:xfrm>
          <a:prstGeom prst="rect">
            <a:avLst/>
          </a:prstGeom>
          <a:solidFill>
            <a:srgbClr val="66FF99"/>
          </a:solidFill>
          <a:ln w="9360">
            <a:solidFill>
              <a:schemeClr val="tx1"/>
            </a:solidFill>
            <a:miter/>
          </a:ln>
        </p:spPr>
        <p:style>
          <a:lnRef idx="0">
            <a:scrgbClr r="0" g="0" b="0"/>
          </a:lnRef>
          <a:fillRef idx="0">
            <a:scrgbClr r="0" g="0" b="0"/>
          </a:fillRef>
          <a:effectRef idx="0">
            <a:scrgbClr r="0" g="0" b="0"/>
          </a:effectRef>
          <a:fontRef idx="minor"/>
        </p:style>
      </p:sp>
      <p:sp>
        <p:nvSpPr>
          <p:cNvPr id="365" name="CustomShape 13"/>
          <p:cNvSpPr/>
          <p:nvPr/>
        </p:nvSpPr>
        <p:spPr>
          <a:xfrm>
            <a:off x="2699640" y="2080440"/>
            <a:ext cx="3543120" cy="342720"/>
          </a:xfrm>
          <a:prstGeom prst="rect">
            <a:avLst/>
          </a:prstGeom>
          <a:solidFill>
            <a:srgbClr val="B2B2B2"/>
          </a:solidFill>
          <a:ln w="9360">
            <a:solidFill>
              <a:schemeClr val="tx1"/>
            </a:solidFill>
            <a:miter/>
          </a:ln>
        </p:spPr>
        <p:style>
          <a:lnRef idx="0">
            <a:scrgbClr r="0" g="0" b="0"/>
          </a:lnRef>
          <a:fillRef idx="0">
            <a:scrgbClr r="0" g="0" b="0"/>
          </a:fillRef>
          <a:effectRef idx="0">
            <a:scrgbClr r="0" g="0" b="0"/>
          </a:effectRef>
          <a:fontRef idx="minor"/>
        </p:style>
      </p:sp>
      <p:sp>
        <p:nvSpPr>
          <p:cNvPr id="366" name="CustomShape 14"/>
          <p:cNvSpPr/>
          <p:nvPr/>
        </p:nvSpPr>
        <p:spPr>
          <a:xfrm>
            <a:off x="2699640" y="1566360"/>
            <a:ext cx="3543120" cy="342720"/>
          </a:xfrm>
          <a:prstGeom prst="rect">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sp>
        <p:nvSpPr>
          <p:cNvPr id="367" name="CustomShape 15"/>
          <p:cNvSpPr/>
          <p:nvPr/>
        </p:nvSpPr>
        <p:spPr>
          <a:xfrm>
            <a:off x="4071240" y="373788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368" name="CustomShape 16"/>
          <p:cNvSpPr/>
          <p:nvPr/>
        </p:nvSpPr>
        <p:spPr>
          <a:xfrm>
            <a:off x="5157000" y="373788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69" name="Line 17"/>
          <p:cNvSpPr/>
          <p:nvPr/>
        </p:nvSpPr>
        <p:spPr>
          <a:xfrm>
            <a:off x="2470680" y="1737360"/>
            <a:ext cx="2286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370" name="CustomShape 18"/>
          <p:cNvSpPr/>
          <p:nvPr/>
        </p:nvSpPr>
        <p:spPr>
          <a:xfrm>
            <a:off x="2248920" y="1600920"/>
            <a:ext cx="287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n</a:t>
            </a:r>
            <a:endParaRPr lang="es-ES" sz="1500" b="0" strike="noStrike" spc="-1">
              <a:latin typeface="Arial"/>
            </a:endParaRPr>
          </a:p>
        </p:txBody>
      </p:sp>
      <p:sp>
        <p:nvSpPr>
          <p:cNvPr id="371" name="CustomShape 19"/>
          <p:cNvSpPr/>
          <p:nvPr/>
        </p:nvSpPr>
        <p:spPr>
          <a:xfrm>
            <a:off x="6814800" y="3109320"/>
            <a:ext cx="447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 . .</a:t>
            </a:r>
            <a:endParaRPr lang="es-ES" sz="1500" b="0" strike="noStrike" spc="-1">
              <a:latin typeface="Arial"/>
            </a:endParaRPr>
          </a:p>
        </p:txBody>
      </p:sp>
      <p:sp>
        <p:nvSpPr>
          <p:cNvPr id="372" name="CustomShape 20"/>
          <p:cNvSpPr/>
          <p:nvPr/>
        </p:nvSpPr>
        <p:spPr>
          <a:xfrm>
            <a:off x="4703760" y="213768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2</a:t>
            </a:r>
            <a:endParaRPr lang="es-ES" sz="1500" b="0" strike="noStrike" spc="-1">
              <a:latin typeface="Arial"/>
            </a:endParaRPr>
          </a:p>
        </p:txBody>
      </p:sp>
      <p:sp>
        <p:nvSpPr>
          <p:cNvPr id="373" name="CustomShape 21"/>
          <p:cNvSpPr/>
          <p:nvPr/>
        </p:nvSpPr>
        <p:spPr>
          <a:xfrm>
            <a:off x="3960720" y="162324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1</a:t>
            </a:r>
            <a:endParaRPr lang="es-ES" sz="1500" b="0" strike="noStrike" spc="-1">
              <a:latin typeface="Arial"/>
            </a:endParaRPr>
          </a:p>
        </p:txBody>
      </p:sp>
      <p:sp>
        <p:nvSpPr>
          <p:cNvPr id="374" name="CustomShape 22"/>
          <p:cNvSpPr/>
          <p:nvPr/>
        </p:nvSpPr>
        <p:spPr>
          <a:xfrm>
            <a:off x="5556960" y="2880720"/>
            <a:ext cx="456840" cy="34272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375" name="CustomShape 23"/>
          <p:cNvSpPr/>
          <p:nvPr/>
        </p:nvSpPr>
        <p:spPr>
          <a:xfrm>
            <a:off x="2871000" y="2880720"/>
            <a:ext cx="456840" cy="45684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376" name="CustomShape 24"/>
          <p:cNvSpPr/>
          <p:nvPr/>
        </p:nvSpPr>
        <p:spPr>
          <a:xfrm>
            <a:off x="4071240" y="333792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377" name="CustomShape 25"/>
          <p:cNvSpPr/>
          <p:nvPr/>
        </p:nvSpPr>
        <p:spPr>
          <a:xfrm>
            <a:off x="5317200" y="261288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2</a:t>
            </a:r>
            <a:endParaRPr lang="es-ES" sz="1200" b="0" strike="noStrike" spc="-1">
              <a:latin typeface="Arial"/>
            </a:endParaRPr>
          </a:p>
        </p:txBody>
      </p:sp>
      <p:sp>
        <p:nvSpPr>
          <p:cNvPr id="378" name="CustomShape 26"/>
          <p:cNvSpPr/>
          <p:nvPr/>
        </p:nvSpPr>
        <p:spPr>
          <a:xfrm>
            <a:off x="2745360" y="261288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1</a:t>
            </a:r>
            <a:endParaRPr lang="es-ES" sz="1200" b="0" strike="noStrike" spc="-1">
              <a:latin typeface="Arial"/>
            </a:endParaRPr>
          </a:p>
        </p:txBody>
      </p:sp>
      <p:sp>
        <p:nvSpPr>
          <p:cNvPr id="379" name="CustomShape 27"/>
          <p:cNvSpPr/>
          <p:nvPr/>
        </p:nvSpPr>
        <p:spPr>
          <a:xfrm>
            <a:off x="6814440" y="299484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r</a:t>
            </a:r>
            <a:endParaRPr lang="es-ES" sz="1500" b="0" strike="noStrike" spc="-1">
              <a:latin typeface="Arial"/>
            </a:endParaRPr>
          </a:p>
        </p:txBody>
      </p:sp>
      <p:sp>
        <p:nvSpPr>
          <p:cNvPr id="380" name="CustomShape 28"/>
          <p:cNvSpPr/>
          <p:nvPr/>
        </p:nvSpPr>
        <p:spPr>
          <a:xfrm>
            <a:off x="7674840" y="2423520"/>
            <a:ext cx="4341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SP</a:t>
            </a:r>
            <a:endParaRPr lang="es-ES" sz="1500" b="0" strike="noStrike" spc="-1">
              <a:latin typeface="Arial"/>
            </a:endParaRPr>
          </a:p>
        </p:txBody>
      </p:sp>
      <p:sp>
        <p:nvSpPr>
          <p:cNvPr id="381" name="CustomShape 29"/>
          <p:cNvSpPr/>
          <p:nvPr/>
        </p:nvSpPr>
        <p:spPr>
          <a:xfrm>
            <a:off x="6814440" y="345204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s</a:t>
            </a:r>
            <a:endParaRPr lang="es-ES" sz="1500" b="0" strike="noStrike" spc="-1">
              <a:latin typeface="Arial"/>
            </a:endParaRPr>
          </a:p>
        </p:txBody>
      </p:sp>
      <p:sp>
        <p:nvSpPr>
          <p:cNvPr id="382" name="CustomShape 30"/>
          <p:cNvSpPr/>
          <p:nvPr/>
        </p:nvSpPr>
        <p:spPr>
          <a:xfrm>
            <a:off x="6814440" y="248076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m</a:t>
            </a:r>
            <a:endParaRPr lang="es-ES" sz="1500" b="0" strike="noStrike" spc="-1">
              <a:latin typeface="Arial"/>
            </a:endParaRPr>
          </a:p>
        </p:txBody>
      </p:sp>
      <p:sp>
        <p:nvSpPr>
          <p:cNvPr id="383" name="Line 31"/>
          <p:cNvSpPr/>
          <p:nvPr/>
        </p:nvSpPr>
        <p:spPr>
          <a:xfrm>
            <a:off x="2527920" y="288036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384" name="CustomShape 32"/>
          <p:cNvSpPr/>
          <p:nvPr/>
        </p:nvSpPr>
        <p:spPr>
          <a:xfrm>
            <a:off x="2301120" y="2709360"/>
            <a:ext cx="2772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a:t>
            </a:r>
            <a:endParaRPr lang="es-ES" sz="1500" b="0" strike="noStrike" spc="-1">
              <a:latin typeface="Arial"/>
            </a:endParaRPr>
          </a:p>
        </p:txBody>
      </p:sp>
      <p:sp>
        <p:nvSpPr>
          <p:cNvPr id="385" name="CustomShape 33"/>
          <p:cNvSpPr/>
          <p:nvPr/>
        </p:nvSpPr>
        <p:spPr>
          <a:xfrm>
            <a:off x="5157000" y="408096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86" name="CustomShape 34"/>
          <p:cNvSpPr/>
          <p:nvPr/>
        </p:nvSpPr>
        <p:spPr>
          <a:xfrm>
            <a:off x="5157000" y="345204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87" name="CustomShape 35"/>
          <p:cNvSpPr/>
          <p:nvPr/>
        </p:nvSpPr>
        <p:spPr>
          <a:xfrm>
            <a:off x="5304600" y="417240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2</a:t>
            </a:r>
            <a:endParaRPr lang="es-ES" sz="1500" b="0" strike="noStrike" spc="-1">
              <a:latin typeface="Arial"/>
            </a:endParaRPr>
          </a:p>
        </p:txBody>
      </p:sp>
      <p:sp>
        <p:nvSpPr>
          <p:cNvPr id="388" name="CustomShape 36"/>
          <p:cNvSpPr/>
          <p:nvPr/>
        </p:nvSpPr>
        <p:spPr>
          <a:xfrm>
            <a:off x="2928240" y="373788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n+1,i,j,k</a:t>
            </a:r>
            <a:endParaRPr lang="es-ES" sz="1500" b="0" strike="noStrike" spc="-1">
              <a:latin typeface="Arial"/>
            </a:endParaRPr>
          </a:p>
        </p:txBody>
      </p:sp>
      <p:sp>
        <p:nvSpPr>
          <p:cNvPr id="389" name="CustomShape 37"/>
          <p:cNvSpPr/>
          <p:nvPr/>
        </p:nvSpPr>
        <p:spPr>
          <a:xfrm>
            <a:off x="2928240" y="408096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90" name="CustomShape 38"/>
          <p:cNvSpPr/>
          <p:nvPr/>
        </p:nvSpPr>
        <p:spPr>
          <a:xfrm>
            <a:off x="2928240" y="345204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91" name="CustomShape 39"/>
          <p:cNvSpPr/>
          <p:nvPr/>
        </p:nvSpPr>
        <p:spPr>
          <a:xfrm>
            <a:off x="3075840" y="417240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1</a:t>
            </a:r>
            <a:endParaRPr lang="es-ES" sz="1500" b="0" strike="noStrike" spc="-1">
              <a:latin typeface="Arial"/>
            </a:endParaRPr>
          </a:p>
        </p:txBody>
      </p:sp>
      <p:sp>
        <p:nvSpPr>
          <p:cNvPr id="392" name="CustomShape 40"/>
          <p:cNvSpPr/>
          <p:nvPr/>
        </p:nvSpPr>
        <p:spPr>
          <a:xfrm>
            <a:off x="2985480" y="2823480"/>
            <a:ext cx="1142640" cy="514080"/>
          </a:xfrm>
          <a:custGeom>
            <a:avLst/>
            <a:gdLst/>
            <a:ahLst/>
            <a:cxnLst/>
            <a:rect l="l" t="t" r="r" b="b"/>
            <a:pathLst>
              <a:path w="912" h="352">
                <a:moveTo>
                  <a:pt x="0" y="256"/>
                </a:moveTo>
                <a:cubicBezTo>
                  <a:pt x="236" y="128"/>
                  <a:pt x="472" y="0"/>
                  <a:pt x="624" y="16"/>
                </a:cubicBezTo>
                <a:cubicBezTo>
                  <a:pt x="776" y="32"/>
                  <a:pt x="844" y="192"/>
                  <a:pt x="912" y="352"/>
                </a:cubicBezTo>
              </a:path>
            </a:pathLst>
          </a:custGeom>
          <a:noFill/>
          <a:ln w="28440">
            <a:solidFill>
              <a:srgbClr val="FF3300"/>
            </a:solidFill>
            <a:round/>
            <a:tailEnd type="triangle" w="med" len="med"/>
          </a:ln>
        </p:spPr>
        <p:style>
          <a:lnRef idx="0">
            <a:scrgbClr r="0" g="0" b="0"/>
          </a:lnRef>
          <a:fillRef idx="0">
            <a:scrgbClr r="0" g="0" b="0"/>
          </a:fillRef>
          <a:effectRef idx="0">
            <a:scrgbClr r="0" g="0" b="0"/>
          </a:effectRef>
          <a:fontRef idx="minor"/>
        </p:style>
      </p:sp>
      <p:sp>
        <p:nvSpPr>
          <p:cNvPr id="393" name="Line 41"/>
          <p:cNvSpPr/>
          <p:nvPr/>
        </p:nvSpPr>
        <p:spPr>
          <a:xfrm>
            <a:off x="2487600" y="3203280"/>
            <a:ext cx="514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394" name="CustomShape 42"/>
          <p:cNvSpPr/>
          <p:nvPr/>
        </p:nvSpPr>
        <p:spPr>
          <a:xfrm>
            <a:off x="2130480" y="3052080"/>
            <a:ext cx="43092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c+i</a:t>
            </a:r>
            <a:endParaRPr lang="es-ES" sz="1500" b="0" strike="noStrike" spc="-1">
              <a:latin typeface="Arial"/>
            </a:endParaRPr>
          </a:p>
        </p:txBody>
      </p:sp>
      <p:sp>
        <p:nvSpPr>
          <p:cNvPr id="395" name="CustomShape 43"/>
          <p:cNvSpPr/>
          <p:nvPr/>
        </p:nvSpPr>
        <p:spPr>
          <a:xfrm>
            <a:off x="5157000" y="373788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96" name="CustomShape 44"/>
          <p:cNvSpPr/>
          <p:nvPr/>
        </p:nvSpPr>
        <p:spPr>
          <a:xfrm>
            <a:off x="5157000" y="345204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397" name="CustomShape 45"/>
          <p:cNvSpPr/>
          <p:nvPr/>
        </p:nvSpPr>
        <p:spPr>
          <a:xfrm>
            <a:off x="5216760" y="3452040"/>
            <a:ext cx="70992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t,v,x,y</a:t>
            </a:r>
            <a:endParaRPr lang="es-ES" sz="1500" b="0" strike="noStrike" spc="-1">
              <a:latin typeface="Arial"/>
            </a:endParaRPr>
          </a:p>
        </p:txBody>
      </p:sp>
      <p:sp>
        <p:nvSpPr>
          <p:cNvPr id="398" name="CustomShape 46"/>
          <p:cNvSpPr/>
          <p:nvPr/>
        </p:nvSpPr>
        <p:spPr>
          <a:xfrm>
            <a:off x="5203800" y="3737880"/>
            <a:ext cx="7419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l,n,o,p</a:t>
            </a:r>
            <a:endParaRPr lang="es-ES" sz="1500" b="0" strike="noStrike" spc="-1">
              <a:latin typeface="Arial"/>
            </a:endParaRPr>
          </a:p>
        </p:txBody>
      </p:sp>
      <p:sp>
        <p:nvSpPr>
          <p:cNvPr id="399" name="CustomShape 47"/>
          <p:cNvSpPr/>
          <p:nvPr/>
        </p:nvSpPr>
        <p:spPr>
          <a:xfrm>
            <a:off x="1401480" y="3574800"/>
            <a:ext cx="1178640" cy="358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80000"/>
              </a:lnSpc>
            </a:pPr>
            <a:r>
              <a:rPr lang="es-ES" sz="1100" b="0" strike="noStrike" spc="-1">
                <a:solidFill>
                  <a:srgbClr val="44546A"/>
                </a:solidFill>
                <a:latin typeface="Arial"/>
              </a:rPr>
              <a:t>El kernel invoca switch_context</a:t>
            </a:r>
            <a:endParaRPr lang="es-ES" sz="1100" b="0" strike="noStrike" spc="-1">
              <a:latin typeface="Arial"/>
            </a:endParaRPr>
          </a:p>
        </p:txBody>
      </p:sp>
      <p:sp>
        <p:nvSpPr>
          <p:cNvPr id="400" name="Line 48"/>
          <p:cNvSpPr/>
          <p:nvPr/>
        </p:nvSpPr>
        <p:spPr>
          <a:xfrm flipV="1">
            <a:off x="2242080" y="2880360"/>
            <a:ext cx="1543320" cy="668160"/>
          </a:xfrm>
          <a:prstGeom prst="line">
            <a:avLst/>
          </a:prstGeom>
          <a:ln w="9360">
            <a:solidFill>
              <a:schemeClr val="tx2"/>
            </a:solidFill>
            <a:round/>
            <a:tailEnd type="triangle" w="med" len="med"/>
          </a:ln>
        </p:spPr>
        <p:style>
          <a:lnRef idx="0">
            <a:scrgbClr r="0" g="0" b="0"/>
          </a:lnRef>
          <a:fillRef idx="0">
            <a:scrgbClr r="0" g="0" b="0"/>
          </a:fillRef>
          <a:effectRef idx="0">
            <a:scrgbClr r="0" g="0" b="0"/>
          </a:effectRef>
          <a:fontRef idx="minor"/>
        </p:style>
      </p:sp>
      <p:sp>
        <p:nvSpPr>
          <p:cNvPr id="401" name="CustomShape 49"/>
          <p:cNvSpPr/>
          <p:nvPr/>
        </p:nvSpPr>
        <p:spPr>
          <a:xfrm>
            <a:off x="6194160" y="994680"/>
            <a:ext cx="205272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44546A"/>
                </a:solidFill>
                <a:latin typeface="Arial"/>
              </a:rPr>
              <a:t>Máquina en modo kernel</a:t>
            </a:r>
            <a:endParaRPr lang="es-ES" sz="1350" b="0" strike="noStrike" spc="-1">
              <a:latin typeface="Arial"/>
            </a:endParaRPr>
          </a:p>
        </p:txBody>
      </p:sp>
      <p:sp>
        <p:nvSpPr>
          <p:cNvPr id="402" name="CustomShape 50"/>
          <p:cNvSpPr/>
          <p:nvPr/>
        </p:nvSpPr>
        <p:spPr>
          <a:xfrm>
            <a:off x="1267560" y="4905360"/>
            <a:ext cx="5718600" cy="25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50" b="0" strike="noStrike" spc="-1">
                <a:solidFill>
                  <a:srgbClr val="000000"/>
                </a:solidFill>
                <a:latin typeface="Calibri"/>
              </a:rPr>
              <a:t>Autor: José Antonio Gómez, UGR, reproducido con permiso</a:t>
            </a:r>
            <a:endParaRPr lang="es-ES" sz="1050" b="0" strike="noStrike" spc="-1">
              <a:latin typeface="Arial"/>
            </a:endParaRPr>
          </a:p>
        </p:txBody>
      </p:sp>
      <p:sp>
        <p:nvSpPr>
          <p:cNvPr id="403" name="CustomShape 51"/>
          <p:cNvSpPr/>
          <p:nvPr/>
        </p:nvSpPr>
        <p:spPr>
          <a:xfrm>
            <a:off x="3711600" y="3040560"/>
            <a:ext cx="165348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900" b="0" strike="noStrike" spc="-1">
                <a:solidFill>
                  <a:srgbClr val="000000"/>
                </a:solidFill>
                <a:latin typeface="Lucida Sans Typewriter"/>
              </a:rPr>
              <a:t>switch_context(P1,P2)</a:t>
            </a:r>
            <a:endParaRPr lang="es-ES" sz="900" b="0" strike="noStrike" spc="-1">
              <a:latin typeface="Arial"/>
            </a:endParaRPr>
          </a:p>
        </p:txBody>
      </p:sp>
      <p:sp>
        <p:nvSpPr>
          <p:cNvPr id="404" name="CustomShape 52"/>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a:t>
            </a:r>
            <a:endParaRPr lang="es-ES" sz="3600" b="0" strike="noStrike" spc="-1">
              <a:latin typeface="Arial"/>
            </a:endParaRPr>
          </a:p>
        </p:txBody>
      </p:sp>
      <p:grpSp>
        <p:nvGrpSpPr>
          <p:cNvPr id="405" name="Group 53"/>
          <p:cNvGrpSpPr/>
          <p:nvPr/>
        </p:nvGrpSpPr>
        <p:grpSpPr>
          <a:xfrm>
            <a:off x="5969880" y="3522600"/>
            <a:ext cx="1835280" cy="1095120"/>
            <a:chOff x="5969880" y="3522600"/>
            <a:chExt cx="1835280" cy="1095120"/>
          </a:xfrm>
        </p:grpSpPr>
        <p:sp>
          <p:nvSpPr>
            <p:cNvPr id="406" name="CustomShape 54"/>
            <p:cNvSpPr/>
            <p:nvPr/>
          </p:nvSpPr>
          <p:spPr>
            <a:xfrm>
              <a:off x="6484680" y="3979800"/>
              <a:ext cx="1320480" cy="637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767171"/>
                  </a:solidFill>
                  <a:latin typeface="Calibri"/>
                </a:rPr>
                <a:t>Contexto kernel</a:t>
              </a:r>
              <a:endParaRPr lang="es-ES" sz="1200" b="0" strike="noStrike" spc="-1">
                <a:latin typeface="Arial"/>
              </a:endParaRPr>
            </a:p>
            <a:p>
              <a:pPr>
                <a:lnSpc>
                  <a:spcPct val="100000"/>
                </a:lnSpc>
              </a:pPr>
              <a:r>
                <a:rPr lang="es-ES" sz="1200" b="0" strike="noStrike" spc="-1">
                  <a:solidFill>
                    <a:srgbClr val="767171"/>
                  </a:solidFill>
                  <a:latin typeface="Calibri"/>
                </a:rPr>
                <a:t>Contexto usuario</a:t>
              </a:r>
              <a:endParaRPr lang="es-ES" sz="1200" b="0" strike="noStrike" spc="-1">
                <a:latin typeface="Arial"/>
              </a:endParaRPr>
            </a:p>
            <a:p>
              <a:pPr>
                <a:lnSpc>
                  <a:spcPct val="100000"/>
                </a:lnSpc>
              </a:pPr>
              <a:r>
                <a:rPr lang="es-ES" sz="1200" b="0" strike="noStrike" spc="-1">
                  <a:solidFill>
                    <a:srgbClr val="767171"/>
                  </a:solidFill>
                  <a:latin typeface="Calibri"/>
                </a:rPr>
                <a:t>Resto información</a:t>
              </a:r>
              <a:endParaRPr lang="es-ES" sz="1200" b="0" strike="noStrike" spc="-1">
                <a:latin typeface="Arial"/>
              </a:endParaRPr>
            </a:p>
          </p:txBody>
        </p:sp>
        <p:sp>
          <p:nvSpPr>
            <p:cNvPr id="407" name="Line 55"/>
            <p:cNvSpPr/>
            <p:nvPr/>
          </p:nvSpPr>
          <p:spPr>
            <a:xfrm flipH="1" flipV="1">
              <a:off x="5969880" y="3522600"/>
              <a:ext cx="571680" cy="5760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408" name="Line 56"/>
            <p:cNvSpPr/>
            <p:nvPr/>
          </p:nvSpPr>
          <p:spPr>
            <a:xfrm flipH="1" flipV="1">
              <a:off x="5969880" y="3865320"/>
              <a:ext cx="571680" cy="4572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409" name="Line 57"/>
            <p:cNvSpPr/>
            <p:nvPr/>
          </p:nvSpPr>
          <p:spPr>
            <a:xfrm flipH="1" flipV="1">
              <a:off x="5969880" y="4265640"/>
              <a:ext cx="571680" cy="2286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gr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TextShape 1"/>
          <p:cNvSpPr txBox="1"/>
          <p:nvPr/>
        </p:nvSpPr>
        <p:spPr>
          <a:xfrm>
            <a:off x="8028000" y="6400800"/>
            <a:ext cx="933120" cy="456840"/>
          </a:xfrm>
          <a:prstGeom prst="rect">
            <a:avLst/>
          </a:prstGeom>
          <a:noFill/>
          <a:ln>
            <a:noFill/>
          </a:ln>
        </p:spPr>
        <p:txBody>
          <a:bodyPr/>
          <a:lstStyle/>
          <a:p>
            <a:pPr algn="r">
              <a:lnSpc>
                <a:spcPct val="100000"/>
              </a:lnSpc>
            </a:pPr>
            <a:fld id="{912CA9CC-322E-4095-B5F0-B9A836C45271}" type="slidenum">
              <a:rPr lang="es-ES" sz="1600" b="0" strike="noStrike" spc="-1">
                <a:solidFill>
                  <a:srgbClr val="669900"/>
                </a:solidFill>
                <a:latin typeface="Haettenschweiler"/>
              </a:rPr>
              <a:t>19</a:t>
            </a:fld>
            <a:endParaRPr lang="es-ES" sz="1600" b="0" strike="noStrike" spc="-1">
              <a:latin typeface="Times New Roman"/>
            </a:endParaRPr>
          </a:p>
        </p:txBody>
      </p:sp>
      <p:sp>
        <p:nvSpPr>
          <p:cNvPr id="411" name="CustomShape 2"/>
          <p:cNvSpPr/>
          <p:nvPr/>
        </p:nvSpPr>
        <p:spPr>
          <a:xfrm>
            <a:off x="2668680" y="2508840"/>
            <a:ext cx="3543120" cy="199980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412" name="CustomShape 3"/>
          <p:cNvSpPr/>
          <p:nvPr/>
        </p:nvSpPr>
        <p:spPr>
          <a:xfrm>
            <a:off x="6669000" y="1880280"/>
            <a:ext cx="1542600" cy="1828440"/>
          </a:xfrm>
          <a:prstGeom prst="rect">
            <a:avLst/>
          </a:prstGeom>
          <a:solidFill>
            <a:schemeClr val="accent6">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413" name="Line 4"/>
          <p:cNvSpPr/>
          <p:nvPr/>
        </p:nvSpPr>
        <p:spPr>
          <a:xfrm>
            <a:off x="6211800" y="2508480"/>
            <a:ext cx="457200" cy="36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414" name="CustomShape 5"/>
          <p:cNvSpPr/>
          <p:nvPr/>
        </p:nvSpPr>
        <p:spPr>
          <a:xfrm>
            <a:off x="3979440" y="943200"/>
            <a:ext cx="924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Memoria</a:t>
            </a:r>
            <a:endParaRPr lang="es-ES" sz="1500" b="0" strike="noStrike" spc="-1">
              <a:latin typeface="Arial"/>
            </a:endParaRPr>
          </a:p>
        </p:txBody>
      </p:sp>
      <p:sp>
        <p:nvSpPr>
          <p:cNvPr id="415" name="CustomShape 6"/>
          <p:cNvSpPr/>
          <p:nvPr/>
        </p:nvSpPr>
        <p:spPr>
          <a:xfrm>
            <a:off x="6694200" y="1514520"/>
            <a:ext cx="5817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CPU</a:t>
            </a:r>
            <a:endParaRPr lang="es-ES" sz="1500" b="0" strike="noStrike" spc="-1">
              <a:latin typeface="Arial"/>
            </a:endParaRPr>
          </a:p>
        </p:txBody>
      </p:sp>
      <p:sp>
        <p:nvSpPr>
          <p:cNvPr id="416" name="CustomShape 7"/>
          <p:cNvSpPr/>
          <p:nvPr/>
        </p:nvSpPr>
        <p:spPr>
          <a:xfrm>
            <a:off x="6783480" y="33660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j</a:t>
            </a:r>
            <a:endParaRPr lang="es-ES" sz="1500" b="0" strike="noStrike" spc="-1">
              <a:latin typeface="Arial"/>
            </a:endParaRPr>
          </a:p>
        </p:txBody>
      </p:sp>
      <p:sp>
        <p:nvSpPr>
          <p:cNvPr id="417" name="CustomShape 8"/>
          <p:cNvSpPr/>
          <p:nvPr/>
        </p:nvSpPr>
        <p:spPr>
          <a:xfrm>
            <a:off x="6783480" y="33660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sp>
      <p:sp>
        <p:nvSpPr>
          <p:cNvPr id="418" name="CustomShape 9"/>
          <p:cNvSpPr/>
          <p:nvPr/>
        </p:nvSpPr>
        <p:spPr>
          <a:xfrm>
            <a:off x="6783480" y="205164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c+i+1</a:t>
            </a:r>
            <a:endParaRPr lang="es-ES" sz="1500" b="0" strike="noStrike" spc="-1">
              <a:latin typeface="Arial"/>
            </a:endParaRPr>
          </a:p>
        </p:txBody>
      </p:sp>
      <p:sp>
        <p:nvSpPr>
          <p:cNvPr id="419" name="CustomShape 10"/>
          <p:cNvSpPr/>
          <p:nvPr/>
        </p:nvSpPr>
        <p:spPr>
          <a:xfrm>
            <a:off x="7651440" y="2028960"/>
            <a:ext cx="4446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a:t>
            </a:r>
            <a:endParaRPr lang="es-ES" sz="1500" b="0" strike="noStrike" spc="-1">
              <a:latin typeface="Arial"/>
            </a:endParaRPr>
          </a:p>
        </p:txBody>
      </p:sp>
      <p:sp>
        <p:nvSpPr>
          <p:cNvPr id="420" name="CustomShape 11"/>
          <p:cNvSpPr/>
          <p:nvPr/>
        </p:nvSpPr>
        <p:spPr>
          <a:xfrm rot="16200000">
            <a:off x="7453800" y="3001320"/>
            <a:ext cx="916920" cy="455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80000"/>
              </a:lnSpc>
            </a:pPr>
            <a:r>
              <a:rPr lang="es-ES" sz="1500" b="0" strike="noStrike" spc="-1">
                <a:solidFill>
                  <a:srgbClr val="000000"/>
                </a:solidFill>
                <a:latin typeface="Arial"/>
              </a:rPr>
              <a:t>Otros</a:t>
            </a:r>
            <a:endParaRPr lang="es-ES" sz="1500" b="0" strike="noStrike" spc="-1">
              <a:latin typeface="Arial"/>
            </a:endParaRPr>
          </a:p>
          <a:p>
            <a:pPr>
              <a:lnSpc>
                <a:spcPct val="80000"/>
              </a:lnSpc>
            </a:pPr>
            <a:r>
              <a:rPr lang="es-ES" sz="1500" b="0" strike="noStrike" spc="-1">
                <a:solidFill>
                  <a:srgbClr val="000000"/>
                </a:solidFill>
                <a:latin typeface="Arial"/>
              </a:rPr>
              <a:t>registros</a:t>
            </a:r>
            <a:endParaRPr lang="es-ES" sz="1500" b="0" strike="noStrike" spc="-1">
              <a:latin typeface="Arial"/>
            </a:endParaRPr>
          </a:p>
        </p:txBody>
      </p:sp>
      <p:sp>
        <p:nvSpPr>
          <p:cNvPr id="421" name="CustomShape 12"/>
          <p:cNvSpPr/>
          <p:nvPr/>
        </p:nvSpPr>
        <p:spPr>
          <a:xfrm>
            <a:off x="2668680" y="1308600"/>
            <a:ext cx="3543120" cy="1199880"/>
          </a:xfrm>
          <a:prstGeom prst="rect">
            <a:avLst/>
          </a:prstGeom>
          <a:solidFill>
            <a:srgbClr val="66FF99"/>
          </a:solidFill>
          <a:ln w="9360">
            <a:solidFill>
              <a:schemeClr val="tx1"/>
            </a:solidFill>
            <a:miter/>
          </a:ln>
        </p:spPr>
        <p:style>
          <a:lnRef idx="0">
            <a:scrgbClr r="0" g="0" b="0"/>
          </a:lnRef>
          <a:fillRef idx="0">
            <a:scrgbClr r="0" g="0" b="0"/>
          </a:fillRef>
          <a:effectRef idx="0">
            <a:scrgbClr r="0" g="0" b="0"/>
          </a:effectRef>
          <a:fontRef idx="minor"/>
        </p:style>
      </p:sp>
      <p:sp>
        <p:nvSpPr>
          <p:cNvPr id="422" name="CustomShape 13"/>
          <p:cNvSpPr/>
          <p:nvPr/>
        </p:nvSpPr>
        <p:spPr>
          <a:xfrm>
            <a:off x="2668680" y="1994400"/>
            <a:ext cx="3543120" cy="342720"/>
          </a:xfrm>
          <a:prstGeom prst="rect">
            <a:avLst/>
          </a:prstGeom>
          <a:solidFill>
            <a:srgbClr val="B2B2B2"/>
          </a:solidFill>
          <a:ln w="9360">
            <a:solidFill>
              <a:schemeClr val="tx1"/>
            </a:solidFill>
            <a:miter/>
          </a:ln>
        </p:spPr>
        <p:style>
          <a:lnRef idx="0">
            <a:scrgbClr r="0" g="0" b="0"/>
          </a:lnRef>
          <a:fillRef idx="0">
            <a:scrgbClr r="0" g="0" b="0"/>
          </a:fillRef>
          <a:effectRef idx="0">
            <a:scrgbClr r="0" g="0" b="0"/>
          </a:effectRef>
          <a:fontRef idx="minor"/>
        </p:style>
      </p:sp>
      <p:sp>
        <p:nvSpPr>
          <p:cNvPr id="423" name="CustomShape 14"/>
          <p:cNvSpPr/>
          <p:nvPr/>
        </p:nvSpPr>
        <p:spPr>
          <a:xfrm>
            <a:off x="2668680" y="1479960"/>
            <a:ext cx="3543120" cy="342720"/>
          </a:xfrm>
          <a:prstGeom prst="rect">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sp>
        <p:nvSpPr>
          <p:cNvPr id="424" name="CustomShape 15"/>
          <p:cNvSpPr/>
          <p:nvPr/>
        </p:nvSpPr>
        <p:spPr>
          <a:xfrm>
            <a:off x="4040280" y="365184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425" name="CustomShape 16"/>
          <p:cNvSpPr/>
          <p:nvPr/>
        </p:nvSpPr>
        <p:spPr>
          <a:xfrm>
            <a:off x="5126040" y="365184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426" name="Line 17"/>
          <p:cNvSpPr/>
          <p:nvPr/>
        </p:nvSpPr>
        <p:spPr>
          <a:xfrm>
            <a:off x="2439720" y="1651320"/>
            <a:ext cx="2286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427" name="CustomShape 18"/>
          <p:cNvSpPr/>
          <p:nvPr/>
        </p:nvSpPr>
        <p:spPr>
          <a:xfrm>
            <a:off x="2217960" y="1514520"/>
            <a:ext cx="287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n</a:t>
            </a:r>
            <a:endParaRPr lang="es-ES" sz="1500" b="0" strike="noStrike" spc="-1">
              <a:latin typeface="Arial"/>
            </a:endParaRPr>
          </a:p>
        </p:txBody>
      </p:sp>
      <p:sp>
        <p:nvSpPr>
          <p:cNvPr id="428" name="CustomShape 19"/>
          <p:cNvSpPr/>
          <p:nvPr/>
        </p:nvSpPr>
        <p:spPr>
          <a:xfrm>
            <a:off x="6783840" y="3023280"/>
            <a:ext cx="447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 . .</a:t>
            </a:r>
            <a:endParaRPr lang="es-ES" sz="1500" b="0" strike="noStrike" spc="-1">
              <a:latin typeface="Arial"/>
            </a:endParaRPr>
          </a:p>
        </p:txBody>
      </p:sp>
      <p:sp>
        <p:nvSpPr>
          <p:cNvPr id="429" name="CustomShape 20"/>
          <p:cNvSpPr/>
          <p:nvPr/>
        </p:nvSpPr>
        <p:spPr>
          <a:xfrm>
            <a:off x="4672800" y="205164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2</a:t>
            </a:r>
            <a:endParaRPr lang="es-ES" sz="1500" b="0" strike="noStrike" spc="-1">
              <a:latin typeface="Arial"/>
            </a:endParaRPr>
          </a:p>
        </p:txBody>
      </p:sp>
      <p:sp>
        <p:nvSpPr>
          <p:cNvPr id="430" name="CustomShape 21"/>
          <p:cNvSpPr/>
          <p:nvPr/>
        </p:nvSpPr>
        <p:spPr>
          <a:xfrm>
            <a:off x="3929760" y="153720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1</a:t>
            </a:r>
            <a:endParaRPr lang="es-ES" sz="1500" b="0" strike="noStrike" spc="-1">
              <a:latin typeface="Arial"/>
            </a:endParaRPr>
          </a:p>
        </p:txBody>
      </p:sp>
      <p:sp>
        <p:nvSpPr>
          <p:cNvPr id="431" name="CustomShape 22"/>
          <p:cNvSpPr/>
          <p:nvPr/>
        </p:nvSpPr>
        <p:spPr>
          <a:xfrm>
            <a:off x="5526000" y="2794680"/>
            <a:ext cx="456840" cy="34272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432" name="CustomShape 23"/>
          <p:cNvSpPr/>
          <p:nvPr/>
        </p:nvSpPr>
        <p:spPr>
          <a:xfrm>
            <a:off x="2840040" y="2794680"/>
            <a:ext cx="456840" cy="45684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433" name="CustomShape 24"/>
          <p:cNvSpPr/>
          <p:nvPr/>
        </p:nvSpPr>
        <p:spPr>
          <a:xfrm>
            <a:off x="4040280" y="325188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434" name="CustomShape 25"/>
          <p:cNvSpPr/>
          <p:nvPr/>
        </p:nvSpPr>
        <p:spPr>
          <a:xfrm>
            <a:off x="5286240" y="252648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2</a:t>
            </a:r>
            <a:endParaRPr lang="es-ES" sz="1200" b="0" strike="noStrike" spc="-1">
              <a:latin typeface="Arial"/>
            </a:endParaRPr>
          </a:p>
        </p:txBody>
      </p:sp>
      <p:sp>
        <p:nvSpPr>
          <p:cNvPr id="435" name="CustomShape 26"/>
          <p:cNvSpPr/>
          <p:nvPr/>
        </p:nvSpPr>
        <p:spPr>
          <a:xfrm>
            <a:off x="2714400" y="252648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1</a:t>
            </a:r>
            <a:endParaRPr lang="es-ES" sz="1200" b="0" strike="noStrike" spc="-1">
              <a:latin typeface="Arial"/>
            </a:endParaRPr>
          </a:p>
        </p:txBody>
      </p:sp>
      <p:sp>
        <p:nvSpPr>
          <p:cNvPr id="436" name="CustomShape 27"/>
          <p:cNvSpPr/>
          <p:nvPr/>
        </p:nvSpPr>
        <p:spPr>
          <a:xfrm>
            <a:off x="6783480" y="29088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r</a:t>
            </a:r>
            <a:endParaRPr lang="es-ES" sz="1500" b="0" strike="noStrike" spc="-1">
              <a:latin typeface="Arial"/>
            </a:endParaRPr>
          </a:p>
        </p:txBody>
      </p:sp>
      <p:sp>
        <p:nvSpPr>
          <p:cNvPr id="437" name="CustomShape 28"/>
          <p:cNvSpPr/>
          <p:nvPr/>
        </p:nvSpPr>
        <p:spPr>
          <a:xfrm>
            <a:off x="7643880" y="2337480"/>
            <a:ext cx="4341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SP</a:t>
            </a:r>
            <a:endParaRPr lang="es-ES" sz="1500" b="0" strike="noStrike" spc="-1">
              <a:latin typeface="Arial"/>
            </a:endParaRPr>
          </a:p>
        </p:txBody>
      </p:sp>
      <p:sp>
        <p:nvSpPr>
          <p:cNvPr id="438" name="CustomShape 29"/>
          <p:cNvSpPr/>
          <p:nvPr/>
        </p:nvSpPr>
        <p:spPr>
          <a:xfrm>
            <a:off x="6783480" y="33660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s</a:t>
            </a:r>
            <a:endParaRPr lang="es-ES" sz="1500" b="0" strike="noStrike" spc="-1">
              <a:latin typeface="Arial"/>
            </a:endParaRPr>
          </a:p>
        </p:txBody>
      </p:sp>
      <p:sp>
        <p:nvSpPr>
          <p:cNvPr id="439" name="CustomShape 30"/>
          <p:cNvSpPr/>
          <p:nvPr/>
        </p:nvSpPr>
        <p:spPr>
          <a:xfrm>
            <a:off x="6783480" y="239436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m</a:t>
            </a:r>
            <a:endParaRPr lang="es-ES" sz="1500" b="0" strike="noStrike" spc="-1">
              <a:latin typeface="Arial"/>
            </a:endParaRPr>
          </a:p>
        </p:txBody>
      </p:sp>
      <p:sp>
        <p:nvSpPr>
          <p:cNvPr id="440" name="Line 31"/>
          <p:cNvSpPr/>
          <p:nvPr/>
        </p:nvSpPr>
        <p:spPr>
          <a:xfrm>
            <a:off x="2496960" y="279432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441" name="CustomShape 32"/>
          <p:cNvSpPr/>
          <p:nvPr/>
        </p:nvSpPr>
        <p:spPr>
          <a:xfrm>
            <a:off x="2270160" y="2622960"/>
            <a:ext cx="2772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a:t>
            </a:r>
            <a:endParaRPr lang="es-ES" sz="1500" b="0" strike="noStrike" spc="-1">
              <a:latin typeface="Arial"/>
            </a:endParaRPr>
          </a:p>
        </p:txBody>
      </p:sp>
      <p:sp>
        <p:nvSpPr>
          <p:cNvPr id="442" name="CustomShape 33"/>
          <p:cNvSpPr/>
          <p:nvPr/>
        </p:nvSpPr>
        <p:spPr>
          <a:xfrm>
            <a:off x="5126040" y="399456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443" name="CustomShape 34"/>
          <p:cNvSpPr/>
          <p:nvPr/>
        </p:nvSpPr>
        <p:spPr>
          <a:xfrm>
            <a:off x="5126040" y="336600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444" name="CustomShape 35"/>
          <p:cNvSpPr/>
          <p:nvPr/>
        </p:nvSpPr>
        <p:spPr>
          <a:xfrm>
            <a:off x="5273640" y="408636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2</a:t>
            </a:r>
            <a:endParaRPr lang="es-ES" sz="1500" b="0" strike="noStrike" spc="-1">
              <a:latin typeface="Arial"/>
            </a:endParaRPr>
          </a:p>
        </p:txBody>
      </p:sp>
      <p:sp>
        <p:nvSpPr>
          <p:cNvPr id="445" name="CustomShape 36"/>
          <p:cNvSpPr/>
          <p:nvPr/>
        </p:nvSpPr>
        <p:spPr>
          <a:xfrm>
            <a:off x="2897280" y="365184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n+1,i,j,k</a:t>
            </a:r>
            <a:endParaRPr lang="es-ES" sz="1500" b="0" strike="noStrike" spc="-1">
              <a:latin typeface="Arial"/>
            </a:endParaRPr>
          </a:p>
        </p:txBody>
      </p:sp>
      <p:sp>
        <p:nvSpPr>
          <p:cNvPr id="446" name="CustomShape 37"/>
          <p:cNvSpPr/>
          <p:nvPr/>
        </p:nvSpPr>
        <p:spPr>
          <a:xfrm>
            <a:off x="2897280" y="399456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447" name="CustomShape 38"/>
          <p:cNvSpPr/>
          <p:nvPr/>
        </p:nvSpPr>
        <p:spPr>
          <a:xfrm>
            <a:off x="2897280" y="336600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448" name="CustomShape 39"/>
          <p:cNvSpPr/>
          <p:nvPr/>
        </p:nvSpPr>
        <p:spPr>
          <a:xfrm>
            <a:off x="3044520" y="408636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1</a:t>
            </a:r>
            <a:endParaRPr lang="es-ES" sz="1500" b="0" strike="noStrike" spc="-1">
              <a:latin typeface="Arial"/>
            </a:endParaRPr>
          </a:p>
        </p:txBody>
      </p:sp>
      <p:sp>
        <p:nvSpPr>
          <p:cNvPr id="449" name="CustomShape 40"/>
          <p:cNvSpPr/>
          <p:nvPr/>
        </p:nvSpPr>
        <p:spPr>
          <a:xfrm>
            <a:off x="6954840" y="1365840"/>
            <a:ext cx="571320" cy="2571480"/>
          </a:xfrm>
          <a:prstGeom prst="ellipse">
            <a:avLst/>
          </a:prstGeom>
          <a:noFill/>
          <a:ln w="28440" cap="rnd">
            <a:solidFill>
              <a:schemeClr val="accent2"/>
            </a:solidFill>
            <a:custDash>
              <a:ds d="400000" sp="300000"/>
            </a:custDash>
            <a:round/>
          </a:ln>
        </p:spPr>
        <p:style>
          <a:lnRef idx="0">
            <a:scrgbClr r="0" g="0" b="0"/>
          </a:lnRef>
          <a:fillRef idx="0">
            <a:scrgbClr r="0" g="0" b="0"/>
          </a:fillRef>
          <a:effectRef idx="0">
            <a:scrgbClr r="0" g="0" b="0"/>
          </a:effectRef>
          <a:fontRef idx="minor"/>
        </p:style>
      </p:sp>
      <p:sp>
        <p:nvSpPr>
          <p:cNvPr id="450" name="CustomShape 41"/>
          <p:cNvSpPr/>
          <p:nvPr/>
        </p:nvSpPr>
        <p:spPr>
          <a:xfrm>
            <a:off x="3411720" y="1479960"/>
            <a:ext cx="3600000" cy="1999800"/>
          </a:xfrm>
          <a:custGeom>
            <a:avLst/>
            <a:gdLst/>
            <a:ahLst/>
            <a:cxnLst/>
            <a:rect l="l" t="t" r="r" b="b"/>
            <a:pathLst>
              <a:path w="3072" h="1904">
                <a:moveTo>
                  <a:pt x="3072" y="272"/>
                </a:moveTo>
                <a:cubicBezTo>
                  <a:pt x="2392" y="136"/>
                  <a:pt x="1712" y="0"/>
                  <a:pt x="1200" y="272"/>
                </a:cubicBezTo>
                <a:cubicBezTo>
                  <a:pt x="688" y="544"/>
                  <a:pt x="344" y="1224"/>
                  <a:pt x="0" y="1904"/>
                </a:cubicBezTo>
              </a:path>
            </a:pathLst>
          </a:custGeom>
          <a:noFill/>
          <a:ln w="28440">
            <a:solidFill>
              <a:schemeClr val="accent2"/>
            </a:solidFill>
            <a:custDash>
              <a:ds d="400000" sp="300000"/>
            </a:custDash>
            <a:round/>
            <a:tailEnd type="triangle" w="med" len="med"/>
          </a:ln>
        </p:spPr>
        <p:style>
          <a:lnRef idx="0">
            <a:scrgbClr r="0" g="0" b="0"/>
          </a:lnRef>
          <a:fillRef idx="0">
            <a:scrgbClr r="0" g="0" b="0"/>
          </a:fillRef>
          <a:effectRef idx="0">
            <a:scrgbClr r="0" g="0" b="0"/>
          </a:effectRef>
          <a:fontRef idx="minor"/>
        </p:style>
      </p:sp>
      <p:sp>
        <p:nvSpPr>
          <p:cNvPr id="451" name="Line 42"/>
          <p:cNvSpPr/>
          <p:nvPr/>
        </p:nvSpPr>
        <p:spPr>
          <a:xfrm>
            <a:off x="2456640" y="3116880"/>
            <a:ext cx="514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452" name="CustomShape 43"/>
          <p:cNvSpPr/>
          <p:nvPr/>
        </p:nvSpPr>
        <p:spPr>
          <a:xfrm>
            <a:off x="2099520" y="2966040"/>
            <a:ext cx="43092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c+i</a:t>
            </a:r>
            <a:endParaRPr lang="es-ES" sz="1500" b="0" strike="noStrike" spc="-1">
              <a:latin typeface="Arial"/>
            </a:endParaRPr>
          </a:p>
        </p:txBody>
      </p:sp>
      <p:sp>
        <p:nvSpPr>
          <p:cNvPr id="453" name="Line 44"/>
          <p:cNvSpPr/>
          <p:nvPr/>
        </p:nvSpPr>
        <p:spPr>
          <a:xfrm>
            <a:off x="4097160" y="3422880"/>
            <a:ext cx="360" cy="228600"/>
          </a:xfrm>
          <a:prstGeom prst="line">
            <a:avLst/>
          </a:prstGeom>
          <a:ln w="28440">
            <a:solidFill>
              <a:srgbClr val="FF3300"/>
            </a:solidFill>
            <a:round/>
            <a:tailEnd type="triangle" w="med" len="med"/>
          </a:ln>
        </p:spPr>
        <p:style>
          <a:lnRef idx="0">
            <a:scrgbClr r="0" g="0" b="0"/>
          </a:lnRef>
          <a:fillRef idx="0">
            <a:scrgbClr r="0" g="0" b="0"/>
          </a:fillRef>
          <a:effectRef idx="0">
            <a:scrgbClr r="0" g="0" b="0"/>
          </a:effectRef>
          <a:fontRef idx="minor"/>
        </p:style>
      </p:sp>
      <p:sp>
        <p:nvSpPr>
          <p:cNvPr id="454" name="CustomShape 45"/>
          <p:cNvSpPr/>
          <p:nvPr/>
        </p:nvSpPr>
        <p:spPr>
          <a:xfrm>
            <a:off x="5126040" y="365184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455" name="CustomShape 46"/>
          <p:cNvSpPr/>
          <p:nvPr/>
        </p:nvSpPr>
        <p:spPr>
          <a:xfrm>
            <a:off x="5126040" y="336600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456" name="CustomShape 47"/>
          <p:cNvSpPr/>
          <p:nvPr/>
        </p:nvSpPr>
        <p:spPr>
          <a:xfrm>
            <a:off x="5185800" y="3366000"/>
            <a:ext cx="70992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t,v,x,y</a:t>
            </a:r>
            <a:endParaRPr lang="es-ES" sz="1500" b="0" strike="noStrike" spc="-1">
              <a:latin typeface="Arial"/>
            </a:endParaRPr>
          </a:p>
        </p:txBody>
      </p:sp>
      <p:sp>
        <p:nvSpPr>
          <p:cNvPr id="457" name="CustomShape 48"/>
          <p:cNvSpPr/>
          <p:nvPr/>
        </p:nvSpPr>
        <p:spPr>
          <a:xfrm>
            <a:off x="5172480" y="3651840"/>
            <a:ext cx="7419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l,n,o,p</a:t>
            </a:r>
            <a:endParaRPr lang="es-ES" sz="1500" b="0" strike="noStrike" spc="-1">
              <a:latin typeface="Arial"/>
            </a:endParaRPr>
          </a:p>
        </p:txBody>
      </p:sp>
      <p:sp>
        <p:nvSpPr>
          <p:cNvPr id="458" name="CustomShape 49"/>
          <p:cNvSpPr/>
          <p:nvPr/>
        </p:nvSpPr>
        <p:spPr>
          <a:xfrm>
            <a:off x="1228320" y="3438720"/>
            <a:ext cx="1595160" cy="492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80000"/>
              </a:lnSpc>
            </a:pPr>
            <a:r>
              <a:rPr lang="es-ES" sz="1100" b="0" strike="noStrike" spc="-1">
                <a:solidFill>
                  <a:srgbClr val="44546A"/>
                </a:solidFill>
                <a:latin typeface="Arial"/>
              </a:rPr>
              <a:t>switch_context salva el contexto del</a:t>
            </a:r>
            <a:endParaRPr lang="es-ES" sz="1100" b="0" strike="noStrike" spc="-1">
              <a:latin typeface="Arial"/>
            </a:endParaRPr>
          </a:p>
          <a:p>
            <a:pPr>
              <a:lnSpc>
                <a:spcPct val="80000"/>
              </a:lnSpc>
            </a:pPr>
            <a:r>
              <a:rPr lang="es-ES" sz="1100" b="0" strike="noStrike" spc="-1">
                <a:solidFill>
                  <a:srgbClr val="44546A"/>
                </a:solidFill>
                <a:latin typeface="Arial"/>
              </a:rPr>
              <a:t>kernel en PCB1</a:t>
            </a:r>
            <a:endParaRPr lang="es-ES" sz="1100" b="0" strike="noStrike" spc="-1">
              <a:latin typeface="Arial"/>
            </a:endParaRPr>
          </a:p>
        </p:txBody>
      </p:sp>
      <p:sp>
        <p:nvSpPr>
          <p:cNvPr id="459" name="CustomShape 50"/>
          <p:cNvSpPr/>
          <p:nvPr/>
        </p:nvSpPr>
        <p:spPr>
          <a:xfrm>
            <a:off x="6163200" y="908640"/>
            <a:ext cx="205272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44546A"/>
                </a:solidFill>
                <a:latin typeface="Arial"/>
              </a:rPr>
              <a:t>Máquina en modo kernel</a:t>
            </a:r>
            <a:endParaRPr lang="es-ES" sz="1350" b="0" strike="noStrike" spc="-1">
              <a:latin typeface="Arial"/>
            </a:endParaRPr>
          </a:p>
        </p:txBody>
      </p:sp>
      <p:sp>
        <p:nvSpPr>
          <p:cNvPr id="460" name="CustomShape 51"/>
          <p:cNvSpPr/>
          <p:nvPr/>
        </p:nvSpPr>
        <p:spPr>
          <a:xfrm>
            <a:off x="1267560" y="4905360"/>
            <a:ext cx="5718600" cy="25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50" b="0" strike="noStrike" spc="-1">
                <a:solidFill>
                  <a:srgbClr val="000000"/>
                </a:solidFill>
                <a:latin typeface="Calibri"/>
              </a:rPr>
              <a:t>Autor: José Antonio Gómez, UGR, reproducido con permiso</a:t>
            </a:r>
            <a:endParaRPr lang="es-ES" sz="1050" b="0" strike="noStrike" spc="-1">
              <a:latin typeface="Arial"/>
            </a:endParaRPr>
          </a:p>
        </p:txBody>
      </p:sp>
      <p:sp>
        <p:nvSpPr>
          <p:cNvPr id="461" name="CustomShape 52"/>
          <p:cNvSpPr/>
          <p:nvPr/>
        </p:nvSpPr>
        <p:spPr>
          <a:xfrm>
            <a:off x="3672360" y="2962800"/>
            <a:ext cx="165348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900" b="0" strike="noStrike" spc="-1">
                <a:solidFill>
                  <a:srgbClr val="000000"/>
                </a:solidFill>
                <a:latin typeface="Lucida Sans Typewriter"/>
              </a:rPr>
              <a:t>switch_context(P1,P2)</a:t>
            </a:r>
            <a:endParaRPr lang="es-ES" sz="900" b="0" strike="noStrike" spc="-1">
              <a:latin typeface="Arial"/>
            </a:endParaRPr>
          </a:p>
        </p:txBody>
      </p:sp>
      <p:sp>
        <p:nvSpPr>
          <p:cNvPr id="462" name="CustomShape 53"/>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a:t>
            </a:r>
            <a:endParaRPr lang="es-ES" sz="3600" b="0" strike="noStrike" spc="-1">
              <a:latin typeface="Arial"/>
            </a:endParaRPr>
          </a:p>
        </p:txBody>
      </p:sp>
      <p:grpSp>
        <p:nvGrpSpPr>
          <p:cNvPr id="463" name="Group 54"/>
          <p:cNvGrpSpPr/>
          <p:nvPr/>
        </p:nvGrpSpPr>
        <p:grpSpPr>
          <a:xfrm>
            <a:off x="5969880" y="3522600"/>
            <a:ext cx="1835280" cy="1095120"/>
            <a:chOff x="5969880" y="3522600"/>
            <a:chExt cx="1835280" cy="1095120"/>
          </a:xfrm>
        </p:grpSpPr>
        <p:sp>
          <p:nvSpPr>
            <p:cNvPr id="464" name="CustomShape 55"/>
            <p:cNvSpPr/>
            <p:nvPr/>
          </p:nvSpPr>
          <p:spPr>
            <a:xfrm>
              <a:off x="6484680" y="3979800"/>
              <a:ext cx="1320480" cy="637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767171"/>
                  </a:solidFill>
                  <a:latin typeface="Calibri"/>
                </a:rPr>
                <a:t>Contexto kernel</a:t>
              </a:r>
              <a:endParaRPr lang="es-ES" sz="1200" b="0" strike="noStrike" spc="-1">
                <a:latin typeface="Arial"/>
              </a:endParaRPr>
            </a:p>
            <a:p>
              <a:pPr>
                <a:lnSpc>
                  <a:spcPct val="100000"/>
                </a:lnSpc>
              </a:pPr>
              <a:r>
                <a:rPr lang="es-ES" sz="1200" b="0" strike="noStrike" spc="-1">
                  <a:solidFill>
                    <a:srgbClr val="767171"/>
                  </a:solidFill>
                  <a:latin typeface="Calibri"/>
                </a:rPr>
                <a:t>Contexto usuario</a:t>
              </a:r>
              <a:endParaRPr lang="es-ES" sz="1200" b="0" strike="noStrike" spc="-1">
                <a:latin typeface="Arial"/>
              </a:endParaRPr>
            </a:p>
            <a:p>
              <a:pPr>
                <a:lnSpc>
                  <a:spcPct val="100000"/>
                </a:lnSpc>
              </a:pPr>
              <a:r>
                <a:rPr lang="es-ES" sz="1200" b="0" strike="noStrike" spc="-1">
                  <a:solidFill>
                    <a:srgbClr val="767171"/>
                  </a:solidFill>
                  <a:latin typeface="Calibri"/>
                </a:rPr>
                <a:t>Resto información</a:t>
              </a:r>
              <a:endParaRPr lang="es-ES" sz="1200" b="0" strike="noStrike" spc="-1">
                <a:latin typeface="Arial"/>
              </a:endParaRPr>
            </a:p>
          </p:txBody>
        </p:sp>
        <p:sp>
          <p:nvSpPr>
            <p:cNvPr id="465" name="Line 56"/>
            <p:cNvSpPr/>
            <p:nvPr/>
          </p:nvSpPr>
          <p:spPr>
            <a:xfrm flipH="1" flipV="1">
              <a:off x="5969880" y="3522600"/>
              <a:ext cx="571680" cy="5760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466" name="Line 57"/>
            <p:cNvSpPr/>
            <p:nvPr/>
          </p:nvSpPr>
          <p:spPr>
            <a:xfrm flipH="1" flipV="1">
              <a:off x="5969880" y="3865320"/>
              <a:ext cx="571680" cy="4572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467" name="Line 58"/>
            <p:cNvSpPr/>
            <p:nvPr/>
          </p:nvSpPr>
          <p:spPr>
            <a:xfrm flipH="1" flipV="1">
              <a:off x="5969880" y="4265640"/>
              <a:ext cx="571680" cy="2286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gr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TextShape 1"/>
          <p:cNvSpPr txBox="1"/>
          <p:nvPr/>
        </p:nvSpPr>
        <p:spPr>
          <a:xfrm>
            <a:off x="8028000" y="6400800"/>
            <a:ext cx="933120" cy="456840"/>
          </a:xfrm>
          <a:prstGeom prst="rect">
            <a:avLst/>
          </a:prstGeom>
          <a:noFill/>
          <a:ln>
            <a:noFill/>
          </a:ln>
        </p:spPr>
        <p:txBody>
          <a:bodyPr/>
          <a:lstStyle/>
          <a:p>
            <a:pPr algn="r">
              <a:lnSpc>
                <a:spcPct val="100000"/>
              </a:lnSpc>
            </a:pPr>
            <a:fld id="{1FE8CEB3-CA87-40D9-B7D4-F60CEC568BF0}" type="slidenum">
              <a:rPr lang="es-ES" sz="1600" b="0" strike="noStrike" spc="-1">
                <a:solidFill>
                  <a:srgbClr val="669900"/>
                </a:solidFill>
                <a:latin typeface="Haettenschweiler"/>
              </a:rPr>
              <a:t>20</a:t>
            </a:fld>
            <a:endParaRPr lang="es-ES" sz="1600" b="0" strike="noStrike" spc="-1">
              <a:latin typeface="Times New Roman"/>
            </a:endParaRPr>
          </a:p>
        </p:txBody>
      </p:sp>
      <p:sp>
        <p:nvSpPr>
          <p:cNvPr id="469" name="CustomShape 2"/>
          <p:cNvSpPr/>
          <p:nvPr/>
        </p:nvSpPr>
        <p:spPr>
          <a:xfrm>
            <a:off x="2637720" y="2342520"/>
            <a:ext cx="3543120" cy="199980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470" name="CustomShape 3"/>
          <p:cNvSpPr/>
          <p:nvPr/>
        </p:nvSpPr>
        <p:spPr>
          <a:xfrm>
            <a:off x="6638040" y="1713960"/>
            <a:ext cx="1542600" cy="1828440"/>
          </a:xfrm>
          <a:prstGeom prst="rect">
            <a:avLst/>
          </a:prstGeom>
          <a:solidFill>
            <a:schemeClr val="accent6">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471" name="Line 4"/>
          <p:cNvSpPr/>
          <p:nvPr/>
        </p:nvSpPr>
        <p:spPr>
          <a:xfrm>
            <a:off x="6180840" y="2342520"/>
            <a:ext cx="457200" cy="36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472" name="CustomShape 5"/>
          <p:cNvSpPr/>
          <p:nvPr/>
        </p:nvSpPr>
        <p:spPr>
          <a:xfrm>
            <a:off x="3948480" y="776880"/>
            <a:ext cx="924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Memoria</a:t>
            </a:r>
            <a:endParaRPr lang="es-ES" sz="1500" b="0" strike="noStrike" spc="-1">
              <a:latin typeface="Arial"/>
            </a:endParaRPr>
          </a:p>
        </p:txBody>
      </p:sp>
      <p:sp>
        <p:nvSpPr>
          <p:cNvPr id="473" name="CustomShape 6"/>
          <p:cNvSpPr/>
          <p:nvPr/>
        </p:nvSpPr>
        <p:spPr>
          <a:xfrm>
            <a:off x="6662880" y="1348200"/>
            <a:ext cx="5817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CPU</a:t>
            </a:r>
            <a:endParaRPr lang="es-ES" sz="1500" b="0" strike="noStrike" spc="-1">
              <a:latin typeface="Arial"/>
            </a:endParaRPr>
          </a:p>
        </p:txBody>
      </p:sp>
      <p:sp>
        <p:nvSpPr>
          <p:cNvPr id="474" name="CustomShape 7"/>
          <p:cNvSpPr/>
          <p:nvPr/>
        </p:nvSpPr>
        <p:spPr>
          <a:xfrm>
            <a:off x="6752520" y="31996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j</a:t>
            </a:r>
            <a:endParaRPr lang="es-ES" sz="1500" b="0" strike="noStrike" spc="-1">
              <a:latin typeface="Arial"/>
            </a:endParaRPr>
          </a:p>
        </p:txBody>
      </p:sp>
      <p:sp>
        <p:nvSpPr>
          <p:cNvPr id="475" name="CustomShape 8"/>
          <p:cNvSpPr/>
          <p:nvPr/>
        </p:nvSpPr>
        <p:spPr>
          <a:xfrm>
            <a:off x="6752520" y="31996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sp>
      <p:sp>
        <p:nvSpPr>
          <p:cNvPr id="476" name="CustomShape 9"/>
          <p:cNvSpPr/>
          <p:nvPr/>
        </p:nvSpPr>
        <p:spPr>
          <a:xfrm>
            <a:off x="6752520" y="18853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t</a:t>
            </a:r>
            <a:endParaRPr lang="es-ES" sz="1500" b="0" strike="noStrike" spc="-1">
              <a:latin typeface="Arial"/>
            </a:endParaRPr>
          </a:p>
        </p:txBody>
      </p:sp>
      <p:sp>
        <p:nvSpPr>
          <p:cNvPr id="477" name="CustomShape 10"/>
          <p:cNvSpPr/>
          <p:nvPr/>
        </p:nvSpPr>
        <p:spPr>
          <a:xfrm>
            <a:off x="7620480" y="1862640"/>
            <a:ext cx="4446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a:t>
            </a:r>
            <a:endParaRPr lang="es-ES" sz="1500" b="0" strike="noStrike" spc="-1">
              <a:latin typeface="Arial"/>
            </a:endParaRPr>
          </a:p>
        </p:txBody>
      </p:sp>
      <p:sp>
        <p:nvSpPr>
          <p:cNvPr id="478" name="CustomShape 11"/>
          <p:cNvSpPr/>
          <p:nvPr/>
        </p:nvSpPr>
        <p:spPr>
          <a:xfrm rot="16200000">
            <a:off x="7422840" y="2835000"/>
            <a:ext cx="916920" cy="455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80000"/>
              </a:lnSpc>
            </a:pPr>
            <a:r>
              <a:rPr lang="es-ES" sz="1500" b="0" strike="noStrike" spc="-1">
                <a:solidFill>
                  <a:srgbClr val="000000"/>
                </a:solidFill>
                <a:latin typeface="Arial"/>
              </a:rPr>
              <a:t>Otros</a:t>
            </a:r>
            <a:endParaRPr lang="es-ES" sz="1500" b="0" strike="noStrike" spc="-1">
              <a:latin typeface="Arial"/>
            </a:endParaRPr>
          </a:p>
          <a:p>
            <a:pPr>
              <a:lnSpc>
                <a:spcPct val="80000"/>
              </a:lnSpc>
            </a:pPr>
            <a:r>
              <a:rPr lang="es-ES" sz="1500" b="0" strike="noStrike" spc="-1">
                <a:solidFill>
                  <a:srgbClr val="000000"/>
                </a:solidFill>
                <a:latin typeface="Arial"/>
              </a:rPr>
              <a:t>registros</a:t>
            </a:r>
            <a:endParaRPr lang="es-ES" sz="1500" b="0" strike="noStrike" spc="-1">
              <a:latin typeface="Arial"/>
            </a:endParaRPr>
          </a:p>
        </p:txBody>
      </p:sp>
      <p:sp>
        <p:nvSpPr>
          <p:cNvPr id="479" name="CustomShape 12"/>
          <p:cNvSpPr/>
          <p:nvPr/>
        </p:nvSpPr>
        <p:spPr>
          <a:xfrm>
            <a:off x="2637720" y="1142280"/>
            <a:ext cx="3543120" cy="1199880"/>
          </a:xfrm>
          <a:prstGeom prst="rect">
            <a:avLst/>
          </a:prstGeom>
          <a:solidFill>
            <a:srgbClr val="66FF99"/>
          </a:solidFill>
          <a:ln w="9360">
            <a:solidFill>
              <a:schemeClr val="tx1"/>
            </a:solidFill>
            <a:miter/>
          </a:ln>
        </p:spPr>
        <p:style>
          <a:lnRef idx="0">
            <a:scrgbClr r="0" g="0" b="0"/>
          </a:lnRef>
          <a:fillRef idx="0">
            <a:scrgbClr r="0" g="0" b="0"/>
          </a:fillRef>
          <a:effectRef idx="0">
            <a:scrgbClr r="0" g="0" b="0"/>
          </a:effectRef>
          <a:fontRef idx="minor"/>
        </p:style>
      </p:sp>
      <p:sp>
        <p:nvSpPr>
          <p:cNvPr id="480" name="CustomShape 13"/>
          <p:cNvSpPr/>
          <p:nvPr/>
        </p:nvSpPr>
        <p:spPr>
          <a:xfrm>
            <a:off x="2637720" y="1828080"/>
            <a:ext cx="3543120" cy="342720"/>
          </a:xfrm>
          <a:prstGeom prst="rect">
            <a:avLst/>
          </a:prstGeom>
          <a:solidFill>
            <a:srgbClr val="B2B2B2"/>
          </a:solidFill>
          <a:ln w="9360">
            <a:solidFill>
              <a:schemeClr val="tx1"/>
            </a:solidFill>
            <a:miter/>
          </a:ln>
        </p:spPr>
        <p:style>
          <a:lnRef idx="0">
            <a:scrgbClr r="0" g="0" b="0"/>
          </a:lnRef>
          <a:fillRef idx="0">
            <a:scrgbClr r="0" g="0" b="0"/>
          </a:fillRef>
          <a:effectRef idx="0">
            <a:scrgbClr r="0" g="0" b="0"/>
          </a:effectRef>
          <a:fontRef idx="minor"/>
        </p:style>
      </p:sp>
      <p:sp>
        <p:nvSpPr>
          <p:cNvPr id="481" name="CustomShape 14"/>
          <p:cNvSpPr/>
          <p:nvPr/>
        </p:nvSpPr>
        <p:spPr>
          <a:xfrm>
            <a:off x="2637720" y="1314000"/>
            <a:ext cx="3543120" cy="342720"/>
          </a:xfrm>
          <a:prstGeom prst="rect">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sp>
        <p:nvSpPr>
          <p:cNvPr id="482" name="CustomShape 15"/>
          <p:cNvSpPr/>
          <p:nvPr/>
        </p:nvSpPr>
        <p:spPr>
          <a:xfrm>
            <a:off x="4009320" y="348552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483" name="CustomShape 16"/>
          <p:cNvSpPr/>
          <p:nvPr/>
        </p:nvSpPr>
        <p:spPr>
          <a:xfrm>
            <a:off x="5095080" y="348552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484" name="Line 17"/>
          <p:cNvSpPr/>
          <p:nvPr/>
        </p:nvSpPr>
        <p:spPr>
          <a:xfrm>
            <a:off x="2408760" y="1485000"/>
            <a:ext cx="2286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485" name="CustomShape 18"/>
          <p:cNvSpPr/>
          <p:nvPr/>
        </p:nvSpPr>
        <p:spPr>
          <a:xfrm>
            <a:off x="2187000" y="1348200"/>
            <a:ext cx="287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n</a:t>
            </a:r>
            <a:endParaRPr lang="es-ES" sz="1500" b="0" strike="noStrike" spc="-1">
              <a:latin typeface="Arial"/>
            </a:endParaRPr>
          </a:p>
        </p:txBody>
      </p:sp>
      <p:sp>
        <p:nvSpPr>
          <p:cNvPr id="486" name="CustomShape 19"/>
          <p:cNvSpPr/>
          <p:nvPr/>
        </p:nvSpPr>
        <p:spPr>
          <a:xfrm>
            <a:off x="6752880" y="2856960"/>
            <a:ext cx="447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 . .</a:t>
            </a:r>
            <a:endParaRPr lang="es-ES" sz="1500" b="0" strike="noStrike" spc="-1">
              <a:latin typeface="Arial"/>
            </a:endParaRPr>
          </a:p>
        </p:txBody>
      </p:sp>
      <p:sp>
        <p:nvSpPr>
          <p:cNvPr id="487" name="CustomShape 20"/>
          <p:cNvSpPr/>
          <p:nvPr/>
        </p:nvSpPr>
        <p:spPr>
          <a:xfrm>
            <a:off x="4641840" y="188532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2</a:t>
            </a:r>
            <a:endParaRPr lang="es-ES" sz="1500" b="0" strike="noStrike" spc="-1">
              <a:latin typeface="Arial"/>
            </a:endParaRPr>
          </a:p>
        </p:txBody>
      </p:sp>
      <p:sp>
        <p:nvSpPr>
          <p:cNvPr id="488" name="CustomShape 21"/>
          <p:cNvSpPr/>
          <p:nvPr/>
        </p:nvSpPr>
        <p:spPr>
          <a:xfrm>
            <a:off x="3898800" y="137088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1</a:t>
            </a:r>
            <a:endParaRPr lang="es-ES" sz="1500" b="0" strike="noStrike" spc="-1">
              <a:latin typeface="Arial"/>
            </a:endParaRPr>
          </a:p>
        </p:txBody>
      </p:sp>
      <p:sp>
        <p:nvSpPr>
          <p:cNvPr id="489" name="CustomShape 22"/>
          <p:cNvSpPr/>
          <p:nvPr/>
        </p:nvSpPr>
        <p:spPr>
          <a:xfrm>
            <a:off x="5495040" y="2628360"/>
            <a:ext cx="456840" cy="34272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490" name="CustomShape 23"/>
          <p:cNvSpPr/>
          <p:nvPr/>
        </p:nvSpPr>
        <p:spPr>
          <a:xfrm>
            <a:off x="2809080" y="2628360"/>
            <a:ext cx="456840" cy="45684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491" name="CustomShape 24"/>
          <p:cNvSpPr/>
          <p:nvPr/>
        </p:nvSpPr>
        <p:spPr>
          <a:xfrm>
            <a:off x="4009320" y="308556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492" name="CustomShape 25"/>
          <p:cNvSpPr/>
          <p:nvPr/>
        </p:nvSpPr>
        <p:spPr>
          <a:xfrm>
            <a:off x="5255280" y="236052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2</a:t>
            </a:r>
            <a:endParaRPr lang="es-ES" sz="1200" b="0" strike="noStrike" spc="-1">
              <a:latin typeface="Arial"/>
            </a:endParaRPr>
          </a:p>
        </p:txBody>
      </p:sp>
      <p:sp>
        <p:nvSpPr>
          <p:cNvPr id="493" name="CustomShape 26"/>
          <p:cNvSpPr/>
          <p:nvPr/>
        </p:nvSpPr>
        <p:spPr>
          <a:xfrm>
            <a:off x="2683440" y="236052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1</a:t>
            </a:r>
            <a:endParaRPr lang="es-ES" sz="1200" b="0" strike="noStrike" spc="-1">
              <a:latin typeface="Arial"/>
            </a:endParaRPr>
          </a:p>
        </p:txBody>
      </p:sp>
      <p:sp>
        <p:nvSpPr>
          <p:cNvPr id="494" name="CustomShape 27"/>
          <p:cNvSpPr/>
          <p:nvPr/>
        </p:nvSpPr>
        <p:spPr>
          <a:xfrm>
            <a:off x="6752520" y="27424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x</a:t>
            </a:r>
            <a:endParaRPr lang="es-ES" sz="1500" b="0" strike="noStrike" spc="-1">
              <a:latin typeface="Arial"/>
            </a:endParaRPr>
          </a:p>
        </p:txBody>
      </p:sp>
      <p:sp>
        <p:nvSpPr>
          <p:cNvPr id="495" name="CustomShape 28"/>
          <p:cNvSpPr/>
          <p:nvPr/>
        </p:nvSpPr>
        <p:spPr>
          <a:xfrm>
            <a:off x="7612920" y="2171160"/>
            <a:ext cx="4341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SP</a:t>
            </a:r>
            <a:endParaRPr lang="es-ES" sz="1500" b="0" strike="noStrike" spc="-1">
              <a:latin typeface="Arial"/>
            </a:endParaRPr>
          </a:p>
        </p:txBody>
      </p:sp>
      <p:sp>
        <p:nvSpPr>
          <p:cNvPr id="496" name="CustomShape 29"/>
          <p:cNvSpPr/>
          <p:nvPr/>
        </p:nvSpPr>
        <p:spPr>
          <a:xfrm>
            <a:off x="6752520" y="31996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y</a:t>
            </a:r>
            <a:endParaRPr lang="es-ES" sz="1500" b="0" strike="noStrike" spc="-1">
              <a:latin typeface="Arial"/>
            </a:endParaRPr>
          </a:p>
        </p:txBody>
      </p:sp>
      <p:sp>
        <p:nvSpPr>
          <p:cNvPr id="497" name="CustomShape 30"/>
          <p:cNvSpPr/>
          <p:nvPr/>
        </p:nvSpPr>
        <p:spPr>
          <a:xfrm>
            <a:off x="6752520" y="222840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v</a:t>
            </a:r>
            <a:endParaRPr lang="es-ES" sz="1500" b="0" strike="noStrike" spc="-1">
              <a:latin typeface="Arial"/>
            </a:endParaRPr>
          </a:p>
        </p:txBody>
      </p:sp>
      <p:sp>
        <p:nvSpPr>
          <p:cNvPr id="498" name="Line 31"/>
          <p:cNvSpPr/>
          <p:nvPr/>
        </p:nvSpPr>
        <p:spPr>
          <a:xfrm>
            <a:off x="2466000" y="2628000"/>
            <a:ext cx="3427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499" name="CustomShape 32"/>
          <p:cNvSpPr/>
          <p:nvPr/>
        </p:nvSpPr>
        <p:spPr>
          <a:xfrm>
            <a:off x="6296760" y="2628360"/>
            <a:ext cx="2343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t</a:t>
            </a:r>
            <a:endParaRPr lang="es-ES" sz="1500" b="0" strike="noStrike" spc="-1">
              <a:latin typeface="Arial"/>
            </a:endParaRPr>
          </a:p>
        </p:txBody>
      </p:sp>
      <p:sp>
        <p:nvSpPr>
          <p:cNvPr id="500" name="CustomShape 33"/>
          <p:cNvSpPr/>
          <p:nvPr/>
        </p:nvSpPr>
        <p:spPr>
          <a:xfrm>
            <a:off x="5095080" y="382860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01" name="CustomShape 34"/>
          <p:cNvSpPr/>
          <p:nvPr/>
        </p:nvSpPr>
        <p:spPr>
          <a:xfrm>
            <a:off x="5095080" y="319968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02" name="CustomShape 35"/>
          <p:cNvSpPr/>
          <p:nvPr/>
        </p:nvSpPr>
        <p:spPr>
          <a:xfrm>
            <a:off x="5242680" y="392004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2</a:t>
            </a:r>
            <a:endParaRPr lang="es-ES" sz="1500" b="0" strike="noStrike" spc="-1">
              <a:latin typeface="Arial"/>
            </a:endParaRPr>
          </a:p>
        </p:txBody>
      </p:sp>
      <p:sp>
        <p:nvSpPr>
          <p:cNvPr id="503" name="CustomShape 36"/>
          <p:cNvSpPr/>
          <p:nvPr/>
        </p:nvSpPr>
        <p:spPr>
          <a:xfrm>
            <a:off x="2866320" y="348552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04" name="CustomShape 37"/>
          <p:cNvSpPr/>
          <p:nvPr/>
        </p:nvSpPr>
        <p:spPr>
          <a:xfrm>
            <a:off x="2866320" y="382860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05" name="CustomShape 38"/>
          <p:cNvSpPr/>
          <p:nvPr/>
        </p:nvSpPr>
        <p:spPr>
          <a:xfrm>
            <a:off x="2866320" y="319968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06" name="CustomShape 39"/>
          <p:cNvSpPr/>
          <p:nvPr/>
        </p:nvSpPr>
        <p:spPr>
          <a:xfrm>
            <a:off x="3013560" y="392004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1</a:t>
            </a:r>
            <a:endParaRPr lang="es-ES" sz="1500" b="0" strike="noStrike" spc="-1">
              <a:latin typeface="Arial"/>
            </a:endParaRPr>
          </a:p>
        </p:txBody>
      </p:sp>
      <p:sp>
        <p:nvSpPr>
          <p:cNvPr id="507" name="CustomShape 40"/>
          <p:cNvSpPr/>
          <p:nvPr/>
        </p:nvSpPr>
        <p:spPr>
          <a:xfrm>
            <a:off x="6923880" y="1199520"/>
            <a:ext cx="456840" cy="2571480"/>
          </a:xfrm>
          <a:prstGeom prst="ellipse">
            <a:avLst/>
          </a:prstGeom>
          <a:noFill/>
          <a:ln w="28440" cap="rnd">
            <a:solidFill>
              <a:schemeClr val="accent2"/>
            </a:solidFill>
            <a:custDash>
              <a:ds d="400000" sp="300000"/>
            </a:custDash>
            <a:round/>
          </a:ln>
        </p:spPr>
        <p:style>
          <a:lnRef idx="0">
            <a:scrgbClr r="0" g="0" b="0"/>
          </a:lnRef>
          <a:fillRef idx="0">
            <a:scrgbClr r="0" g="0" b="0"/>
          </a:fillRef>
          <a:effectRef idx="0">
            <a:scrgbClr r="0" g="0" b="0"/>
          </a:effectRef>
          <a:fontRef idx="minor"/>
        </p:style>
      </p:sp>
      <p:sp>
        <p:nvSpPr>
          <p:cNvPr id="508" name="Line 41"/>
          <p:cNvSpPr/>
          <p:nvPr/>
        </p:nvSpPr>
        <p:spPr>
          <a:xfrm>
            <a:off x="4066200" y="3485520"/>
            <a:ext cx="360" cy="342720"/>
          </a:xfrm>
          <a:prstGeom prst="line">
            <a:avLst/>
          </a:prstGeom>
          <a:ln w="28440">
            <a:solidFill>
              <a:srgbClr val="FF3300"/>
            </a:solidFill>
            <a:round/>
            <a:tailEnd type="triangle" w="med" len="med"/>
          </a:ln>
        </p:spPr>
        <p:style>
          <a:lnRef idx="0">
            <a:scrgbClr r="0" g="0" b="0"/>
          </a:lnRef>
          <a:fillRef idx="0">
            <a:scrgbClr r="0" g="0" b="0"/>
          </a:fillRef>
          <a:effectRef idx="0">
            <a:scrgbClr r="0" g="0" b="0"/>
          </a:effectRef>
          <a:fontRef idx="minor"/>
        </p:style>
      </p:sp>
      <p:sp>
        <p:nvSpPr>
          <p:cNvPr id="509" name="CustomShape 42"/>
          <p:cNvSpPr/>
          <p:nvPr/>
        </p:nvSpPr>
        <p:spPr>
          <a:xfrm>
            <a:off x="2866320" y="319968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c+i,m,r,s</a:t>
            </a:r>
            <a:endParaRPr lang="es-ES" sz="1500" b="0" strike="noStrike" spc="-1">
              <a:latin typeface="Arial"/>
            </a:endParaRPr>
          </a:p>
        </p:txBody>
      </p:sp>
      <p:sp>
        <p:nvSpPr>
          <p:cNvPr id="510" name="CustomShape 43"/>
          <p:cNvSpPr/>
          <p:nvPr/>
        </p:nvSpPr>
        <p:spPr>
          <a:xfrm>
            <a:off x="2866320" y="354276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n+1,i,j,k</a:t>
            </a:r>
            <a:endParaRPr lang="es-ES" sz="1500" b="0" strike="noStrike" spc="-1">
              <a:latin typeface="Arial"/>
            </a:endParaRPr>
          </a:p>
        </p:txBody>
      </p:sp>
      <p:sp>
        <p:nvSpPr>
          <p:cNvPr id="511" name="CustomShape 44"/>
          <p:cNvSpPr/>
          <p:nvPr/>
        </p:nvSpPr>
        <p:spPr>
          <a:xfrm>
            <a:off x="5095080" y="348552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12" name="CustomShape 45"/>
          <p:cNvSpPr/>
          <p:nvPr/>
        </p:nvSpPr>
        <p:spPr>
          <a:xfrm>
            <a:off x="5095080" y="319968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13" name="CustomShape 46"/>
          <p:cNvSpPr/>
          <p:nvPr/>
        </p:nvSpPr>
        <p:spPr>
          <a:xfrm>
            <a:off x="5154840" y="3199680"/>
            <a:ext cx="70992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t,v,x,y</a:t>
            </a:r>
            <a:endParaRPr lang="es-ES" sz="1500" b="0" strike="noStrike" spc="-1">
              <a:latin typeface="Arial"/>
            </a:endParaRPr>
          </a:p>
        </p:txBody>
      </p:sp>
      <p:sp>
        <p:nvSpPr>
          <p:cNvPr id="514" name="CustomShape 47"/>
          <p:cNvSpPr/>
          <p:nvPr/>
        </p:nvSpPr>
        <p:spPr>
          <a:xfrm>
            <a:off x="5141520" y="3485520"/>
            <a:ext cx="7419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l,n,o,p</a:t>
            </a:r>
            <a:endParaRPr lang="es-ES" sz="1500" b="0" strike="noStrike" spc="-1">
              <a:latin typeface="Arial"/>
            </a:endParaRPr>
          </a:p>
        </p:txBody>
      </p:sp>
      <p:sp>
        <p:nvSpPr>
          <p:cNvPr id="515" name="CustomShape 48"/>
          <p:cNvSpPr/>
          <p:nvPr/>
        </p:nvSpPr>
        <p:spPr>
          <a:xfrm>
            <a:off x="5780880" y="1370880"/>
            <a:ext cx="1142640" cy="1999800"/>
          </a:xfrm>
          <a:custGeom>
            <a:avLst/>
            <a:gdLst/>
            <a:ahLst/>
            <a:cxnLst/>
            <a:rect l="l" t="t" r="r" b="b"/>
            <a:pathLst>
              <a:path w="3072" h="1904">
                <a:moveTo>
                  <a:pt x="3072" y="272"/>
                </a:moveTo>
                <a:cubicBezTo>
                  <a:pt x="2392" y="136"/>
                  <a:pt x="1712" y="0"/>
                  <a:pt x="1200" y="272"/>
                </a:cubicBezTo>
                <a:cubicBezTo>
                  <a:pt x="688" y="544"/>
                  <a:pt x="344" y="1224"/>
                  <a:pt x="0" y="1904"/>
                </a:cubicBezTo>
              </a:path>
            </a:pathLst>
          </a:custGeom>
          <a:noFill/>
          <a:ln w="28440">
            <a:solidFill>
              <a:schemeClr val="accent2"/>
            </a:solidFill>
            <a:custDash>
              <a:ds d="400000" sp="300000"/>
            </a:custDash>
            <a:round/>
            <a:headEnd type="triangle" w="med" len="med"/>
          </a:ln>
        </p:spPr>
        <p:style>
          <a:lnRef idx="0">
            <a:scrgbClr r="0" g="0" b="0"/>
          </a:lnRef>
          <a:fillRef idx="0">
            <a:scrgbClr r="0" g="0" b="0"/>
          </a:fillRef>
          <a:effectRef idx="0">
            <a:scrgbClr r="0" g="0" b="0"/>
          </a:effectRef>
          <a:fontRef idx="minor"/>
        </p:style>
      </p:sp>
      <p:sp>
        <p:nvSpPr>
          <p:cNvPr id="516" name="Line 49"/>
          <p:cNvSpPr/>
          <p:nvPr/>
        </p:nvSpPr>
        <p:spPr>
          <a:xfrm flipH="1">
            <a:off x="5952240" y="2799720"/>
            <a:ext cx="3999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517" name="CustomShape 50"/>
          <p:cNvSpPr/>
          <p:nvPr/>
        </p:nvSpPr>
        <p:spPr>
          <a:xfrm>
            <a:off x="2238840" y="2457000"/>
            <a:ext cx="2772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a:t>
            </a:r>
            <a:endParaRPr lang="es-ES" sz="1500" b="0" strike="noStrike" spc="-1">
              <a:latin typeface="Arial"/>
            </a:endParaRPr>
          </a:p>
        </p:txBody>
      </p:sp>
      <p:sp>
        <p:nvSpPr>
          <p:cNvPr id="518" name="CustomShape 51"/>
          <p:cNvSpPr/>
          <p:nvPr/>
        </p:nvSpPr>
        <p:spPr>
          <a:xfrm>
            <a:off x="6132240" y="742320"/>
            <a:ext cx="205272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44546A"/>
                </a:solidFill>
                <a:latin typeface="Arial"/>
              </a:rPr>
              <a:t>Máquina en modo kernel</a:t>
            </a:r>
            <a:endParaRPr lang="es-ES" sz="1350" b="0" strike="noStrike" spc="-1">
              <a:latin typeface="Arial"/>
            </a:endParaRPr>
          </a:p>
        </p:txBody>
      </p:sp>
      <p:sp>
        <p:nvSpPr>
          <p:cNvPr id="519" name="CustomShape 52"/>
          <p:cNvSpPr/>
          <p:nvPr/>
        </p:nvSpPr>
        <p:spPr>
          <a:xfrm>
            <a:off x="1267560" y="4905360"/>
            <a:ext cx="5718600" cy="25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50" b="0" strike="noStrike" spc="-1">
                <a:solidFill>
                  <a:srgbClr val="000000"/>
                </a:solidFill>
                <a:latin typeface="Calibri"/>
              </a:rPr>
              <a:t>Autor: José Antonio Gómez, UGR, reproducido con permiso</a:t>
            </a:r>
            <a:endParaRPr lang="es-ES" sz="1050" b="0" strike="noStrike" spc="-1">
              <a:latin typeface="Arial"/>
            </a:endParaRPr>
          </a:p>
        </p:txBody>
      </p:sp>
      <p:sp>
        <p:nvSpPr>
          <p:cNvPr id="520" name="CustomShape 53"/>
          <p:cNvSpPr/>
          <p:nvPr/>
        </p:nvSpPr>
        <p:spPr>
          <a:xfrm>
            <a:off x="3634920" y="2758680"/>
            <a:ext cx="165348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900" b="0" strike="noStrike" spc="-1">
                <a:solidFill>
                  <a:srgbClr val="000000"/>
                </a:solidFill>
                <a:latin typeface="Lucida Sans Typewriter"/>
              </a:rPr>
              <a:t>switch_context(P1,P2)</a:t>
            </a:r>
            <a:endParaRPr lang="es-ES" sz="900" b="0" strike="noStrike" spc="-1">
              <a:latin typeface="Arial"/>
            </a:endParaRPr>
          </a:p>
        </p:txBody>
      </p:sp>
      <p:sp>
        <p:nvSpPr>
          <p:cNvPr id="521" name="CustomShape 54"/>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a:t>
            </a:r>
            <a:endParaRPr lang="es-ES" sz="3600" b="0" strike="noStrike" spc="-1">
              <a:latin typeface="Arial"/>
            </a:endParaRPr>
          </a:p>
        </p:txBody>
      </p:sp>
      <p:sp>
        <p:nvSpPr>
          <p:cNvPr id="522" name="CustomShape 55"/>
          <p:cNvSpPr/>
          <p:nvPr/>
        </p:nvSpPr>
        <p:spPr>
          <a:xfrm>
            <a:off x="4947120" y="4493520"/>
            <a:ext cx="3610440" cy="492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80000"/>
              </a:lnSpc>
            </a:pPr>
            <a:r>
              <a:rPr lang="es-ES" sz="1100" b="0" strike="noStrike" spc="-1">
                <a:solidFill>
                  <a:srgbClr val="44546A"/>
                </a:solidFill>
                <a:latin typeface="Arial"/>
              </a:rPr>
              <a:t>El kernel restaura el contexto del procesador desde</a:t>
            </a:r>
            <a:endParaRPr lang="es-ES" sz="1100" b="0" strike="noStrike" spc="-1">
              <a:latin typeface="Arial"/>
            </a:endParaRPr>
          </a:p>
          <a:p>
            <a:pPr>
              <a:lnSpc>
                <a:spcPct val="80000"/>
              </a:lnSpc>
            </a:pPr>
            <a:r>
              <a:rPr lang="es-ES" sz="1100" b="0" strike="noStrike" spc="-1">
                <a:solidFill>
                  <a:srgbClr val="44546A"/>
                </a:solidFill>
                <a:latin typeface="Arial"/>
              </a:rPr>
              <a:t>PCB2 con los datos del stack de kernel. Está en el punto en que bloqueó a P2.</a:t>
            </a:r>
            <a:endParaRPr lang="es-ES" sz="1100" b="0" strike="noStrike" spc="-1">
              <a:latin typeface="Arial"/>
            </a:endParaRPr>
          </a:p>
        </p:txBody>
      </p:sp>
      <p:grpSp>
        <p:nvGrpSpPr>
          <p:cNvPr id="523" name="Group 56"/>
          <p:cNvGrpSpPr/>
          <p:nvPr/>
        </p:nvGrpSpPr>
        <p:grpSpPr>
          <a:xfrm>
            <a:off x="5907960" y="3339000"/>
            <a:ext cx="1835280" cy="1095480"/>
            <a:chOff x="5907960" y="3339000"/>
            <a:chExt cx="1835280" cy="1095480"/>
          </a:xfrm>
        </p:grpSpPr>
        <p:sp>
          <p:nvSpPr>
            <p:cNvPr id="524" name="CustomShape 57"/>
            <p:cNvSpPr/>
            <p:nvPr/>
          </p:nvSpPr>
          <p:spPr>
            <a:xfrm>
              <a:off x="6422760" y="3796560"/>
              <a:ext cx="1320480" cy="637920"/>
            </a:xfrm>
            <a:prstGeom prst="rect">
              <a:avLst/>
            </a:prstGeom>
            <a:noFill/>
            <a:ln w="9360">
              <a:solidFill>
                <a:schemeClr val="bg1"/>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767171"/>
                  </a:solidFill>
                  <a:latin typeface="Calibri"/>
                </a:rPr>
                <a:t>Contexto kernel</a:t>
              </a:r>
              <a:endParaRPr lang="es-ES" sz="1200" b="0" strike="noStrike" spc="-1">
                <a:latin typeface="Arial"/>
              </a:endParaRPr>
            </a:p>
            <a:p>
              <a:pPr>
                <a:lnSpc>
                  <a:spcPct val="100000"/>
                </a:lnSpc>
              </a:pPr>
              <a:r>
                <a:rPr lang="es-ES" sz="1200" b="0" strike="noStrike" spc="-1">
                  <a:solidFill>
                    <a:srgbClr val="767171"/>
                  </a:solidFill>
                  <a:latin typeface="Calibri"/>
                </a:rPr>
                <a:t>Contexto usuario</a:t>
              </a:r>
              <a:endParaRPr lang="es-ES" sz="1200" b="0" strike="noStrike" spc="-1">
                <a:latin typeface="Arial"/>
              </a:endParaRPr>
            </a:p>
            <a:p>
              <a:pPr>
                <a:lnSpc>
                  <a:spcPct val="100000"/>
                </a:lnSpc>
              </a:pPr>
              <a:r>
                <a:rPr lang="es-ES" sz="1200" b="0" strike="noStrike" spc="-1">
                  <a:solidFill>
                    <a:srgbClr val="767171"/>
                  </a:solidFill>
                  <a:latin typeface="Calibri"/>
                </a:rPr>
                <a:t>Resto información</a:t>
              </a:r>
              <a:endParaRPr lang="es-ES" sz="1200" b="0" strike="noStrike" spc="-1">
                <a:latin typeface="Arial"/>
              </a:endParaRPr>
            </a:p>
          </p:txBody>
        </p:sp>
        <p:sp>
          <p:nvSpPr>
            <p:cNvPr id="525" name="Line 58"/>
            <p:cNvSpPr/>
            <p:nvPr/>
          </p:nvSpPr>
          <p:spPr>
            <a:xfrm flipH="1" flipV="1">
              <a:off x="5907960" y="3339000"/>
              <a:ext cx="571680" cy="57636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526" name="Line 59"/>
            <p:cNvSpPr/>
            <p:nvPr/>
          </p:nvSpPr>
          <p:spPr>
            <a:xfrm flipH="1" flipV="1">
              <a:off x="5907960" y="3682080"/>
              <a:ext cx="571680" cy="4572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527" name="Line 60"/>
            <p:cNvSpPr/>
            <p:nvPr/>
          </p:nvSpPr>
          <p:spPr>
            <a:xfrm flipH="1" flipV="1">
              <a:off x="5907960" y="4082040"/>
              <a:ext cx="571680" cy="2286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gr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TextShape 1"/>
          <p:cNvSpPr txBox="1"/>
          <p:nvPr/>
        </p:nvSpPr>
        <p:spPr>
          <a:xfrm>
            <a:off x="8028000" y="6400800"/>
            <a:ext cx="933120" cy="456840"/>
          </a:xfrm>
          <a:prstGeom prst="rect">
            <a:avLst/>
          </a:prstGeom>
          <a:noFill/>
          <a:ln>
            <a:noFill/>
          </a:ln>
        </p:spPr>
        <p:txBody>
          <a:bodyPr/>
          <a:lstStyle/>
          <a:p>
            <a:pPr algn="r">
              <a:lnSpc>
                <a:spcPct val="100000"/>
              </a:lnSpc>
            </a:pPr>
            <a:fld id="{953ED567-DF28-4196-89C0-6E6CD477BE14}" type="slidenum">
              <a:rPr lang="es-ES" sz="1600" b="0" strike="noStrike" spc="-1">
                <a:solidFill>
                  <a:srgbClr val="669900"/>
                </a:solidFill>
                <a:latin typeface="Haettenschweiler"/>
              </a:rPr>
              <a:t>21</a:t>
            </a:fld>
            <a:endParaRPr lang="es-ES" sz="1600" b="0" strike="noStrike" spc="-1">
              <a:latin typeface="Times New Roman"/>
            </a:endParaRPr>
          </a:p>
        </p:txBody>
      </p:sp>
      <p:sp>
        <p:nvSpPr>
          <p:cNvPr id="529" name="CustomShape 2"/>
          <p:cNvSpPr/>
          <p:nvPr/>
        </p:nvSpPr>
        <p:spPr>
          <a:xfrm>
            <a:off x="2389320" y="2412720"/>
            <a:ext cx="3543120" cy="199980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530" name="CustomShape 3"/>
          <p:cNvSpPr/>
          <p:nvPr/>
        </p:nvSpPr>
        <p:spPr>
          <a:xfrm>
            <a:off x="6389640" y="1784160"/>
            <a:ext cx="1542600" cy="1828440"/>
          </a:xfrm>
          <a:prstGeom prst="rect">
            <a:avLst/>
          </a:prstGeom>
          <a:solidFill>
            <a:schemeClr val="accent6">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531" name="Line 4"/>
          <p:cNvSpPr/>
          <p:nvPr/>
        </p:nvSpPr>
        <p:spPr>
          <a:xfrm>
            <a:off x="5932440" y="2412360"/>
            <a:ext cx="457200" cy="36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532" name="CustomShape 5"/>
          <p:cNvSpPr/>
          <p:nvPr/>
        </p:nvSpPr>
        <p:spPr>
          <a:xfrm>
            <a:off x="3700080" y="847080"/>
            <a:ext cx="924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Memoria</a:t>
            </a:r>
            <a:endParaRPr lang="es-ES" sz="1500" b="0" strike="noStrike" spc="-1">
              <a:latin typeface="Arial"/>
            </a:endParaRPr>
          </a:p>
        </p:txBody>
      </p:sp>
      <p:sp>
        <p:nvSpPr>
          <p:cNvPr id="533" name="CustomShape 6"/>
          <p:cNvSpPr/>
          <p:nvPr/>
        </p:nvSpPr>
        <p:spPr>
          <a:xfrm>
            <a:off x="6414480" y="1418400"/>
            <a:ext cx="5817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CPU</a:t>
            </a:r>
            <a:endParaRPr lang="es-ES" sz="1500" b="0" strike="noStrike" spc="-1">
              <a:latin typeface="Arial"/>
            </a:endParaRPr>
          </a:p>
        </p:txBody>
      </p:sp>
      <p:sp>
        <p:nvSpPr>
          <p:cNvPr id="534" name="CustomShape 7"/>
          <p:cNvSpPr/>
          <p:nvPr/>
        </p:nvSpPr>
        <p:spPr>
          <a:xfrm>
            <a:off x="6504120" y="32698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j</a:t>
            </a:r>
            <a:endParaRPr lang="es-ES" sz="1500" b="0" strike="noStrike" spc="-1">
              <a:latin typeface="Arial"/>
            </a:endParaRPr>
          </a:p>
        </p:txBody>
      </p:sp>
      <p:sp>
        <p:nvSpPr>
          <p:cNvPr id="535" name="CustomShape 8"/>
          <p:cNvSpPr/>
          <p:nvPr/>
        </p:nvSpPr>
        <p:spPr>
          <a:xfrm>
            <a:off x="6504120" y="32698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sp>
      <p:sp>
        <p:nvSpPr>
          <p:cNvPr id="536" name="CustomShape 9"/>
          <p:cNvSpPr/>
          <p:nvPr/>
        </p:nvSpPr>
        <p:spPr>
          <a:xfrm>
            <a:off x="6504120" y="19555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t</a:t>
            </a:r>
            <a:endParaRPr lang="es-ES" sz="1500" b="0" strike="noStrike" spc="-1">
              <a:latin typeface="Arial"/>
            </a:endParaRPr>
          </a:p>
        </p:txBody>
      </p:sp>
      <p:sp>
        <p:nvSpPr>
          <p:cNvPr id="537" name="CustomShape 10"/>
          <p:cNvSpPr/>
          <p:nvPr/>
        </p:nvSpPr>
        <p:spPr>
          <a:xfrm>
            <a:off x="7372080" y="1932840"/>
            <a:ext cx="4446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a:t>
            </a:r>
            <a:endParaRPr lang="es-ES" sz="1500" b="0" strike="noStrike" spc="-1">
              <a:latin typeface="Arial"/>
            </a:endParaRPr>
          </a:p>
        </p:txBody>
      </p:sp>
      <p:sp>
        <p:nvSpPr>
          <p:cNvPr id="538" name="CustomShape 11"/>
          <p:cNvSpPr/>
          <p:nvPr/>
        </p:nvSpPr>
        <p:spPr>
          <a:xfrm rot="16200000">
            <a:off x="7174440" y="2905200"/>
            <a:ext cx="916920" cy="455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80000"/>
              </a:lnSpc>
            </a:pPr>
            <a:r>
              <a:rPr lang="es-ES" sz="1500" b="0" strike="noStrike" spc="-1">
                <a:solidFill>
                  <a:srgbClr val="000000"/>
                </a:solidFill>
                <a:latin typeface="Arial"/>
              </a:rPr>
              <a:t>Otros</a:t>
            </a:r>
            <a:endParaRPr lang="es-ES" sz="1500" b="0" strike="noStrike" spc="-1">
              <a:latin typeface="Arial"/>
            </a:endParaRPr>
          </a:p>
          <a:p>
            <a:pPr>
              <a:lnSpc>
                <a:spcPct val="80000"/>
              </a:lnSpc>
            </a:pPr>
            <a:r>
              <a:rPr lang="es-ES" sz="1500" b="0" strike="noStrike" spc="-1">
                <a:solidFill>
                  <a:srgbClr val="000000"/>
                </a:solidFill>
                <a:latin typeface="Arial"/>
              </a:rPr>
              <a:t>registros</a:t>
            </a:r>
            <a:endParaRPr lang="es-ES" sz="1500" b="0" strike="noStrike" spc="-1">
              <a:latin typeface="Arial"/>
            </a:endParaRPr>
          </a:p>
        </p:txBody>
      </p:sp>
      <p:sp>
        <p:nvSpPr>
          <p:cNvPr id="539" name="CustomShape 12"/>
          <p:cNvSpPr/>
          <p:nvPr/>
        </p:nvSpPr>
        <p:spPr>
          <a:xfrm>
            <a:off x="2389320" y="1212480"/>
            <a:ext cx="3543120" cy="1199880"/>
          </a:xfrm>
          <a:prstGeom prst="rect">
            <a:avLst/>
          </a:prstGeom>
          <a:solidFill>
            <a:srgbClr val="66FF99"/>
          </a:solidFill>
          <a:ln w="9360">
            <a:solidFill>
              <a:schemeClr val="tx1"/>
            </a:solidFill>
            <a:miter/>
          </a:ln>
        </p:spPr>
        <p:style>
          <a:lnRef idx="0">
            <a:scrgbClr r="0" g="0" b="0"/>
          </a:lnRef>
          <a:fillRef idx="0">
            <a:scrgbClr r="0" g="0" b="0"/>
          </a:fillRef>
          <a:effectRef idx="0">
            <a:scrgbClr r="0" g="0" b="0"/>
          </a:effectRef>
          <a:fontRef idx="minor"/>
        </p:style>
      </p:sp>
      <p:sp>
        <p:nvSpPr>
          <p:cNvPr id="540" name="CustomShape 13"/>
          <p:cNvSpPr/>
          <p:nvPr/>
        </p:nvSpPr>
        <p:spPr>
          <a:xfrm>
            <a:off x="2389320" y="1898280"/>
            <a:ext cx="3543120" cy="342720"/>
          </a:xfrm>
          <a:prstGeom prst="rect">
            <a:avLst/>
          </a:prstGeom>
          <a:solidFill>
            <a:srgbClr val="B2B2B2"/>
          </a:solidFill>
          <a:ln w="9360">
            <a:solidFill>
              <a:schemeClr val="tx1"/>
            </a:solidFill>
            <a:miter/>
          </a:ln>
        </p:spPr>
        <p:style>
          <a:lnRef idx="0">
            <a:scrgbClr r="0" g="0" b="0"/>
          </a:lnRef>
          <a:fillRef idx="0">
            <a:scrgbClr r="0" g="0" b="0"/>
          </a:fillRef>
          <a:effectRef idx="0">
            <a:scrgbClr r="0" g="0" b="0"/>
          </a:effectRef>
          <a:fontRef idx="minor"/>
        </p:style>
      </p:sp>
      <p:sp>
        <p:nvSpPr>
          <p:cNvPr id="541" name="CustomShape 14"/>
          <p:cNvSpPr/>
          <p:nvPr/>
        </p:nvSpPr>
        <p:spPr>
          <a:xfrm>
            <a:off x="2389320" y="1383840"/>
            <a:ext cx="3543120" cy="342720"/>
          </a:xfrm>
          <a:prstGeom prst="rect">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sp>
        <p:nvSpPr>
          <p:cNvPr id="542" name="CustomShape 15"/>
          <p:cNvSpPr/>
          <p:nvPr/>
        </p:nvSpPr>
        <p:spPr>
          <a:xfrm>
            <a:off x="3760920" y="355572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543" name="CustomShape 16"/>
          <p:cNvSpPr/>
          <p:nvPr/>
        </p:nvSpPr>
        <p:spPr>
          <a:xfrm>
            <a:off x="4846680" y="355572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44" name="Line 17"/>
          <p:cNvSpPr/>
          <p:nvPr/>
        </p:nvSpPr>
        <p:spPr>
          <a:xfrm>
            <a:off x="2160360" y="1555200"/>
            <a:ext cx="2286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545" name="CustomShape 18"/>
          <p:cNvSpPr/>
          <p:nvPr/>
        </p:nvSpPr>
        <p:spPr>
          <a:xfrm>
            <a:off x="1938600" y="1418400"/>
            <a:ext cx="287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n</a:t>
            </a:r>
            <a:endParaRPr lang="es-ES" sz="1500" b="0" strike="noStrike" spc="-1">
              <a:latin typeface="Arial"/>
            </a:endParaRPr>
          </a:p>
        </p:txBody>
      </p:sp>
      <p:sp>
        <p:nvSpPr>
          <p:cNvPr id="546" name="CustomShape 19"/>
          <p:cNvSpPr/>
          <p:nvPr/>
        </p:nvSpPr>
        <p:spPr>
          <a:xfrm>
            <a:off x="6504480" y="2927160"/>
            <a:ext cx="447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 . .</a:t>
            </a:r>
            <a:endParaRPr lang="es-ES" sz="1500" b="0" strike="noStrike" spc="-1">
              <a:latin typeface="Arial"/>
            </a:endParaRPr>
          </a:p>
        </p:txBody>
      </p:sp>
      <p:sp>
        <p:nvSpPr>
          <p:cNvPr id="547" name="CustomShape 20"/>
          <p:cNvSpPr/>
          <p:nvPr/>
        </p:nvSpPr>
        <p:spPr>
          <a:xfrm>
            <a:off x="4393440" y="195552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2</a:t>
            </a:r>
            <a:endParaRPr lang="es-ES" sz="1500" b="0" strike="noStrike" spc="-1">
              <a:latin typeface="Arial"/>
            </a:endParaRPr>
          </a:p>
        </p:txBody>
      </p:sp>
      <p:sp>
        <p:nvSpPr>
          <p:cNvPr id="548" name="CustomShape 21"/>
          <p:cNvSpPr/>
          <p:nvPr/>
        </p:nvSpPr>
        <p:spPr>
          <a:xfrm>
            <a:off x="3650400" y="144108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1</a:t>
            </a:r>
            <a:endParaRPr lang="es-ES" sz="1500" b="0" strike="noStrike" spc="-1">
              <a:latin typeface="Arial"/>
            </a:endParaRPr>
          </a:p>
        </p:txBody>
      </p:sp>
      <p:sp>
        <p:nvSpPr>
          <p:cNvPr id="549" name="CustomShape 22"/>
          <p:cNvSpPr/>
          <p:nvPr/>
        </p:nvSpPr>
        <p:spPr>
          <a:xfrm>
            <a:off x="5246640" y="2698560"/>
            <a:ext cx="456840" cy="34272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550" name="CustomShape 23"/>
          <p:cNvSpPr/>
          <p:nvPr/>
        </p:nvSpPr>
        <p:spPr>
          <a:xfrm>
            <a:off x="2560680" y="2698560"/>
            <a:ext cx="456840" cy="45684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551" name="CustomShape 24"/>
          <p:cNvSpPr/>
          <p:nvPr/>
        </p:nvSpPr>
        <p:spPr>
          <a:xfrm>
            <a:off x="3760920" y="315576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552" name="CustomShape 25"/>
          <p:cNvSpPr/>
          <p:nvPr/>
        </p:nvSpPr>
        <p:spPr>
          <a:xfrm>
            <a:off x="5006880" y="243072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2</a:t>
            </a:r>
            <a:endParaRPr lang="es-ES" sz="1200" b="0" strike="noStrike" spc="-1">
              <a:latin typeface="Arial"/>
            </a:endParaRPr>
          </a:p>
        </p:txBody>
      </p:sp>
      <p:sp>
        <p:nvSpPr>
          <p:cNvPr id="553" name="CustomShape 26"/>
          <p:cNvSpPr/>
          <p:nvPr/>
        </p:nvSpPr>
        <p:spPr>
          <a:xfrm>
            <a:off x="2435040" y="243072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1</a:t>
            </a:r>
            <a:endParaRPr lang="es-ES" sz="1200" b="0" strike="noStrike" spc="-1">
              <a:latin typeface="Arial"/>
            </a:endParaRPr>
          </a:p>
        </p:txBody>
      </p:sp>
      <p:sp>
        <p:nvSpPr>
          <p:cNvPr id="554" name="CustomShape 27"/>
          <p:cNvSpPr/>
          <p:nvPr/>
        </p:nvSpPr>
        <p:spPr>
          <a:xfrm>
            <a:off x="6504120" y="28126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x</a:t>
            </a:r>
            <a:endParaRPr lang="es-ES" sz="1500" b="0" strike="noStrike" spc="-1">
              <a:latin typeface="Arial"/>
            </a:endParaRPr>
          </a:p>
        </p:txBody>
      </p:sp>
      <p:sp>
        <p:nvSpPr>
          <p:cNvPr id="555" name="CustomShape 28"/>
          <p:cNvSpPr/>
          <p:nvPr/>
        </p:nvSpPr>
        <p:spPr>
          <a:xfrm>
            <a:off x="7364520" y="2241360"/>
            <a:ext cx="4341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SP</a:t>
            </a:r>
            <a:endParaRPr lang="es-ES" sz="1500" b="0" strike="noStrike" spc="-1">
              <a:latin typeface="Arial"/>
            </a:endParaRPr>
          </a:p>
        </p:txBody>
      </p:sp>
      <p:sp>
        <p:nvSpPr>
          <p:cNvPr id="556" name="CustomShape 29"/>
          <p:cNvSpPr/>
          <p:nvPr/>
        </p:nvSpPr>
        <p:spPr>
          <a:xfrm>
            <a:off x="6504120" y="32698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y</a:t>
            </a:r>
            <a:endParaRPr lang="es-ES" sz="1500" b="0" strike="noStrike" spc="-1">
              <a:latin typeface="Arial"/>
            </a:endParaRPr>
          </a:p>
        </p:txBody>
      </p:sp>
      <p:sp>
        <p:nvSpPr>
          <p:cNvPr id="557" name="CustomShape 30"/>
          <p:cNvSpPr/>
          <p:nvPr/>
        </p:nvSpPr>
        <p:spPr>
          <a:xfrm>
            <a:off x="6504120" y="229824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v</a:t>
            </a:r>
            <a:endParaRPr lang="es-ES" sz="1500" b="0" strike="noStrike" spc="-1">
              <a:latin typeface="Arial"/>
            </a:endParaRPr>
          </a:p>
        </p:txBody>
      </p:sp>
      <p:sp>
        <p:nvSpPr>
          <p:cNvPr id="558" name="Line 31"/>
          <p:cNvSpPr/>
          <p:nvPr/>
        </p:nvSpPr>
        <p:spPr>
          <a:xfrm>
            <a:off x="2217600" y="2698200"/>
            <a:ext cx="3427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559" name="CustomShape 32"/>
          <p:cNvSpPr/>
          <p:nvPr/>
        </p:nvSpPr>
        <p:spPr>
          <a:xfrm>
            <a:off x="6048360" y="2698560"/>
            <a:ext cx="2343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t</a:t>
            </a:r>
            <a:endParaRPr lang="es-ES" sz="1500" b="0" strike="noStrike" spc="-1">
              <a:latin typeface="Arial"/>
            </a:endParaRPr>
          </a:p>
        </p:txBody>
      </p:sp>
      <p:sp>
        <p:nvSpPr>
          <p:cNvPr id="560" name="CustomShape 33"/>
          <p:cNvSpPr/>
          <p:nvPr/>
        </p:nvSpPr>
        <p:spPr>
          <a:xfrm>
            <a:off x="4846680" y="389844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61" name="CustomShape 34"/>
          <p:cNvSpPr/>
          <p:nvPr/>
        </p:nvSpPr>
        <p:spPr>
          <a:xfrm>
            <a:off x="4846680" y="326988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62" name="CustomShape 35"/>
          <p:cNvSpPr/>
          <p:nvPr/>
        </p:nvSpPr>
        <p:spPr>
          <a:xfrm>
            <a:off x="4994280" y="399024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2</a:t>
            </a:r>
            <a:endParaRPr lang="es-ES" sz="1500" b="0" strike="noStrike" spc="-1">
              <a:latin typeface="Arial"/>
            </a:endParaRPr>
          </a:p>
        </p:txBody>
      </p:sp>
      <p:sp>
        <p:nvSpPr>
          <p:cNvPr id="563" name="CustomShape 36"/>
          <p:cNvSpPr/>
          <p:nvPr/>
        </p:nvSpPr>
        <p:spPr>
          <a:xfrm>
            <a:off x="2617920" y="355572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64" name="CustomShape 37"/>
          <p:cNvSpPr/>
          <p:nvPr/>
        </p:nvSpPr>
        <p:spPr>
          <a:xfrm>
            <a:off x="2617920" y="389844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65" name="CustomShape 38"/>
          <p:cNvSpPr/>
          <p:nvPr/>
        </p:nvSpPr>
        <p:spPr>
          <a:xfrm>
            <a:off x="2617920" y="326988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66" name="CustomShape 39"/>
          <p:cNvSpPr/>
          <p:nvPr/>
        </p:nvSpPr>
        <p:spPr>
          <a:xfrm>
            <a:off x="2765160" y="399024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1</a:t>
            </a:r>
            <a:endParaRPr lang="es-ES" sz="1500" b="0" strike="noStrike" spc="-1">
              <a:latin typeface="Arial"/>
            </a:endParaRPr>
          </a:p>
        </p:txBody>
      </p:sp>
      <p:sp>
        <p:nvSpPr>
          <p:cNvPr id="567" name="CustomShape 40"/>
          <p:cNvSpPr/>
          <p:nvPr/>
        </p:nvSpPr>
        <p:spPr>
          <a:xfrm>
            <a:off x="2617920" y="326988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c+i,m,r,s</a:t>
            </a:r>
            <a:endParaRPr lang="es-ES" sz="1500" b="0" strike="noStrike" spc="-1">
              <a:latin typeface="Arial"/>
            </a:endParaRPr>
          </a:p>
        </p:txBody>
      </p:sp>
      <p:sp>
        <p:nvSpPr>
          <p:cNvPr id="568" name="CustomShape 41"/>
          <p:cNvSpPr/>
          <p:nvPr/>
        </p:nvSpPr>
        <p:spPr>
          <a:xfrm>
            <a:off x="2617920" y="361296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n+1,i,j,k</a:t>
            </a:r>
            <a:endParaRPr lang="es-ES" sz="1500" b="0" strike="noStrike" spc="-1">
              <a:latin typeface="Arial"/>
            </a:endParaRPr>
          </a:p>
        </p:txBody>
      </p:sp>
      <p:sp>
        <p:nvSpPr>
          <p:cNvPr id="569" name="CustomShape 42"/>
          <p:cNvSpPr/>
          <p:nvPr/>
        </p:nvSpPr>
        <p:spPr>
          <a:xfrm>
            <a:off x="4846680" y="355572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70" name="CustomShape 43"/>
          <p:cNvSpPr/>
          <p:nvPr/>
        </p:nvSpPr>
        <p:spPr>
          <a:xfrm>
            <a:off x="4846680" y="326988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571" name="CustomShape 44"/>
          <p:cNvSpPr/>
          <p:nvPr/>
        </p:nvSpPr>
        <p:spPr>
          <a:xfrm>
            <a:off x="4893120" y="3555720"/>
            <a:ext cx="7419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l,n,o,p</a:t>
            </a:r>
            <a:endParaRPr lang="es-ES" sz="1500" b="0" strike="noStrike" spc="-1">
              <a:latin typeface="Arial"/>
            </a:endParaRPr>
          </a:p>
        </p:txBody>
      </p:sp>
      <p:sp>
        <p:nvSpPr>
          <p:cNvPr id="572" name="CustomShape 45"/>
          <p:cNvSpPr/>
          <p:nvPr/>
        </p:nvSpPr>
        <p:spPr>
          <a:xfrm>
            <a:off x="3875040" y="2698560"/>
            <a:ext cx="1428480" cy="1199880"/>
          </a:xfrm>
          <a:custGeom>
            <a:avLst/>
            <a:gdLst/>
            <a:ahLst/>
            <a:cxnLst/>
            <a:rect l="l" t="t" r="r" b="b"/>
            <a:pathLst>
              <a:path w="1200" h="1008">
                <a:moveTo>
                  <a:pt x="0" y="1008"/>
                </a:moveTo>
                <a:cubicBezTo>
                  <a:pt x="20" y="648"/>
                  <a:pt x="40" y="288"/>
                  <a:pt x="240" y="144"/>
                </a:cubicBezTo>
                <a:cubicBezTo>
                  <a:pt x="440" y="0"/>
                  <a:pt x="1048" y="136"/>
                  <a:pt x="1200" y="144"/>
                </a:cubicBezTo>
              </a:path>
            </a:pathLst>
          </a:custGeom>
          <a:noFill/>
          <a:ln w="28440">
            <a:solidFill>
              <a:srgbClr val="FF3300"/>
            </a:solidFill>
            <a:round/>
            <a:tailEnd type="triangle" w="med" len="med"/>
          </a:ln>
        </p:spPr>
        <p:style>
          <a:lnRef idx="0">
            <a:scrgbClr r="0" g="0" b="0"/>
          </a:lnRef>
          <a:fillRef idx="0">
            <a:scrgbClr r="0" g="0" b="0"/>
          </a:fillRef>
          <a:effectRef idx="0">
            <a:scrgbClr r="0" g="0" b="0"/>
          </a:effectRef>
          <a:fontRef idx="minor"/>
        </p:style>
      </p:sp>
      <p:sp>
        <p:nvSpPr>
          <p:cNvPr id="573" name="Line 46"/>
          <p:cNvSpPr/>
          <p:nvPr/>
        </p:nvSpPr>
        <p:spPr>
          <a:xfrm flipH="1">
            <a:off x="5703840" y="2869560"/>
            <a:ext cx="3999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574" name="CustomShape 47"/>
          <p:cNvSpPr/>
          <p:nvPr/>
        </p:nvSpPr>
        <p:spPr>
          <a:xfrm>
            <a:off x="1990440" y="2526840"/>
            <a:ext cx="2772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a:t>
            </a:r>
            <a:endParaRPr lang="es-ES" sz="1500" b="0" strike="noStrike" spc="-1">
              <a:latin typeface="Arial"/>
            </a:endParaRPr>
          </a:p>
        </p:txBody>
      </p:sp>
      <p:sp>
        <p:nvSpPr>
          <p:cNvPr id="575" name="Line 48"/>
          <p:cNvSpPr/>
          <p:nvPr/>
        </p:nvSpPr>
        <p:spPr>
          <a:xfrm flipV="1">
            <a:off x="5303520" y="2698200"/>
            <a:ext cx="360" cy="171360"/>
          </a:xfrm>
          <a:prstGeom prst="line">
            <a:avLst/>
          </a:prstGeom>
          <a:ln w="28440">
            <a:solidFill>
              <a:srgbClr val="FF3300"/>
            </a:solidFill>
            <a:round/>
            <a:tailEnd type="triangle" w="med" len="med"/>
          </a:ln>
        </p:spPr>
        <p:style>
          <a:lnRef idx="0">
            <a:scrgbClr r="0" g="0" b="0"/>
          </a:lnRef>
          <a:fillRef idx="0">
            <a:scrgbClr r="0" g="0" b="0"/>
          </a:fillRef>
          <a:effectRef idx="0">
            <a:scrgbClr r="0" g="0" b="0"/>
          </a:effectRef>
          <a:fontRef idx="minor"/>
        </p:style>
      </p:sp>
      <p:sp>
        <p:nvSpPr>
          <p:cNvPr id="576" name="CustomShape 49"/>
          <p:cNvSpPr/>
          <p:nvPr/>
        </p:nvSpPr>
        <p:spPr>
          <a:xfrm>
            <a:off x="5883840" y="812520"/>
            <a:ext cx="205272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44546A"/>
                </a:solidFill>
                <a:latin typeface="Arial"/>
              </a:rPr>
              <a:t>Máquina en modo kernel</a:t>
            </a:r>
            <a:endParaRPr lang="es-ES" sz="1350" b="0" strike="noStrike" spc="-1">
              <a:latin typeface="Arial"/>
            </a:endParaRPr>
          </a:p>
        </p:txBody>
      </p:sp>
      <p:sp>
        <p:nvSpPr>
          <p:cNvPr id="577" name="CustomShape 50"/>
          <p:cNvSpPr/>
          <p:nvPr/>
        </p:nvSpPr>
        <p:spPr>
          <a:xfrm>
            <a:off x="1267560" y="4905360"/>
            <a:ext cx="5718600" cy="25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50" b="0" strike="noStrike" spc="-1">
                <a:solidFill>
                  <a:srgbClr val="000000"/>
                </a:solidFill>
                <a:latin typeface="Calibri"/>
              </a:rPr>
              <a:t>Autor: José Antonio Gómez, UGR, reproducido con permiso</a:t>
            </a:r>
            <a:endParaRPr lang="es-ES" sz="1050" b="0" strike="noStrike" spc="-1">
              <a:latin typeface="Arial"/>
            </a:endParaRPr>
          </a:p>
        </p:txBody>
      </p:sp>
      <p:sp>
        <p:nvSpPr>
          <p:cNvPr id="578" name="CustomShape 51"/>
          <p:cNvSpPr/>
          <p:nvPr/>
        </p:nvSpPr>
        <p:spPr>
          <a:xfrm>
            <a:off x="3248280" y="2881800"/>
            <a:ext cx="165348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900" b="0" strike="noStrike" spc="-1">
                <a:solidFill>
                  <a:srgbClr val="000000"/>
                </a:solidFill>
                <a:latin typeface="Lucida Sans Typewriter"/>
              </a:rPr>
              <a:t>switch_context(P1,P2)</a:t>
            </a:r>
            <a:endParaRPr lang="es-ES" sz="900" b="0" strike="noStrike" spc="-1">
              <a:latin typeface="Arial"/>
            </a:endParaRPr>
          </a:p>
        </p:txBody>
      </p:sp>
      <p:sp>
        <p:nvSpPr>
          <p:cNvPr id="579" name="CustomShape 52"/>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a:t>
            </a:r>
            <a:endParaRPr lang="es-ES" sz="3600" b="0" strike="noStrike" spc="-1">
              <a:latin typeface="Arial"/>
            </a:endParaRPr>
          </a:p>
        </p:txBody>
      </p:sp>
      <p:sp>
        <p:nvSpPr>
          <p:cNvPr id="580" name="CustomShape 53"/>
          <p:cNvSpPr/>
          <p:nvPr/>
        </p:nvSpPr>
        <p:spPr>
          <a:xfrm>
            <a:off x="5123880" y="4556520"/>
            <a:ext cx="3610440" cy="492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80000"/>
              </a:lnSpc>
            </a:pPr>
            <a:r>
              <a:rPr lang="es-ES" sz="1100" b="0" strike="noStrike" spc="-1">
                <a:solidFill>
                  <a:srgbClr val="44546A"/>
                </a:solidFill>
                <a:latin typeface="Arial"/>
              </a:rPr>
              <a:t>El kernel termina en el entorno de P2 la primitiva que bloqueó al proceso. Ahora tiene que restaurar el estado del procesador con los datos de usuario de P2</a:t>
            </a:r>
            <a:endParaRPr lang="es-ES" sz="1100" b="0" strike="noStrike" spc="-1">
              <a:latin typeface="Arial"/>
            </a:endParaRPr>
          </a:p>
        </p:txBody>
      </p:sp>
      <p:grpSp>
        <p:nvGrpSpPr>
          <p:cNvPr id="581" name="Group 54"/>
          <p:cNvGrpSpPr/>
          <p:nvPr/>
        </p:nvGrpSpPr>
        <p:grpSpPr>
          <a:xfrm>
            <a:off x="5675040" y="3364200"/>
            <a:ext cx="1834920" cy="1095480"/>
            <a:chOff x="5675040" y="3364200"/>
            <a:chExt cx="1834920" cy="1095480"/>
          </a:xfrm>
        </p:grpSpPr>
        <p:sp>
          <p:nvSpPr>
            <p:cNvPr id="582" name="CustomShape 55"/>
            <p:cNvSpPr/>
            <p:nvPr/>
          </p:nvSpPr>
          <p:spPr>
            <a:xfrm>
              <a:off x="6189480" y="3821760"/>
              <a:ext cx="1320480" cy="637920"/>
            </a:xfrm>
            <a:prstGeom prst="rect">
              <a:avLst/>
            </a:prstGeom>
            <a:noFill/>
            <a:ln w="9360">
              <a:solidFill>
                <a:schemeClr val="bg1"/>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767171"/>
                  </a:solidFill>
                  <a:latin typeface="Calibri"/>
                </a:rPr>
                <a:t>Contexto kernel</a:t>
              </a:r>
              <a:endParaRPr lang="es-ES" sz="1200" b="0" strike="noStrike" spc="-1">
                <a:latin typeface="Arial"/>
              </a:endParaRPr>
            </a:p>
            <a:p>
              <a:pPr>
                <a:lnSpc>
                  <a:spcPct val="100000"/>
                </a:lnSpc>
              </a:pPr>
              <a:r>
                <a:rPr lang="es-ES" sz="1200" b="0" strike="noStrike" spc="-1">
                  <a:solidFill>
                    <a:srgbClr val="767171"/>
                  </a:solidFill>
                  <a:latin typeface="Calibri"/>
                </a:rPr>
                <a:t>Contexto usuario</a:t>
              </a:r>
              <a:endParaRPr lang="es-ES" sz="1200" b="0" strike="noStrike" spc="-1">
                <a:latin typeface="Arial"/>
              </a:endParaRPr>
            </a:p>
            <a:p>
              <a:pPr>
                <a:lnSpc>
                  <a:spcPct val="100000"/>
                </a:lnSpc>
              </a:pPr>
              <a:r>
                <a:rPr lang="es-ES" sz="1200" b="0" strike="noStrike" spc="-1">
                  <a:solidFill>
                    <a:srgbClr val="767171"/>
                  </a:solidFill>
                  <a:latin typeface="Calibri"/>
                </a:rPr>
                <a:t>Resto información</a:t>
              </a:r>
              <a:endParaRPr lang="es-ES" sz="1200" b="0" strike="noStrike" spc="-1">
                <a:latin typeface="Arial"/>
              </a:endParaRPr>
            </a:p>
          </p:txBody>
        </p:sp>
        <p:sp>
          <p:nvSpPr>
            <p:cNvPr id="583" name="Line 56"/>
            <p:cNvSpPr/>
            <p:nvPr/>
          </p:nvSpPr>
          <p:spPr>
            <a:xfrm flipH="1" flipV="1">
              <a:off x="5675040" y="3364200"/>
              <a:ext cx="571320" cy="5760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584" name="Line 57"/>
            <p:cNvSpPr/>
            <p:nvPr/>
          </p:nvSpPr>
          <p:spPr>
            <a:xfrm flipH="1" flipV="1">
              <a:off x="5675040" y="3707280"/>
              <a:ext cx="571320" cy="4572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585" name="Line 58"/>
            <p:cNvSpPr/>
            <p:nvPr/>
          </p:nvSpPr>
          <p:spPr>
            <a:xfrm flipH="1" flipV="1">
              <a:off x="5675040" y="4107240"/>
              <a:ext cx="571320" cy="2286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gr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TextShape 1"/>
          <p:cNvSpPr txBox="1"/>
          <p:nvPr/>
        </p:nvSpPr>
        <p:spPr>
          <a:xfrm>
            <a:off x="8028000" y="6400800"/>
            <a:ext cx="933120" cy="456840"/>
          </a:xfrm>
          <a:prstGeom prst="rect">
            <a:avLst/>
          </a:prstGeom>
          <a:noFill/>
          <a:ln>
            <a:noFill/>
          </a:ln>
        </p:spPr>
        <p:txBody>
          <a:bodyPr/>
          <a:lstStyle/>
          <a:p>
            <a:pPr algn="r">
              <a:lnSpc>
                <a:spcPct val="100000"/>
              </a:lnSpc>
            </a:pPr>
            <a:fld id="{CE757D81-2779-4617-84B7-808E1213EF9A}" type="slidenum">
              <a:rPr lang="es-ES" sz="1600" b="0" strike="noStrike" spc="-1">
                <a:solidFill>
                  <a:srgbClr val="669900"/>
                </a:solidFill>
                <a:latin typeface="Haettenschweiler"/>
              </a:rPr>
              <a:t>22</a:t>
            </a:fld>
            <a:endParaRPr lang="es-ES" sz="1600" b="0" strike="noStrike" spc="-1">
              <a:latin typeface="Times New Roman"/>
            </a:endParaRPr>
          </a:p>
        </p:txBody>
      </p:sp>
      <p:sp>
        <p:nvSpPr>
          <p:cNvPr id="587" name="CustomShape 2"/>
          <p:cNvSpPr/>
          <p:nvPr/>
        </p:nvSpPr>
        <p:spPr>
          <a:xfrm>
            <a:off x="2095200" y="2496960"/>
            <a:ext cx="3543120" cy="199980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588" name="CustomShape 3"/>
          <p:cNvSpPr/>
          <p:nvPr/>
        </p:nvSpPr>
        <p:spPr>
          <a:xfrm>
            <a:off x="6095520" y="1868400"/>
            <a:ext cx="1542600" cy="1828440"/>
          </a:xfrm>
          <a:prstGeom prst="rect">
            <a:avLst/>
          </a:prstGeom>
          <a:solidFill>
            <a:schemeClr val="accent6">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589" name="Line 4"/>
          <p:cNvSpPr/>
          <p:nvPr/>
        </p:nvSpPr>
        <p:spPr>
          <a:xfrm>
            <a:off x="5638320" y="2496600"/>
            <a:ext cx="457200" cy="36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590" name="CustomShape 5"/>
          <p:cNvSpPr/>
          <p:nvPr/>
        </p:nvSpPr>
        <p:spPr>
          <a:xfrm>
            <a:off x="3405960" y="931320"/>
            <a:ext cx="924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Memoria</a:t>
            </a:r>
            <a:endParaRPr lang="es-ES" sz="1500" b="0" strike="noStrike" spc="-1">
              <a:latin typeface="Arial"/>
            </a:endParaRPr>
          </a:p>
        </p:txBody>
      </p:sp>
      <p:sp>
        <p:nvSpPr>
          <p:cNvPr id="591" name="CustomShape 6"/>
          <p:cNvSpPr/>
          <p:nvPr/>
        </p:nvSpPr>
        <p:spPr>
          <a:xfrm>
            <a:off x="6120720" y="1502640"/>
            <a:ext cx="5817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CPU</a:t>
            </a:r>
            <a:endParaRPr lang="es-ES" sz="1500" b="0" strike="noStrike" spc="-1">
              <a:latin typeface="Arial"/>
            </a:endParaRPr>
          </a:p>
        </p:txBody>
      </p:sp>
      <p:sp>
        <p:nvSpPr>
          <p:cNvPr id="592" name="CustomShape 7"/>
          <p:cNvSpPr/>
          <p:nvPr/>
        </p:nvSpPr>
        <p:spPr>
          <a:xfrm>
            <a:off x="6210000" y="33541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j</a:t>
            </a:r>
            <a:endParaRPr lang="es-ES" sz="1500" b="0" strike="noStrike" spc="-1">
              <a:latin typeface="Arial"/>
            </a:endParaRPr>
          </a:p>
        </p:txBody>
      </p:sp>
      <p:sp>
        <p:nvSpPr>
          <p:cNvPr id="593" name="CustomShape 8"/>
          <p:cNvSpPr/>
          <p:nvPr/>
        </p:nvSpPr>
        <p:spPr>
          <a:xfrm>
            <a:off x="6210000" y="33541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sp>
      <p:sp>
        <p:nvSpPr>
          <p:cNvPr id="594" name="CustomShape 9"/>
          <p:cNvSpPr/>
          <p:nvPr/>
        </p:nvSpPr>
        <p:spPr>
          <a:xfrm>
            <a:off x="6210000" y="203976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l</a:t>
            </a:r>
            <a:endParaRPr lang="es-ES" sz="1500" b="0" strike="noStrike" spc="-1">
              <a:latin typeface="Arial"/>
            </a:endParaRPr>
          </a:p>
        </p:txBody>
      </p:sp>
      <p:sp>
        <p:nvSpPr>
          <p:cNvPr id="595" name="CustomShape 10"/>
          <p:cNvSpPr/>
          <p:nvPr/>
        </p:nvSpPr>
        <p:spPr>
          <a:xfrm>
            <a:off x="7077960" y="2017080"/>
            <a:ext cx="4446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a:t>
            </a:r>
            <a:endParaRPr lang="es-ES" sz="1500" b="0" strike="noStrike" spc="-1">
              <a:latin typeface="Arial"/>
            </a:endParaRPr>
          </a:p>
        </p:txBody>
      </p:sp>
      <p:sp>
        <p:nvSpPr>
          <p:cNvPr id="596" name="CustomShape 11"/>
          <p:cNvSpPr/>
          <p:nvPr/>
        </p:nvSpPr>
        <p:spPr>
          <a:xfrm rot="16200000">
            <a:off x="6880320" y="2989440"/>
            <a:ext cx="916920" cy="455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80000"/>
              </a:lnSpc>
            </a:pPr>
            <a:r>
              <a:rPr lang="es-ES" sz="1500" b="0" strike="noStrike" spc="-1">
                <a:solidFill>
                  <a:srgbClr val="000000"/>
                </a:solidFill>
                <a:latin typeface="Arial"/>
              </a:rPr>
              <a:t>Otros</a:t>
            </a:r>
            <a:endParaRPr lang="es-ES" sz="1500" b="0" strike="noStrike" spc="-1">
              <a:latin typeface="Arial"/>
            </a:endParaRPr>
          </a:p>
          <a:p>
            <a:pPr>
              <a:lnSpc>
                <a:spcPct val="80000"/>
              </a:lnSpc>
            </a:pPr>
            <a:r>
              <a:rPr lang="es-ES" sz="1500" b="0" strike="noStrike" spc="-1">
                <a:solidFill>
                  <a:srgbClr val="000000"/>
                </a:solidFill>
                <a:latin typeface="Arial"/>
              </a:rPr>
              <a:t>registros</a:t>
            </a:r>
            <a:endParaRPr lang="es-ES" sz="1500" b="0" strike="noStrike" spc="-1">
              <a:latin typeface="Arial"/>
            </a:endParaRPr>
          </a:p>
        </p:txBody>
      </p:sp>
      <p:sp>
        <p:nvSpPr>
          <p:cNvPr id="597" name="CustomShape 12"/>
          <p:cNvSpPr/>
          <p:nvPr/>
        </p:nvSpPr>
        <p:spPr>
          <a:xfrm>
            <a:off x="2095200" y="1296720"/>
            <a:ext cx="3543120" cy="1199880"/>
          </a:xfrm>
          <a:prstGeom prst="rect">
            <a:avLst/>
          </a:prstGeom>
          <a:solidFill>
            <a:srgbClr val="66FF99"/>
          </a:solidFill>
          <a:ln w="9360">
            <a:solidFill>
              <a:schemeClr val="tx1"/>
            </a:solidFill>
            <a:miter/>
          </a:ln>
        </p:spPr>
        <p:style>
          <a:lnRef idx="0">
            <a:scrgbClr r="0" g="0" b="0"/>
          </a:lnRef>
          <a:fillRef idx="0">
            <a:scrgbClr r="0" g="0" b="0"/>
          </a:fillRef>
          <a:effectRef idx="0">
            <a:scrgbClr r="0" g="0" b="0"/>
          </a:effectRef>
          <a:fontRef idx="minor"/>
        </p:style>
      </p:sp>
      <p:sp>
        <p:nvSpPr>
          <p:cNvPr id="598" name="CustomShape 13"/>
          <p:cNvSpPr/>
          <p:nvPr/>
        </p:nvSpPr>
        <p:spPr>
          <a:xfrm>
            <a:off x="2095200" y="1982520"/>
            <a:ext cx="3543120" cy="342720"/>
          </a:xfrm>
          <a:prstGeom prst="rect">
            <a:avLst/>
          </a:prstGeom>
          <a:solidFill>
            <a:srgbClr val="B2B2B2"/>
          </a:solidFill>
          <a:ln w="9360">
            <a:solidFill>
              <a:schemeClr val="tx1"/>
            </a:solidFill>
            <a:miter/>
          </a:ln>
        </p:spPr>
        <p:style>
          <a:lnRef idx="0">
            <a:scrgbClr r="0" g="0" b="0"/>
          </a:lnRef>
          <a:fillRef idx="0">
            <a:scrgbClr r="0" g="0" b="0"/>
          </a:fillRef>
          <a:effectRef idx="0">
            <a:scrgbClr r="0" g="0" b="0"/>
          </a:effectRef>
          <a:fontRef idx="minor"/>
        </p:style>
      </p:sp>
      <p:sp>
        <p:nvSpPr>
          <p:cNvPr id="599" name="CustomShape 14"/>
          <p:cNvSpPr/>
          <p:nvPr/>
        </p:nvSpPr>
        <p:spPr>
          <a:xfrm>
            <a:off x="2095200" y="1468080"/>
            <a:ext cx="3543120" cy="342720"/>
          </a:xfrm>
          <a:prstGeom prst="rect">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sp>
        <p:nvSpPr>
          <p:cNvPr id="600" name="CustomShape 15"/>
          <p:cNvSpPr/>
          <p:nvPr/>
        </p:nvSpPr>
        <p:spPr>
          <a:xfrm>
            <a:off x="3466800" y="363996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601" name="CustomShape 16"/>
          <p:cNvSpPr/>
          <p:nvPr/>
        </p:nvSpPr>
        <p:spPr>
          <a:xfrm>
            <a:off x="4552560" y="363996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02" name="Line 17"/>
          <p:cNvSpPr/>
          <p:nvPr/>
        </p:nvSpPr>
        <p:spPr>
          <a:xfrm>
            <a:off x="1866240" y="1639440"/>
            <a:ext cx="2286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603" name="CustomShape 18"/>
          <p:cNvSpPr/>
          <p:nvPr/>
        </p:nvSpPr>
        <p:spPr>
          <a:xfrm>
            <a:off x="1644480" y="1502640"/>
            <a:ext cx="287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n</a:t>
            </a:r>
            <a:endParaRPr lang="es-ES" sz="1500" b="0" strike="noStrike" spc="-1">
              <a:latin typeface="Arial"/>
            </a:endParaRPr>
          </a:p>
        </p:txBody>
      </p:sp>
      <p:sp>
        <p:nvSpPr>
          <p:cNvPr id="604" name="CustomShape 19"/>
          <p:cNvSpPr/>
          <p:nvPr/>
        </p:nvSpPr>
        <p:spPr>
          <a:xfrm>
            <a:off x="6210360" y="3011400"/>
            <a:ext cx="447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 . .</a:t>
            </a:r>
            <a:endParaRPr lang="es-ES" sz="1500" b="0" strike="noStrike" spc="-1">
              <a:latin typeface="Arial"/>
            </a:endParaRPr>
          </a:p>
        </p:txBody>
      </p:sp>
      <p:sp>
        <p:nvSpPr>
          <p:cNvPr id="605" name="CustomShape 20"/>
          <p:cNvSpPr/>
          <p:nvPr/>
        </p:nvSpPr>
        <p:spPr>
          <a:xfrm>
            <a:off x="4099320" y="203976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2</a:t>
            </a:r>
            <a:endParaRPr lang="es-ES" sz="1500" b="0" strike="noStrike" spc="-1">
              <a:latin typeface="Arial"/>
            </a:endParaRPr>
          </a:p>
        </p:txBody>
      </p:sp>
      <p:sp>
        <p:nvSpPr>
          <p:cNvPr id="606" name="CustomShape 21"/>
          <p:cNvSpPr/>
          <p:nvPr/>
        </p:nvSpPr>
        <p:spPr>
          <a:xfrm>
            <a:off x="3356280" y="152532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1</a:t>
            </a:r>
            <a:endParaRPr lang="es-ES" sz="1500" b="0" strike="noStrike" spc="-1">
              <a:latin typeface="Arial"/>
            </a:endParaRPr>
          </a:p>
        </p:txBody>
      </p:sp>
      <p:sp>
        <p:nvSpPr>
          <p:cNvPr id="607" name="CustomShape 22"/>
          <p:cNvSpPr/>
          <p:nvPr/>
        </p:nvSpPr>
        <p:spPr>
          <a:xfrm>
            <a:off x="4952520" y="2782800"/>
            <a:ext cx="456840" cy="34272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608" name="CustomShape 23"/>
          <p:cNvSpPr/>
          <p:nvPr/>
        </p:nvSpPr>
        <p:spPr>
          <a:xfrm>
            <a:off x="2266560" y="2782800"/>
            <a:ext cx="456840" cy="45684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609" name="CustomShape 24"/>
          <p:cNvSpPr/>
          <p:nvPr/>
        </p:nvSpPr>
        <p:spPr>
          <a:xfrm>
            <a:off x="3466800" y="324000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610" name="CustomShape 25"/>
          <p:cNvSpPr/>
          <p:nvPr/>
        </p:nvSpPr>
        <p:spPr>
          <a:xfrm>
            <a:off x="4712760" y="251460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2</a:t>
            </a:r>
            <a:endParaRPr lang="es-ES" sz="1200" b="0" strike="noStrike" spc="-1">
              <a:latin typeface="Arial"/>
            </a:endParaRPr>
          </a:p>
        </p:txBody>
      </p:sp>
      <p:sp>
        <p:nvSpPr>
          <p:cNvPr id="611" name="CustomShape 26"/>
          <p:cNvSpPr/>
          <p:nvPr/>
        </p:nvSpPr>
        <p:spPr>
          <a:xfrm>
            <a:off x="2140920" y="251460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1</a:t>
            </a:r>
            <a:endParaRPr lang="es-ES" sz="1200" b="0" strike="noStrike" spc="-1">
              <a:latin typeface="Arial"/>
            </a:endParaRPr>
          </a:p>
        </p:txBody>
      </p:sp>
      <p:sp>
        <p:nvSpPr>
          <p:cNvPr id="612" name="CustomShape 27"/>
          <p:cNvSpPr/>
          <p:nvPr/>
        </p:nvSpPr>
        <p:spPr>
          <a:xfrm>
            <a:off x="6210000" y="28969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o</a:t>
            </a:r>
            <a:endParaRPr lang="es-ES" sz="1500" b="0" strike="noStrike" spc="-1">
              <a:latin typeface="Arial"/>
            </a:endParaRPr>
          </a:p>
        </p:txBody>
      </p:sp>
      <p:sp>
        <p:nvSpPr>
          <p:cNvPr id="613" name="CustomShape 28"/>
          <p:cNvSpPr/>
          <p:nvPr/>
        </p:nvSpPr>
        <p:spPr>
          <a:xfrm>
            <a:off x="7070400" y="2325600"/>
            <a:ext cx="4341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SP</a:t>
            </a:r>
            <a:endParaRPr lang="es-ES" sz="1500" b="0" strike="noStrike" spc="-1">
              <a:latin typeface="Arial"/>
            </a:endParaRPr>
          </a:p>
        </p:txBody>
      </p:sp>
      <p:sp>
        <p:nvSpPr>
          <p:cNvPr id="614" name="CustomShape 29"/>
          <p:cNvSpPr/>
          <p:nvPr/>
        </p:nvSpPr>
        <p:spPr>
          <a:xfrm>
            <a:off x="6210000" y="33541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p</a:t>
            </a:r>
            <a:endParaRPr lang="es-ES" sz="1500" b="0" strike="noStrike" spc="-1">
              <a:latin typeface="Arial"/>
            </a:endParaRPr>
          </a:p>
        </p:txBody>
      </p:sp>
      <p:sp>
        <p:nvSpPr>
          <p:cNvPr id="615" name="CustomShape 30"/>
          <p:cNvSpPr/>
          <p:nvPr/>
        </p:nvSpPr>
        <p:spPr>
          <a:xfrm>
            <a:off x="6210000" y="238248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n</a:t>
            </a:r>
            <a:endParaRPr lang="es-ES" sz="1500" b="0" strike="noStrike" spc="-1">
              <a:latin typeface="Arial"/>
            </a:endParaRPr>
          </a:p>
        </p:txBody>
      </p:sp>
      <p:sp>
        <p:nvSpPr>
          <p:cNvPr id="616" name="Line 31"/>
          <p:cNvSpPr/>
          <p:nvPr/>
        </p:nvSpPr>
        <p:spPr>
          <a:xfrm>
            <a:off x="1923480" y="2782440"/>
            <a:ext cx="34308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617" name="CustomShape 32"/>
          <p:cNvSpPr/>
          <p:nvPr/>
        </p:nvSpPr>
        <p:spPr>
          <a:xfrm>
            <a:off x="5754240" y="2782800"/>
            <a:ext cx="2343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t</a:t>
            </a:r>
            <a:endParaRPr lang="es-ES" sz="1500" b="0" strike="noStrike" spc="-1">
              <a:latin typeface="Arial"/>
            </a:endParaRPr>
          </a:p>
        </p:txBody>
      </p:sp>
      <p:sp>
        <p:nvSpPr>
          <p:cNvPr id="618" name="CustomShape 33"/>
          <p:cNvSpPr/>
          <p:nvPr/>
        </p:nvSpPr>
        <p:spPr>
          <a:xfrm>
            <a:off x="4552560" y="398268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19" name="CustomShape 34"/>
          <p:cNvSpPr/>
          <p:nvPr/>
        </p:nvSpPr>
        <p:spPr>
          <a:xfrm>
            <a:off x="4552560" y="335412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20" name="CustomShape 35"/>
          <p:cNvSpPr/>
          <p:nvPr/>
        </p:nvSpPr>
        <p:spPr>
          <a:xfrm>
            <a:off x="4700160" y="407448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2</a:t>
            </a:r>
            <a:endParaRPr lang="es-ES" sz="1500" b="0" strike="noStrike" spc="-1">
              <a:latin typeface="Arial"/>
            </a:endParaRPr>
          </a:p>
        </p:txBody>
      </p:sp>
      <p:sp>
        <p:nvSpPr>
          <p:cNvPr id="621" name="CustomShape 36"/>
          <p:cNvSpPr/>
          <p:nvPr/>
        </p:nvSpPr>
        <p:spPr>
          <a:xfrm>
            <a:off x="2323800" y="363996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22" name="CustomShape 37"/>
          <p:cNvSpPr/>
          <p:nvPr/>
        </p:nvSpPr>
        <p:spPr>
          <a:xfrm>
            <a:off x="2323800" y="398268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23" name="CustomShape 38"/>
          <p:cNvSpPr/>
          <p:nvPr/>
        </p:nvSpPr>
        <p:spPr>
          <a:xfrm>
            <a:off x="2323800" y="335412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24" name="CustomShape 39"/>
          <p:cNvSpPr/>
          <p:nvPr/>
        </p:nvSpPr>
        <p:spPr>
          <a:xfrm>
            <a:off x="2471400" y="407448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1</a:t>
            </a:r>
            <a:endParaRPr lang="es-ES" sz="1500" b="0" strike="noStrike" spc="-1">
              <a:latin typeface="Arial"/>
            </a:endParaRPr>
          </a:p>
        </p:txBody>
      </p:sp>
      <p:sp>
        <p:nvSpPr>
          <p:cNvPr id="625" name="CustomShape 40"/>
          <p:cNvSpPr/>
          <p:nvPr/>
        </p:nvSpPr>
        <p:spPr>
          <a:xfrm>
            <a:off x="6381360" y="1353960"/>
            <a:ext cx="456840" cy="2571480"/>
          </a:xfrm>
          <a:prstGeom prst="ellipse">
            <a:avLst/>
          </a:prstGeom>
          <a:noFill/>
          <a:ln w="28440" cap="rnd">
            <a:solidFill>
              <a:schemeClr val="accent2"/>
            </a:solidFill>
            <a:custDash>
              <a:ds d="400000" sp="300000"/>
            </a:custDash>
            <a:round/>
          </a:ln>
        </p:spPr>
        <p:style>
          <a:lnRef idx="0">
            <a:scrgbClr r="0" g="0" b="0"/>
          </a:lnRef>
          <a:fillRef idx="0">
            <a:scrgbClr r="0" g="0" b="0"/>
          </a:fillRef>
          <a:effectRef idx="0">
            <a:scrgbClr r="0" g="0" b="0"/>
          </a:effectRef>
          <a:fontRef idx="minor"/>
        </p:style>
      </p:sp>
      <p:sp>
        <p:nvSpPr>
          <p:cNvPr id="626" name="Line 41"/>
          <p:cNvSpPr/>
          <p:nvPr/>
        </p:nvSpPr>
        <p:spPr>
          <a:xfrm>
            <a:off x="5066640" y="2782440"/>
            <a:ext cx="360" cy="228600"/>
          </a:xfrm>
          <a:prstGeom prst="line">
            <a:avLst/>
          </a:prstGeom>
          <a:ln w="28440">
            <a:solidFill>
              <a:srgbClr val="FF3300"/>
            </a:solidFill>
            <a:round/>
            <a:headEnd type="triangle" w="med" len="med"/>
          </a:ln>
        </p:spPr>
        <p:style>
          <a:lnRef idx="0">
            <a:scrgbClr r="0" g="0" b="0"/>
          </a:lnRef>
          <a:fillRef idx="0">
            <a:scrgbClr r="0" g="0" b="0"/>
          </a:fillRef>
          <a:effectRef idx="0">
            <a:scrgbClr r="0" g="0" b="0"/>
          </a:effectRef>
          <a:fontRef idx="minor"/>
        </p:style>
      </p:sp>
      <p:sp>
        <p:nvSpPr>
          <p:cNvPr id="627" name="CustomShape 42"/>
          <p:cNvSpPr/>
          <p:nvPr/>
        </p:nvSpPr>
        <p:spPr>
          <a:xfrm>
            <a:off x="2323800" y="335412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0" strike="noStrike" spc="-1">
                <a:solidFill>
                  <a:srgbClr val="000000"/>
                </a:solidFill>
                <a:latin typeface="Arial"/>
              </a:rPr>
              <a:t>c+i,m,r,s</a:t>
            </a:r>
            <a:endParaRPr lang="es-ES" sz="1500" b="0" strike="noStrike" spc="-1">
              <a:latin typeface="Arial"/>
            </a:endParaRPr>
          </a:p>
        </p:txBody>
      </p:sp>
      <p:sp>
        <p:nvSpPr>
          <p:cNvPr id="628" name="CustomShape 43"/>
          <p:cNvSpPr/>
          <p:nvPr/>
        </p:nvSpPr>
        <p:spPr>
          <a:xfrm>
            <a:off x="2323800" y="369720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0" strike="noStrike" spc="-1">
                <a:solidFill>
                  <a:srgbClr val="000000"/>
                </a:solidFill>
                <a:latin typeface="Arial"/>
              </a:rPr>
              <a:t>n+1,i,j,k</a:t>
            </a:r>
            <a:endParaRPr lang="es-ES" sz="1500" b="0" strike="noStrike" spc="-1">
              <a:latin typeface="Arial"/>
            </a:endParaRPr>
          </a:p>
        </p:txBody>
      </p:sp>
      <p:sp>
        <p:nvSpPr>
          <p:cNvPr id="629" name="CustomShape 44"/>
          <p:cNvSpPr/>
          <p:nvPr/>
        </p:nvSpPr>
        <p:spPr>
          <a:xfrm>
            <a:off x="4552560" y="363996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30" name="CustomShape 45"/>
          <p:cNvSpPr/>
          <p:nvPr/>
        </p:nvSpPr>
        <p:spPr>
          <a:xfrm>
            <a:off x="4552560" y="335412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31" name="CustomShape 46"/>
          <p:cNvSpPr/>
          <p:nvPr/>
        </p:nvSpPr>
        <p:spPr>
          <a:xfrm>
            <a:off x="4599360" y="3639960"/>
            <a:ext cx="7419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l,n,o,p</a:t>
            </a:r>
            <a:endParaRPr lang="es-ES" sz="1500" b="0" strike="noStrike" spc="-1">
              <a:latin typeface="Arial"/>
            </a:endParaRPr>
          </a:p>
        </p:txBody>
      </p:sp>
      <p:sp>
        <p:nvSpPr>
          <p:cNvPr id="632" name="CustomShape 47"/>
          <p:cNvSpPr/>
          <p:nvPr/>
        </p:nvSpPr>
        <p:spPr>
          <a:xfrm>
            <a:off x="5238360" y="1525320"/>
            <a:ext cx="1142640" cy="2285640"/>
          </a:xfrm>
          <a:custGeom>
            <a:avLst/>
            <a:gdLst/>
            <a:ahLst/>
            <a:cxnLst/>
            <a:rect l="l" t="t" r="r" b="b"/>
            <a:pathLst>
              <a:path w="3072" h="1904">
                <a:moveTo>
                  <a:pt x="3072" y="272"/>
                </a:moveTo>
                <a:cubicBezTo>
                  <a:pt x="2392" y="136"/>
                  <a:pt x="1712" y="0"/>
                  <a:pt x="1200" y="272"/>
                </a:cubicBezTo>
                <a:cubicBezTo>
                  <a:pt x="688" y="544"/>
                  <a:pt x="344" y="1224"/>
                  <a:pt x="0" y="1904"/>
                </a:cubicBezTo>
              </a:path>
            </a:pathLst>
          </a:custGeom>
          <a:noFill/>
          <a:ln w="28440">
            <a:solidFill>
              <a:schemeClr val="accent2"/>
            </a:solidFill>
            <a:custDash>
              <a:ds d="400000" sp="300000"/>
            </a:custDash>
            <a:round/>
            <a:headEnd type="triangle" w="med" len="med"/>
          </a:ln>
        </p:spPr>
        <p:style>
          <a:lnRef idx="0">
            <a:scrgbClr r="0" g="0" b="0"/>
          </a:lnRef>
          <a:fillRef idx="0">
            <a:scrgbClr r="0" g="0" b="0"/>
          </a:fillRef>
          <a:effectRef idx="0">
            <a:scrgbClr r="0" g="0" b="0"/>
          </a:effectRef>
          <a:fontRef idx="minor"/>
        </p:style>
      </p:sp>
      <p:sp>
        <p:nvSpPr>
          <p:cNvPr id="633" name="Line 48"/>
          <p:cNvSpPr/>
          <p:nvPr/>
        </p:nvSpPr>
        <p:spPr>
          <a:xfrm flipH="1">
            <a:off x="5409720" y="2953800"/>
            <a:ext cx="3999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634" name="CustomShape 49"/>
          <p:cNvSpPr/>
          <p:nvPr/>
        </p:nvSpPr>
        <p:spPr>
          <a:xfrm>
            <a:off x="1696680" y="2611080"/>
            <a:ext cx="2772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a:t>
            </a:r>
            <a:endParaRPr lang="es-ES" sz="1500" b="0" strike="noStrike" spc="-1">
              <a:latin typeface="Arial"/>
            </a:endParaRPr>
          </a:p>
        </p:txBody>
      </p:sp>
      <p:sp>
        <p:nvSpPr>
          <p:cNvPr id="635" name="CustomShape 50"/>
          <p:cNvSpPr/>
          <p:nvPr/>
        </p:nvSpPr>
        <p:spPr>
          <a:xfrm>
            <a:off x="7810200" y="2254680"/>
            <a:ext cx="1227600" cy="626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80000"/>
              </a:lnSpc>
            </a:pPr>
            <a:r>
              <a:rPr lang="es-ES" sz="1100" b="0" strike="noStrike" spc="-1">
                <a:solidFill>
                  <a:srgbClr val="44546A"/>
                </a:solidFill>
                <a:latin typeface="Arial"/>
              </a:rPr>
              <a:t>El kernel repone el estado</a:t>
            </a:r>
            <a:endParaRPr lang="es-ES" sz="1100" b="0" strike="noStrike" spc="-1">
              <a:latin typeface="Arial"/>
            </a:endParaRPr>
          </a:p>
          <a:p>
            <a:pPr>
              <a:lnSpc>
                <a:spcPct val="80000"/>
              </a:lnSpc>
            </a:pPr>
            <a:r>
              <a:rPr lang="es-ES" sz="1100" b="0" strike="noStrike" spc="-1">
                <a:solidFill>
                  <a:srgbClr val="44546A"/>
                </a:solidFill>
                <a:latin typeface="Arial"/>
              </a:rPr>
              <a:t>del procesador para P2</a:t>
            </a:r>
            <a:endParaRPr lang="es-ES" sz="1100" b="0" strike="noStrike" spc="-1">
              <a:latin typeface="Arial"/>
            </a:endParaRPr>
          </a:p>
        </p:txBody>
      </p:sp>
      <p:sp>
        <p:nvSpPr>
          <p:cNvPr id="636" name="Line 51"/>
          <p:cNvSpPr/>
          <p:nvPr/>
        </p:nvSpPr>
        <p:spPr>
          <a:xfrm flipH="1">
            <a:off x="6838560" y="1525320"/>
            <a:ext cx="571320" cy="171360"/>
          </a:xfrm>
          <a:prstGeom prst="line">
            <a:avLst/>
          </a:prstGeom>
          <a:ln w="9360">
            <a:solidFill>
              <a:schemeClr val="tx2"/>
            </a:solidFill>
            <a:round/>
            <a:tailEnd type="triangle" w="med" len="med"/>
          </a:ln>
        </p:spPr>
        <p:style>
          <a:lnRef idx="0">
            <a:scrgbClr r="0" g="0" b="0"/>
          </a:lnRef>
          <a:fillRef idx="0">
            <a:scrgbClr r="0" g="0" b="0"/>
          </a:fillRef>
          <a:effectRef idx="0">
            <a:scrgbClr r="0" g="0" b="0"/>
          </a:effectRef>
          <a:fontRef idx="minor"/>
        </p:style>
      </p:sp>
      <p:sp>
        <p:nvSpPr>
          <p:cNvPr id="637" name="CustomShape 52"/>
          <p:cNvSpPr/>
          <p:nvPr/>
        </p:nvSpPr>
        <p:spPr>
          <a:xfrm>
            <a:off x="5589720" y="896760"/>
            <a:ext cx="205272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44546A"/>
                </a:solidFill>
                <a:latin typeface="Arial"/>
              </a:rPr>
              <a:t>Máquina en modo kernel</a:t>
            </a:r>
            <a:endParaRPr lang="es-ES" sz="1350" b="0" strike="noStrike" spc="-1">
              <a:latin typeface="Arial"/>
            </a:endParaRPr>
          </a:p>
        </p:txBody>
      </p:sp>
      <p:sp>
        <p:nvSpPr>
          <p:cNvPr id="638" name="CustomShape 53"/>
          <p:cNvSpPr/>
          <p:nvPr/>
        </p:nvSpPr>
        <p:spPr>
          <a:xfrm>
            <a:off x="1267560" y="4905360"/>
            <a:ext cx="5718600" cy="25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50" b="0" strike="noStrike" spc="-1">
                <a:solidFill>
                  <a:srgbClr val="000000"/>
                </a:solidFill>
                <a:latin typeface="Calibri"/>
              </a:rPr>
              <a:t>Autor: José Antonio Gómez, UGR, reproducido con permiso</a:t>
            </a:r>
            <a:endParaRPr lang="es-ES" sz="1050" b="0" strike="noStrike" spc="-1">
              <a:latin typeface="Arial"/>
            </a:endParaRPr>
          </a:p>
        </p:txBody>
      </p:sp>
      <p:sp>
        <p:nvSpPr>
          <p:cNvPr id="639" name="CustomShape 54"/>
          <p:cNvSpPr/>
          <p:nvPr/>
        </p:nvSpPr>
        <p:spPr>
          <a:xfrm>
            <a:off x="3070440" y="2950920"/>
            <a:ext cx="165348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900" b="0" strike="noStrike" spc="-1">
                <a:solidFill>
                  <a:srgbClr val="000000"/>
                </a:solidFill>
                <a:latin typeface="Lucida Sans Typewriter"/>
              </a:rPr>
              <a:t>switch_context(P1,P2)</a:t>
            </a:r>
            <a:endParaRPr lang="es-ES" sz="900" b="0" strike="noStrike" spc="-1">
              <a:latin typeface="Arial"/>
            </a:endParaRPr>
          </a:p>
        </p:txBody>
      </p:sp>
      <p:sp>
        <p:nvSpPr>
          <p:cNvPr id="640" name="CustomShape 55"/>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a:t>
            </a:r>
            <a:endParaRPr lang="es-ES" sz="3600" b="0" strike="noStrike" spc="-1">
              <a:latin typeface="Arial"/>
            </a:endParaRPr>
          </a:p>
        </p:txBody>
      </p:sp>
      <p:grpSp>
        <p:nvGrpSpPr>
          <p:cNvPr id="641" name="Group 56"/>
          <p:cNvGrpSpPr/>
          <p:nvPr/>
        </p:nvGrpSpPr>
        <p:grpSpPr>
          <a:xfrm>
            <a:off x="5452560" y="3469320"/>
            <a:ext cx="1834920" cy="1095120"/>
            <a:chOff x="5452560" y="3469320"/>
            <a:chExt cx="1834920" cy="1095120"/>
          </a:xfrm>
        </p:grpSpPr>
        <p:sp>
          <p:nvSpPr>
            <p:cNvPr id="642" name="CustomShape 57"/>
            <p:cNvSpPr/>
            <p:nvPr/>
          </p:nvSpPr>
          <p:spPr>
            <a:xfrm>
              <a:off x="5967000" y="3926520"/>
              <a:ext cx="1320480" cy="637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767171"/>
                  </a:solidFill>
                  <a:latin typeface="Calibri"/>
                </a:rPr>
                <a:t>Contexto kernel</a:t>
              </a:r>
              <a:endParaRPr lang="es-ES" sz="1200" b="0" strike="noStrike" spc="-1">
                <a:latin typeface="Arial"/>
              </a:endParaRPr>
            </a:p>
            <a:p>
              <a:pPr>
                <a:lnSpc>
                  <a:spcPct val="100000"/>
                </a:lnSpc>
              </a:pPr>
              <a:r>
                <a:rPr lang="es-ES" sz="1200" b="0" strike="noStrike" spc="-1">
                  <a:solidFill>
                    <a:srgbClr val="767171"/>
                  </a:solidFill>
                  <a:latin typeface="Calibri"/>
                </a:rPr>
                <a:t>Contexto usuario</a:t>
              </a:r>
              <a:endParaRPr lang="es-ES" sz="1200" b="0" strike="noStrike" spc="-1">
                <a:latin typeface="Arial"/>
              </a:endParaRPr>
            </a:p>
            <a:p>
              <a:pPr>
                <a:lnSpc>
                  <a:spcPct val="100000"/>
                </a:lnSpc>
              </a:pPr>
              <a:r>
                <a:rPr lang="es-ES" sz="1200" b="0" strike="noStrike" spc="-1">
                  <a:solidFill>
                    <a:srgbClr val="767171"/>
                  </a:solidFill>
                  <a:latin typeface="Calibri"/>
                </a:rPr>
                <a:t>Resto información</a:t>
              </a:r>
              <a:endParaRPr lang="es-ES" sz="1200" b="0" strike="noStrike" spc="-1">
                <a:latin typeface="Arial"/>
              </a:endParaRPr>
            </a:p>
          </p:txBody>
        </p:sp>
        <p:sp>
          <p:nvSpPr>
            <p:cNvPr id="643" name="Line 58"/>
            <p:cNvSpPr/>
            <p:nvPr/>
          </p:nvSpPr>
          <p:spPr>
            <a:xfrm flipH="1" flipV="1">
              <a:off x="5452560" y="3469320"/>
              <a:ext cx="571320" cy="5760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644" name="Line 59"/>
            <p:cNvSpPr/>
            <p:nvPr/>
          </p:nvSpPr>
          <p:spPr>
            <a:xfrm flipH="1" flipV="1">
              <a:off x="5452560" y="3812040"/>
              <a:ext cx="571320" cy="4572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645" name="Line 60"/>
            <p:cNvSpPr/>
            <p:nvPr/>
          </p:nvSpPr>
          <p:spPr>
            <a:xfrm flipH="1" flipV="1">
              <a:off x="5452560" y="4212360"/>
              <a:ext cx="571320" cy="2286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gr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TextShape 1"/>
          <p:cNvSpPr txBox="1"/>
          <p:nvPr/>
        </p:nvSpPr>
        <p:spPr>
          <a:xfrm>
            <a:off x="8028000" y="6400800"/>
            <a:ext cx="933120" cy="456840"/>
          </a:xfrm>
          <a:prstGeom prst="rect">
            <a:avLst/>
          </a:prstGeom>
          <a:noFill/>
          <a:ln>
            <a:noFill/>
          </a:ln>
        </p:spPr>
        <p:txBody>
          <a:bodyPr/>
          <a:lstStyle/>
          <a:p>
            <a:pPr algn="r">
              <a:lnSpc>
                <a:spcPct val="100000"/>
              </a:lnSpc>
            </a:pPr>
            <a:fld id="{22B678FB-F640-466D-B3D1-54E1E24E3024}" type="slidenum">
              <a:rPr lang="es-ES" sz="1600" b="0" strike="noStrike" spc="-1">
                <a:solidFill>
                  <a:srgbClr val="669900"/>
                </a:solidFill>
                <a:latin typeface="Haettenschweiler"/>
              </a:rPr>
              <a:t>23</a:t>
            </a:fld>
            <a:endParaRPr lang="es-ES" sz="1600" b="0" strike="noStrike" spc="-1">
              <a:latin typeface="Times New Roman"/>
            </a:endParaRPr>
          </a:p>
        </p:txBody>
      </p:sp>
      <p:sp>
        <p:nvSpPr>
          <p:cNvPr id="647" name="CustomShape 2"/>
          <p:cNvSpPr/>
          <p:nvPr/>
        </p:nvSpPr>
        <p:spPr>
          <a:xfrm>
            <a:off x="2234160" y="2469960"/>
            <a:ext cx="3543120" cy="1999800"/>
          </a:xfrm>
          <a:prstGeom prst="rect">
            <a:avLst/>
          </a:prstGeom>
          <a:solidFill>
            <a:schemeClr val="accent1">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648" name="CustomShape 3"/>
          <p:cNvSpPr/>
          <p:nvPr/>
        </p:nvSpPr>
        <p:spPr>
          <a:xfrm>
            <a:off x="6234480" y="1841400"/>
            <a:ext cx="1542600" cy="1828440"/>
          </a:xfrm>
          <a:prstGeom prst="rect">
            <a:avLst/>
          </a:prstGeom>
          <a:solidFill>
            <a:schemeClr val="accent6">
              <a:lumMod val="20000"/>
              <a:lumOff val="80000"/>
            </a:schemeClr>
          </a:solidFill>
          <a:ln w="9360">
            <a:solidFill>
              <a:schemeClr val="tx1"/>
            </a:solidFill>
            <a:miter/>
          </a:ln>
        </p:spPr>
        <p:style>
          <a:lnRef idx="0">
            <a:scrgbClr r="0" g="0" b="0"/>
          </a:lnRef>
          <a:fillRef idx="0">
            <a:scrgbClr r="0" g="0" b="0"/>
          </a:fillRef>
          <a:effectRef idx="0">
            <a:scrgbClr r="0" g="0" b="0"/>
          </a:effectRef>
          <a:fontRef idx="minor"/>
        </p:style>
      </p:sp>
      <p:sp>
        <p:nvSpPr>
          <p:cNvPr id="649" name="Line 4"/>
          <p:cNvSpPr/>
          <p:nvPr/>
        </p:nvSpPr>
        <p:spPr>
          <a:xfrm>
            <a:off x="5777280" y="2469960"/>
            <a:ext cx="457200" cy="360"/>
          </a:xfrm>
          <a:prstGeom prst="line">
            <a:avLst/>
          </a:prstGeom>
          <a:ln w="28440">
            <a:solidFill>
              <a:schemeClr val="tx1"/>
            </a:solidFill>
            <a:round/>
          </a:ln>
        </p:spPr>
        <p:style>
          <a:lnRef idx="0">
            <a:scrgbClr r="0" g="0" b="0"/>
          </a:lnRef>
          <a:fillRef idx="0">
            <a:scrgbClr r="0" g="0" b="0"/>
          </a:fillRef>
          <a:effectRef idx="0">
            <a:scrgbClr r="0" g="0" b="0"/>
          </a:effectRef>
          <a:fontRef idx="minor"/>
        </p:style>
      </p:sp>
      <p:sp>
        <p:nvSpPr>
          <p:cNvPr id="650" name="CustomShape 5"/>
          <p:cNvSpPr/>
          <p:nvPr/>
        </p:nvSpPr>
        <p:spPr>
          <a:xfrm>
            <a:off x="6259320" y="1476000"/>
            <a:ext cx="5817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CPU</a:t>
            </a:r>
            <a:endParaRPr lang="es-ES" sz="1500" b="0" strike="noStrike" spc="-1">
              <a:latin typeface="Arial"/>
            </a:endParaRPr>
          </a:p>
        </p:txBody>
      </p:sp>
      <p:sp>
        <p:nvSpPr>
          <p:cNvPr id="651" name="CustomShape 6"/>
          <p:cNvSpPr/>
          <p:nvPr/>
        </p:nvSpPr>
        <p:spPr>
          <a:xfrm>
            <a:off x="6348960" y="33271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j</a:t>
            </a:r>
            <a:endParaRPr lang="es-ES" sz="1500" b="0" strike="noStrike" spc="-1">
              <a:latin typeface="Arial"/>
            </a:endParaRPr>
          </a:p>
        </p:txBody>
      </p:sp>
      <p:sp>
        <p:nvSpPr>
          <p:cNvPr id="652" name="CustomShape 7"/>
          <p:cNvSpPr/>
          <p:nvPr/>
        </p:nvSpPr>
        <p:spPr>
          <a:xfrm>
            <a:off x="6348960" y="33271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sp>
      <p:sp>
        <p:nvSpPr>
          <p:cNvPr id="653" name="CustomShape 8"/>
          <p:cNvSpPr/>
          <p:nvPr/>
        </p:nvSpPr>
        <p:spPr>
          <a:xfrm>
            <a:off x="6348960" y="201276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l</a:t>
            </a:r>
            <a:endParaRPr lang="es-ES" sz="1500" b="0" strike="noStrike" spc="-1">
              <a:latin typeface="Arial"/>
            </a:endParaRPr>
          </a:p>
        </p:txBody>
      </p:sp>
      <p:sp>
        <p:nvSpPr>
          <p:cNvPr id="654" name="CustomShape 9"/>
          <p:cNvSpPr/>
          <p:nvPr/>
        </p:nvSpPr>
        <p:spPr>
          <a:xfrm>
            <a:off x="7216920" y="1990080"/>
            <a:ext cx="4446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a:t>
            </a:r>
            <a:endParaRPr lang="es-ES" sz="1500" b="0" strike="noStrike" spc="-1">
              <a:latin typeface="Arial"/>
            </a:endParaRPr>
          </a:p>
        </p:txBody>
      </p:sp>
      <p:sp>
        <p:nvSpPr>
          <p:cNvPr id="655" name="CustomShape 10"/>
          <p:cNvSpPr/>
          <p:nvPr/>
        </p:nvSpPr>
        <p:spPr>
          <a:xfrm rot="16200000">
            <a:off x="7019280" y="2962440"/>
            <a:ext cx="916920" cy="455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80000"/>
              </a:lnSpc>
            </a:pPr>
            <a:r>
              <a:rPr lang="es-ES" sz="1500" b="0" strike="noStrike" spc="-1">
                <a:solidFill>
                  <a:srgbClr val="000000"/>
                </a:solidFill>
                <a:latin typeface="Arial"/>
              </a:rPr>
              <a:t>Otros</a:t>
            </a:r>
            <a:endParaRPr lang="es-ES" sz="1500" b="0" strike="noStrike" spc="-1">
              <a:latin typeface="Arial"/>
            </a:endParaRPr>
          </a:p>
          <a:p>
            <a:pPr>
              <a:lnSpc>
                <a:spcPct val="80000"/>
              </a:lnSpc>
            </a:pPr>
            <a:r>
              <a:rPr lang="es-ES" sz="1500" b="0" strike="noStrike" spc="-1">
                <a:solidFill>
                  <a:srgbClr val="000000"/>
                </a:solidFill>
                <a:latin typeface="Arial"/>
              </a:rPr>
              <a:t>registros</a:t>
            </a:r>
            <a:endParaRPr lang="es-ES" sz="1500" b="0" strike="noStrike" spc="-1">
              <a:latin typeface="Arial"/>
            </a:endParaRPr>
          </a:p>
        </p:txBody>
      </p:sp>
      <p:sp>
        <p:nvSpPr>
          <p:cNvPr id="656" name="CustomShape 11"/>
          <p:cNvSpPr/>
          <p:nvPr/>
        </p:nvSpPr>
        <p:spPr>
          <a:xfrm>
            <a:off x="2234160" y="1269720"/>
            <a:ext cx="3543120" cy="1199880"/>
          </a:xfrm>
          <a:prstGeom prst="rect">
            <a:avLst/>
          </a:prstGeom>
          <a:solidFill>
            <a:srgbClr val="66FF99"/>
          </a:solidFill>
          <a:ln w="9360">
            <a:solidFill>
              <a:schemeClr val="tx1"/>
            </a:solidFill>
            <a:miter/>
          </a:ln>
        </p:spPr>
        <p:style>
          <a:lnRef idx="0">
            <a:scrgbClr r="0" g="0" b="0"/>
          </a:lnRef>
          <a:fillRef idx="0">
            <a:scrgbClr r="0" g="0" b="0"/>
          </a:fillRef>
          <a:effectRef idx="0">
            <a:scrgbClr r="0" g="0" b="0"/>
          </a:effectRef>
          <a:fontRef idx="minor"/>
        </p:style>
      </p:sp>
      <p:sp>
        <p:nvSpPr>
          <p:cNvPr id="657" name="CustomShape 12"/>
          <p:cNvSpPr/>
          <p:nvPr/>
        </p:nvSpPr>
        <p:spPr>
          <a:xfrm>
            <a:off x="2234160" y="1955520"/>
            <a:ext cx="3543120" cy="342720"/>
          </a:xfrm>
          <a:prstGeom prst="rect">
            <a:avLst/>
          </a:prstGeom>
          <a:solidFill>
            <a:srgbClr val="B2B2B2"/>
          </a:solidFill>
          <a:ln w="9360">
            <a:solidFill>
              <a:schemeClr val="tx1"/>
            </a:solidFill>
            <a:miter/>
          </a:ln>
        </p:spPr>
        <p:style>
          <a:lnRef idx="0">
            <a:scrgbClr r="0" g="0" b="0"/>
          </a:lnRef>
          <a:fillRef idx="0">
            <a:scrgbClr r="0" g="0" b="0"/>
          </a:fillRef>
          <a:effectRef idx="0">
            <a:scrgbClr r="0" g="0" b="0"/>
          </a:effectRef>
          <a:fontRef idx="minor"/>
        </p:style>
      </p:sp>
      <p:sp>
        <p:nvSpPr>
          <p:cNvPr id="658" name="CustomShape 13"/>
          <p:cNvSpPr/>
          <p:nvPr/>
        </p:nvSpPr>
        <p:spPr>
          <a:xfrm>
            <a:off x="2234160" y="1441440"/>
            <a:ext cx="3543120" cy="342720"/>
          </a:xfrm>
          <a:prstGeom prst="rect">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sp>
        <p:nvSpPr>
          <p:cNvPr id="659" name="CustomShape 14"/>
          <p:cNvSpPr/>
          <p:nvPr/>
        </p:nvSpPr>
        <p:spPr>
          <a:xfrm>
            <a:off x="3605760" y="361296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660" name="CustomShape 15"/>
          <p:cNvSpPr/>
          <p:nvPr/>
        </p:nvSpPr>
        <p:spPr>
          <a:xfrm>
            <a:off x="4691520" y="361296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61" name="Line 16"/>
          <p:cNvSpPr/>
          <p:nvPr/>
        </p:nvSpPr>
        <p:spPr>
          <a:xfrm>
            <a:off x="2000520" y="2092320"/>
            <a:ext cx="22860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662" name="CustomShape 17"/>
          <p:cNvSpPr/>
          <p:nvPr/>
        </p:nvSpPr>
        <p:spPr>
          <a:xfrm>
            <a:off x="1804320" y="1955520"/>
            <a:ext cx="2343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l</a:t>
            </a:r>
            <a:endParaRPr lang="es-ES" sz="1500" b="0" strike="noStrike" spc="-1">
              <a:latin typeface="Arial"/>
            </a:endParaRPr>
          </a:p>
        </p:txBody>
      </p:sp>
      <p:sp>
        <p:nvSpPr>
          <p:cNvPr id="663" name="CustomShape 18"/>
          <p:cNvSpPr/>
          <p:nvPr/>
        </p:nvSpPr>
        <p:spPr>
          <a:xfrm>
            <a:off x="6349320" y="2984400"/>
            <a:ext cx="447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1" strike="noStrike" spc="-1">
                <a:solidFill>
                  <a:srgbClr val="000000"/>
                </a:solidFill>
                <a:latin typeface="Arial"/>
              </a:rPr>
              <a:t>. . .</a:t>
            </a:r>
            <a:endParaRPr lang="es-ES" sz="1500" b="0" strike="noStrike" spc="-1">
              <a:latin typeface="Arial"/>
            </a:endParaRPr>
          </a:p>
        </p:txBody>
      </p:sp>
      <p:sp>
        <p:nvSpPr>
          <p:cNvPr id="664" name="CustomShape 19"/>
          <p:cNvSpPr/>
          <p:nvPr/>
        </p:nvSpPr>
        <p:spPr>
          <a:xfrm>
            <a:off x="4238280" y="201276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2</a:t>
            </a:r>
            <a:endParaRPr lang="es-ES" sz="1500" b="0" strike="noStrike" spc="-1">
              <a:latin typeface="Arial"/>
            </a:endParaRPr>
          </a:p>
        </p:txBody>
      </p:sp>
      <p:sp>
        <p:nvSpPr>
          <p:cNvPr id="665" name="CustomShape 20"/>
          <p:cNvSpPr/>
          <p:nvPr/>
        </p:nvSpPr>
        <p:spPr>
          <a:xfrm>
            <a:off x="3495240" y="1498320"/>
            <a:ext cx="10436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Proceso 1</a:t>
            </a:r>
            <a:endParaRPr lang="es-ES" sz="1500" b="0" strike="noStrike" spc="-1">
              <a:latin typeface="Arial"/>
            </a:endParaRPr>
          </a:p>
        </p:txBody>
      </p:sp>
      <p:sp>
        <p:nvSpPr>
          <p:cNvPr id="666" name="CustomShape 21"/>
          <p:cNvSpPr/>
          <p:nvPr/>
        </p:nvSpPr>
        <p:spPr>
          <a:xfrm>
            <a:off x="5091480" y="2755800"/>
            <a:ext cx="456840" cy="34272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667" name="CustomShape 22"/>
          <p:cNvSpPr/>
          <p:nvPr/>
        </p:nvSpPr>
        <p:spPr>
          <a:xfrm>
            <a:off x="2405520" y="2755800"/>
            <a:ext cx="456840" cy="45684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668" name="CustomShape 23"/>
          <p:cNvSpPr/>
          <p:nvPr/>
        </p:nvSpPr>
        <p:spPr>
          <a:xfrm>
            <a:off x="3605760" y="3213000"/>
            <a:ext cx="628200" cy="399600"/>
          </a:xfrm>
          <a:prstGeom prst="rect">
            <a:avLst/>
          </a:prstGeom>
          <a:solidFill>
            <a:srgbClr val="FF66FF"/>
          </a:solidFill>
          <a:ln w="9360">
            <a:solidFill>
              <a:schemeClr val="tx1"/>
            </a:solidFill>
            <a:miter/>
          </a:ln>
        </p:spPr>
        <p:style>
          <a:lnRef idx="0">
            <a:scrgbClr r="0" g="0" b="0"/>
          </a:lnRef>
          <a:fillRef idx="0">
            <a:scrgbClr r="0" g="0" b="0"/>
          </a:fillRef>
          <a:effectRef idx="0">
            <a:scrgbClr r="0" g="0" b="0"/>
          </a:effectRef>
          <a:fontRef idx="minor"/>
        </p:style>
      </p:sp>
      <p:sp>
        <p:nvSpPr>
          <p:cNvPr id="669" name="CustomShape 24"/>
          <p:cNvSpPr/>
          <p:nvPr/>
        </p:nvSpPr>
        <p:spPr>
          <a:xfrm>
            <a:off x="4851720" y="248796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2</a:t>
            </a:r>
            <a:endParaRPr lang="es-ES" sz="1200" b="0" strike="noStrike" spc="-1">
              <a:latin typeface="Arial"/>
            </a:endParaRPr>
          </a:p>
        </p:txBody>
      </p:sp>
      <p:sp>
        <p:nvSpPr>
          <p:cNvPr id="670" name="CustomShape 25"/>
          <p:cNvSpPr/>
          <p:nvPr/>
        </p:nvSpPr>
        <p:spPr>
          <a:xfrm>
            <a:off x="2279880" y="2487960"/>
            <a:ext cx="895680" cy="2728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200" b="0" strike="noStrike" spc="-1">
                <a:solidFill>
                  <a:srgbClr val="000000"/>
                </a:solidFill>
                <a:latin typeface="Arial"/>
              </a:rPr>
              <a:t>Llamada 1</a:t>
            </a:r>
            <a:endParaRPr lang="es-ES" sz="1200" b="0" strike="noStrike" spc="-1">
              <a:latin typeface="Arial"/>
            </a:endParaRPr>
          </a:p>
        </p:txBody>
      </p:sp>
      <p:sp>
        <p:nvSpPr>
          <p:cNvPr id="671" name="CustomShape 26"/>
          <p:cNvSpPr/>
          <p:nvPr/>
        </p:nvSpPr>
        <p:spPr>
          <a:xfrm>
            <a:off x="6348960" y="28699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o</a:t>
            </a:r>
            <a:endParaRPr lang="es-ES" sz="1500" b="0" strike="noStrike" spc="-1">
              <a:latin typeface="Arial"/>
            </a:endParaRPr>
          </a:p>
        </p:txBody>
      </p:sp>
      <p:sp>
        <p:nvSpPr>
          <p:cNvPr id="672" name="CustomShape 27"/>
          <p:cNvSpPr/>
          <p:nvPr/>
        </p:nvSpPr>
        <p:spPr>
          <a:xfrm>
            <a:off x="7209360" y="2298600"/>
            <a:ext cx="4341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SP</a:t>
            </a:r>
            <a:endParaRPr lang="es-ES" sz="1500" b="0" strike="noStrike" spc="-1">
              <a:latin typeface="Arial"/>
            </a:endParaRPr>
          </a:p>
        </p:txBody>
      </p:sp>
      <p:sp>
        <p:nvSpPr>
          <p:cNvPr id="673" name="CustomShape 28"/>
          <p:cNvSpPr/>
          <p:nvPr/>
        </p:nvSpPr>
        <p:spPr>
          <a:xfrm>
            <a:off x="6348960" y="332712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p</a:t>
            </a:r>
            <a:endParaRPr lang="es-ES" sz="1500" b="0" strike="noStrike" spc="-1">
              <a:latin typeface="Arial"/>
            </a:endParaRPr>
          </a:p>
        </p:txBody>
      </p:sp>
      <p:sp>
        <p:nvSpPr>
          <p:cNvPr id="674" name="CustomShape 29"/>
          <p:cNvSpPr/>
          <p:nvPr/>
        </p:nvSpPr>
        <p:spPr>
          <a:xfrm>
            <a:off x="6348960" y="2355840"/>
            <a:ext cx="856800" cy="228240"/>
          </a:xfrm>
          <a:prstGeom prst="rect">
            <a:avLst/>
          </a:prstGeom>
          <a:solidFill>
            <a:srgbClr val="FFCC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1" strike="noStrike" spc="-1">
                <a:solidFill>
                  <a:srgbClr val="000000"/>
                </a:solidFill>
                <a:latin typeface="Arial"/>
              </a:rPr>
              <a:t>n</a:t>
            </a:r>
            <a:endParaRPr lang="es-ES" sz="1500" b="0" strike="noStrike" spc="-1">
              <a:latin typeface="Arial"/>
            </a:endParaRPr>
          </a:p>
        </p:txBody>
      </p:sp>
      <p:sp>
        <p:nvSpPr>
          <p:cNvPr id="675" name="Line 30"/>
          <p:cNvSpPr/>
          <p:nvPr/>
        </p:nvSpPr>
        <p:spPr>
          <a:xfrm>
            <a:off x="2062440" y="2755440"/>
            <a:ext cx="34272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676" name="CustomShape 31"/>
          <p:cNvSpPr/>
          <p:nvPr/>
        </p:nvSpPr>
        <p:spPr>
          <a:xfrm>
            <a:off x="5893200" y="2755800"/>
            <a:ext cx="23436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t</a:t>
            </a:r>
            <a:endParaRPr lang="es-ES" sz="1500" b="0" strike="noStrike" spc="-1">
              <a:latin typeface="Arial"/>
            </a:endParaRPr>
          </a:p>
        </p:txBody>
      </p:sp>
      <p:sp>
        <p:nvSpPr>
          <p:cNvPr id="677" name="CustomShape 32"/>
          <p:cNvSpPr/>
          <p:nvPr/>
        </p:nvSpPr>
        <p:spPr>
          <a:xfrm>
            <a:off x="4691520" y="395604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78" name="CustomShape 33"/>
          <p:cNvSpPr/>
          <p:nvPr/>
        </p:nvSpPr>
        <p:spPr>
          <a:xfrm>
            <a:off x="4691520" y="332712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79" name="CustomShape 34"/>
          <p:cNvSpPr/>
          <p:nvPr/>
        </p:nvSpPr>
        <p:spPr>
          <a:xfrm>
            <a:off x="4839120" y="404748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2</a:t>
            </a:r>
            <a:endParaRPr lang="es-ES" sz="1500" b="0" strike="noStrike" spc="-1">
              <a:latin typeface="Arial"/>
            </a:endParaRPr>
          </a:p>
        </p:txBody>
      </p:sp>
      <p:sp>
        <p:nvSpPr>
          <p:cNvPr id="680" name="CustomShape 35"/>
          <p:cNvSpPr/>
          <p:nvPr/>
        </p:nvSpPr>
        <p:spPr>
          <a:xfrm>
            <a:off x="2462760" y="361296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81" name="CustomShape 36"/>
          <p:cNvSpPr/>
          <p:nvPr/>
        </p:nvSpPr>
        <p:spPr>
          <a:xfrm>
            <a:off x="2462760" y="3956040"/>
            <a:ext cx="799920" cy="39960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82" name="CustomShape 37"/>
          <p:cNvSpPr/>
          <p:nvPr/>
        </p:nvSpPr>
        <p:spPr>
          <a:xfrm>
            <a:off x="2462760" y="332712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83" name="CustomShape 38"/>
          <p:cNvSpPr/>
          <p:nvPr/>
        </p:nvSpPr>
        <p:spPr>
          <a:xfrm>
            <a:off x="2610000" y="4047480"/>
            <a:ext cx="632160" cy="349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PCB</a:t>
            </a:r>
            <a:r>
              <a:rPr lang="es-ES" sz="1500" b="0" strike="noStrike" spc="-1" baseline="-25000">
                <a:solidFill>
                  <a:srgbClr val="000000"/>
                </a:solidFill>
                <a:latin typeface="Arial"/>
              </a:rPr>
              <a:t>1</a:t>
            </a:r>
            <a:endParaRPr lang="es-ES" sz="1500" b="0" strike="noStrike" spc="-1">
              <a:latin typeface="Arial"/>
            </a:endParaRPr>
          </a:p>
        </p:txBody>
      </p:sp>
      <p:sp>
        <p:nvSpPr>
          <p:cNvPr id="684" name="CustomShape 39"/>
          <p:cNvSpPr/>
          <p:nvPr/>
        </p:nvSpPr>
        <p:spPr>
          <a:xfrm>
            <a:off x="2462760" y="332712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0" strike="noStrike" spc="-1">
                <a:solidFill>
                  <a:srgbClr val="000000"/>
                </a:solidFill>
                <a:latin typeface="Arial"/>
              </a:rPr>
              <a:t>c+i,m,r,s</a:t>
            </a:r>
            <a:endParaRPr lang="es-ES" sz="1500" b="0" strike="noStrike" spc="-1">
              <a:latin typeface="Arial"/>
            </a:endParaRPr>
          </a:p>
        </p:txBody>
      </p:sp>
      <p:sp>
        <p:nvSpPr>
          <p:cNvPr id="685" name="CustomShape 40"/>
          <p:cNvSpPr/>
          <p:nvPr/>
        </p:nvSpPr>
        <p:spPr>
          <a:xfrm>
            <a:off x="2462760" y="367020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lstStyle/>
          <a:p>
            <a:pPr>
              <a:lnSpc>
                <a:spcPct val="100000"/>
              </a:lnSpc>
            </a:pPr>
            <a:r>
              <a:rPr lang="es-ES" sz="1500" b="0" strike="noStrike" spc="-1">
                <a:solidFill>
                  <a:srgbClr val="000000"/>
                </a:solidFill>
                <a:latin typeface="Arial"/>
              </a:rPr>
              <a:t>n+1,i,j,k</a:t>
            </a:r>
            <a:endParaRPr lang="es-ES" sz="1500" b="0" strike="noStrike" spc="-1">
              <a:latin typeface="Arial"/>
            </a:endParaRPr>
          </a:p>
        </p:txBody>
      </p:sp>
      <p:sp>
        <p:nvSpPr>
          <p:cNvPr id="686" name="CustomShape 41"/>
          <p:cNvSpPr/>
          <p:nvPr/>
        </p:nvSpPr>
        <p:spPr>
          <a:xfrm>
            <a:off x="4691520" y="3612960"/>
            <a:ext cx="799920" cy="34272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87" name="CustomShape 42"/>
          <p:cNvSpPr/>
          <p:nvPr/>
        </p:nvSpPr>
        <p:spPr>
          <a:xfrm>
            <a:off x="4691520" y="3327120"/>
            <a:ext cx="799920" cy="285480"/>
          </a:xfrm>
          <a:prstGeom prst="rect">
            <a:avLst/>
          </a:prstGeom>
          <a:solidFill>
            <a:srgbClr val="CC9900"/>
          </a:solidFill>
          <a:ln w="9360">
            <a:solidFill>
              <a:schemeClr val="tx1"/>
            </a:solidFill>
            <a:miter/>
          </a:ln>
        </p:spPr>
        <p:style>
          <a:lnRef idx="0">
            <a:scrgbClr r="0" g="0" b="0"/>
          </a:lnRef>
          <a:fillRef idx="0">
            <a:scrgbClr r="0" g="0" b="0"/>
          </a:fillRef>
          <a:effectRef idx="0">
            <a:scrgbClr r="0" g="0" b="0"/>
          </a:effectRef>
          <a:fontRef idx="minor"/>
        </p:style>
      </p:sp>
      <p:sp>
        <p:nvSpPr>
          <p:cNvPr id="688" name="Line 43"/>
          <p:cNvSpPr/>
          <p:nvPr/>
        </p:nvSpPr>
        <p:spPr>
          <a:xfrm flipH="1">
            <a:off x="5548680" y="2927160"/>
            <a:ext cx="399960" cy="36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sp>
        <p:nvSpPr>
          <p:cNvPr id="689" name="CustomShape 44"/>
          <p:cNvSpPr/>
          <p:nvPr/>
        </p:nvSpPr>
        <p:spPr>
          <a:xfrm>
            <a:off x="1835280" y="2584440"/>
            <a:ext cx="27720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c</a:t>
            </a:r>
            <a:endParaRPr lang="es-ES" sz="1500" b="0" strike="noStrike" spc="-1">
              <a:latin typeface="Arial"/>
            </a:endParaRPr>
          </a:p>
        </p:txBody>
      </p:sp>
      <p:sp>
        <p:nvSpPr>
          <p:cNvPr id="690" name="CustomShape 45"/>
          <p:cNvSpPr/>
          <p:nvPr/>
        </p:nvSpPr>
        <p:spPr>
          <a:xfrm>
            <a:off x="2234160" y="1955520"/>
            <a:ext cx="2971440" cy="799920"/>
          </a:xfrm>
          <a:custGeom>
            <a:avLst/>
            <a:gdLst/>
            <a:ahLst/>
            <a:cxnLst/>
            <a:rect l="l" t="t" r="r" b="b"/>
            <a:pathLst>
              <a:path w="2496" h="672">
                <a:moveTo>
                  <a:pt x="2496" y="672"/>
                </a:moveTo>
                <a:cubicBezTo>
                  <a:pt x="1888" y="432"/>
                  <a:pt x="1280" y="192"/>
                  <a:pt x="864" y="96"/>
                </a:cubicBezTo>
                <a:cubicBezTo>
                  <a:pt x="448" y="0"/>
                  <a:pt x="144" y="88"/>
                  <a:pt x="0" y="96"/>
                </a:cubicBezTo>
              </a:path>
            </a:pathLst>
          </a:custGeom>
          <a:noFill/>
          <a:ln w="28440">
            <a:solidFill>
              <a:srgbClr val="FF3300"/>
            </a:solidFill>
            <a:round/>
            <a:tailEnd type="triangle" w="med" len="med"/>
          </a:ln>
        </p:spPr>
        <p:style>
          <a:lnRef idx="0">
            <a:scrgbClr r="0" g="0" b="0"/>
          </a:lnRef>
          <a:fillRef idx="0">
            <a:scrgbClr r="0" g="0" b="0"/>
          </a:fillRef>
          <a:effectRef idx="0">
            <a:scrgbClr r="0" g="0" b="0"/>
          </a:effectRef>
          <a:fontRef idx="minor"/>
        </p:style>
      </p:sp>
      <p:sp>
        <p:nvSpPr>
          <p:cNvPr id="691" name="CustomShape 46"/>
          <p:cNvSpPr/>
          <p:nvPr/>
        </p:nvSpPr>
        <p:spPr>
          <a:xfrm>
            <a:off x="5681880" y="869760"/>
            <a:ext cx="21470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9900"/>
                </a:solidFill>
                <a:latin typeface="Arial"/>
              </a:rPr>
              <a:t>Máquina en modo usuario</a:t>
            </a:r>
            <a:endParaRPr lang="es-ES" sz="1350" b="0" strike="noStrike" spc="-1">
              <a:latin typeface="Arial"/>
            </a:endParaRPr>
          </a:p>
        </p:txBody>
      </p:sp>
      <p:sp>
        <p:nvSpPr>
          <p:cNvPr id="692" name="CustomShape 47"/>
          <p:cNvSpPr/>
          <p:nvPr/>
        </p:nvSpPr>
        <p:spPr>
          <a:xfrm>
            <a:off x="1267560" y="4905360"/>
            <a:ext cx="5718600" cy="25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50" b="0" strike="noStrike" spc="-1">
                <a:solidFill>
                  <a:srgbClr val="000000"/>
                </a:solidFill>
                <a:latin typeface="Calibri"/>
              </a:rPr>
              <a:t>Autor: José Antonio Gómez, UGR, reproducido con permiso</a:t>
            </a:r>
            <a:endParaRPr lang="es-ES" sz="1050" b="0" strike="noStrike" spc="-1">
              <a:latin typeface="Arial"/>
            </a:endParaRPr>
          </a:p>
        </p:txBody>
      </p:sp>
      <p:sp>
        <p:nvSpPr>
          <p:cNvPr id="693" name="CustomShape 48"/>
          <p:cNvSpPr/>
          <p:nvPr/>
        </p:nvSpPr>
        <p:spPr>
          <a:xfrm>
            <a:off x="3168360" y="2915280"/>
            <a:ext cx="1653480" cy="22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900" b="0" strike="noStrike" spc="-1">
                <a:solidFill>
                  <a:srgbClr val="000000"/>
                </a:solidFill>
                <a:latin typeface="Lucida Sans Typewriter"/>
              </a:rPr>
              <a:t>switch_context(P1,P2)</a:t>
            </a:r>
            <a:endParaRPr lang="es-ES" sz="900" b="0" strike="noStrike" spc="-1">
              <a:latin typeface="Arial"/>
            </a:endParaRPr>
          </a:p>
        </p:txBody>
      </p:sp>
      <p:sp>
        <p:nvSpPr>
          <p:cNvPr id="694" name="CustomShape 49"/>
          <p:cNvSpPr/>
          <p:nvPr/>
        </p:nvSpPr>
        <p:spPr>
          <a:xfrm>
            <a:off x="3640320" y="846720"/>
            <a:ext cx="924840" cy="318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500" b="0" strike="noStrike" spc="-1">
                <a:solidFill>
                  <a:srgbClr val="000000"/>
                </a:solidFill>
                <a:latin typeface="Arial"/>
              </a:rPr>
              <a:t>Memoria</a:t>
            </a:r>
            <a:endParaRPr lang="es-ES" sz="1500" b="0" strike="noStrike" spc="-1">
              <a:latin typeface="Arial"/>
            </a:endParaRPr>
          </a:p>
        </p:txBody>
      </p:sp>
      <p:sp>
        <p:nvSpPr>
          <p:cNvPr id="695" name="CustomShape 50"/>
          <p:cNvSpPr/>
          <p:nvPr/>
        </p:nvSpPr>
        <p:spPr>
          <a:xfrm>
            <a:off x="1776240" y="228600"/>
            <a:ext cx="7049520" cy="530280"/>
          </a:xfrm>
          <a:prstGeom prst="rect">
            <a:avLst/>
          </a:prstGeom>
          <a:noFill/>
          <a:ln>
            <a:noFill/>
          </a:ln>
        </p:spPr>
        <p:style>
          <a:lnRef idx="0">
            <a:scrgbClr r="0" g="0" b="0"/>
          </a:lnRef>
          <a:fillRef idx="0">
            <a:scrgbClr r="0" g="0" b="0"/>
          </a:fillRef>
          <a:effectRef idx="0">
            <a:scrgbClr r="0" g="0" b="0"/>
          </a:effectRef>
          <a:fontRef idx="minor"/>
        </p:style>
        <p:txBody>
          <a:bodyPr anchor="b"/>
          <a:lstStyle/>
          <a:p>
            <a:pPr>
              <a:lnSpc>
                <a:spcPct val="90000"/>
              </a:lnSpc>
            </a:pPr>
            <a:r>
              <a:rPr lang="es-ES" sz="3600" b="0" strike="noStrike" spc="-1">
                <a:solidFill>
                  <a:srgbClr val="5B9BD5"/>
                </a:solidFill>
                <a:latin typeface="Calibri Light"/>
              </a:rPr>
              <a:t>Cambio de contexto</a:t>
            </a:r>
            <a:endParaRPr lang="es-ES" sz="3600" b="0" strike="noStrike" spc="-1">
              <a:latin typeface="Arial"/>
            </a:endParaRPr>
          </a:p>
        </p:txBody>
      </p:sp>
      <p:sp>
        <p:nvSpPr>
          <p:cNvPr id="696" name="CustomShape 51"/>
          <p:cNvSpPr/>
          <p:nvPr/>
        </p:nvSpPr>
        <p:spPr>
          <a:xfrm>
            <a:off x="5697360" y="4589280"/>
            <a:ext cx="3105720" cy="592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44546A"/>
                </a:solidFill>
                <a:latin typeface="Arial"/>
              </a:rPr>
              <a:t>Finalmente, P2 recupera la ejecución en la instrucción l, la siguiente a aquella que lo bloqueó</a:t>
            </a:r>
            <a:endParaRPr lang="es-ES" sz="1100" b="0" strike="noStrike" spc="-1">
              <a:latin typeface="Arial"/>
            </a:endParaRPr>
          </a:p>
        </p:txBody>
      </p:sp>
      <p:grpSp>
        <p:nvGrpSpPr>
          <p:cNvPr id="697" name="Group 52"/>
          <p:cNvGrpSpPr/>
          <p:nvPr/>
        </p:nvGrpSpPr>
        <p:grpSpPr>
          <a:xfrm>
            <a:off x="5560560" y="3421800"/>
            <a:ext cx="1835280" cy="1095120"/>
            <a:chOff x="5560560" y="3421800"/>
            <a:chExt cx="1835280" cy="1095120"/>
          </a:xfrm>
        </p:grpSpPr>
        <p:sp>
          <p:nvSpPr>
            <p:cNvPr id="698" name="CustomShape 53"/>
            <p:cNvSpPr/>
            <p:nvPr/>
          </p:nvSpPr>
          <p:spPr>
            <a:xfrm>
              <a:off x="6075360" y="3879000"/>
              <a:ext cx="1320480" cy="637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767171"/>
                  </a:solidFill>
                  <a:latin typeface="Calibri"/>
                </a:rPr>
                <a:t>Contexto kernel</a:t>
              </a:r>
              <a:endParaRPr lang="es-ES" sz="1200" b="0" strike="noStrike" spc="-1">
                <a:latin typeface="Arial"/>
              </a:endParaRPr>
            </a:p>
            <a:p>
              <a:pPr>
                <a:lnSpc>
                  <a:spcPct val="100000"/>
                </a:lnSpc>
              </a:pPr>
              <a:r>
                <a:rPr lang="es-ES" sz="1200" b="0" strike="noStrike" spc="-1">
                  <a:solidFill>
                    <a:srgbClr val="767171"/>
                  </a:solidFill>
                  <a:latin typeface="Calibri"/>
                </a:rPr>
                <a:t>Contexto usuario</a:t>
              </a:r>
              <a:endParaRPr lang="es-ES" sz="1200" b="0" strike="noStrike" spc="-1">
                <a:latin typeface="Arial"/>
              </a:endParaRPr>
            </a:p>
            <a:p>
              <a:pPr>
                <a:lnSpc>
                  <a:spcPct val="100000"/>
                </a:lnSpc>
              </a:pPr>
              <a:r>
                <a:rPr lang="es-ES" sz="1200" b="0" strike="noStrike" spc="-1">
                  <a:solidFill>
                    <a:srgbClr val="767171"/>
                  </a:solidFill>
                  <a:latin typeface="Calibri"/>
                </a:rPr>
                <a:t>Resto información</a:t>
              </a:r>
              <a:endParaRPr lang="es-ES" sz="1200" b="0" strike="noStrike" spc="-1">
                <a:latin typeface="Arial"/>
              </a:endParaRPr>
            </a:p>
          </p:txBody>
        </p:sp>
        <p:sp>
          <p:nvSpPr>
            <p:cNvPr id="699" name="Line 54"/>
            <p:cNvSpPr/>
            <p:nvPr/>
          </p:nvSpPr>
          <p:spPr>
            <a:xfrm flipH="1" flipV="1">
              <a:off x="5560560" y="3421800"/>
              <a:ext cx="571680" cy="5760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700" name="Line 55"/>
            <p:cNvSpPr/>
            <p:nvPr/>
          </p:nvSpPr>
          <p:spPr>
            <a:xfrm flipH="1" flipV="1">
              <a:off x="5560560" y="3764520"/>
              <a:ext cx="571680" cy="4572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sp>
          <p:nvSpPr>
            <p:cNvPr id="701" name="Line 56"/>
            <p:cNvSpPr/>
            <p:nvPr/>
          </p:nvSpPr>
          <p:spPr>
            <a:xfrm flipH="1" flipV="1">
              <a:off x="5560560" y="4164480"/>
              <a:ext cx="571680" cy="228600"/>
            </a:xfrm>
            <a:prstGeom prst="line">
              <a:avLst/>
            </a:prstGeom>
            <a:ln w="9360">
              <a:solidFill>
                <a:schemeClr val="bg2">
                  <a:lumMod val="50000"/>
                </a:schemeClr>
              </a:solidFill>
              <a:round/>
              <a:tailEnd type="triangle" w="med" len="med"/>
            </a:ln>
          </p:spPr>
          <p:style>
            <a:lnRef idx="0">
              <a:scrgbClr r="0" g="0" b="0"/>
            </a:lnRef>
            <a:fillRef idx="0">
              <a:scrgbClr r="0" g="0" b="0"/>
            </a:fillRef>
            <a:effectRef idx="0">
              <a:scrgbClr r="0" g="0" b="0"/>
            </a:effectRef>
            <a:fontRef idx="minor"/>
          </p:style>
        </p:sp>
      </p:gr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Cambio de contexto</a:t>
            </a:r>
            <a:endParaRPr lang="es-ES" sz="3600" b="0" strike="noStrike" spc="-1">
              <a:solidFill>
                <a:srgbClr val="000000"/>
              </a:solidFill>
              <a:latin typeface="Calibri"/>
            </a:endParaRPr>
          </a:p>
        </p:txBody>
      </p:sp>
      <p:sp>
        <p:nvSpPr>
          <p:cNvPr id="703" name="CustomShape 2"/>
          <p:cNvSpPr/>
          <p:nvPr/>
        </p:nvSpPr>
        <p:spPr>
          <a:xfrm>
            <a:off x="1776240" y="923040"/>
            <a:ext cx="3757320" cy="1734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Trapframe en xv6</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En xv6 se define una estructura </a:t>
            </a:r>
            <a:r>
              <a:rPr lang="es-ES" sz="1350" b="0" i="1" strike="noStrike" spc="-1">
                <a:solidFill>
                  <a:srgbClr val="000000"/>
                </a:solidFill>
                <a:latin typeface="Calibri"/>
              </a:rPr>
              <a:t>trapframe</a:t>
            </a:r>
            <a:r>
              <a:rPr lang="es-ES" sz="1350" b="0" strike="noStrike" spc="-1">
                <a:solidFill>
                  <a:srgbClr val="000000"/>
                </a:solidFill>
                <a:latin typeface="Calibri"/>
              </a:rPr>
              <a:t> que sirve para almacenar el estado del procesador, tanto en un cambio de contexto como en una interrupción. Es uno de los campos de la estructura de tipo </a:t>
            </a:r>
            <a:r>
              <a:rPr lang="es-ES" sz="1100" b="0" strike="noStrike" spc="-1">
                <a:solidFill>
                  <a:srgbClr val="000000"/>
                </a:solidFill>
                <a:latin typeface="Lucida Console"/>
              </a:rPr>
              <a:t>proc</a:t>
            </a:r>
            <a:r>
              <a:rPr lang="es-ES" sz="1350" b="0" strike="noStrike" spc="-1">
                <a:solidFill>
                  <a:srgbClr val="000000"/>
                </a:solidFill>
                <a:latin typeface="Calibri"/>
              </a:rPr>
              <a:t>, el BCP de esta implementación.</a:t>
            </a:r>
            <a:endParaRPr lang="es-ES" sz="1350" b="0" strike="noStrike" spc="-1">
              <a:latin typeface="Arial"/>
            </a:endParaRPr>
          </a:p>
          <a:p>
            <a:pPr algn="just">
              <a:lnSpc>
                <a:spcPct val="100000"/>
              </a:lnSpc>
            </a:pPr>
            <a:endParaRPr lang="es-ES" sz="1350" b="0" strike="noStrike" spc="-1">
              <a:latin typeface="Arial"/>
            </a:endParaRPr>
          </a:p>
        </p:txBody>
      </p:sp>
      <p:pic>
        <p:nvPicPr>
          <p:cNvPr id="704" name="Imagen 6"/>
          <p:cNvPicPr/>
          <p:nvPr/>
        </p:nvPicPr>
        <p:blipFill>
          <a:blip r:embed="rId3"/>
          <a:stretch/>
        </p:blipFill>
        <p:spPr>
          <a:xfrm>
            <a:off x="5725080" y="1136160"/>
            <a:ext cx="3284640" cy="3778200"/>
          </a:xfrm>
          <a:prstGeom prst="rect">
            <a:avLst/>
          </a:prstGeom>
          <a:ln>
            <a:noFill/>
          </a:ln>
        </p:spPr>
      </p:pic>
      <p:sp>
        <p:nvSpPr>
          <p:cNvPr id="705" name="CustomShape 3"/>
          <p:cNvSpPr/>
          <p:nvPr/>
        </p:nvSpPr>
        <p:spPr>
          <a:xfrm>
            <a:off x="1776240" y="2571840"/>
            <a:ext cx="4162680" cy="859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Puede encontrarse una descripción muy detallada del cambio de contexto en xv 6 en la siguiente URL:</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000" b="0" u="sng" strike="noStrike" spc="-1">
                <a:solidFill>
                  <a:srgbClr val="0563C1"/>
                </a:solidFill>
                <a:uFillTx/>
                <a:latin typeface="Calibri"/>
                <a:hlinkClick r:id="rId4"/>
              </a:rPr>
              <a:t>https://medium.com/@ppan.brian/context-switch-from-xv6-aedcb1246cd</a:t>
            </a:r>
            <a:endParaRPr lang="es-ES" sz="10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Interrupción</a:t>
            </a:r>
            <a:endParaRPr lang="es-ES" sz="3600" b="0" strike="noStrike" spc="-1">
              <a:solidFill>
                <a:srgbClr val="000000"/>
              </a:solidFill>
              <a:latin typeface="Calibri"/>
            </a:endParaRPr>
          </a:p>
        </p:txBody>
      </p:sp>
      <p:sp>
        <p:nvSpPr>
          <p:cNvPr id="707" name="CustomShape 2"/>
          <p:cNvSpPr/>
          <p:nvPr/>
        </p:nvSpPr>
        <p:spPr>
          <a:xfrm>
            <a:off x="1776240" y="923040"/>
            <a:ext cx="672048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Las interrupciones pueden tener origen en el hardware o ser consecuencia de la ejecución de una instrucción de código máquina especial (INT en x86). Toda interrupción hace que el microprocesador salte a una dirección de programa especial donde está la rutina única de atención, que forma parte del kernel. Esta rutina tiene que salvar el contexto del proceso actual en el stack de usuario, reconocer cual es el origen de la interrupción por un número que esta envía por hardware y con este seleccionar en una tabla de memoria donde está el código para tratar esa interrupción específica. Al terminar debe restaurar el contexto del proceso y devolver el control.</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Esta es una descripción muy simple. Las interrupciones se pueden anidar y enmascarar. Lo habitual es que la atención se divida en dos partes, como en Linux. En la primera (top half), el kernel enmascara todas las interrupciones y reconoce la actual. A continuación programa un tasklet, una forma especial de código que se encola en el propio kernel para su ejecución posterior (bottom half). La mayor parte del código de la rutina de atención está en el tasklet que sí puede interrumpirse.</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Si no se hiciese de esta forma y todo fuera en una secuencia única, dejarían de atenderse otras interrupciones, y podría ser catastrófico para el sistema.</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Interrupción</a:t>
            </a:r>
            <a:endParaRPr lang="es-ES" sz="3600" b="0" strike="noStrike" spc="-1">
              <a:solidFill>
                <a:srgbClr val="000000"/>
              </a:solidFill>
              <a:latin typeface="Calibri"/>
            </a:endParaRPr>
          </a:p>
        </p:txBody>
      </p:sp>
      <p:pic>
        <p:nvPicPr>
          <p:cNvPr id="709" name="Imagen 2"/>
          <p:cNvPicPr/>
          <p:nvPr/>
        </p:nvPicPr>
        <p:blipFill>
          <a:blip r:embed="rId3"/>
          <a:stretch/>
        </p:blipFill>
        <p:spPr>
          <a:xfrm>
            <a:off x="1640880" y="1194840"/>
            <a:ext cx="2569320" cy="3312360"/>
          </a:xfrm>
          <a:prstGeom prst="rect">
            <a:avLst/>
          </a:prstGeom>
          <a:ln>
            <a:noFill/>
          </a:ln>
        </p:spPr>
      </p:pic>
      <p:sp>
        <p:nvSpPr>
          <p:cNvPr id="710" name="CustomShape 2"/>
          <p:cNvSpPr/>
          <p:nvPr/>
        </p:nvSpPr>
        <p:spPr>
          <a:xfrm>
            <a:off x="1690920" y="4696560"/>
            <a:ext cx="4833720" cy="2426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000" b="0" strike="noStrike" spc="-1">
                <a:solidFill>
                  <a:srgbClr val="000000"/>
                </a:solidFill>
                <a:latin typeface="Calibri"/>
              </a:rPr>
              <a:t>Mejía-Álvarez et al: “Interrupt handling schemes in Operating Systems”, 2018, Springer, p.9</a:t>
            </a:r>
            <a:endParaRPr lang="es-ES" sz="1000" b="0" strike="noStrike" spc="-1">
              <a:latin typeface="Arial"/>
            </a:endParaRPr>
          </a:p>
        </p:txBody>
      </p:sp>
      <p:sp>
        <p:nvSpPr>
          <p:cNvPr id="711" name="CustomShape 3"/>
          <p:cNvSpPr/>
          <p:nvPr/>
        </p:nvSpPr>
        <p:spPr>
          <a:xfrm>
            <a:off x="4672080" y="948600"/>
            <a:ext cx="380628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Actores que intervienen en una interrupción en la arquitectura Intel x86:</a:t>
            </a:r>
            <a:endParaRPr lang="es-ES" sz="1350" b="0" strike="noStrike" spc="-1">
              <a:latin typeface="Arial"/>
            </a:endParaRPr>
          </a:p>
          <a:p>
            <a:pPr algn="just">
              <a:lnSpc>
                <a:spcPct val="100000"/>
              </a:lnSpc>
            </a:pP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Dispositivo HW que genera la interrupción.</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Circuito PIC8259A. Este circuito (o varios de ellos conectados en cascada) recibe las peticiones de interrupción y arbitra (selecciona) la más prioritaria si hay varias simultáneas. Activa la petición hacia la CPU.</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La CPU salva contexto, bloquea todas las interrupciones, reconoce la actual (4.1, 4.2), obtiene el vector de interrupción y desbloquea las interrupciones.</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A continuación ejecuta la rutina de interrupción y al terminar envía la señal EOI al 8259ª para indicarlo.</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Restaura contexto</a:t>
            </a:r>
            <a:endParaRPr lang="es-ES" sz="1350" b="0" strike="noStrike" spc="-1">
              <a:latin typeface="Arial"/>
            </a:endParaRPr>
          </a:p>
          <a:p>
            <a:pPr algn="just">
              <a:lnSpc>
                <a:spcPct val="100000"/>
              </a:lnSpc>
            </a:pP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Interrupción</a:t>
            </a:r>
            <a:endParaRPr lang="es-ES" sz="3600" b="0" strike="noStrike" spc="-1">
              <a:solidFill>
                <a:srgbClr val="000000"/>
              </a:solidFill>
              <a:latin typeface="Calibri"/>
            </a:endParaRPr>
          </a:p>
        </p:txBody>
      </p:sp>
      <p:sp>
        <p:nvSpPr>
          <p:cNvPr id="713" name="CustomShape 2"/>
          <p:cNvSpPr/>
          <p:nvPr/>
        </p:nvSpPr>
        <p:spPr>
          <a:xfrm>
            <a:off x="5263200" y="984240"/>
            <a:ext cx="1360080" cy="880560"/>
          </a:xfrm>
          <a:prstGeom prst="rect">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FFFFFF"/>
                </a:solidFill>
                <a:latin typeface="Calibri"/>
              </a:rPr>
              <a:t>El kernel reconoce la interrupción</a:t>
            </a:r>
            <a:endParaRPr lang="es-ES" sz="1350" b="0" strike="noStrike" spc="-1">
              <a:latin typeface="Arial"/>
            </a:endParaRPr>
          </a:p>
        </p:txBody>
      </p:sp>
      <p:sp>
        <p:nvSpPr>
          <p:cNvPr id="714" name="CustomShape 3"/>
          <p:cNvSpPr/>
          <p:nvPr/>
        </p:nvSpPr>
        <p:spPr>
          <a:xfrm>
            <a:off x="5279040" y="2333520"/>
            <a:ext cx="1360080" cy="880560"/>
          </a:xfrm>
          <a:prstGeom prst="rect">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FFFFFF"/>
                </a:solidFill>
                <a:latin typeface="Calibri"/>
              </a:rPr>
              <a:t>Salva el contexto del proceso en el stack de usuario</a:t>
            </a:r>
            <a:endParaRPr lang="es-ES" sz="1350" b="0" strike="noStrike" spc="-1">
              <a:latin typeface="Arial"/>
            </a:endParaRPr>
          </a:p>
        </p:txBody>
      </p:sp>
      <p:sp>
        <p:nvSpPr>
          <p:cNvPr id="715" name="CustomShape 4"/>
          <p:cNvSpPr/>
          <p:nvPr/>
        </p:nvSpPr>
        <p:spPr>
          <a:xfrm>
            <a:off x="5263200" y="3726360"/>
            <a:ext cx="1360080" cy="880560"/>
          </a:xfrm>
          <a:prstGeom prst="rect">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FFFFFF"/>
                </a:solidFill>
                <a:latin typeface="Calibri"/>
              </a:rPr>
              <a:t>Salta a la rutina de atención</a:t>
            </a:r>
            <a:endParaRPr lang="es-ES" sz="1350" b="0" strike="noStrike" spc="-1">
              <a:latin typeface="Arial"/>
            </a:endParaRPr>
          </a:p>
        </p:txBody>
      </p:sp>
      <p:sp>
        <p:nvSpPr>
          <p:cNvPr id="716" name="CustomShape 5"/>
          <p:cNvSpPr/>
          <p:nvPr/>
        </p:nvSpPr>
        <p:spPr>
          <a:xfrm>
            <a:off x="7177680" y="984240"/>
            <a:ext cx="1360080" cy="880560"/>
          </a:xfrm>
          <a:prstGeom prst="rect">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FFFFFF"/>
                </a:solidFill>
                <a:latin typeface="Calibri"/>
              </a:rPr>
              <a:t>top half de la atención</a:t>
            </a:r>
            <a:endParaRPr lang="es-ES" sz="1350" b="0" strike="noStrike" spc="-1">
              <a:latin typeface="Arial"/>
            </a:endParaRPr>
          </a:p>
          <a:p>
            <a:pPr algn="ctr">
              <a:lnSpc>
                <a:spcPct val="100000"/>
              </a:lnSpc>
            </a:pPr>
            <a:r>
              <a:rPr lang="es-ES" sz="1350" b="0" strike="noStrike" spc="-1">
                <a:solidFill>
                  <a:srgbClr val="FFFFFF"/>
                </a:solidFill>
                <a:latin typeface="Calibri"/>
              </a:rPr>
              <a:t>(no interrumpible)</a:t>
            </a:r>
            <a:endParaRPr lang="es-ES" sz="1350" b="0" strike="noStrike" spc="-1">
              <a:latin typeface="Arial"/>
            </a:endParaRPr>
          </a:p>
        </p:txBody>
      </p:sp>
      <p:sp>
        <p:nvSpPr>
          <p:cNvPr id="717" name="CustomShape 6"/>
          <p:cNvSpPr/>
          <p:nvPr/>
        </p:nvSpPr>
        <p:spPr>
          <a:xfrm>
            <a:off x="7177680" y="2333520"/>
            <a:ext cx="1360080" cy="880560"/>
          </a:xfrm>
          <a:prstGeom prst="rect">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FFFFFF"/>
                </a:solidFill>
                <a:latin typeface="Calibri"/>
              </a:rPr>
              <a:t>Retorno de la interrupción (restaura el contexto)</a:t>
            </a:r>
            <a:endParaRPr lang="es-ES" sz="1350" b="0" strike="noStrike" spc="-1">
              <a:latin typeface="Arial"/>
            </a:endParaRPr>
          </a:p>
        </p:txBody>
      </p:sp>
      <p:sp>
        <p:nvSpPr>
          <p:cNvPr id="718" name="CustomShape 7"/>
          <p:cNvSpPr/>
          <p:nvPr/>
        </p:nvSpPr>
        <p:spPr>
          <a:xfrm>
            <a:off x="7177680" y="3726360"/>
            <a:ext cx="1360080" cy="880560"/>
          </a:xfrm>
          <a:prstGeom prst="rect">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FFFFFF"/>
                </a:solidFill>
                <a:latin typeface="Calibri"/>
              </a:rPr>
              <a:t>bottom half de la atención</a:t>
            </a:r>
            <a:endParaRPr lang="es-ES" sz="1350" b="0" strike="noStrike" spc="-1">
              <a:latin typeface="Arial"/>
            </a:endParaRPr>
          </a:p>
          <a:p>
            <a:pPr algn="ctr">
              <a:lnSpc>
                <a:spcPct val="100000"/>
              </a:lnSpc>
            </a:pPr>
            <a:r>
              <a:rPr lang="es-ES" sz="1350" b="0" strike="noStrike" spc="-1">
                <a:solidFill>
                  <a:srgbClr val="FFFFFF"/>
                </a:solidFill>
                <a:latin typeface="Calibri"/>
              </a:rPr>
              <a:t>(interrumpible)</a:t>
            </a:r>
            <a:endParaRPr lang="es-ES" sz="1350" b="0" strike="noStrike" spc="-1">
              <a:latin typeface="Arial"/>
            </a:endParaRPr>
          </a:p>
        </p:txBody>
      </p:sp>
      <p:sp>
        <p:nvSpPr>
          <p:cNvPr id="719" name="CustomShape 8"/>
          <p:cNvSpPr/>
          <p:nvPr/>
        </p:nvSpPr>
        <p:spPr>
          <a:xfrm>
            <a:off x="5056200" y="984240"/>
            <a:ext cx="222840" cy="295920"/>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1</a:t>
            </a:r>
            <a:endParaRPr lang="es-ES" sz="1350" b="0" strike="noStrike" spc="-1">
              <a:latin typeface="Arial"/>
            </a:endParaRPr>
          </a:p>
        </p:txBody>
      </p:sp>
      <p:sp>
        <p:nvSpPr>
          <p:cNvPr id="720" name="CustomShape 9"/>
          <p:cNvSpPr/>
          <p:nvPr/>
        </p:nvSpPr>
        <p:spPr>
          <a:xfrm>
            <a:off x="5056200" y="2333520"/>
            <a:ext cx="222840" cy="295920"/>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2</a:t>
            </a:r>
            <a:endParaRPr lang="es-ES" sz="1350" b="0" strike="noStrike" spc="-1">
              <a:latin typeface="Arial"/>
            </a:endParaRPr>
          </a:p>
        </p:txBody>
      </p:sp>
      <p:sp>
        <p:nvSpPr>
          <p:cNvPr id="721" name="CustomShape 10"/>
          <p:cNvSpPr/>
          <p:nvPr/>
        </p:nvSpPr>
        <p:spPr>
          <a:xfrm>
            <a:off x="5040360" y="3726360"/>
            <a:ext cx="222840" cy="295920"/>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3</a:t>
            </a:r>
            <a:endParaRPr lang="es-ES" sz="1350" b="0" strike="noStrike" spc="-1">
              <a:latin typeface="Arial"/>
            </a:endParaRPr>
          </a:p>
        </p:txBody>
      </p:sp>
      <p:sp>
        <p:nvSpPr>
          <p:cNvPr id="722" name="CustomShape 11"/>
          <p:cNvSpPr/>
          <p:nvPr/>
        </p:nvSpPr>
        <p:spPr>
          <a:xfrm>
            <a:off x="6954480" y="984240"/>
            <a:ext cx="222840" cy="295920"/>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4</a:t>
            </a:r>
            <a:endParaRPr lang="es-ES" sz="1350" b="0" strike="noStrike" spc="-1">
              <a:latin typeface="Arial"/>
            </a:endParaRPr>
          </a:p>
        </p:txBody>
      </p:sp>
      <p:sp>
        <p:nvSpPr>
          <p:cNvPr id="723" name="CustomShape 12"/>
          <p:cNvSpPr/>
          <p:nvPr/>
        </p:nvSpPr>
        <p:spPr>
          <a:xfrm>
            <a:off x="6954480" y="2329920"/>
            <a:ext cx="222840" cy="295920"/>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5</a:t>
            </a:r>
            <a:endParaRPr lang="es-ES" sz="1350" b="0" strike="noStrike" spc="-1">
              <a:latin typeface="Arial"/>
            </a:endParaRPr>
          </a:p>
        </p:txBody>
      </p:sp>
      <p:sp>
        <p:nvSpPr>
          <p:cNvPr id="724" name="CustomShape 13"/>
          <p:cNvSpPr/>
          <p:nvPr/>
        </p:nvSpPr>
        <p:spPr>
          <a:xfrm>
            <a:off x="6954480" y="3726360"/>
            <a:ext cx="222840" cy="295920"/>
          </a:xfrm>
          <a:prstGeom prst="rect">
            <a:avLst/>
          </a:prstGeom>
          <a:solidFill>
            <a:schemeClr val="bg1"/>
          </a:solid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6</a:t>
            </a:r>
            <a:endParaRPr lang="es-ES" sz="1350" b="0" strike="noStrike" spc="-1">
              <a:latin typeface="Arial"/>
            </a:endParaRPr>
          </a:p>
        </p:txBody>
      </p:sp>
      <p:sp>
        <p:nvSpPr>
          <p:cNvPr id="725" name="CustomShape 14"/>
          <p:cNvSpPr/>
          <p:nvPr/>
        </p:nvSpPr>
        <p:spPr>
          <a:xfrm>
            <a:off x="1776240" y="2644200"/>
            <a:ext cx="2572200" cy="194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Esquema de atención de las interrupciones en Linux. La separación en dos partes es una técnica avanzada para evitar largos segmentos de código no interrumpible. Los detalles exceden del contenido de este curso pero puede ampliarse la información en el siguiente paper:</a:t>
            </a:r>
            <a:endParaRPr lang="es-ES" sz="1350" b="0" strike="noStrike" spc="-1">
              <a:latin typeface="Arial"/>
            </a:endParaRPr>
          </a:p>
        </p:txBody>
      </p:sp>
      <p:sp>
        <p:nvSpPr>
          <p:cNvPr id="726" name="CustomShape 15"/>
          <p:cNvSpPr/>
          <p:nvPr/>
        </p:nvSpPr>
        <p:spPr>
          <a:xfrm>
            <a:off x="1776240" y="4682160"/>
            <a:ext cx="457704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u="sng" strike="noStrike" spc="-1">
                <a:solidFill>
                  <a:srgbClr val="0563C1"/>
                </a:solidFill>
                <a:uFillTx/>
                <a:latin typeface="Calibri"/>
                <a:hlinkClick r:id="rId3"/>
              </a:rPr>
              <a:t>I’ll Do It Later: Softirqs, Tasklets, Bottom Halves, Task Queues,</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Interrupción</a:t>
            </a:r>
            <a:endParaRPr lang="es-ES" sz="3600" b="0" strike="noStrike" spc="-1">
              <a:solidFill>
                <a:srgbClr val="000000"/>
              </a:solidFill>
              <a:latin typeface="Calibri"/>
            </a:endParaRPr>
          </a:p>
        </p:txBody>
      </p:sp>
      <p:sp>
        <p:nvSpPr>
          <p:cNvPr id="728" name="CustomShape 2"/>
          <p:cNvSpPr/>
          <p:nvPr/>
        </p:nvSpPr>
        <p:spPr>
          <a:xfrm>
            <a:off x="1776240" y="923040"/>
            <a:ext cx="6720480" cy="299880"/>
          </a:xfrm>
          <a:prstGeom prst="rect">
            <a:avLst/>
          </a:prstGeom>
          <a:noFill/>
          <a:ln>
            <a:noFill/>
          </a:ln>
        </p:spPr>
        <p:style>
          <a:lnRef idx="0">
            <a:scrgbClr r="0" g="0" b="0"/>
          </a:lnRef>
          <a:fillRef idx="0">
            <a:scrgbClr r="0" g="0" b="0"/>
          </a:fillRef>
          <a:effectRef idx="0">
            <a:scrgbClr r="0" g="0" b="0"/>
          </a:effectRef>
          <a:fontRef idx="minor"/>
        </p:style>
      </p:sp>
      <p:sp>
        <p:nvSpPr>
          <p:cNvPr id="729" name="CustomShape 3"/>
          <p:cNvSpPr/>
          <p:nvPr/>
        </p:nvSpPr>
        <p:spPr>
          <a:xfrm>
            <a:off x="1776240" y="923040"/>
            <a:ext cx="6720480" cy="1734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La interrupción software sirve para invocar los servicios del Sistema Operativo. Los parámetros y el resultado se intercambian por el stack de usuario del proceso. En Linux, si la primitiva tiene menos de 6 parámetros, se pasan por valor en los registros %eax, %ebx, %ecx,, %esi, %edi, %ebp. En %eax se escribe el código de operación para que el sistema sepa qué primitiva se demanda. Si hay 6 o más parámetros, se pasa un puntero como referencia a la memoria en la que residen los valores. El resultado se devuelve también en %eax.</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endParaRPr lang="es-ES" sz="1350" b="0" strike="noStrike" spc="-1">
              <a:latin typeface="Arial"/>
            </a:endParaRPr>
          </a:p>
        </p:txBody>
      </p:sp>
      <p:pic>
        <p:nvPicPr>
          <p:cNvPr id="730" name="Imagen 6"/>
          <p:cNvPicPr/>
          <p:nvPr/>
        </p:nvPicPr>
        <p:blipFill>
          <a:blip r:embed="rId3"/>
          <a:stretch/>
        </p:blipFill>
        <p:spPr>
          <a:xfrm>
            <a:off x="2853720" y="2373840"/>
            <a:ext cx="4894920" cy="26856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Interrupción</a:t>
            </a:r>
            <a:endParaRPr lang="es-ES" sz="3600" b="0" strike="noStrike" spc="-1">
              <a:solidFill>
                <a:srgbClr val="000000"/>
              </a:solidFill>
              <a:latin typeface="Calibri"/>
            </a:endParaRPr>
          </a:p>
        </p:txBody>
      </p:sp>
      <p:sp>
        <p:nvSpPr>
          <p:cNvPr id="732" name="CustomShape 2"/>
          <p:cNvSpPr/>
          <p:nvPr/>
        </p:nvSpPr>
        <p:spPr>
          <a:xfrm>
            <a:off x="1776240" y="927360"/>
            <a:ext cx="6720480" cy="299880"/>
          </a:xfrm>
          <a:prstGeom prst="rect">
            <a:avLst/>
          </a:prstGeom>
          <a:noFill/>
          <a:ln>
            <a:noFill/>
          </a:ln>
        </p:spPr>
        <p:style>
          <a:lnRef idx="0">
            <a:scrgbClr r="0" g="0" b="0"/>
          </a:lnRef>
          <a:fillRef idx="0">
            <a:scrgbClr r="0" g="0" b="0"/>
          </a:fillRef>
          <a:effectRef idx="0">
            <a:scrgbClr r="0" g="0" b="0"/>
          </a:effectRef>
          <a:fontRef idx="minor"/>
        </p:style>
      </p:sp>
      <p:sp>
        <p:nvSpPr>
          <p:cNvPr id="733" name="CustomShape 3"/>
          <p:cNvSpPr/>
          <p:nvPr/>
        </p:nvSpPr>
        <p:spPr>
          <a:xfrm>
            <a:off x="1656000" y="1042560"/>
            <a:ext cx="3112920" cy="3584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Ejemplo de invocación de llamada en Unix. El proceso de usuario utiliza la función </a:t>
            </a:r>
            <a:r>
              <a:rPr lang="es-ES" sz="1100" b="0" strike="noStrike" spc="-1">
                <a:solidFill>
                  <a:srgbClr val="000000"/>
                </a:solidFill>
                <a:latin typeface="Lucida Sans Typewriter"/>
              </a:rPr>
              <a:t>excve</a:t>
            </a:r>
            <a:r>
              <a:rPr lang="es-ES" sz="1350" b="0" strike="noStrike" spc="-1">
                <a:solidFill>
                  <a:srgbClr val="000000"/>
                </a:solidFill>
                <a:latin typeface="Calibri"/>
              </a:rPr>
              <a:t> de la librería </a:t>
            </a:r>
            <a:r>
              <a:rPr lang="es-ES" sz="1100" b="0" strike="noStrike" spc="-1">
                <a:solidFill>
                  <a:srgbClr val="000000"/>
                </a:solidFill>
                <a:latin typeface="Lucida Sans Typewriter"/>
              </a:rPr>
              <a:t>glibc</a:t>
            </a:r>
            <a:r>
              <a:rPr lang="es-ES" sz="1350" b="0" strike="noStrike" spc="-1">
                <a:solidFill>
                  <a:srgbClr val="000000"/>
                </a:solidFill>
                <a:latin typeface="Calibri"/>
              </a:rPr>
              <a:t> para crear un proceso. El programador ni siquiera tiene que ser consciente de que está haciendo una llamada al SO, ve una función convencional.</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función </a:t>
            </a:r>
            <a:r>
              <a:rPr lang="es-ES" sz="1100" b="0" strike="noStrike" spc="-1">
                <a:solidFill>
                  <a:srgbClr val="000000"/>
                </a:solidFill>
                <a:latin typeface="Lucida Sans Typewriter"/>
              </a:rPr>
              <a:t>execve</a:t>
            </a:r>
            <a:r>
              <a:rPr lang="es-ES" sz="1350" b="0" strike="noStrike" spc="-1">
                <a:solidFill>
                  <a:srgbClr val="000000"/>
                </a:solidFill>
                <a:latin typeface="Calibri"/>
              </a:rPr>
              <a:t>, prepara los datos en el stack e invoca la interrupción software. La rutina de atención del kernel identifica que el origen es SW, con el contenido de </a:t>
            </a:r>
            <a:r>
              <a:rPr lang="es-ES" sz="1100" b="0" strike="noStrike" spc="-1">
                <a:solidFill>
                  <a:srgbClr val="000000"/>
                </a:solidFill>
                <a:latin typeface="Lucida Sans Typewriter"/>
              </a:rPr>
              <a:t>%eax </a:t>
            </a:r>
            <a:r>
              <a:rPr lang="es-ES" sz="1350" b="0" strike="noStrike" spc="-1">
                <a:solidFill>
                  <a:srgbClr val="000000"/>
                </a:solidFill>
                <a:latin typeface="Calibri"/>
              </a:rPr>
              <a:t>sabe que es una llamada a </a:t>
            </a:r>
            <a:r>
              <a:rPr lang="es-ES" sz="1100" b="0" strike="noStrike" spc="-1">
                <a:solidFill>
                  <a:srgbClr val="000000"/>
                </a:solidFill>
                <a:latin typeface="Lucida Sans Typewriter"/>
              </a:rPr>
              <a:t>execve</a:t>
            </a:r>
            <a:r>
              <a:rPr lang="es-ES" sz="1350" b="0" strike="noStrike" spc="-1">
                <a:solidFill>
                  <a:srgbClr val="000000"/>
                </a:solidFill>
                <a:latin typeface="Calibri"/>
              </a:rPr>
              <a:t> y lanza el código correspondiente. Devuelve el resultado en </a:t>
            </a:r>
            <a:r>
              <a:rPr lang="es-ES" sz="1100" b="0" strike="noStrike" spc="-1">
                <a:solidFill>
                  <a:srgbClr val="000000"/>
                </a:solidFill>
                <a:latin typeface="Lucida Sans Typewriter"/>
              </a:rPr>
              <a:t>%eax </a:t>
            </a:r>
            <a:r>
              <a:rPr lang="es-ES" sz="1350" b="0" strike="noStrike" spc="-1">
                <a:solidFill>
                  <a:srgbClr val="000000"/>
                </a:solidFill>
                <a:latin typeface="Calibri"/>
              </a:rPr>
              <a:t>y esto es lo que recibe el proceso de usuario como resultado de la función que invocó.</a:t>
            </a:r>
            <a:endParaRPr lang="es-ES" sz="1350" b="0" strike="noStrike" spc="-1">
              <a:latin typeface="Arial"/>
            </a:endParaRPr>
          </a:p>
        </p:txBody>
      </p:sp>
      <p:pic>
        <p:nvPicPr>
          <p:cNvPr id="734" name="Picture 2"/>
          <p:cNvPicPr/>
          <p:nvPr/>
        </p:nvPicPr>
        <p:blipFill>
          <a:blip r:embed="rId3"/>
          <a:stretch/>
        </p:blipFill>
        <p:spPr>
          <a:xfrm>
            <a:off x="5039280" y="966960"/>
            <a:ext cx="3960000" cy="3796200"/>
          </a:xfrm>
          <a:prstGeom prst="rect">
            <a:avLst/>
          </a:prstGeom>
          <a:ln>
            <a:noFill/>
          </a:ln>
        </p:spPr>
      </p:pic>
      <p:sp>
        <p:nvSpPr>
          <p:cNvPr id="735" name="CustomShape 4"/>
          <p:cNvSpPr/>
          <p:nvPr/>
        </p:nvSpPr>
        <p:spPr>
          <a:xfrm>
            <a:off x="6187680" y="261360"/>
            <a:ext cx="2473920" cy="592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s-ES" sz="1100" b="1" strike="noStrike" spc="-1">
                <a:solidFill>
                  <a:srgbClr val="7C7C7C"/>
                </a:solidFill>
                <a:latin typeface="Bradley Hand ITC"/>
              </a:rPr>
              <a:t>Interrupción SW, el número 80H indica en Linux que es una llamada a servicio</a:t>
            </a:r>
            <a:endParaRPr lang="es-ES" sz="1100" b="0" strike="noStrike" spc="-1">
              <a:latin typeface="Arial"/>
            </a:endParaRPr>
          </a:p>
        </p:txBody>
      </p:sp>
      <p:sp>
        <p:nvSpPr>
          <p:cNvPr id="736" name="CustomShape 5"/>
          <p:cNvSpPr/>
          <p:nvPr/>
        </p:nvSpPr>
        <p:spPr>
          <a:xfrm flipH="1">
            <a:off x="7146000" y="861480"/>
            <a:ext cx="278640" cy="1026360"/>
          </a:xfrm>
          <a:custGeom>
            <a:avLst/>
            <a:gdLst/>
            <a:ahLst/>
            <a:cxnLst/>
            <a:rect l="l" t="t" r="r" b="b"/>
            <a:pathLst>
              <a:path w="21600" h="21600">
                <a:moveTo>
                  <a:pt x="0" y="0"/>
                </a:moveTo>
                <a:lnTo>
                  <a:pt x="21600" y="21600"/>
                </a:lnTo>
              </a:path>
            </a:pathLst>
          </a:custGeom>
          <a:noFill/>
          <a:ln>
            <a:solidFill>
              <a:schemeClr val="bg2">
                <a:lumMod val="75000"/>
              </a:schemeClr>
            </a:solidFill>
            <a:tailEnd type="triangle" w="med" len="med"/>
          </a:ln>
        </p:spPr>
        <p:style>
          <a:lnRef idx="1">
            <a:schemeClr val="accent1"/>
          </a:lnRef>
          <a:fillRef idx="0">
            <a:schemeClr val="accent1"/>
          </a:fillRef>
          <a:effectRef idx="0">
            <a:schemeClr val="accent1"/>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 name="Imagen 2"/>
          <p:cNvPicPr/>
          <p:nvPr/>
        </p:nvPicPr>
        <p:blipFill>
          <a:blip r:embed="rId3"/>
          <a:stretch/>
        </p:blipFill>
        <p:spPr>
          <a:xfrm>
            <a:off x="5680440" y="171000"/>
            <a:ext cx="3042360" cy="4971960"/>
          </a:xfrm>
          <a:prstGeom prst="rect">
            <a:avLst/>
          </a:prstGeom>
          <a:ln>
            <a:noFill/>
          </a:ln>
        </p:spPr>
      </p:pic>
      <p:sp>
        <p:nvSpPr>
          <p:cNvPr id="738"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Finalización</a:t>
            </a:r>
            <a:endParaRPr lang="es-ES" sz="3600" b="0" strike="noStrike" spc="-1">
              <a:solidFill>
                <a:srgbClr val="000000"/>
              </a:solidFill>
              <a:latin typeface="Calibri"/>
            </a:endParaRPr>
          </a:p>
        </p:txBody>
      </p:sp>
      <p:sp>
        <p:nvSpPr>
          <p:cNvPr id="739" name="CustomShape 2"/>
          <p:cNvSpPr/>
          <p:nvPr/>
        </p:nvSpPr>
        <p:spPr>
          <a:xfrm>
            <a:off x="7668720" y="601560"/>
            <a:ext cx="1605600" cy="42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1" strike="noStrike" spc="-1">
                <a:solidFill>
                  <a:srgbClr val="2C34A3"/>
                </a:solidFill>
                <a:latin typeface="Calibri"/>
              </a:rPr>
              <a:t>Código de exit() en xv6</a:t>
            </a:r>
            <a:endParaRPr lang="es-ES" sz="1100" b="0" strike="noStrike" spc="-1">
              <a:latin typeface="Arial"/>
            </a:endParaRPr>
          </a:p>
          <a:p>
            <a:pPr>
              <a:lnSpc>
                <a:spcPct val="100000"/>
              </a:lnSpc>
            </a:pPr>
            <a:r>
              <a:rPr lang="es-ES" sz="1100" b="1" strike="noStrike" spc="-1">
                <a:solidFill>
                  <a:srgbClr val="2C34A3"/>
                </a:solidFill>
                <a:latin typeface="Calibri"/>
              </a:rPr>
              <a:t>Fichero proc.c</a:t>
            </a:r>
            <a:endParaRPr lang="es-ES" sz="1100" b="0" strike="noStrike" spc="-1">
              <a:latin typeface="Arial"/>
            </a:endParaRPr>
          </a:p>
        </p:txBody>
      </p:sp>
      <p:sp>
        <p:nvSpPr>
          <p:cNvPr id="740" name="CustomShape 3"/>
          <p:cNvSpPr/>
          <p:nvPr/>
        </p:nvSpPr>
        <p:spPr>
          <a:xfrm>
            <a:off x="1579680" y="828720"/>
            <a:ext cx="4808160" cy="45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El proceso init es el único que no puede invocar exit, si</a:t>
            </a:r>
            <a:endParaRPr lang="es-ES" sz="1200" b="0" strike="noStrike" spc="-1">
              <a:latin typeface="Arial"/>
            </a:endParaRPr>
          </a:p>
          <a:p>
            <a:pPr>
              <a:lnSpc>
                <a:spcPct val="100000"/>
              </a:lnSpc>
            </a:pPr>
            <a:r>
              <a:rPr lang="es-ES" sz="1200" b="0" strike="noStrike" spc="-1">
                <a:solidFill>
                  <a:srgbClr val="C55A11"/>
                </a:solidFill>
                <a:latin typeface="Arial"/>
              </a:rPr>
              <a:t>muere es un kernel panic [crash del Sistema]</a:t>
            </a:r>
            <a:endParaRPr lang="es-ES" sz="1200" b="0" strike="noStrike" spc="-1">
              <a:latin typeface="Arial"/>
            </a:endParaRPr>
          </a:p>
        </p:txBody>
      </p:sp>
      <p:sp>
        <p:nvSpPr>
          <p:cNvPr id="741" name="CustomShape 4"/>
          <p:cNvSpPr/>
          <p:nvPr/>
        </p:nvSpPr>
        <p:spPr>
          <a:xfrm>
            <a:off x="5577480" y="792000"/>
            <a:ext cx="1613520" cy="430560"/>
          </a:xfrm>
          <a:prstGeom prst="roundRect">
            <a:avLst>
              <a:gd name="adj" fmla="val 27880"/>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742" name="CustomShape 5"/>
          <p:cNvSpPr/>
          <p:nvPr/>
        </p:nvSpPr>
        <p:spPr>
          <a:xfrm>
            <a:off x="5128920" y="1062360"/>
            <a:ext cx="297720" cy="36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743" name="CustomShape 6"/>
          <p:cNvSpPr/>
          <p:nvPr/>
        </p:nvSpPr>
        <p:spPr>
          <a:xfrm>
            <a:off x="1466280" y="3917880"/>
            <a:ext cx="480816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Se marca el proceso como RUNNABLE (Listo)</a:t>
            </a:r>
            <a:endParaRPr lang="es-ES" sz="1200" b="0" strike="noStrike" spc="-1">
              <a:latin typeface="Arial"/>
            </a:endParaRPr>
          </a:p>
        </p:txBody>
      </p:sp>
      <p:sp>
        <p:nvSpPr>
          <p:cNvPr id="744" name="CustomShape 7"/>
          <p:cNvSpPr/>
          <p:nvPr/>
        </p:nvSpPr>
        <p:spPr>
          <a:xfrm>
            <a:off x="4484160" y="4056480"/>
            <a:ext cx="967680" cy="7344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745" name="CustomShape 8"/>
          <p:cNvSpPr/>
          <p:nvPr/>
        </p:nvSpPr>
        <p:spPr>
          <a:xfrm>
            <a:off x="1466280" y="4393440"/>
            <a:ext cx="480816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Se marca como ZOMBIE e</a:t>
            </a:r>
            <a:endParaRPr lang="es-ES" sz="1200" b="0" strike="noStrike" spc="-1">
              <a:latin typeface="Arial"/>
            </a:endParaRPr>
          </a:p>
          <a:p>
            <a:pPr>
              <a:lnSpc>
                <a:spcPct val="100000"/>
              </a:lnSpc>
            </a:pPr>
            <a:r>
              <a:rPr lang="es-ES" sz="1200" b="0" strike="noStrike" spc="-1">
                <a:solidFill>
                  <a:srgbClr val="C55A11"/>
                </a:solidFill>
                <a:latin typeface="Arial"/>
              </a:rPr>
              <a:t>invoca al scheduler. No debería volver si la invocación</a:t>
            </a:r>
            <a:endParaRPr lang="es-ES" sz="1200" b="0" strike="noStrike" spc="-1">
              <a:latin typeface="Arial"/>
            </a:endParaRPr>
          </a:p>
          <a:p>
            <a:pPr>
              <a:lnSpc>
                <a:spcPct val="100000"/>
              </a:lnSpc>
            </a:pPr>
            <a:r>
              <a:rPr lang="es-ES" sz="1200" b="0" strike="noStrike" spc="-1">
                <a:solidFill>
                  <a:srgbClr val="C55A11"/>
                </a:solidFill>
                <a:latin typeface="Arial"/>
              </a:rPr>
              <a:t>falla es un kernel panic</a:t>
            </a:r>
            <a:endParaRPr lang="es-ES" sz="1200" b="0" strike="noStrike" spc="-1">
              <a:latin typeface="Arial"/>
            </a:endParaRPr>
          </a:p>
        </p:txBody>
      </p:sp>
      <p:sp>
        <p:nvSpPr>
          <p:cNvPr id="746" name="CustomShape 9"/>
          <p:cNvSpPr/>
          <p:nvPr/>
        </p:nvSpPr>
        <p:spPr>
          <a:xfrm>
            <a:off x="3303720" y="4532040"/>
            <a:ext cx="2148480" cy="5508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747" name="CustomShape 10"/>
          <p:cNvSpPr/>
          <p:nvPr/>
        </p:nvSpPr>
        <p:spPr>
          <a:xfrm>
            <a:off x="5572080" y="1239120"/>
            <a:ext cx="2467440" cy="912960"/>
          </a:xfrm>
          <a:prstGeom prst="roundRect">
            <a:avLst>
              <a:gd name="adj" fmla="val 27880"/>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748" name="CustomShape 11"/>
          <p:cNvSpPr/>
          <p:nvPr/>
        </p:nvSpPr>
        <p:spPr>
          <a:xfrm>
            <a:off x="1579680" y="1365120"/>
            <a:ext cx="4808160" cy="45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Cerrar todos los procesos que estén abiertos aunque el</a:t>
            </a:r>
            <a:endParaRPr lang="es-ES" sz="1200" b="0" strike="noStrike" spc="-1">
              <a:latin typeface="Arial"/>
            </a:endParaRPr>
          </a:p>
          <a:p>
            <a:pPr>
              <a:lnSpc>
                <a:spcPct val="100000"/>
              </a:lnSpc>
            </a:pPr>
            <a:r>
              <a:rPr lang="es-ES" sz="1200" b="0" strike="noStrike" spc="-1">
                <a:solidFill>
                  <a:srgbClr val="C55A11"/>
                </a:solidFill>
                <a:latin typeface="Arial"/>
              </a:rPr>
              <a:t>programa no lo haya hecho</a:t>
            </a:r>
            <a:endParaRPr lang="es-ES" sz="1200" b="0" strike="noStrike" spc="-1">
              <a:latin typeface="Arial"/>
            </a:endParaRPr>
          </a:p>
        </p:txBody>
      </p:sp>
      <p:sp>
        <p:nvSpPr>
          <p:cNvPr id="749" name="CustomShape 12"/>
          <p:cNvSpPr/>
          <p:nvPr/>
        </p:nvSpPr>
        <p:spPr>
          <a:xfrm>
            <a:off x="5070960" y="1695600"/>
            <a:ext cx="297720" cy="36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750" name="CustomShape 13"/>
          <p:cNvSpPr/>
          <p:nvPr/>
        </p:nvSpPr>
        <p:spPr>
          <a:xfrm>
            <a:off x="5566680" y="2168640"/>
            <a:ext cx="2467440" cy="629280"/>
          </a:xfrm>
          <a:prstGeom prst="roundRect">
            <a:avLst>
              <a:gd name="adj" fmla="val 27880"/>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751" name="CustomShape 14"/>
          <p:cNvSpPr/>
          <p:nvPr/>
        </p:nvSpPr>
        <p:spPr>
          <a:xfrm>
            <a:off x="1579680" y="2365920"/>
            <a:ext cx="480816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Decrementa los contadores de inodo [lección 5]</a:t>
            </a:r>
            <a:endParaRPr lang="es-ES" sz="1200" b="0" strike="noStrike" spc="-1">
              <a:latin typeface="Arial"/>
            </a:endParaRPr>
          </a:p>
        </p:txBody>
      </p:sp>
      <p:sp>
        <p:nvSpPr>
          <p:cNvPr id="752" name="CustomShape 15"/>
          <p:cNvSpPr/>
          <p:nvPr/>
        </p:nvSpPr>
        <p:spPr>
          <a:xfrm>
            <a:off x="4717440" y="2526480"/>
            <a:ext cx="734760" cy="36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753" name="CustomShape 16"/>
          <p:cNvSpPr/>
          <p:nvPr/>
        </p:nvSpPr>
        <p:spPr>
          <a:xfrm>
            <a:off x="1576080" y="3080880"/>
            <a:ext cx="4808160" cy="45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200" b="0" strike="noStrike" spc="-1">
                <a:solidFill>
                  <a:srgbClr val="C55A11"/>
                </a:solidFill>
                <a:latin typeface="Arial"/>
              </a:rPr>
              <a:t>Despierta al proceso padre si está en un wait() a la espera</a:t>
            </a:r>
            <a:endParaRPr lang="es-ES" sz="1200" b="0" strike="noStrike" spc="-1">
              <a:latin typeface="Arial"/>
            </a:endParaRPr>
          </a:p>
          <a:p>
            <a:pPr>
              <a:lnSpc>
                <a:spcPct val="100000"/>
              </a:lnSpc>
            </a:pPr>
            <a:r>
              <a:rPr lang="es-ES" sz="1200" b="0" strike="noStrike" spc="-1">
                <a:solidFill>
                  <a:srgbClr val="C55A11"/>
                </a:solidFill>
                <a:latin typeface="Arial"/>
              </a:rPr>
              <a:t>de que el hijo termine</a:t>
            </a:r>
            <a:endParaRPr lang="es-ES" sz="1200" b="0" strike="noStrike" spc="-1">
              <a:latin typeface="Arial"/>
            </a:endParaRPr>
          </a:p>
        </p:txBody>
      </p:sp>
      <p:sp>
        <p:nvSpPr>
          <p:cNvPr id="754" name="CustomShape 17"/>
          <p:cNvSpPr/>
          <p:nvPr/>
        </p:nvSpPr>
        <p:spPr>
          <a:xfrm>
            <a:off x="5330880" y="3346560"/>
            <a:ext cx="356760" cy="119160"/>
          </a:xfrm>
          <a:custGeom>
            <a:avLst/>
            <a:gdLst/>
            <a:ahLst/>
            <a:cxnLst/>
            <a:rect l="l" t="t" r="r" b="b"/>
            <a:pathLst>
              <a:path w="21600" h="21600">
                <a:moveTo>
                  <a:pt x="0" y="0"/>
                </a:moveTo>
                <a:lnTo>
                  <a:pt x="21600" y="21600"/>
                </a:lnTo>
              </a:path>
            </a:pathLst>
          </a:custGeom>
          <a:noFill/>
          <a:ln>
            <a:solidFill>
              <a:schemeClr val="accent2"/>
            </a:solidFill>
            <a:tailEnd type="triangle" w="med" len="med"/>
          </a:ln>
        </p:spPr>
        <p:style>
          <a:lnRef idx="1">
            <a:schemeClr val="accent1"/>
          </a:lnRef>
          <a:fillRef idx="0">
            <a:schemeClr val="accent1"/>
          </a:fillRef>
          <a:effectRef idx="0">
            <a:schemeClr val="accent1"/>
          </a:effectRef>
          <a:fontRef idx="minor"/>
        </p:style>
      </p:sp>
      <p:sp>
        <p:nvSpPr>
          <p:cNvPr id="755" name="CustomShape 18"/>
          <p:cNvSpPr/>
          <p:nvPr/>
        </p:nvSpPr>
        <p:spPr>
          <a:xfrm>
            <a:off x="5577480" y="2806200"/>
            <a:ext cx="2467440" cy="1670040"/>
          </a:xfrm>
          <a:prstGeom prst="roundRect">
            <a:avLst>
              <a:gd name="adj" fmla="val 15195"/>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
        <p:nvSpPr>
          <p:cNvPr id="756" name="CustomShape 19"/>
          <p:cNvSpPr/>
          <p:nvPr/>
        </p:nvSpPr>
        <p:spPr>
          <a:xfrm>
            <a:off x="5577480" y="4503960"/>
            <a:ext cx="2696400" cy="468000"/>
          </a:xfrm>
          <a:prstGeom prst="roundRect">
            <a:avLst>
              <a:gd name="adj" fmla="val 15195"/>
            </a:avLst>
          </a:prstGeom>
          <a:noFill/>
          <a:ln>
            <a:solidFill>
              <a:schemeClr val="accent2"/>
            </a:solidFill>
            <a:custDash>
              <a:ds d="300000" sp="100000"/>
            </a:custDash>
          </a:ln>
        </p:spPr>
        <p:style>
          <a:lnRef idx="2">
            <a:schemeClr val="accent1">
              <a:shade val="50000"/>
            </a:schemeClr>
          </a:lnRef>
          <a:fillRef idx="1">
            <a:schemeClr val="accent1"/>
          </a:fillRef>
          <a:effectRef idx="0">
            <a:schemeClr val="accent1"/>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Finalización</a:t>
            </a:r>
            <a:endParaRPr lang="es-ES" sz="3600" b="0" strike="noStrike" spc="-1">
              <a:solidFill>
                <a:srgbClr val="000000"/>
              </a:solidFill>
              <a:latin typeface="Calibri"/>
            </a:endParaRPr>
          </a:p>
        </p:txBody>
      </p:sp>
      <p:pic>
        <p:nvPicPr>
          <p:cNvPr id="758" name="Picture 2"/>
          <p:cNvPicPr/>
          <p:nvPr/>
        </p:nvPicPr>
        <p:blipFill>
          <a:blip r:embed="rId3"/>
          <a:stretch/>
        </p:blipFill>
        <p:spPr>
          <a:xfrm>
            <a:off x="2147040" y="917280"/>
            <a:ext cx="6307920" cy="2916720"/>
          </a:xfrm>
          <a:prstGeom prst="rect">
            <a:avLst/>
          </a:prstGeom>
          <a:ln>
            <a:noFill/>
          </a:ln>
        </p:spPr>
      </p:pic>
      <p:sp>
        <p:nvSpPr>
          <p:cNvPr id="759" name="CustomShape 2"/>
          <p:cNvSpPr/>
          <p:nvPr/>
        </p:nvSpPr>
        <p:spPr>
          <a:xfrm>
            <a:off x="1486080" y="4764960"/>
            <a:ext cx="457704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u="sng" strike="noStrike" spc="-1">
                <a:solidFill>
                  <a:srgbClr val="0563C1"/>
                </a:solidFill>
                <a:uFillTx/>
                <a:latin typeface="Calibri"/>
                <a:hlinkClick r:id="rId4"/>
              </a:rPr>
              <a:t>https://totozhang.github.io/2016-01-16-linux-zombieprocess/</a:t>
            </a:r>
            <a:endParaRPr lang="es-ES" sz="1350" b="0" strike="noStrike" spc="-1">
              <a:latin typeface="Arial"/>
            </a:endParaRPr>
          </a:p>
        </p:txBody>
      </p:sp>
      <p:sp>
        <p:nvSpPr>
          <p:cNvPr id="760" name="CustomShape 3"/>
          <p:cNvSpPr/>
          <p:nvPr/>
        </p:nvSpPr>
        <p:spPr>
          <a:xfrm>
            <a:off x="2230200" y="4125960"/>
            <a:ext cx="601020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s-ES" sz="1350" b="0" strike="noStrike" spc="-1">
                <a:solidFill>
                  <a:srgbClr val="000000"/>
                </a:solidFill>
                <a:latin typeface="Calibri"/>
              </a:rPr>
              <a:t>Diagrama de estados y transiciones en Linux.</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Procesos especiales</a:t>
            </a:r>
            <a:endParaRPr lang="es-ES" sz="3600" b="0" strike="noStrike" spc="-1">
              <a:solidFill>
                <a:srgbClr val="000000"/>
              </a:solidFill>
              <a:latin typeface="Calibri"/>
            </a:endParaRPr>
          </a:p>
        </p:txBody>
      </p:sp>
      <p:sp>
        <p:nvSpPr>
          <p:cNvPr id="762" name="CustomShape 2"/>
          <p:cNvSpPr/>
          <p:nvPr/>
        </p:nvSpPr>
        <p:spPr>
          <a:xfrm>
            <a:off x="1776240" y="892800"/>
            <a:ext cx="660960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Un </a:t>
            </a:r>
            <a:r>
              <a:rPr lang="es-ES" sz="1350" b="1" strike="noStrike" spc="-1">
                <a:solidFill>
                  <a:srgbClr val="000000"/>
                </a:solidFill>
                <a:latin typeface="Calibri"/>
              </a:rPr>
              <a:t>proceso servidor </a:t>
            </a:r>
            <a:r>
              <a:rPr lang="es-ES" sz="1350" b="0" strike="noStrike" spc="-1">
                <a:solidFill>
                  <a:srgbClr val="000000"/>
                </a:solidFill>
                <a:latin typeface="Calibri"/>
              </a:rPr>
              <a:t>es aquel que está en un bucle infinito pendiente de recibir peticiones de los usuarios y atenderlas de forma atómica. Ejemplos: servidor web, servidor de base de datos.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Un </a:t>
            </a:r>
            <a:r>
              <a:rPr lang="es-ES" sz="1350" b="1" strike="noStrike" spc="-1">
                <a:solidFill>
                  <a:srgbClr val="000000"/>
                </a:solidFill>
                <a:latin typeface="Calibri"/>
              </a:rPr>
              <a:t>demonio</a:t>
            </a:r>
            <a:r>
              <a:rPr lang="es-ES" sz="1350" b="0" strike="noStrike" spc="-1">
                <a:solidFill>
                  <a:srgbClr val="000000"/>
                </a:solidFill>
                <a:latin typeface="Calibri"/>
              </a:rPr>
              <a:t> es un proceso que se arranca en el inicio del sistema y es inmortal, o con más precisión reencarnante porque el sistema lo arranca de nuevo si termina de forma anormal. Pueden ser a su vez servidores y se ejecutan en background, por lo que no tienen una terminal de usuario asociada.</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Existen </a:t>
            </a:r>
            <a:r>
              <a:rPr lang="es-ES" sz="1350" b="1" strike="noStrike" spc="-1">
                <a:solidFill>
                  <a:srgbClr val="000000"/>
                </a:solidFill>
                <a:latin typeface="Calibri"/>
              </a:rPr>
              <a:t>procesos de sistema </a:t>
            </a:r>
            <a:r>
              <a:rPr lang="es-ES" sz="1350" b="0" strike="noStrike" spc="-1">
                <a:solidFill>
                  <a:srgbClr val="000000"/>
                </a:solidFill>
                <a:latin typeface="Calibri"/>
              </a:rPr>
              <a:t>que se ejecutan en modo privilegiado, como el proceso nulo, el demonio de paginación, el de caché de ficheros, etc().</a:t>
            </a:r>
            <a:endParaRPr lang="es-ES" sz="1350" b="0" strike="noStrike" spc="-1">
              <a:latin typeface="Arial"/>
            </a:endParaRPr>
          </a:p>
          <a:p>
            <a:pPr algn="just">
              <a:lnSpc>
                <a:spcPct val="100000"/>
              </a:lnSpc>
            </a:pP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Estos procesos se crean con un servicio especial durante el arranque.</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Tienen acceso a todo el mapa de memoria.</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Son flujos de ejecución independiente dentro del Sistema Operativo.</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No hay que confundir un proceso de sistema con los que lanza el superusuario. A pesar de su nombre, este solo puede ejecutar procesos en modo usuario, no en modo kernel.</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Threads</a:t>
            </a:r>
            <a:endParaRPr lang="es-ES" sz="3600" b="0" strike="noStrike" spc="-1">
              <a:solidFill>
                <a:srgbClr val="000000"/>
              </a:solidFill>
              <a:latin typeface="Calibri"/>
            </a:endParaRPr>
          </a:p>
        </p:txBody>
      </p:sp>
      <p:sp>
        <p:nvSpPr>
          <p:cNvPr id="764" name="CustomShape 2"/>
          <p:cNvSpPr/>
          <p:nvPr/>
        </p:nvSpPr>
        <p:spPr>
          <a:xfrm>
            <a:off x="1776240" y="892800"/>
            <a:ext cx="6609600" cy="912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Los </a:t>
            </a:r>
            <a:r>
              <a:rPr lang="es-ES" sz="1350" b="0" i="1" strike="noStrike" spc="-1">
                <a:solidFill>
                  <a:srgbClr val="000000"/>
                </a:solidFill>
                <a:latin typeface="Calibri"/>
              </a:rPr>
              <a:t>threads</a:t>
            </a:r>
            <a:r>
              <a:rPr lang="es-ES" sz="1350" b="0" strike="noStrike" spc="-1">
                <a:solidFill>
                  <a:srgbClr val="000000"/>
                </a:solidFill>
                <a:latin typeface="Calibri"/>
              </a:rPr>
              <a:t> (hilos de ejecución), también llamados de forma impropia procesos ligeros, nacieron para aprovechar las arquitecturas multiprocesador. En un proceso convencional o </a:t>
            </a:r>
            <a:r>
              <a:rPr lang="es-ES" sz="1350" b="0" i="1" strike="noStrike" spc="-1">
                <a:solidFill>
                  <a:srgbClr val="000000"/>
                </a:solidFill>
                <a:latin typeface="Calibri"/>
              </a:rPr>
              <a:t>monothread</a:t>
            </a:r>
            <a:r>
              <a:rPr lang="es-ES" sz="1350" b="0" strike="noStrike" spc="-1">
                <a:solidFill>
                  <a:srgbClr val="000000"/>
                </a:solidFill>
                <a:latin typeface="Calibri"/>
              </a:rPr>
              <a:t> hay un único hilo de ejecución, determinado por el valor del PC y del resto de registros.</a:t>
            </a:r>
            <a:endParaRPr lang="es-ES" sz="1350" b="0" strike="noStrike" spc="-1">
              <a:latin typeface="Arial"/>
            </a:endParaRPr>
          </a:p>
        </p:txBody>
      </p:sp>
      <p:pic>
        <p:nvPicPr>
          <p:cNvPr id="765" name="Picture 2"/>
          <p:cNvPicPr/>
          <p:nvPr/>
        </p:nvPicPr>
        <p:blipFill>
          <a:blip r:embed="rId3"/>
          <a:stretch/>
        </p:blipFill>
        <p:spPr>
          <a:xfrm>
            <a:off x="2827440" y="1886400"/>
            <a:ext cx="5146200" cy="31690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Threads</a:t>
            </a:r>
            <a:endParaRPr lang="es-ES" sz="3600" b="0" strike="noStrike" spc="-1">
              <a:solidFill>
                <a:srgbClr val="000000"/>
              </a:solidFill>
              <a:latin typeface="Calibri"/>
            </a:endParaRPr>
          </a:p>
        </p:txBody>
      </p:sp>
      <p:sp>
        <p:nvSpPr>
          <p:cNvPr id="767" name="CustomShape 2"/>
          <p:cNvSpPr/>
          <p:nvPr/>
        </p:nvSpPr>
        <p:spPr>
          <a:xfrm>
            <a:off x="1776240" y="892800"/>
            <a:ext cx="6609600" cy="3379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Los </a:t>
            </a:r>
            <a:r>
              <a:rPr lang="es-ES" sz="1350" b="1" strike="noStrike" spc="-1">
                <a:solidFill>
                  <a:srgbClr val="000000"/>
                </a:solidFill>
                <a:latin typeface="Calibri"/>
              </a:rPr>
              <a:t>threads</a:t>
            </a:r>
            <a:r>
              <a:rPr lang="es-ES" sz="1350" b="0" strike="noStrike" spc="-1">
                <a:solidFill>
                  <a:srgbClr val="000000"/>
                </a:solidFill>
                <a:latin typeface="Calibri"/>
              </a:rPr>
              <a:t> de un mismo proceso comparten código, datos (</a:t>
            </a:r>
            <a:r>
              <a:rPr lang="es-ES" sz="1350" b="0" i="1" strike="noStrike" spc="-1">
                <a:solidFill>
                  <a:srgbClr val="000000"/>
                </a:solidFill>
                <a:latin typeface="Calibri"/>
              </a:rPr>
              <a:t>heap</a:t>
            </a:r>
            <a:r>
              <a:rPr lang="es-ES" sz="1350" b="0" strike="noStrike" spc="-1">
                <a:solidFill>
                  <a:srgbClr val="000000"/>
                </a:solidFill>
                <a:latin typeface="Calibri"/>
              </a:rPr>
              <a:t> incluido) y recursos del Sistema Operativo (por ejemplo, ficheros abiertos) y tienen su propio contador de programa, registros y </a:t>
            </a:r>
            <a:r>
              <a:rPr lang="es-ES" sz="1350" b="0" i="1" strike="noStrike" spc="-1">
                <a:solidFill>
                  <a:srgbClr val="000000"/>
                </a:solidFill>
                <a:latin typeface="Calibri"/>
              </a:rPr>
              <a:t>stack</a:t>
            </a:r>
            <a:r>
              <a:rPr lang="es-ES" sz="1350" b="0" strike="noStrike" spc="-1">
                <a:solidFill>
                  <a:srgbClr val="000000"/>
                </a:solidFill>
                <a:latin typeface="Calibri"/>
              </a:rPr>
              <a:t>. Al acceder a los mismos datos puede haber conflictos, pero también aparecen nuevas posibilidades de programación concurrente. Por ejemplo, en un procesador de textos un </a:t>
            </a:r>
            <a:r>
              <a:rPr lang="es-ES" sz="1350" b="0" i="1" strike="noStrike" spc="-1">
                <a:solidFill>
                  <a:srgbClr val="000000"/>
                </a:solidFill>
                <a:latin typeface="Calibri"/>
              </a:rPr>
              <a:t>thread</a:t>
            </a:r>
            <a:r>
              <a:rPr lang="es-ES" sz="1350" b="0" strike="noStrike" spc="-1">
                <a:solidFill>
                  <a:srgbClr val="000000"/>
                </a:solidFill>
                <a:latin typeface="Calibri"/>
              </a:rPr>
              <a:t> puede estar calculando la repaginación de todo el documento cuando el usuario incluye una nueva imagen en otro hilo que se ocupa de su presentación en pantalla.</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Una ventaja de la programación </a:t>
            </a:r>
            <a:r>
              <a:rPr lang="es-ES" sz="1350" b="0" i="1" strike="noStrike" spc="-1">
                <a:solidFill>
                  <a:srgbClr val="000000"/>
                </a:solidFill>
                <a:latin typeface="Calibri"/>
              </a:rPr>
              <a:t>multithread</a:t>
            </a:r>
            <a:r>
              <a:rPr lang="es-ES" sz="1350" b="0" strike="noStrike" spc="-1">
                <a:solidFill>
                  <a:srgbClr val="000000"/>
                </a:solidFill>
                <a:latin typeface="Calibri"/>
              </a:rPr>
              <a:t> frente a la multiproceso es que un cambio de contexto de </a:t>
            </a:r>
            <a:r>
              <a:rPr lang="es-ES" sz="1350" b="0" i="1" strike="noStrike" spc="-1">
                <a:solidFill>
                  <a:srgbClr val="000000"/>
                </a:solidFill>
                <a:latin typeface="Calibri"/>
              </a:rPr>
              <a:t>thread</a:t>
            </a:r>
            <a:r>
              <a:rPr lang="es-ES" sz="1350" b="0" strike="noStrike" spc="-1">
                <a:solidFill>
                  <a:srgbClr val="000000"/>
                </a:solidFill>
                <a:latin typeface="Calibri"/>
              </a:rPr>
              <a:t> es muy rápido comparado con el de un proceso. Dado que comparten datos y código no hay que salvar más que el contexto del </a:t>
            </a:r>
            <a:r>
              <a:rPr lang="es-ES" sz="1350" b="0" i="1" strike="noStrike" spc="-1">
                <a:solidFill>
                  <a:srgbClr val="000000"/>
                </a:solidFill>
                <a:latin typeface="Calibri"/>
              </a:rPr>
              <a:t>thread</a:t>
            </a:r>
            <a:r>
              <a:rPr lang="es-ES" sz="1350" b="0" strike="noStrike" spc="-1">
                <a:solidFill>
                  <a:srgbClr val="000000"/>
                </a:solidFill>
                <a:latin typeface="Calibri"/>
              </a:rPr>
              <a:t>, en una tabla similar a la de BCPs de la que también es responsable el kernel. No hay que recargar la tabla de páginas de memoria dinámica puesto que es la misma.</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Además, si el procesador es multicore, como todos los actuales de gama media o alta, cada uno de ellos puede estar ejecutando un </a:t>
            </a:r>
            <a:r>
              <a:rPr lang="es-ES" sz="1350" b="0" i="1" strike="noStrike" spc="-1">
                <a:solidFill>
                  <a:srgbClr val="000000"/>
                </a:solidFill>
                <a:latin typeface="Calibri"/>
              </a:rPr>
              <a:t>thread</a:t>
            </a:r>
            <a:r>
              <a:rPr lang="es-ES" sz="1350" b="0" strike="noStrike" spc="-1">
                <a:solidFill>
                  <a:srgbClr val="000000"/>
                </a:solidFill>
                <a:latin typeface="Calibri"/>
              </a:rPr>
              <a:t> del mismo proceso. Esta es la razón por la que la programación concurrente con </a:t>
            </a:r>
            <a:r>
              <a:rPr lang="es-ES" sz="1350" b="0" i="1" strike="noStrike" spc="-1">
                <a:solidFill>
                  <a:srgbClr val="000000"/>
                </a:solidFill>
                <a:latin typeface="Calibri"/>
              </a:rPr>
              <a:t>threads</a:t>
            </a:r>
            <a:r>
              <a:rPr lang="es-ES" sz="1350" b="0" strike="noStrike" spc="-1">
                <a:solidFill>
                  <a:srgbClr val="000000"/>
                </a:solidFill>
                <a:latin typeface="Calibri"/>
              </a:rPr>
              <a:t> ha ganado tanta popularidad.</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Threads</a:t>
            </a:r>
            <a:endParaRPr lang="es-ES" sz="3600" b="0" strike="noStrike" spc="-1">
              <a:solidFill>
                <a:srgbClr val="000000"/>
              </a:solidFill>
              <a:latin typeface="Calibri"/>
            </a:endParaRPr>
          </a:p>
        </p:txBody>
      </p:sp>
      <p:pic>
        <p:nvPicPr>
          <p:cNvPr id="769" name="Imagen 768"/>
          <p:cNvPicPr/>
          <p:nvPr/>
        </p:nvPicPr>
        <p:blipFill>
          <a:blip r:embed="rId3"/>
          <a:stretch/>
        </p:blipFill>
        <p:spPr>
          <a:xfrm>
            <a:off x="2952000" y="852840"/>
            <a:ext cx="5058000" cy="3377160"/>
          </a:xfrm>
          <a:prstGeom prst="rect">
            <a:avLst/>
          </a:prstGeom>
          <a:ln>
            <a:noFill/>
          </a:ln>
        </p:spPr>
      </p:pic>
      <p:sp>
        <p:nvSpPr>
          <p:cNvPr id="770" name="TextShape 2"/>
          <p:cNvSpPr txBox="1"/>
          <p:nvPr/>
        </p:nvSpPr>
        <p:spPr>
          <a:xfrm>
            <a:off x="1512000" y="4463280"/>
            <a:ext cx="7272000" cy="432720"/>
          </a:xfrm>
          <a:prstGeom prst="rect">
            <a:avLst/>
          </a:prstGeom>
          <a:noFill/>
          <a:ln>
            <a:noFill/>
          </a:ln>
        </p:spPr>
        <p:txBody>
          <a:bodyPr lIns="90000" tIns="45000" rIns="90000" bIns="45000"/>
          <a:lstStyle/>
          <a:p>
            <a:r>
              <a:rPr lang="es-ES" sz="1350" b="0" strike="noStrike" spc="-1">
                <a:solidFill>
                  <a:srgbClr val="000000"/>
                </a:solidFill>
                <a:latin typeface="Calibri"/>
              </a:rPr>
              <a:t>En este esquema se pueden apreciar muy bien los recursos que comparten los hilos de un mismo proceso y cuáles son privativos.</a:t>
            </a:r>
            <a:endParaRPr lang="es-ES" sz="135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Threads</a:t>
            </a:r>
            <a:endParaRPr lang="es-ES" sz="3600" b="0" strike="noStrike" spc="-1">
              <a:solidFill>
                <a:srgbClr val="000000"/>
              </a:solidFill>
              <a:latin typeface="Calibri"/>
            </a:endParaRPr>
          </a:p>
        </p:txBody>
      </p:sp>
      <p:sp>
        <p:nvSpPr>
          <p:cNvPr id="772" name="CustomShape 2"/>
          <p:cNvSpPr/>
          <p:nvPr/>
        </p:nvSpPr>
        <p:spPr>
          <a:xfrm>
            <a:off x="1776240" y="892800"/>
            <a:ext cx="6609600" cy="1323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La planificación de threads es la base de los </a:t>
            </a:r>
            <a:r>
              <a:rPr lang="es-ES" sz="1350" b="0" i="1" strike="noStrike" spc="-1">
                <a:solidFill>
                  <a:srgbClr val="000000"/>
                </a:solidFill>
                <a:latin typeface="Calibri"/>
              </a:rPr>
              <a:t>schedulers</a:t>
            </a:r>
            <a:r>
              <a:rPr lang="es-ES" sz="1350" b="0" strike="noStrike" spc="-1">
                <a:solidFill>
                  <a:srgbClr val="000000"/>
                </a:solidFill>
                <a:latin typeface="Calibri"/>
              </a:rPr>
              <a:t> actuales como se describe en esta misma lección. Cada thread tiene su </a:t>
            </a:r>
            <a:r>
              <a:rPr lang="es-ES" sz="1350" b="0" i="1" strike="noStrike" spc="-1">
                <a:solidFill>
                  <a:srgbClr val="000000"/>
                </a:solidFill>
                <a:latin typeface="Calibri"/>
              </a:rPr>
              <a:t>Thread Control Block</a:t>
            </a:r>
            <a:r>
              <a:rPr lang="es-ES" sz="1350" b="0" strike="noStrike" spc="-1">
                <a:solidFill>
                  <a:srgbClr val="000000"/>
                </a:solidFill>
                <a:latin typeface="Calibri"/>
              </a:rPr>
              <a:t>, que es la versión reducida del PCB.</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El planificador utiliza la lista de threads y sus estados para realizar su función. Este es el esquema de Windows, BSD otros sistemas Unix descendientes de la rama Solaris.</a:t>
            </a:r>
            <a:endParaRPr lang="es-ES" sz="1350" b="0" strike="noStrike" spc="-1">
              <a:latin typeface="Arial"/>
            </a:endParaRPr>
          </a:p>
        </p:txBody>
      </p:sp>
      <p:pic>
        <p:nvPicPr>
          <p:cNvPr id="773" name="Picture 2"/>
          <p:cNvPicPr/>
          <p:nvPr/>
        </p:nvPicPr>
        <p:blipFill>
          <a:blip r:embed="rId3"/>
          <a:stretch/>
        </p:blipFill>
        <p:spPr>
          <a:xfrm>
            <a:off x="3396240" y="2451600"/>
            <a:ext cx="3809520" cy="1599840"/>
          </a:xfrm>
          <a:prstGeom prst="rect">
            <a:avLst/>
          </a:prstGeom>
          <a:ln>
            <a:noFill/>
          </a:ln>
        </p:spPr>
      </p:pic>
      <p:sp>
        <p:nvSpPr>
          <p:cNvPr id="774" name="CustomShape 3"/>
          <p:cNvSpPr/>
          <p:nvPr/>
        </p:nvSpPr>
        <p:spPr>
          <a:xfrm>
            <a:off x="1776240" y="4250880"/>
            <a:ext cx="6609600" cy="501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Linux los </a:t>
            </a:r>
            <a:r>
              <a:rPr lang="es-ES" sz="1350" b="0" i="1" strike="noStrike" spc="-1">
                <a:solidFill>
                  <a:srgbClr val="000000"/>
                </a:solidFill>
                <a:latin typeface="Calibri"/>
              </a:rPr>
              <a:t>threads</a:t>
            </a:r>
            <a:r>
              <a:rPr lang="es-ES" sz="1350" b="0" strike="noStrike" spc="-1">
                <a:solidFill>
                  <a:srgbClr val="000000"/>
                </a:solidFill>
                <a:latin typeface="Calibri"/>
              </a:rPr>
              <a:t> como procesos convencionales, asignando a cada hilo un </a:t>
            </a:r>
            <a:r>
              <a:rPr lang="es-ES" sz="1100" b="0" strike="noStrike" spc="-1">
                <a:solidFill>
                  <a:srgbClr val="000000"/>
                </a:solidFill>
                <a:latin typeface="Lucida Console"/>
              </a:rPr>
              <a:t>task_struct</a:t>
            </a:r>
            <a:r>
              <a:rPr lang="es-ES" sz="1350" b="0" strike="noStrike" spc="-1">
                <a:solidFill>
                  <a:srgbClr val="000000"/>
                </a:solidFill>
                <a:latin typeface="Calibri"/>
              </a:rPr>
              <a:t>, si son del mismo proceso comparten dato.</a:t>
            </a:r>
            <a:endParaRPr lang="es-ES" sz="1350" b="0" strike="noStrike" spc="-1">
              <a:latin typeface="Arial"/>
            </a:endParaRPr>
          </a:p>
        </p:txBody>
      </p:sp>
      <p:sp>
        <p:nvSpPr>
          <p:cNvPr id="775" name="CustomShape 4"/>
          <p:cNvSpPr/>
          <p:nvPr/>
        </p:nvSpPr>
        <p:spPr>
          <a:xfrm>
            <a:off x="4180320" y="4834440"/>
            <a:ext cx="1893960" cy="24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000" b="0" u="sng" strike="noStrike" spc="-1">
                <a:solidFill>
                  <a:srgbClr val="0563C1"/>
                </a:solidFill>
                <a:uFillTx/>
                <a:latin typeface="Calibri"/>
                <a:hlinkClick r:id="rId4"/>
              </a:rPr>
              <a:t>Threads en Solaris, BSD y Linux</a:t>
            </a:r>
            <a:endParaRPr lang="es-ES" sz="10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777" name="CustomShape 2"/>
          <p:cNvSpPr/>
          <p:nvPr/>
        </p:nvSpPr>
        <p:spPr>
          <a:xfrm>
            <a:off x="1896480" y="1018800"/>
            <a:ext cx="6809760" cy="3996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0" strike="noStrike" spc="-1">
                <a:solidFill>
                  <a:srgbClr val="000000"/>
                </a:solidFill>
                <a:latin typeface="Calibri"/>
              </a:rPr>
              <a:t>La </a:t>
            </a:r>
            <a:r>
              <a:rPr lang="es-ES" sz="1350" b="1" strike="noStrike" spc="-1">
                <a:solidFill>
                  <a:srgbClr val="000000"/>
                </a:solidFill>
                <a:latin typeface="Calibri"/>
              </a:rPr>
              <a:t>planificación del procesador</a:t>
            </a:r>
            <a:r>
              <a:rPr lang="es-ES" sz="1350" b="0" strike="noStrike" spc="-1">
                <a:solidFill>
                  <a:srgbClr val="000000"/>
                </a:solidFill>
                <a:latin typeface="Calibri"/>
              </a:rPr>
              <a:t> es una de las misiones más importantes del Sistema Operativo y consiste en decidir a qué proceso se le concede la CPU y cuándo debe expulsarse el que la está ocupando.</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Tradicionalmente se distinguen tres tipos de planificación a largo, medio y corto plazo. La </a:t>
            </a:r>
            <a:r>
              <a:rPr lang="es-ES" sz="1350" b="1" strike="noStrike" spc="-1">
                <a:solidFill>
                  <a:srgbClr val="000000"/>
                </a:solidFill>
                <a:latin typeface="Calibri"/>
              </a:rPr>
              <a:t>planificación a largo </a:t>
            </a:r>
            <a:r>
              <a:rPr lang="es-ES" sz="1350" b="0" strike="noStrike" spc="-1">
                <a:solidFill>
                  <a:srgbClr val="000000"/>
                </a:solidFill>
                <a:latin typeface="Calibri"/>
              </a:rPr>
              <a:t>plazo sirve para decidir en qué orden se ejecutan las tareas en un gran sistema, con mucha componente batch, en función de las características estadísticas de sus tiempos de ejecución conocidas de antemano. Pensemos en un centro de proceso de datos de una empresa de servicios (electricidad, gas, telefonía) que por la noche lanza procesos muy costosos en tiempo de emisión de recibos o liquidación de impuestos.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a:t>
            </a:r>
            <a:r>
              <a:rPr lang="es-ES" sz="1350" b="1" strike="noStrike" spc="-1">
                <a:solidFill>
                  <a:srgbClr val="000000"/>
                </a:solidFill>
                <a:latin typeface="Calibri"/>
              </a:rPr>
              <a:t>planificación a medio plazo </a:t>
            </a:r>
            <a:r>
              <a:rPr lang="es-ES" sz="1350" b="0" strike="noStrike" spc="-1">
                <a:solidFill>
                  <a:srgbClr val="000000"/>
                </a:solidFill>
                <a:latin typeface="Calibri"/>
              </a:rPr>
              <a:t>sirve para decidir qué procesos van a bloquearse</a:t>
            </a:r>
            <a:r>
              <a:rPr lang="es-ES" sz="1350" b="1" strike="noStrike" spc="-1">
                <a:solidFill>
                  <a:srgbClr val="000000"/>
                </a:solidFill>
                <a:latin typeface="Calibri"/>
              </a:rPr>
              <a:t>. La planificación a corto</a:t>
            </a:r>
            <a:r>
              <a:rPr lang="es-ES" sz="1350" b="0" strike="noStrike" spc="-1">
                <a:solidFill>
                  <a:srgbClr val="000000"/>
                </a:solidFill>
                <a:latin typeface="Calibri"/>
              </a:rPr>
              <a:t>, que es la que vamos a ver con detalle es la que decide a qué proceso preparado para ejecución se le concede la CPU. Aunque la palabra en inglés </a:t>
            </a:r>
            <a:r>
              <a:rPr lang="es-ES" sz="1350" b="0" i="1" strike="noStrike" spc="-1">
                <a:solidFill>
                  <a:srgbClr val="000000"/>
                </a:solidFill>
                <a:latin typeface="Calibri"/>
              </a:rPr>
              <a:t>scheduling</a:t>
            </a:r>
            <a:r>
              <a:rPr lang="es-ES" sz="1350" b="0" strike="noStrike" spc="-1">
                <a:solidFill>
                  <a:srgbClr val="000000"/>
                </a:solidFill>
                <a:latin typeface="Calibri"/>
              </a:rPr>
              <a:t> estrictamente se refiera a la planificación a medio plazo, su uso se ha generalizado para todo el proceso de planificación. El procedimiento para cargar un nuevo proceso en la CPU se llama </a:t>
            </a:r>
            <a:r>
              <a:rPr lang="es-ES" sz="1350" b="0" i="1" strike="noStrike" spc="-1">
                <a:solidFill>
                  <a:srgbClr val="000000"/>
                </a:solidFill>
                <a:latin typeface="Calibri"/>
              </a:rPr>
              <a:t>dispatching</a:t>
            </a:r>
            <a:r>
              <a:rPr lang="es-ES" sz="1350" b="0" strike="noStrike" spc="-1">
                <a:solidFill>
                  <a:srgbClr val="000000"/>
                </a:solidFill>
                <a:latin typeface="Calibri"/>
              </a:rPr>
              <a:t>.</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En esta lección nos limitaremos a la </a:t>
            </a:r>
            <a:r>
              <a:rPr lang="es-ES" sz="1350" b="1" strike="noStrike" spc="-1">
                <a:solidFill>
                  <a:srgbClr val="000000"/>
                </a:solidFill>
                <a:latin typeface="Calibri"/>
              </a:rPr>
              <a:t>planificación con un solo núcleo.</a:t>
            </a:r>
            <a:endParaRPr lang="es-ES" sz="1350" b="0" strike="noStrike" spc="-1">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779" name="CustomShape 2"/>
          <p:cNvSpPr/>
          <p:nvPr/>
        </p:nvSpPr>
        <p:spPr>
          <a:xfrm>
            <a:off x="1896480" y="1343880"/>
            <a:ext cx="6809760" cy="3584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El diagrama de estados puede variar de un Sistema Operativo a otro, aunque todos son parecidos. Este sigue la estructura de Unix.</a:t>
            </a:r>
            <a:endParaRPr lang="es-ES" sz="1350" b="0" strike="noStrike" spc="-1">
              <a:latin typeface="Arial"/>
            </a:endParaRPr>
          </a:p>
          <a:p>
            <a:pPr>
              <a:lnSpc>
                <a:spcPct val="100000"/>
              </a:lnSpc>
            </a:pPr>
            <a:endParaRPr lang="es-ES" sz="1350" b="0" strike="noStrike" spc="-1">
              <a:latin typeface="Arial"/>
            </a:endParaRPr>
          </a:p>
          <a:p>
            <a:pPr marL="285840" indent="-285480">
              <a:lnSpc>
                <a:spcPct val="100000"/>
              </a:lnSpc>
              <a:buClr>
                <a:srgbClr val="000000"/>
              </a:buClr>
              <a:buFont typeface="Arial"/>
              <a:buChar char="•"/>
            </a:pPr>
            <a:r>
              <a:rPr lang="es-ES" sz="1350" b="1" strike="noStrike" spc="-1">
                <a:solidFill>
                  <a:srgbClr val="000000"/>
                </a:solidFill>
                <a:latin typeface="Calibri"/>
              </a:rPr>
              <a:t>Nuevo</a:t>
            </a:r>
            <a:r>
              <a:rPr lang="es-ES" sz="1350" b="0" strike="noStrike" spc="-1">
                <a:solidFill>
                  <a:srgbClr val="000000"/>
                </a:solidFill>
                <a:latin typeface="Calibri"/>
              </a:rPr>
              <a:t>. Estado especial con el que el Sistema Operativo marca un proceso desde que se inicia su carga hasta que está terminado para ejecutarse por primera vez. Al completarse la inicialización transita al estado </a:t>
            </a:r>
            <a:r>
              <a:rPr lang="es-ES" sz="1350" b="1" strike="noStrike" spc="-1">
                <a:solidFill>
                  <a:srgbClr val="000000"/>
                </a:solidFill>
                <a:latin typeface="Calibri"/>
              </a:rPr>
              <a:t>Listo.</a:t>
            </a:r>
            <a:endParaRPr lang="es-ES" sz="1350" b="0" strike="noStrike" spc="-1">
              <a:latin typeface="Arial"/>
            </a:endParaRPr>
          </a:p>
          <a:p>
            <a:pPr marL="285840" indent="-285480">
              <a:lnSpc>
                <a:spcPct val="100000"/>
              </a:lnSpc>
              <a:buClr>
                <a:srgbClr val="000000"/>
              </a:buClr>
              <a:buFont typeface="Arial"/>
              <a:buChar char="•"/>
            </a:pPr>
            <a:r>
              <a:rPr lang="es-ES" sz="1350" b="1" strike="noStrike" spc="-1">
                <a:solidFill>
                  <a:srgbClr val="000000"/>
                </a:solidFill>
                <a:latin typeface="Calibri"/>
              </a:rPr>
              <a:t>Listo</a:t>
            </a:r>
            <a:r>
              <a:rPr lang="es-ES" sz="1350" b="0" strike="noStrike" spc="-1">
                <a:solidFill>
                  <a:srgbClr val="000000"/>
                </a:solidFill>
                <a:latin typeface="Calibri"/>
              </a:rPr>
              <a:t>. Proceso que está preparado para ejecutarse. En esta cola se encuentran todos los procesos a la espera de que el Sistema Operativo les conceda CPU.</a:t>
            </a:r>
            <a:endParaRPr lang="es-ES" sz="1350" b="0" strike="noStrike" spc="-1">
              <a:latin typeface="Arial"/>
            </a:endParaRPr>
          </a:p>
          <a:p>
            <a:pPr marL="285840" indent="-285480">
              <a:lnSpc>
                <a:spcPct val="100000"/>
              </a:lnSpc>
              <a:buClr>
                <a:srgbClr val="000000"/>
              </a:buClr>
              <a:buFont typeface="Arial"/>
              <a:buChar char="•"/>
            </a:pPr>
            <a:r>
              <a:rPr lang="es-ES" sz="1350" b="1" strike="noStrike" spc="-1">
                <a:solidFill>
                  <a:srgbClr val="000000"/>
                </a:solidFill>
                <a:latin typeface="Calibri"/>
              </a:rPr>
              <a:t>En Ejecución</a:t>
            </a:r>
            <a:r>
              <a:rPr lang="es-ES" sz="1350" b="0" strike="noStrike" spc="-1">
                <a:solidFill>
                  <a:srgbClr val="000000"/>
                </a:solidFill>
                <a:latin typeface="Calibri"/>
              </a:rPr>
              <a:t>. Estado del único proceso que ocupa la CPU, al que transita desde Listo cuando el Sistema Operativo lo planifica. Puede salir de él de tres formas. Por finalización voluntaria del proceso [</a:t>
            </a:r>
            <a:r>
              <a:rPr lang="es-ES" sz="1200" b="0" strike="noStrike" spc="-1">
                <a:solidFill>
                  <a:srgbClr val="000000"/>
                </a:solidFill>
                <a:latin typeface="Lucida Console"/>
              </a:rPr>
              <a:t>exit()</a:t>
            </a:r>
            <a:r>
              <a:rPr lang="es-ES" sz="1350" b="0" strike="noStrike" spc="-1">
                <a:solidFill>
                  <a:srgbClr val="000000"/>
                </a:solidFill>
                <a:latin typeface="Calibri"/>
              </a:rPr>
              <a:t>], porque invoca un servicio bloqueante (p. ej. </a:t>
            </a:r>
            <a:r>
              <a:rPr lang="es-ES" sz="1200" b="0" strike="noStrike" spc="-1">
                <a:solidFill>
                  <a:srgbClr val="000000"/>
                </a:solidFill>
                <a:latin typeface="Lucida Console"/>
              </a:rPr>
              <a:t>scanf()</a:t>
            </a:r>
            <a:r>
              <a:rPr lang="es-ES" sz="1350" b="0" strike="noStrike" spc="-1">
                <a:solidFill>
                  <a:srgbClr val="000000"/>
                </a:solidFill>
                <a:latin typeface="Calibri"/>
              </a:rPr>
              <a:t>) o si el sistema es expulsivo porque expropiación de la CPU.</a:t>
            </a:r>
            <a:endParaRPr lang="es-ES" sz="1350" b="0" strike="noStrike" spc="-1">
              <a:latin typeface="Arial"/>
            </a:endParaRPr>
          </a:p>
          <a:p>
            <a:pPr marL="285840" indent="-285480">
              <a:lnSpc>
                <a:spcPct val="100000"/>
              </a:lnSpc>
              <a:buClr>
                <a:srgbClr val="000000"/>
              </a:buClr>
              <a:buFont typeface="Arial"/>
              <a:buChar char="•"/>
            </a:pPr>
            <a:r>
              <a:rPr lang="es-ES" sz="1350" b="1" strike="noStrike" spc="-1">
                <a:solidFill>
                  <a:srgbClr val="000000"/>
                </a:solidFill>
                <a:latin typeface="Calibri"/>
              </a:rPr>
              <a:t>Bloqueado</a:t>
            </a:r>
            <a:r>
              <a:rPr lang="es-ES" sz="1350" b="0" strike="noStrike" spc="-1">
                <a:solidFill>
                  <a:srgbClr val="000000"/>
                </a:solidFill>
                <a:latin typeface="Calibri"/>
              </a:rPr>
              <a:t>. El proceso está en una cola con otros procesos durmientes a la espera de que se complete la operación bloqueante que han invocado. Cuando suceda vuelven a </a:t>
            </a:r>
            <a:r>
              <a:rPr lang="es-ES" sz="1350" b="1" strike="noStrike" spc="-1">
                <a:solidFill>
                  <a:srgbClr val="000000"/>
                </a:solidFill>
                <a:latin typeface="Calibri"/>
              </a:rPr>
              <a:t>Listo</a:t>
            </a:r>
            <a:r>
              <a:rPr lang="es-ES" sz="1350" b="0" strike="noStrike" spc="-1">
                <a:solidFill>
                  <a:srgbClr val="000000"/>
                </a:solidFill>
                <a:latin typeface="Calibri"/>
              </a:rPr>
              <a:t>.</a:t>
            </a:r>
            <a:endParaRPr lang="es-ES" sz="1350" b="0" strike="noStrike" spc="-1">
              <a:latin typeface="Arial"/>
            </a:endParaRPr>
          </a:p>
          <a:p>
            <a:pPr marL="285840" indent="-285480">
              <a:lnSpc>
                <a:spcPct val="100000"/>
              </a:lnSpc>
              <a:buClr>
                <a:srgbClr val="000000"/>
              </a:buClr>
              <a:buFont typeface="Arial"/>
              <a:buChar char="•"/>
            </a:pPr>
            <a:r>
              <a:rPr lang="es-ES" sz="1350" b="1" strike="noStrike" spc="-1">
                <a:solidFill>
                  <a:srgbClr val="000000"/>
                </a:solidFill>
                <a:latin typeface="Calibri"/>
              </a:rPr>
              <a:t>Zombie</a:t>
            </a:r>
            <a:r>
              <a:rPr lang="es-ES" sz="1350" b="0" strike="noStrike" spc="-1">
                <a:solidFill>
                  <a:srgbClr val="000000"/>
                </a:solidFill>
                <a:latin typeface="Calibri"/>
              </a:rPr>
              <a:t>. Cuando un proceso termina no se borra de inmediato su BCP, para que el proceso padre pueda completar una llamada a </a:t>
            </a:r>
            <a:r>
              <a:rPr lang="es-ES" sz="1200" b="0" strike="noStrike" spc="-1">
                <a:solidFill>
                  <a:srgbClr val="000000"/>
                </a:solidFill>
                <a:latin typeface="Lucida Console"/>
              </a:rPr>
              <a:t>wait(). </a:t>
            </a:r>
            <a:r>
              <a:rPr lang="es-ES" sz="1350" b="0" strike="noStrike" spc="-1">
                <a:solidFill>
                  <a:srgbClr val="000000"/>
                </a:solidFill>
                <a:latin typeface="Calibri"/>
              </a:rPr>
              <a:t>Es un estado sin retorno y breve. Desde cualquier estado se puede llegar a zombie si se recibe una señal.</a:t>
            </a:r>
            <a:endParaRPr lang="es-ES" sz="1350" b="0" strike="noStrike" spc="-1">
              <a:latin typeface="Arial"/>
            </a:endParaRPr>
          </a:p>
        </p:txBody>
      </p:sp>
      <p:sp>
        <p:nvSpPr>
          <p:cNvPr id="780" name="CustomShape 3"/>
          <p:cNvSpPr/>
          <p:nvPr/>
        </p:nvSpPr>
        <p:spPr>
          <a:xfrm>
            <a:off x="1896480" y="978840"/>
            <a:ext cx="680976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1" u="sng" strike="noStrike" spc="-1">
                <a:solidFill>
                  <a:srgbClr val="000000"/>
                </a:solidFill>
                <a:uFillTx/>
                <a:latin typeface="Calibri"/>
              </a:rPr>
              <a:t>Estados del proceso</a:t>
            </a:r>
            <a:endParaRPr lang="es-ES" sz="1350" b="0" strike="noStrike" spc="-1">
              <a:latin typeface="Arial"/>
            </a:endParaRPr>
          </a:p>
        </p:txBody>
      </p:sp>
      <p:pic>
        <p:nvPicPr>
          <p:cNvPr id="781" name="Imagen 8"/>
          <p:cNvPicPr/>
          <p:nvPr/>
        </p:nvPicPr>
        <p:blipFill>
          <a:blip r:embed="rId3"/>
          <a:stretch/>
        </p:blipFill>
        <p:spPr>
          <a:xfrm>
            <a:off x="6461640" y="28080"/>
            <a:ext cx="2433960" cy="1270080"/>
          </a:xfrm>
          <a:prstGeom prst="rect">
            <a:avLst/>
          </a:prstGeom>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783" name="CustomShape 2"/>
          <p:cNvSpPr/>
          <p:nvPr/>
        </p:nvSpPr>
        <p:spPr>
          <a:xfrm>
            <a:off x="1896480" y="1343880"/>
            <a:ext cx="6809760" cy="3379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dirty="0">
                <a:solidFill>
                  <a:srgbClr val="000000"/>
                </a:solidFill>
                <a:latin typeface="Calibri"/>
              </a:rPr>
              <a:t>La planificación es un problema de optimización y como en todos ellos hay una serie de indicadores de rendimiento (KPI) que pueden entrar en conflicto. Nos referiremos a procesos pero todo lo dicho es válido también para </a:t>
            </a:r>
            <a:r>
              <a:rPr lang="es-ES" sz="1350" b="0" strike="noStrike" spc="-1" dirty="0" err="1">
                <a:solidFill>
                  <a:srgbClr val="000000"/>
                </a:solidFill>
                <a:latin typeface="Calibri"/>
              </a:rPr>
              <a:t>threads</a:t>
            </a:r>
            <a:r>
              <a:rPr lang="es-ES" sz="1350" b="0" strike="noStrike" spc="-1" dirty="0">
                <a:solidFill>
                  <a:srgbClr val="000000"/>
                </a:solidFill>
                <a:latin typeface="Calibri"/>
              </a:rPr>
              <a:t>.</a:t>
            </a:r>
            <a:endParaRPr lang="es-ES" sz="1350" b="0" strike="noStrike" spc="-1" dirty="0">
              <a:latin typeface="Arial"/>
            </a:endParaRPr>
          </a:p>
          <a:p>
            <a:pPr>
              <a:lnSpc>
                <a:spcPct val="100000"/>
              </a:lnSpc>
            </a:pPr>
            <a:endParaRPr lang="es-ES" sz="1350" b="0" strike="noStrike" spc="-1" dirty="0">
              <a:latin typeface="Arial"/>
            </a:endParaRPr>
          </a:p>
          <a:p>
            <a:pPr marL="285840" indent="-285480">
              <a:lnSpc>
                <a:spcPct val="100000"/>
              </a:lnSpc>
              <a:buClr>
                <a:srgbClr val="000000"/>
              </a:buClr>
              <a:buFont typeface="Arial"/>
              <a:buChar char="•"/>
            </a:pPr>
            <a:r>
              <a:rPr lang="es-ES" sz="1350" b="1" strike="noStrike" spc="-1" dirty="0">
                <a:solidFill>
                  <a:srgbClr val="000000"/>
                </a:solidFill>
                <a:latin typeface="Calibri"/>
              </a:rPr>
              <a:t>Tiempo de ejecución (t)</a:t>
            </a:r>
            <a:r>
              <a:rPr lang="es-ES" sz="1350" b="0" strike="noStrike" spc="-1" dirty="0">
                <a:solidFill>
                  <a:srgbClr val="000000"/>
                </a:solidFill>
                <a:latin typeface="Calibri"/>
              </a:rPr>
              <a:t>. Tiempo que necesita un proceso para completarse si ocupase la CPU al 100%</a:t>
            </a:r>
            <a:r>
              <a:rPr lang="es-ES" sz="1350" b="1" strike="noStrike" spc="-1" dirty="0">
                <a:solidFill>
                  <a:srgbClr val="000000"/>
                </a:solidFill>
                <a:latin typeface="Calibri"/>
              </a:rPr>
              <a:t>.</a:t>
            </a:r>
            <a:endParaRPr lang="es-ES" sz="1350" b="0" strike="noStrike" spc="-1" dirty="0">
              <a:latin typeface="Arial"/>
            </a:endParaRPr>
          </a:p>
          <a:p>
            <a:pPr marL="285840" indent="-285480">
              <a:lnSpc>
                <a:spcPct val="100000"/>
              </a:lnSpc>
              <a:buClr>
                <a:srgbClr val="000000"/>
              </a:buClr>
              <a:buFont typeface="Arial"/>
              <a:buChar char="•"/>
            </a:pPr>
            <a:r>
              <a:rPr lang="es-ES" sz="1350" b="1" strike="noStrike" spc="-1" dirty="0">
                <a:solidFill>
                  <a:srgbClr val="000000"/>
                </a:solidFill>
                <a:latin typeface="Calibri"/>
              </a:rPr>
              <a:t>Tiempo de espera (E)</a:t>
            </a:r>
            <a:r>
              <a:rPr lang="es-ES" sz="1350" b="0" strike="noStrike" spc="-1" dirty="0">
                <a:solidFill>
                  <a:srgbClr val="000000"/>
                </a:solidFill>
                <a:latin typeface="Calibri"/>
              </a:rPr>
              <a:t>. Tiempo que pasa el proceso en el estado Listo, preparado para ejecutarse pero sin que le concedan la CPU.</a:t>
            </a:r>
            <a:endParaRPr lang="es-ES" sz="1350" b="0" strike="noStrike" spc="-1" dirty="0">
              <a:latin typeface="Arial"/>
            </a:endParaRPr>
          </a:p>
          <a:p>
            <a:pPr marL="285840" indent="-285480">
              <a:lnSpc>
                <a:spcPct val="100000"/>
              </a:lnSpc>
              <a:buClr>
                <a:srgbClr val="000000"/>
              </a:buClr>
              <a:buFont typeface="Arial"/>
              <a:buChar char="•"/>
            </a:pPr>
            <a:r>
              <a:rPr lang="es-ES" sz="1350" b="1" strike="noStrike" spc="-1" dirty="0">
                <a:solidFill>
                  <a:srgbClr val="000000"/>
                </a:solidFill>
                <a:latin typeface="Calibri"/>
              </a:rPr>
              <a:t>Tiempo de respuesta (</a:t>
            </a:r>
            <a:r>
              <a:rPr lang="es-ES" sz="1350" b="1" strike="noStrike" spc="-1" dirty="0" err="1">
                <a:solidFill>
                  <a:srgbClr val="000000"/>
                </a:solidFill>
                <a:latin typeface="Calibri"/>
              </a:rPr>
              <a:t>Trespuesta</a:t>
            </a:r>
            <a:r>
              <a:rPr lang="es-ES" sz="1350" b="1" strike="noStrike" spc="-1" dirty="0">
                <a:solidFill>
                  <a:srgbClr val="000000"/>
                </a:solidFill>
                <a:latin typeface="Calibri"/>
              </a:rPr>
              <a:t>). </a:t>
            </a:r>
            <a:r>
              <a:rPr lang="es-ES" sz="1350" b="0" strike="noStrike" spc="-1" dirty="0">
                <a:solidFill>
                  <a:srgbClr val="000000"/>
                </a:solidFill>
                <a:latin typeface="Calibri"/>
              </a:rPr>
              <a:t>Tiempo desde que el proceso está Listo hasta que responde a una petición de usuario.</a:t>
            </a:r>
            <a:endParaRPr lang="es-ES" sz="1350" b="0" strike="noStrike" spc="-1" dirty="0">
              <a:latin typeface="Arial"/>
            </a:endParaRPr>
          </a:p>
          <a:p>
            <a:pPr marL="285840" indent="-285480">
              <a:lnSpc>
                <a:spcPct val="100000"/>
              </a:lnSpc>
              <a:buClr>
                <a:srgbClr val="000000"/>
              </a:buClr>
              <a:buFont typeface="Arial"/>
              <a:buChar char="•"/>
            </a:pPr>
            <a:r>
              <a:rPr lang="es-ES" sz="1350" b="1" strike="noStrike" spc="-1" dirty="0">
                <a:solidFill>
                  <a:srgbClr val="000000"/>
                </a:solidFill>
                <a:latin typeface="Calibri"/>
              </a:rPr>
              <a:t>Penalización (P)</a:t>
            </a:r>
            <a:r>
              <a:rPr lang="es-ES" sz="1350" b="0" strike="noStrike" spc="-1" dirty="0">
                <a:solidFill>
                  <a:srgbClr val="000000"/>
                </a:solidFill>
                <a:latin typeface="Calibri"/>
              </a:rPr>
              <a:t>. Cociente entre el tiempo de respuesta y el tiempo de ejecución</a:t>
            </a:r>
            <a:endParaRPr lang="es-ES" sz="1350" b="0" strike="noStrike" spc="-1" dirty="0">
              <a:latin typeface="Arial"/>
            </a:endParaRPr>
          </a:p>
          <a:p>
            <a:pPr>
              <a:lnSpc>
                <a:spcPct val="100000"/>
              </a:lnSpc>
            </a:pPr>
            <a:endParaRPr lang="es-ES" sz="1350" b="0" strike="noStrike" spc="-1" dirty="0">
              <a:latin typeface="Arial"/>
            </a:endParaRPr>
          </a:p>
          <a:p>
            <a:pPr>
              <a:lnSpc>
                <a:spcPct val="100000"/>
              </a:lnSpc>
            </a:pPr>
            <a:r>
              <a:rPr lang="es-ES" sz="1350" b="0" strike="noStrike" spc="-1" dirty="0">
                <a:solidFill>
                  <a:srgbClr val="000000"/>
                </a:solidFill>
                <a:latin typeface="Calibri"/>
              </a:rPr>
              <a:t>No todos los procesos tienen los mismos requisitos. Un proceso intensivo en uso de CPU (CPU </a:t>
            </a:r>
            <a:r>
              <a:rPr lang="es-ES" sz="1350" b="0" strike="noStrike" spc="-1" dirty="0" err="1">
                <a:solidFill>
                  <a:srgbClr val="000000"/>
                </a:solidFill>
                <a:latin typeface="Calibri"/>
              </a:rPr>
              <a:t>bounded</a:t>
            </a:r>
            <a:r>
              <a:rPr lang="es-ES" sz="1350" b="0" strike="noStrike" spc="-1" dirty="0">
                <a:solidFill>
                  <a:srgbClr val="000000"/>
                </a:solidFill>
                <a:latin typeface="Calibri"/>
              </a:rPr>
              <a:t>) como un reproductor de vídeo necesita un tiempo de ejecución previsible. Un proceso a ráfagas de usuario (</a:t>
            </a:r>
            <a:r>
              <a:rPr lang="es-ES" sz="1350" b="0" strike="noStrike" spc="-1" dirty="0" err="1">
                <a:solidFill>
                  <a:srgbClr val="000000"/>
                </a:solidFill>
                <a:latin typeface="Calibri"/>
              </a:rPr>
              <a:t>user</a:t>
            </a:r>
            <a:r>
              <a:rPr lang="es-ES" sz="1350" b="0" strike="noStrike" spc="-1" dirty="0">
                <a:solidFill>
                  <a:srgbClr val="000000"/>
                </a:solidFill>
                <a:latin typeface="Calibri"/>
              </a:rPr>
              <a:t> </a:t>
            </a:r>
            <a:r>
              <a:rPr lang="es-ES" sz="1350" b="0" strike="noStrike" spc="-1" dirty="0" err="1">
                <a:solidFill>
                  <a:srgbClr val="000000"/>
                </a:solidFill>
                <a:latin typeface="Calibri"/>
              </a:rPr>
              <a:t>bounded</a:t>
            </a:r>
            <a:r>
              <a:rPr lang="es-ES" sz="1350" b="0" strike="noStrike" spc="-1" dirty="0">
                <a:solidFill>
                  <a:srgbClr val="000000"/>
                </a:solidFill>
                <a:latin typeface="Calibri"/>
              </a:rPr>
              <a:t>) como un navegador web o un videojuego necesita un tiempo de respuesta muy pequeño (latencia).</a:t>
            </a:r>
            <a:endParaRPr lang="es-ES" sz="1350" b="0" strike="noStrike" spc="-1" dirty="0">
              <a:latin typeface="Arial"/>
            </a:endParaRPr>
          </a:p>
        </p:txBody>
      </p:sp>
      <p:sp>
        <p:nvSpPr>
          <p:cNvPr id="784" name="CustomShape 3"/>
          <p:cNvSpPr/>
          <p:nvPr/>
        </p:nvSpPr>
        <p:spPr>
          <a:xfrm>
            <a:off x="1896480" y="978840"/>
            <a:ext cx="680976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1" u="sng" strike="noStrike" spc="-1">
                <a:solidFill>
                  <a:srgbClr val="000000"/>
                </a:solidFill>
                <a:uFillTx/>
                <a:latin typeface="Calibri"/>
              </a:rPr>
              <a:t>KPIs</a:t>
            </a:r>
            <a:endParaRPr lang="es-ES" sz="1350" b="0" strike="noStrike" spc="-1">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CustomShape 1"/>
          <p:cNvSpPr/>
          <p:nvPr/>
        </p:nvSpPr>
        <p:spPr>
          <a:xfrm>
            <a:off x="4115160" y="1227960"/>
            <a:ext cx="1190520" cy="339120"/>
          </a:xfrm>
          <a:prstGeom prst="rect">
            <a:avLst/>
          </a:prstGeom>
          <a:pattFill prst="wdDnDiag">
            <a:fgClr>
              <a:srgbClr val="B4C7E7"/>
            </a:fgClr>
            <a:bgClr>
              <a:srgbClr val="FFFFFF"/>
            </a:bgClr>
          </a:pattFill>
          <a:ln>
            <a:noFill/>
          </a:ln>
        </p:spPr>
        <p:style>
          <a:lnRef idx="2">
            <a:schemeClr val="accent1">
              <a:shade val="50000"/>
            </a:schemeClr>
          </a:lnRef>
          <a:fillRef idx="1">
            <a:schemeClr val="accent1"/>
          </a:fillRef>
          <a:effectRef idx="0">
            <a:schemeClr val="accent1"/>
          </a:effectRef>
          <a:fontRef idx="minor"/>
        </p:style>
      </p:sp>
      <p:sp>
        <p:nvSpPr>
          <p:cNvPr id="786" name="TextShape 2"/>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787" name="CustomShape 3"/>
          <p:cNvSpPr/>
          <p:nvPr/>
        </p:nvSpPr>
        <p:spPr>
          <a:xfrm>
            <a:off x="2215800" y="1227960"/>
            <a:ext cx="704880" cy="339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p:style>
      </p:sp>
      <p:sp>
        <p:nvSpPr>
          <p:cNvPr id="788" name="CustomShape 4"/>
          <p:cNvSpPr/>
          <p:nvPr/>
        </p:nvSpPr>
        <p:spPr>
          <a:xfrm>
            <a:off x="4088160" y="1227960"/>
            <a:ext cx="461160" cy="339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p:style>
      </p:sp>
      <p:sp>
        <p:nvSpPr>
          <p:cNvPr id="789" name="CustomShape 5"/>
          <p:cNvSpPr/>
          <p:nvPr/>
        </p:nvSpPr>
        <p:spPr>
          <a:xfrm>
            <a:off x="4767120" y="1227960"/>
            <a:ext cx="704880" cy="339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p:style>
      </p:sp>
      <p:sp>
        <p:nvSpPr>
          <p:cNvPr id="790" name="CustomShape 6"/>
          <p:cNvSpPr/>
          <p:nvPr/>
        </p:nvSpPr>
        <p:spPr>
          <a:xfrm>
            <a:off x="6312960" y="1227960"/>
            <a:ext cx="704880" cy="339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p:style>
      </p:sp>
      <p:sp>
        <p:nvSpPr>
          <p:cNvPr id="791" name="CustomShape 7"/>
          <p:cNvSpPr/>
          <p:nvPr/>
        </p:nvSpPr>
        <p:spPr>
          <a:xfrm>
            <a:off x="2897280" y="1227960"/>
            <a:ext cx="1190520" cy="339120"/>
          </a:xfrm>
          <a:prstGeom prst="rect">
            <a:avLst/>
          </a:prstGeom>
          <a:pattFill prst="wdDnDiag">
            <a:fgClr>
              <a:srgbClr val="B4C7E7"/>
            </a:fgClr>
            <a:bgClr>
              <a:srgbClr val="FFFFFF"/>
            </a:bgClr>
          </a:pattFill>
          <a:ln>
            <a:noFill/>
          </a:ln>
        </p:spPr>
        <p:style>
          <a:lnRef idx="2">
            <a:schemeClr val="accent1">
              <a:shade val="50000"/>
            </a:schemeClr>
          </a:lnRef>
          <a:fillRef idx="1">
            <a:schemeClr val="accent1"/>
          </a:fillRef>
          <a:effectRef idx="0">
            <a:schemeClr val="accent1"/>
          </a:effectRef>
          <a:fontRef idx="minor"/>
        </p:style>
      </p:sp>
      <p:sp>
        <p:nvSpPr>
          <p:cNvPr id="792" name="CustomShape 8"/>
          <p:cNvSpPr/>
          <p:nvPr/>
        </p:nvSpPr>
        <p:spPr>
          <a:xfrm>
            <a:off x="5389920" y="1227960"/>
            <a:ext cx="1190520" cy="339120"/>
          </a:xfrm>
          <a:prstGeom prst="rect">
            <a:avLst/>
          </a:prstGeom>
          <a:pattFill prst="wdDnDiag">
            <a:fgClr>
              <a:srgbClr val="B4C7E7"/>
            </a:fgClr>
            <a:bgClr>
              <a:srgbClr val="FFFFFF"/>
            </a:bgClr>
          </a:pattFill>
          <a:ln>
            <a:noFill/>
          </a:ln>
        </p:spPr>
        <p:style>
          <a:lnRef idx="2">
            <a:schemeClr val="accent1">
              <a:shade val="50000"/>
            </a:schemeClr>
          </a:lnRef>
          <a:fillRef idx="1">
            <a:schemeClr val="accent1"/>
          </a:fillRef>
          <a:effectRef idx="0">
            <a:schemeClr val="accent1"/>
          </a:effectRef>
          <a:fontRef idx="minor"/>
        </p:style>
      </p:sp>
      <p:sp>
        <p:nvSpPr>
          <p:cNvPr id="793" name="CustomShape 9"/>
          <p:cNvSpPr/>
          <p:nvPr/>
        </p:nvSpPr>
        <p:spPr>
          <a:xfrm>
            <a:off x="2349000" y="992880"/>
            <a:ext cx="45396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Run</a:t>
            </a:r>
            <a:endParaRPr lang="es-ES" sz="1350" b="0" strike="noStrike" spc="-1">
              <a:latin typeface="Arial"/>
            </a:endParaRPr>
          </a:p>
        </p:txBody>
      </p:sp>
      <p:sp>
        <p:nvSpPr>
          <p:cNvPr id="794" name="CustomShape 10"/>
          <p:cNvSpPr/>
          <p:nvPr/>
        </p:nvSpPr>
        <p:spPr>
          <a:xfrm>
            <a:off x="4098240" y="973440"/>
            <a:ext cx="45396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Run</a:t>
            </a:r>
            <a:endParaRPr lang="es-ES" sz="1350" b="0" strike="noStrike" spc="-1">
              <a:latin typeface="Arial"/>
            </a:endParaRPr>
          </a:p>
        </p:txBody>
      </p:sp>
      <p:sp>
        <p:nvSpPr>
          <p:cNvPr id="795" name="CustomShape 11"/>
          <p:cNvSpPr/>
          <p:nvPr/>
        </p:nvSpPr>
        <p:spPr>
          <a:xfrm>
            <a:off x="4841640" y="973440"/>
            <a:ext cx="45396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Run</a:t>
            </a:r>
            <a:endParaRPr lang="es-ES" sz="1350" b="0" strike="noStrike" spc="-1">
              <a:latin typeface="Arial"/>
            </a:endParaRPr>
          </a:p>
        </p:txBody>
      </p:sp>
      <p:sp>
        <p:nvSpPr>
          <p:cNvPr id="796" name="CustomShape 12"/>
          <p:cNvSpPr/>
          <p:nvPr/>
        </p:nvSpPr>
        <p:spPr>
          <a:xfrm>
            <a:off x="6553800" y="992880"/>
            <a:ext cx="45396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Run</a:t>
            </a:r>
            <a:endParaRPr lang="es-ES" sz="1350" b="0" strike="noStrike" spc="-1">
              <a:latin typeface="Arial"/>
            </a:endParaRPr>
          </a:p>
        </p:txBody>
      </p:sp>
      <p:sp>
        <p:nvSpPr>
          <p:cNvPr id="797" name="CustomShape 13"/>
          <p:cNvSpPr/>
          <p:nvPr/>
        </p:nvSpPr>
        <p:spPr>
          <a:xfrm>
            <a:off x="2177640" y="3546360"/>
            <a:ext cx="4788360" cy="360"/>
          </a:xfrm>
          <a:custGeom>
            <a:avLst/>
            <a:gdLst/>
            <a:ahLst/>
            <a:cxnLst/>
            <a:rect l="l" t="t" r="r" b="b"/>
            <a:pathLst>
              <a:path w="21600" h="21600">
                <a:moveTo>
                  <a:pt x="0" y="0"/>
                </a:moveTo>
                <a:lnTo>
                  <a:pt x="21600" y="21600"/>
                </a:lnTo>
              </a:path>
            </a:pathLst>
          </a:custGeom>
          <a:noFill/>
          <a:ln w="1908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798" name="CustomShape 14"/>
          <p:cNvSpPr/>
          <p:nvPr/>
        </p:nvSpPr>
        <p:spPr>
          <a:xfrm>
            <a:off x="7058160" y="3396240"/>
            <a:ext cx="176760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dirty="0">
                <a:solidFill>
                  <a:srgbClr val="000000"/>
                </a:solidFill>
                <a:latin typeface="Calibri"/>
              </a:rPr>
              <a:t>Tiempo de respuesta </a:t>
            </a:r>
          </a:p>
          <a:p>
            <a:pPr>
              <a:lnSpc>
                <a:spcPct val="100000"/>
              </a:lnSpc>
            </a:pPr>
            <a:r>
              <a:rPr lang="es-ES" sz="1350" b="0" strike="noStrike" spc="-1" dirty="0">
                <a:solidFill>
                  <a:srgbClr val="000000"/>
                </a:solidFill>
                <a:latin typeface="Calibri"/>
              </a:rPr>
              <a:t>(</a:t>
            </a:r>
            <a:r>
              <a:rPr lang="es-ES" sz="1350" b="0" strike="noStrike" spc="-1" dirty="0" err="1">
                <a:solidFill>
                  <a:srgbClr val="000000"/>
                </a:solidFill>
                <a:latin typeface="Calibri"/>
              </a:rPr>
              <a:t>Trespuesta</a:t>
            </a:r>
            <a:r>
              <a:rPr lang="es-ES" sz="1350" b="0" strike="noStrike" spc="-1" dirty="0">
                <a:solidFill>
                  <a:srgbClr val="000000"/>
                </a:solidFill>
                <a:latin typeface="Calibri"/>
              </a:rPr>
              <a:t>)</a:t>
            </a:r>
            <a:endParaRPr lang="es-ES" sz="1350" b="0" strike="noStrike" spc="-1" dirty="0">
              <a:latin typeface="Arial"/>
            </a:endParaRPr>
          </a:p>
        </p:txBody>
      </p:sp>
      <p:sp>
        <p:nvSpPr>
          <p:cNvPr id="799" name="CustomShape 15"/>
          <p:cNvSpPr/>
          <p:nvPr/>
        </p:nvSpPr>
        <p:spPr>
          <a:xfrm>
            <a:off x="2897280" y="1728720"/>
            <a:ext cx="119052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sp>
        <p:nvSpPr>
          <p:cNvPr id="800" name="CustomShape 16"/>
          <p:cNvSpPr/>
          <p:nvPr/>
        </p:nvSpPr>
        <p:spPr>
          <a:xfrm>
            <a:off x="4530600" y="1728720"/>
            <a:ext cx="26244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sp>
        <p:nvSpPr>
          <p:cNvPr id="801" name="CustomShape 17"/>
          <p:cNvSpPr/>
          <p:nvPr/>
        </p:nvSpPr>
        <p:spPr>
          <a:xfrm>
            <a:off x="5389920" y="1728720"/>
            <a:ext cx="119052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sp>
        <p:nvSpPr>
          <p:cNvPr id="802" name="CustomShape 18"/>
          <p:cNvSpPr/>
          <p:nvPr/>
        </p:nvSpPr>
        <p:spPr>
          <a:xfrm>
            <a:off x="2215800" y="1728720"/>
            <a:ext cx="67464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03" name="CustomShape 19"/>
          <p:cNvSpPr/>
          <p:nvPr/>
        </p:nvSpPr>
        <p:spPr>
          <a:xfrm>
            <a:off x="4092480" y="1728720"/>
            <a:ext cx="43776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04" name="CustomShape 20"/>
          <p:cNvSpPr/>
          <p:nvPr/>
        </p:nvSpPr>
        <p:spPr>
          <a:xfrm>
            <a:off x="4790160" y="1728720"/>
            <a:ext cx="59940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05" name="CustomShape 21"/>
          <p:cNvSpPr/>
          <p:nvPr/>
        </p:nvSpPr>
        <p:spPr>
          <a:xfrm>
            <a:off x="6580800" y="1728720"/>
            <a:ext cx="43092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grpSp>
        <p:nvGrpSpPr>
          <p:cNvPr id="806" name="Group 22"/>
          <p:cNvGrpSpPr/>
          <p:nvPr/>
        </p:nvGrpSpPr>
        <p:grpSpPr>
          <a:xfrm>
            <a:off x="2177640" y="2475360"/>
            <a:ext cx="2143440" cy="360"/>
            <a:chOff x="2177640" y="2475360"/>
            <a:chExt cx="2143440" cy="360"/>
          </a:xfrm>
        </p:grpSpPr>
        <p:sp>
          <p:nvSpPr>
            <p:cNvPr id="807" name="CustomShape 23"/>
            <p:cNvSpPr/>
            <p:nvPr/>
          </p:nvSpPr>
          <p:spPr>
            <a:xfrm>
              <a:off x="2177640" y="2475360"/>
              <a:ext cx="67464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08" name="CustomShape 24"/>
            <p:cNvSpPr/>
            <p:nvPr/>
          </p:nvSpPr>
          <p:spPr>
            <a:xfrm>
              <a:off x="2852640" y="2475360"/>
              <a:ext cx="43776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09" name="CustomShape 25"/>
            <p:cNvSpPr/>
            <p:nvPr/>
          </p:nvSpPr>
          <p:spPr>
            <a:xfrm>
              <a:off x="3290760" y="2475360"/>
              <a:ext cx="59940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10" name="CustomShape 26"/>
            <p:cNvSpPr/>
            <p:nvPr/>
          </p:nvSpPr>
          <p:spPr>
            <a:xfrm>
              <a:off x="3890160" y="2475360"/>
              <a:ext cx="43092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grpSp>
      <p:grpSp>
        <p:nvGrpSpPr>
          <p:cNvPr id="811" name="Group 27"/>
          <p:cNvGrpSpPr/>
          <p:nvPr/>
        </p:nvGrpSpPr>
        <p:grpSpPr>
          <a:xfrm>
            <a:off x="2177640" y="2806200"/>
            <a:ext cx="2644200" cy="360"/>
            <a:chOff x="2177640" y="2806200"/>
            <a:chExt cx="2644200" cy="360"/>
          </a:xfrm>
        </p:grpSpPr>
        <p:sp>
          <p:nvSpPr>
            <p:cNvPr id="812" name="CustomShape 28"/>
            <p:cNvSpPr/>
            <p:nvPr/>
          </p:nvSpPr>
          <p:spPr>
            <a:xfrm>
              <a:off x="2177640" y="2806200"/>
              <a:ext cx="119052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sp>
          <p:nvSpPr>
            <p:cNvPr id="813" name="CustomShape 29"/>
            <p:cNvSpPr/>
            <p:nvPr/>
          </p:nvSpPr>
          <p:spPr>
            <a:xfrm>
              <a:off x="3368520" y="2806200"/>
              <a:ext cx="26244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sp>
          <p:nvSpPr>
            <p:cNvPr id="814" name="CustomShape 30"/>
            <p:cNvSpPr/>
            <p:nvPr/>
          </p:nvSpPr>
          <p:spPr>
            <a:xfrm>
              <a:off x="3631320" y="2806200"/>
              <a:ext cx="119052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grpSp>
      <p:sp>
        <p:nvSpPr>
          <p:cNvPr id="815" name="CustomShape 31"/>
          <p:cNvSpPr/>
          <p:nvPr/>
        </p:nvSpPr>
        <p:spPr>
          <a:xfrm>
            <a:off x="7057439" y="2656080"/>
            <a:ext cx="1707619"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dirty="0">
                <a:solidFill>
                  <a:srgbClr val="FF0000"/>
                </a:solidFill>
                <a:latin typeface="Calibri"/>
              </a:rPr>
              <a:t>Tiempo de espera (E)</a:t>
            </a:r>
            <a:endParaRPr lang="es-ES" sz="1350" b="0" strike="noStrike" spc="-1" dirty="0">
              <a:latin typeface="Arial"/>
            </a:endParaRPr>
          </a:p>
        </p:txBody>
      </p:sp>
      <p:sp>
        <p:nvSpPr>
          <p:cNvPr id="816" name="CustomShape 32"/>
          <p:cNvSpPr/>
          <p:nvPr/>
        </p:nvSpPr>
        <p:spPr>
          <a:xfrm>
            <a:off x="7059960" y="2276640"/>
            <a:ext cx="16214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dirty="0">
                <a:solidFill>
                  <a:srgbClr val="00B050"/>
                </a:solidFill>
                <a:latin typeface="Calibri"/>
              </a:rPr>
              <a:t>Tiempo de ejecución (t)</a:t>
            </a:r>
            <a:endParaRPr lang="es-ES" sz="1350" b="0" strike="noStrike" spc="-1" dirty="0">
              <a:latin typeface="Arial"/>
            </a:endParaRPr>
          </a:p>
        </p:txBody>
      </p:sp>
      <p:sp>
        <p:nvSpPr>
          <p:cNvPr id="817" name="CustomShape 33"/>
          <p:cNvSpPr/>
          <p:nvPr/>
        </p:nvSpPr>
        <p:spPr>
          <a:xfrm>
            <a:off x="2096640" y="4038840"/>
            <a:ext cx="6489720" cy="501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Ilustración de la relación entre los distintos tiempos usados en planificación. La penalización es el cociente entre el tiempo de respuesta y el tiempo de ejecución</a:t>
            </a:r>
            <a:endParaRPr lang="es-ES" sz="1350" b="0" strike="noStrike" spc="-1">
              <a:latin typeface="Arial"/>
            </a:endParaRPr>
          </a:p>
        </p:txBody>
      </p:sp>
      <p:grpSp>
        <p:nvGrpSpPr>
          <p:cNvPr id="818" name="Group 34"/>
          <p:cNvGrpSpPr/>
          <p:nvPr/>
        </p:nvGrpSpPr>
        <p:grpSpPr>
          <a:xfrm>
            <a:off x="2177640" y="3211200"/>
            <a:ext cx="2143440" cy="360"/>
            <a:chOff x="2177640" y="3211200"/>
            <a:chExt cx="2143440" cy="360"/>
          </a:xfrm>
        </p:grpSpPr>
        <p:sp>
          <p:nvSpPr>
            <p:cNvPr id="819" name="CustomShape 35"/>
            <p:cNvSpPr/>
            <p:nvPr/>
          </p:nvSpPr>
          <p:spPr>
            <a:xfrm>
              <a:off x="2177640" y="3211200"/>
              <a:ext cx="67464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20" name="CustomShape 36"/>
            <p:cNvSpPr/>
            <p:nvPr/>
          </p:nvSpPr>
          <p:spPr>
            <a:xfrm>
              <a:off x="2852640" y="3211200"/>
              <a:ext cx="43776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21" name="CustomShape 37"/>
            <p:cNvSpPr/>
            <p:nvPr/>
          </p:nvSpPr>
          <p:spPr>
            <a:xfrm>
              <a:off x="3290760" y="3211200"/>
              <a:ext cx="59940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sp>
          <p:nvSpPr>
            <p:cNvPr id="822" name="CustomShape 38"/>
            <p:cNvSpPr/>
            <p:nvPr/>
          </p:nvSpPr>
          <p:spPr>
            <a:xfrm>
              <a:off x="3890160" y="3211200"/>
              <a:ext cx="430920" cy="360"/>
            </a:xfrm>
            <a:custGeom>
              <a:avLst/>
              <a:gdLst/>
              <a:ahLst/>
              <a:cxnLst/>
              <a:rect l="l" t="t" r="r" b="b"/>
              <a:pathLst>
                <a:path w="21600" h="21600">
                  <a:moveTo>
                    <a:pt x="0" y="0"/>
                  </a:moveTo>
                  <a:lnTo>
                    <a:pt x="21600" y="21600"/>
                  </a:lnTo>
                </a:path>
              </a:pathLst>
            </a:custGeom>
            <a:noFill/>
            <a:ln w="19080">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p:style>
        </p:sp>
      </p:grpSp>
      <p:grpSp>
        <p:nvGrpSpPr>
          <p:cNvPr id="823" name="Group 39"/>
          <p:cNvGrpSpPr/>
          <p:nvPr/>
        </p:nvGrpSpPr>
        <p:grpSpPr>
          <a:xfrm>
            <a:off x="4321800" y="3211200"/>
            <a:ext cx="2644200" cy="360"/>
            <a:chOff x="4321800" y="3211200"/>
            <a:chExt cx="2644200" cy="360"/>
          </a:xfrm>
        </p:grpSpPr>
        <p:sp>
          <p:nvSpPr>
            <p:cNvPr id="824" name="CustomShape 40"/>
            <p:cNvSpPr/>
            <p:nvPr/>
          </p:nvSpPr>
          <p:spPr>
            <a:xfrm>
              <a:off x="4321800" y="3211200"/>
              <a:ext cx="119052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sp>
          <p:nvSpPr>
            <p:cNvPr id="825" name="CustomShape 41"/>
            <p:cNvSpPr/>
            <p:nvPr/>
          </p:nvSpPr>
          <p:spPr>
            <a:xfrm>
              <a:off x="5512680" y="3211200"/>
              <a:ext cx="26244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sp>
          <p:nvSpPr>
            <p:cNvPr id="826" name="CustomShape 42"/>
            <p:cNvSpPr/>
            <p:nvPr/>
          </p:nvSpPr>
          <p:spPr>
            <a:xfrm>
              <a:off x="5775480" y="3211200"/>
              <a:ext cx="1190520" cy="360"/>
            </a:xfrm>
            <a:custGeom>
              <a:avLst/>
              <a:gdLst/>
              <a:ahLst/>
              <a:cxnLst/>
              <a:rect l="l" t="t" r="r" b="b"/>
              <a:pathLst>
                <a:path w="21600" h="21600">
                  <a:moveTo>
                    <a:pt x="0" y="0"/>
                  </a:moveTo>
                  <a:lnTo>
                    <a:pt x="21600" y="21600"/>
                  </a:lnTo>
                </a:path>
              </a:pathLst>
            </a:custGeom>
            <a:noFill/>
            <a:ln w="19080">
              <a:solidFill>
                <a:srgbClr val="FF0000"/>
              </a:solidFill>
              <a:custDash>
                <a:ds d="400000" sp="300000"/>
              </a:custDash>
              <a:headEnd type="triangle" w="med" len="med"/>
              <a:tailEnd type="triangle" w="med" len="med"/>
            </a:ln>
          </p:spPr>
          <p:style>
            <a:lnRef idx="1">
              <a:schemeClr val="accent1"/>
            </a:lnRef>
            <a:fillRef idx="0">
              <a:schemeClr val="accent1"/>
            </a:fillRef>
            <a:effectRef idx="0">
              <a:schemeClr val="accent1"/>
            </a:effectRef>
            <a:fontRef idx="minor"/>
          </p:style>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828" name="CustomShape 2"/>
          <p:cNvSpPr/>
          <p:nvPr/>
        </p:nvSpPr>
        <p:spPr>
          <a:xfrm>
            <a:off x="1896480" y="995400"/>
            <a:ext cx="680976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El planificador se despierta cuando un proceso nace, muere o pasa a bloqueo y siempre que se activa una interrupción periódica llamada </a:t>
            </a:r>
            <a:r>
              <a:rPr lang="es-ES" sz="1350" b="1" strike="noStrike" spc="-1">
                <a:solidFill>
                  <a:srgbClr val="000000"/>
                </a:solidFill>
                <a:latin typeface="Calibri"/>
              </a:rPr>
              <a:t>tick</a:t>
            </a:r>
            <a:r>
              <a:rPr lang="es-ES" sz="1350" b="0" strike="noStrike" spc="-1">
                <a:solidFill>
                  <a:srgbClr val="000000"/>
                </a:solidFill>
                <a:latin typeface="Calibri"/>
              </a:rPr>
              <a:t>, una vez cada 10ms (puede modificarse por configuración).</a:t>
            </a:r>
            <a:endParaRPr lang="es-ES" sz="1350" b="0" strike="noStrike" spc="-1">
              <a:latin typeface="Arial"/>
            </a:endParaRPr>
          </a:p>
          <a:p>
            <a:pPr>
              <a:lnSpc>
                <a:spcPct val="100000"/>
              </a:lnSpc>
            </a:pPr>
            <a:endParaRPr lang="es-ES" sz="1350" b="0" strike="noStrike" spc="-1">
              <a:latin typeface="Arial"/>
            </a:endParaRPr>
          </a:p>
          <a:p>
            <a:pPr>
              <a:lnSpc>
                <a:spcPct val="100000"/>
              </a:lnSpc>
            </a:pPr>
            <a:r>
              <a:rPr lang="es-ES" sz="1350" b="0" strike="noStrike" spc="-1">
                <a:solidFill>
                  <a:srgbClr val="000000"/>
                </a:solidFill>
                <a:latin typeface="Calibri"/>
              </a:rPr>
              <a:t>Esta interrupción es la basa para medir otro periodo llamado </a:t>
            </a:r>
            <a:r>
              <a:rPr lang="es-ES" sz="1350" b="1" strike="noStrike" spc="-1">
                <a:solidFill>
                  <a:srgbClr val="000000"/>
                </a:solidFill>
                <a:latin typeface="Calibri"/>
              </a:rPr>
              <a:t>quantum </a:t>
            </a:r>
            <a:r>
              <a:rPr lang="es-ES" sz="1350" b="0" strike="noStrike" spc="-1">
                <a:solidFill>
                  <a:srgbClr val="000000"/>
                </a:solidFill>
                <a:latin typeface="Calibri"/>
              </a:rPr>
              <a:t>(en Linux </a:t>
            </a:r>
            <a:r>
              <a:rPr lang="es-ES" sz="1350" b="0" i="1" strike="noStrike" spc="-1">
                <a:solidFill>
                  <a:srgbClr val="000000"/>
                </a:solidFill>
                <a:latin typeface="Calibri"/>
              </a:rPr>
              <a:t>timeslice</a:t>
            </a:r>
            <a:r>
              <a:rPr lang="es-ES" sz="1350" b="0" strike="noStrike" spc="-1">
                <a:solidFill>
                  <a:srgbClr val="000000"/>
                </a:solidFill>
                <a:latin typeface="Calibri"/>
              </a:rPr>
              <a:t>), que es él tiempo máximo que un proceso puede ejecutarse de forma continua habiendo otros en la cola de espera del estado Listo. El quantum es múltiplo del tick [entre 10 y 200 en Linux] y garantiza que un único proceso no monopoliza la CPU. Si se produce un bucle infinito, como consecuencia de un error, el proceso es expulsado a </a:t>
            </a:r>
            <a:r>
              <a:rPr lang="es-ES" sz="1350" b="1" strike="noStrike" spc="-1">
                <a:solidFill>
                  <a:srgbClr val="000000"/>
                </a:solidFill>
                <a:latin typeface="Calibri"/>
              </a:rPr>
              <a:t>Listo</a:t>
            </a:r>
            <a:r>
              <a:rPr lang="es-ES" sz="1350" b="0" strike="noStrike" spc="-1">
                <a:solidFill>
                  <a:srgbClr val="000000"/>
                </a:solidFill>
                <a:latin typeface="Calibri"/>
              </a:rPr>
              <a:t> cada vez que agota el quantum. En MS-DOS la única solución era reiniciar la máquina en esas circunstancias.</a:t>
            </a:r>
            <a:endParaRPr lang="es-ES" sz="1350" b="0" strike="noStrike" spc="-1">
              <a:latin typeface="Arial"/>
            </a:endParaRPr>
          </a:p>
          <a:p>
            <a:pPr>
              <a:lnSpc>
                <a:spcPct val="100000"/>
              </a:lnSpc>
            </a:pPr>
            <a:endParaRPr lang="es-ES" sz="1350" b="0" strike="noStrike" spc="-1">
              <a:latin typeface="Arial"/>
            </a:endParaRPr>
          </a:p>
          <a:p>
            <a:pPr>
              <a:lnSpc>
                <a:spcPct val="100000"/>
              </a:lnSpc>
            </a:pPr>
            <a:r>
              <a:rPr lang="es-ES" sz="1350" b="0" strike="noStrike" spc="-1">
                <a:solidFill>
                  <a:srgbClr val="000000"/>
                </a:solidFill>
                <a:latin typeface="Calibri"/>
              </a:rPr>
              <a:t>En los sistemas no expulsivos, el proceso completa su quantum con independencia de los que estén esperando en cola. En los </a:t>
            </a:r>
            <a:r>
              <a:rPr lang="es-ES" sz="1350" b="1" strike="noStrike" spc="-1">
                <a:solidFill>
                  <a:srgbClr val="000000"/>
                </a:solidFill>
                <a:latin typeface="Calibri"/>
              </a:rPr>
              <a:t>expulsivos</a:t>
            </a:r>
            <a:r>
              <a:rPr lang="es-ES" sz="1350" b="0" strike="noStrike" spc="-1">
                <a:solidFill>
                  <a:srgbClr val="000000"/>
                </a:solidFill>
                <a:latin typeface="Calibri"/>
              </a:rPr>
              <a:t>, el proceso puede ser expulsado aunque no hay terminado su quantum si hay a la espera otro de mayor prioridad.</a:t>
            </a:r>
            <a:endParaRPr lang="es-ES" sz="1350" b="0" strike="noStrike" spc="-1">
              <a:latin typeface="Arial"/>
            </a:endParaRPr>
          </a:p>
          <a:p>
            <a:pPr>
              <a:lnSpc>
                <a:spcPct val="100000"/>
              </a:lnSpc>
            </a:pPr>
            <a:endParaRPr lang="es-ES" sz="1350" b="0" strike="noStrike" spc="-1">
              <a:latin typeface="Arial"/>
            </a:endParaRPr>
          </a:p>
          <a:p>
            <a:pPr>
              <a:lnSpc>
                <a:spcPct val="100000"/>
              </a:lnSpc>
            </a:pPr>
            <a:r>
              <a:rPr lang="es-ES" sz="1350" b="0" strike="noStrike" spc="-1">
                <a:solidFill>
                  <a:srgbClr val="000000"/>
                </a:solidFill>
                <a:latin typeface="Calibri"/>
              </a:rPr>
              <a:t>Un proceso puede ejecutarse de forma continua múltiples quantum si no hay otros a la espera. Todos los sistemas tienen un </a:t>
            </a:r>
            <a:r>
              <a:rPr lang="es-ES" sz="1350" b="1" strike="noStrike" spc="-1">
                <a:solidFill>
                  <a:srgbClr val="000000"/>
                </a:solidFill>
                <a:latin typeface="Calibri"/>
              </a:rPr>
              <a:t>proceso nulo</a:t>
            </a:r>
            <a:r>
              <a:rPr lang="es-ES" sz="1350" b="0" strike="noStrike" spc="-1">
                <a:solidFill>
                  <a:srgbClr val="000000"/>
                </a:solidFill>
                <a:latin typeface="Calibri"/>
              </a:rPr>
              <a:t>, que se ejecuta si no hay ningún proceso en la cola </a:t>
            </a:r>
            <a:r>
              <a:rPr lang="es-ES" sz="1350" b="1" strike="noStrike" spc="-1">
                <a:solidFill>
                  <a:srgbClr val="000000"/>
                </a:solidFill>
                <a:latin typeface="Calibri"/>
              </a:rPr>
              <a:t>Listo</a:t>
            </a:r>
            <a:r>
              <a:rPr lang="es-ES" sz="1350" b="0" strike="noStrike" spc="-1">
                <a:solidFill>
                  <a:srgbClr val="000000"/>
                </a:solidFill>
                <a:latin typeface="Calibri"/>
              </a:rPr>
              <a:t>.</a:t>
            </a:r>
            <a:endParaRPr lang="es-ES" sz="1350" b="0" strike="noStrike" spc="-1">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830" name="CustomShape 2"/>
          <p:cNvSpPr/>
          <p:nvPr/>
        </p:nvSpPr>
        <p:spPr>
          <a:xfrm>
            <a:off x="1896480" y="995400"/>
            <a:ext cx="537516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Algoritmo FCFS (First Come, First Served)</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Es un algoritmo muy simple, el scheduler concede la CPU al proceso que lleva más tiempo en la cola Listo. El proceso se ejecuta de forma continuada hasta terminar. No hay quantum.</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Tiene la ventaja de resultar muy sencillo de implementar, pero es muy poco equitativo. Si en un mismo servidor hay un proceso de cálculo numérico con un largo tiempo de ejecución y un servidor web que atiende peticiones de usuarios remotos, éstas pueden demorar minutos si tienen la mala de suerte de encolarse tras el primer proceso.</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El tiempo de respuesta percibido por el usuario que hace la petición web es inaceptable, mientras que el que lanzó el proceso numérico tendría una buena experiencia. Sin embargo, podría haberse interrumpido el cálculo durante dos segundos para atender al usuario web, que mejoraría mucho su percepción, mientras que para el segundo usuario se prolongaría de forma imperceptible una operación que necesita minutos.</a:t>
            </a:r>
            <a:endParaRPr lang="es-ES" sz="1350" b="0" strike="noStrike" spc="-1">
              <a:latin typeface="Arial"/>
            </a:endParaRPr>
          </a:p>
        </p:txBody>
      </p:sp>
      <p:pic>
        <p:nvPicPr>
          <p:cNvPr id="831" name="Picture 2"/>
          <p:cNvPicPr/>
          <p:nvPr/>
        </p:nvPicPr>
        <p:blipFill>
          <a:blip r:embed="rId3"/>
          <a:stretch/>
        </p:blipFill>
        <p:spPr>
          <a:xfrm>
            <a:off x="7385040" y="995400"/>
            <a:ext cx="1578240" cy="2367360"/>
          </a:xfrm>
          <a:prstGeom prst="rect">
            <a:avLst/>
          </a:prstGeom>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2" name="Imagen 15"/>
          <p:cNvPicPr/>
          <p:nvPr/>
        </p:nvPicPr>
        <p:blipFill>
          <a:blip r:embed="rId3"/>
          <a:stretch/>
        </p:blipFill>
        <p:spPr>
          <a:xfrm>
            <a:off x="1411560" y="2134080"/>
            <a:ext cx="4178880" cy="2320560"/>
          </a:xfrm>
          <a:prstGeom prst="rect">
            <a:avLst/>
          </a:prstGeom>
          <a:ln>
            <a:noFill/>
          </a:ln>
        </p:spPr>
      </p:pic>
      <p:pic>
        <p:nvPicPr>
          <p:cNvPr id="833" name="Imagen 17"/>
          <p:cNvPicPr/>
          <p:nvPr/>
        </p:nvPicPr>
        <p:blipFill>
          <a:blip r:embed="rId4"/>
          <a:stretch/>
        </p:blipFill>
        <p:spPr>
          <a:xfrm>
            <a:off x="5789160" y="2074320"/>
            <a:ext cx="2946960" cy="1140480"/>
          </a:xfrm>
          <a:prstGeom prst="rect">
            <a:avLst/>
          </a:prstGeom>
          <a:ln>
            <a:noFill/>
          </a:ln>
        </p:spPr>
      </p:pic>
      <p:pic>
        <p:nvPicPr>
          <p:cNvPr id="834" name="Imagen 19"/>
          <p:cNvPicPr/>
          <p:nvPr/>
        </p:nvPicPr>
        <p:blipFill>
          <a:blip r:embed="rId5"/>
          <a:stretch/>
        </p:blipFill>
        <p:spPr>
          <a:xfrm>
            <a:off x="1350000" y="0"/>
            <a:ext cx="5076720" cy="2116800"/>
          </a:xfrm>
          <a:prstGeom prst="rect">
            <a:avLst/>
          </a:prstGeom>
          <a:ln>
            <a:noFill/>
          </a:ln>
        </p:spPr>
      </p:pic>
      <p:sp>
        <p:nvSpPr>
          <p:cNvPr id="835" name="CustomShape 1"/>
          <p:cNvSpPr/>
          <p:nvPr/>
        </p:nvSpPr>
        <p:spPr>
          <a:xfrm>
            <a:off x="6625440" y="1401120"/>
            <a:ext cx="2791440" cy="75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1" strike="noStrike" spc="-1">
                <a:solidFill>
                  <a:srgbClr val="0070C0"/>
                </a:solidFill>
                <a:latin typeface="Bradley Hand ITC"/>
                <a:ea typeface="STCaiyun"/>
              </a:rPr>
              <a:t>Como el proceso A tiene un tiempo de ejecución largo, los procesos A, B y C se ven bastante penalizados</a:t>
            </a:r>
            <a:endParaRPr lang="es-ES" sz="1100" b="0" strike="noStrike" spc="-1">
              <a:latin typeface="Arial"/>
            </a:endParaRPr>
          </a:p>
        </p:txBody>
      </p:sp>
      <p:sp>
        <p:nvSpPr>
          <p:cNvPr id="836" name="CustomShape 2"/>
          <p:cNvSpPr/>
          <p:nvPr/>
        </p:nvSpPr>
        <p:spPr>
          <a:xfrm>
            <a:off x="157608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A</a:t>
            </a:r>
            <a:endParaRPr lang="es-ES" sz="1100" b="0" strike="noStrike" spc="-1">
              <a:latin typeface="Arial"/>
            </a:endParaRPr>
          </a:p>
        </p:txBody>
      </p:sp>
      <p:sp>
        <p:nvSpPr>
          <p:cNvPr id="837" name="CustomShape 3"/>
          <p:cNvSpPr/>
          <p:nvPr/>
        </p:nvSpPr>
        <p:spPr>
          <a:xfrm>
            <a:off x="172872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38" name="CustomShape 4"/>
          <p:cNvSpPr/>
          <p:nvPr/>
        </p:nvSpPr>
        <p:spPr>
          <a:xfrm>
            <a:off x="188532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39" name="CustomShape 5"/>
          <p:cNvSpPr/>
          <p:nvPr/>
        </p:nvSpPr>
        <p:spPr>
          <a:xfrm>
            <a:off x="203796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40" name="CustomShape 6"/>
          <p:cNvSpPr/>
          <p:nvPr/>
        </p:nvSpPr>
        <p:spPr>
          <a:xfrm>
            <a:off x="219456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41" name="CustomShape 7"/>
          <p:cNvSpPr/>
          <p:nvPr/>
        </p:nvSpPr>
        <p:spPr>
          <a:xfrm>
            <a:off x="234684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42" name="CustomShape 8"/>
          <p:cNvSpPr/>
          <p:nvPr/>
        </p:nvSpPr>
        <p:spPr>
          <a:xfrm>
            <a:off x="250380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43" name="CustomShape 9"/>
          <p:cNvSpPr/>
          <p:nvPr/>
        </p:nvSpPr>
        <p:spPr>
          <a:xfrm>
            <a:off x="265608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44" name="CustomShape 10"/>
          <p:cNvSpPr/>
          <p:nvPr/>
        </p:nvSpPr>
        <p:spPr>
          <a:xfrm>
            <a:off x="281304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C</a:t>
            </a:r>
            <a:endParaRPr lang="es-ES" sz="1100" b="0" strike="noStrike" spc="-1">
              <a:latin typeface="Arial"/>
            </a:endParaRPr>
          </a:p>
        </p:txBody>
      </p:sp>
      <p:sp>
        <p:nvSpPr>
          <p:cNvPr id="845" name="CustomShape 11"/>
          <p:cNvSpPr/>
          <p:nvPr/>
        </p:nvSpPr>
        <p:spPr>
          <a:xfrm>
            <a:off x="296532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46" name="CustomShape 12"/>
          <p:cNvSpPr/>
          <p:nvPr/>
        </p:nvSpPr>
        <p:spPr>
          <a:xfrm>
            <a:off x="312192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47" name="CustomShape 13"/>
          <p:cNvSpPr/>
          <p:nvPr/>
        </p:nvSpPr>
        <p:spPr>
          <a:xfrm>
            <a:off x="327456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48" name="CustomShape 14"/>
          <p:cNvSpPr/>
          <p:nvPr/>
        </p:nvSpPr>
        <p:spPr>
          <a:xfrm>
            <a:off x="343116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D</a:t>
            </a:r>
            <a:endParaRPr lang="es-ES" sz="1100" b="0" strike="noStrike" spc="-1">
              <a:latin typeface="Arial"/>
            </a:endParaRPr>
          </a:p>
        </p:txBody>
      </p:sp>
      <p:sp>
        <p:nvSpPr>
          <p:cNvPr id="849" name="CustomShape 15"/>
          <p:cNvSpPr/>
          <p:nvPr/>
        </p:nvSpPr>
        <p:spPr>
          <a:xfrm>
            <a:off x="358344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0" name="CustomShape 16"/>
          <p:cNvSpPr/>
          <p:nvPr/>
        </p:nvSpPr>
        <p:spPr>
          <a:xfrm>
            <a:off x="374040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1" name="CustomShape 17"/>
          <p:cNvSpPr/>
          <p:nvPr/>
        </p:nvSpPr>
        <p:spPr>
          <a:xfrm>
            <a:off x="389268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2" name="CustomShape 18"/>
          <p:cNvSpPr/>
          <p:nvPr/>
        </p:nvSpPr>
        <p:spPr>
          <a:xfrm>
            <a:off x="404964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3" name="CustomShape 19"/>
          <p:cNvSpPr/>
          <p:nvPr/>
        </p:nvSpPr>
        <p:spPr>
          <a:xfrm>
            <a:off x="420192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4" name="CustomShape 20"/>
          <p:cNvSpPr/>
          <p:nvPr/>
        </p:nvSpPr>
        <p:spPr>
          <a:xfrm>
            <a:off x="435852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B</a:t>
            </a:r>
            <a:endParaRPr lang="es-ES" sz="1100" b="0" strike="noStrike" spc="-1">
              <a:latin typeface="Arial"/>
            </a:endParaRPr>
          </a:p>
        </p:txBody>
      </p:sp>
      <p:sp>
        <p:nvSpPr>
          <p:cNvPr id="855" name="CustomShape 21"/>
          <p:cNvSpPr/>
          <p:nvPr/>
        </p:nvSpPr>
        <p:spPr>
          <a:xfrm>
            <a:off x="451116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6" name="CustomShape 22"/>
          <p:cNvSpPr/>
          <p:nvPr/>
        </p:nvSpPr>
        <p:spPr>
          <a:xfrm>
            <a:off x="466776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7" name="CustomShape 23"/>
          <p:cNvSpPr/>
          <p:nvPr/>
        </p:nvSpPr>
        <p:spPr>
          <a:xfrm>
            <a:off x="482004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8" name="CustomShape 24"/>
          <p:cNvSpPr/>
          <p:nvPr/>
        </p:nvSpPr>
        <p:spPr>
          <a:xfrm>
            <a:off x="497700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59" name="CustomShape 25"/>
          <p:cNvSpPr/>
          <p:nvPr/>
        </p:nvSpPr>
        <p:spPr>
          <a:xfrm>
            <a:off x="512928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0" name="CustomShape 26"/>
          <p:cNvSpPr/>
          <p:nvPr/>
        </p:nvSpPr>
        <p:spPr>
          <a:xfrm>
            <a:off x="528624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1" name="CustomShape 27"/>
          <p:cNvSpPr/>
          <p:nvPr/>
        </p:nvSpPr>
        <p:spPr>
          <a:xfrm>
            <a:off x="543852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2" name="CustomShape 28"/>
          <p:cNvSpPr/>
          <p:nvPr/>
        </p:nvSpPr>
        <p:spPr>
          <a:xfrm>
            <a:off x="559512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3" name="CustomShape 29"/>
          <p:cNvSpPr/>
          <p:nvPr/>
        </p:nvSpPr>
        <p:spPr>
          <a:xfrm>
            <a:off x="574776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4" name="CustomShape 30"/>
          <p:cNvSpPr/>
          <p:nvPr/>
        </p:nvSpPr>
        <p:spPr>
          <a:xfrm>
            <a:off x="590436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5" name="CustomShape 31"/>
          <p:cNvSpPr/>
          <p:nvPr/>
        </p:nvSpPr>
        <p:spPr>
          <a:xfrm>
            <a:off x="605700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6" name="CustomShape 32"/>
          <p:cNvSpPr/>
          <p:nvPr/>
        </p:nvSpPr>
        <p:spPr>
          <a:xfrm>
            <a:off x="621360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7" name="CustomShape 33"/>
          <p:cNvSpPr/>
          <p:nvPr/>
        </p:nvSpPr>
        <p:spPr>
          <a:xfrm>
            <a:off x="636588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68" name="CustomShape 34"/>
          <p:cNvSpPr/>
          <p:nvPr/>
        </p:nvSpPr>
        <p:spPr>
          <a:xfrm>
            <a:off x="1447200" y="4885200"/>
            <a:ext cx="23904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0</a:t>
            </a:r>
            <a:endParaRPr lang="es-ES" sz="900" b="0" strike="noStrike" spc="-1">
              <a:latin typeface="Arial"/>
            </a:endParaRPr>
          </a:p>
        </p:txBody>
      </p:sp>
      <p:sp>
        <p:nvSpPr>
          <p:cNvPr id="869" name="CustomShape 35"/>
          <p:cNvSpPr/>
          <p:nvPr/>
        </p:nvSpPr>
        <p:spPr>
          <a:xfrm>
            <a:off x="2217960" y="4903920"/>
            <a:ext cx="23904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5</a:t>
            </a:r>
            <a:endParaRPr lang="es-ES" sz="900" b="0" strike="noStrike" spc="-1">
              <a:latin typeface="Arial"/>
            </a:endParaRPr>
          </a:p>
        </p:txBody>
      </p:sp>
      <p:sp>
        <p:nvSpPr>
          <p:cNvPr id="870" name="CustomShape 36"/>
          <p:cNvSpPr/>
          <p:nvPr/>
        </p:nvSpPr>
        <p:spPr>
          <a:xfrm>
            <a:off x="3002400" y="490392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10</a:t>
            </a:r>
            <a:endParaRPr lang="es-ES" sz="900" b="0" strike="noStrike" spc="-1">
              <a:latin typeface="Arial"/>
            </a:endParaRPr>
          </a:p>
        </p:txBody>
      </p:sp>
      <p:sp>
        <p:nvSpPr>
          <p:cNvPr id="871" name="CustomShape 37"/>
          <p:cNvSpPr/>
          <p:nvPr/>
        </p:nvSpPr>
        <p:spPr>
          <a:xfrm>
            <a:off x="3737520" y="490392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15</a:t>
            </a:r>
            <a:endParaRPr lang="es-ES" sz="900" b="0" strike="noStrike" spc="-1">
              <a:latin typeface="Arial"/>
            </a:endParaRPr>
          </a:p>
        </p:txBody>
      </p:sp>
      <p:sp>
        <p:nvSpPr>
          <p:cNvPr id="872" name="CustomShape 38"/>
          <p:cNvSpPr/>
          <p:nvPr/>
        </p:nvSpPr>
        <p:spPr>
          <a:xfrm>
            <a:off x="4534920" y="491256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20</a:t>
            </a:r>
            <a:endParaRPr lang="es-ES" sz="900" b="0" strike="noStrike" spc="-1">
              <a:latin typeface="Arial"/>
            </a:endParaRPr>
          </a:p>
        </p:txBody>
      </p:sp>
      <p:sp>
        <p:nvSpPr>
          <p:cNvPr id="873" name="CustomShape 39"/>
          <p:cNvSpPr/>
          <p:nvPr/>
        </p:nvSpPr>
        <p:spPr>
          <a:xfrm>
            <a:off x="5269680" y="4912560"/>
            <a:ext cx="32292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 25</a:t>
            </a:r>
            <a:endParaRPr lang="es-ES" sz="900" b="0" strike="noStrike" spc="-1">
              <a:latin typeface="Arial"/>
            </a:endParaRPr>
          </a:p>
        </p:txBody>
      </p:sp>
      <p:sp>
        <p:nvSpPr>
          <p:cNvPr id="874" name="CustomShape 40"/>
          <p:cNvSpPr/>
          <p:nvPr/>
        </p:nvSpPr>
        <p:spPr>
          <a:xfrm>
            <a:off x="6057720" y="491256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30</a:t>
            </a:r>
            <a:endParaRPr lang="es-ES" sz="900" b="0" strike="noStrike" spc="-1">
              <a:latin typeface="Arial"/>
            </a:endParaRPr>
          </a:p>
        </p:txBody>
      </p:sp>
      <p:sp>
        <p:nvSpPr>
          <p:cNvPr id="875" name="CustomShape 41"/>
          <p:cNvSpPr/>
          <p:nvPr/>
        </p:nvSpPr>
        <p:spPr>
          <a:xfrm>
            <a:off x="6703560" y="4612680"/>
            <a:ext cx="16196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Ocupación de la CPU</a:t>
            </a:r>
            <a:endParaRPr lang="es-ES" sz="1350" b="0" strike="noStrike" spc="-1">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CustomShape 41"/>
          <p:cNvSpPr/>
          <p:nvPr/>
        </p:nvSpPr>
        <p:spPr>
          <a:xfrm>
            <a:off x="6703560" y="4612680"/>
            <a:ext cx="16196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Ocupación de la CPU</a:t>
            </a:r>
            <a:endParaRPr lang="es-ES" sz="1350" b="0" strike="noStrike" spc="-1">
              <a:latin typeface="Arial"/>
            </a:endParaRPr>
          </a:p>
        </p:txBody>
      </p:sp>
      <p:graphicFrame>
        <p:nvGraphicFramePr>
          <p:cNvPr id="2" name="Tabla 1">
            <a:extLst>
              <a:ext uri="{FF2B5EF4-FFF2-40B4-BE49-F238E27FC236}">
                <a16:creationId xmlns:a16="http://schemas.microsoft.com/office/drawing/2014/main" id="{C161122A-53BE-4766-94EF-59FECF8FECC0}"/>
              </a:ext>
            </a:extLst>
          </p:cNvPr>
          <p:cNvGraphicFramePr>
            <a:graphicFrameLocks noGrp="1"/>
          </p:cNvGraphicFramePr>
          <p:nvPr>
            <p:extLst>
              <p:ext uri="{D42A27DB-BD31-4B8C-83A1-F6EECF244321}">
                <p14:modId xmlns:p14="http://schemas.microsoft.com/office/powerpoint/2010/main" val="3531462920"/>
              </p:ext>
            </p:extLst>
          </p:nvPr>
        </p:nvGraphicFramePr>
        <p:xfrm>
          <a:off x="1566720" y="807840"/>
          <a:ext cx="3162300" cy="1097280"/>
        </p:xfrm>
        <a:graphic>
          <a:graphicData uri="http://schemas.openxmlformats.org/drawingml/2006/table">
            <a:tbl>
              <a:tblPr/>
              <a:tblGrid>
                <a:gridCol w="787400">
                  <a:extLst>
                    <a:ext uri="{9D8B030D-6E8A-4147-A177-3AD203B41FA5}">
                      <a16:colId xmlns:a16="http://schemas.microsoft.com/office/drawing/2014/main" val="1248266541"/>
                    </a:ext>
                  </a:extLst>
                </a:gridCol>
                <a:gridCol w="1168400">
                  <a:extLst>
                    <a:ext uri="{9D8B030D-6E8A-4147-A177-3AD203B41FA5}">
                      <a16:colId xmlns:a16="http://schemas.microsoft.com/office/drawing/2014/main" val="3088918620"/>
                    </a:ext>
                  </a:extLst>
                </a:gridCol>
                <a:gridCol w="1206500">
                  <a:extLst>
                    <a:ext uri="{9D8B030D-6E8A-4147-A177-3AD203B41FA5}">
                      <a16:colId xmlns:a16="http://schemas.microsoft.com/office/drawing/2014/main" val="2341277202"/>
                    </a:ext>
                  </a:extLst>
                </a:gridCol>
              </a:tblGrid>
              <a:tr h="182880">
                <a:tc>
                  <a:txBody>
                    <a:bodyPr/>
                    <a:lstStyle/>
                    <a:p>
                      <a:pPr algn="ctr" fontAlgn="b"/>
                      <a:r>
                        <a:rPr lang="es-ES" sz="1100" b="1" i="0" u="none" strike="noStrike" dirty="0">
                          <a:solidFill>
                            <a:srgbClr val="000000"/>
                          </a:solidFill>
                          <a:effectLst/>
                          <a:latin typeface="Calibri" panose="020F0502020204030204" pitchFamily="34" charset="0"/>
                        </a:rPr>
                        <a:t>Proceso</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1" i="0" u="none" strike="noStrike" dirty="0">
                          <a:solidFill>
                            <a:srgbClr val="000000"/>
                          </a:solidFill>
                          <a:effectLst/>
                          <a:latin typeface="Calibri" panose="020F0502020204030204" pitchFamily="34" charset="0"/>
                        </a:rPr>
                        <a:t>Instante de llegada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1" i="0" u="none" strike="noStrike" dirty="0">
                          <a:solidFill>
                            <a:srgbClr val="000000"/>
                          </a:solidFill>
                          <a:effectLst/>
                          <a:latin typeface="Calibri" panose="020F0502020204030204" pitchFamily="34" charset="0"/>
                        </a:rPr>
                        <a:t>tiempo de ejecución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3868271"/>
                  </a:ext>
                </a:extLst>
              </a:tr>
              <a:tr h="182880">
                <a:tc>
                  <a:txBody>
                    <a:bodyPr/>
                    <a:lstStyle/>
                    <a:p>
                      <a:pPr algn="ctr" fontAlgn="ctr"/>
                      <a:r>
                        <a:rPr lang="es-ES" sz="1100" b="0" i="0" u="none" strike="noStrike" dirty="0">
                          <a:solidFill>
                            <a:srgbClr val="002060"/>
                          </a:solidFill>
                          <a:effectLst/>
                          <a:latin typeface="Calibri" panose="020F0502020204030204" pitchFamily="34" charset="0"/>
                        </a:rPr>
                        <a: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790700"/>
                  </a:ext>
                </a:extLst>
              </a:tr>
              <a:tr h="182880">
                <a:tc>
                  <a:txBody>
                    <a:bodyPr/>
                    <a:lstStyle/>
                    <a:p>
                      <a:pPr algn="ctr" fontAlgn="ctr"/>
                      <a:r>
                        <a:rPr lang="es-ES" sz="1100" b="0" i="0" u="none" strike="noStrike">
                          <a:solidFill>
                            <a:srgbClr val="002060"/>
                          </a:solidFill>
                          <a:effectLst/>
                          <a:latin typeface="Calibri" panose="020F0502020204030204" pitchFamily="34" charset="0"/>
                        </a:rPr>
                        <a: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5451564"/>
                  </a:ext>
                </a:extLst>
              </a:tr>
              <a:tr h="182880">
                <a:tc>
                  <a:txBody>
                    <a:bodyPr/>
                    <a:lstStyle/>
                    <a:p>
                      <a:pPr algn="ctr" fontAlgn="ctr"/>
                      <a:r>
                        <a:rPr lang="es-ES" sz="1100" b="0" i="0" u="none" strike="noStrike">
                          <a:solidFill>
                            <a:srgbClr val="002060"/>
                          </a:solidFill>
                          <a:effectLst/>
                          <a:latin typeface="Calibri" panose="020F0502020204030204" pitchFamily="34" charset="0"/>
                        </a:rPr>
                        <a:t>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206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091947"/>
                  </a:ext>
                </a:extLst>
              </a:tr>
              <a:tr h="182880">
                <a:tc>
                  <a:txBody>
                    <a:bodyPr/>
                    <a:lstStyle/>
                    <a:p>
                      <a:pPr algn="ctr" fontAlgn="ctr"/>
                      <a:r>
                        <a:rPr lang="es-ES" sz="1100" b="0" i="0" u="none" strike="noStrike">
                          <a:solidFill>
                            <a:srgbClr val="002060"/>
                          </a:solidFill>
                          <a:effectLst/>
                          <a:latin typeface="Calibri" panose="020F0502020204030204" pitchFamily="34" charset="0"/>
                        </a:rPr>
                        <a:t>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2060"/>
                          </a:solidFill>
                          <a:effectLst/>
                          <a:latin typeface="Calibri" panose="020F0502020204030204" pitchFamily="34" charset="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826368"/>
                  </a:ext>
                </a:extLst>
              </a:tr>
              <a:tr h="182880">
                <a:tc>
                  <a:txBody>
                    <a:bodyPr/>
                    <a:lstStyle/>
                    <a:p>
                      <a:pPr algn="ctr" fontAlgn="ctr"/>
                      <a:r>
                        <a:rPr lang="es-ES" sz="1100" b="0" i="0" u="none" strike="noStrike">
                          <a:solidFill>
                            <a:srgbClr val="002060"/>
                          </a:solidFill>
                          <a:effectLst/>
                          <a:latin typeface="Calibri" panose="020F0502020204030204" pitchFamily="34" charset="0"/>
                        </a:rPr>
                        <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5301464"/>
                  </a:ext>
                </a:extLst>
              </a:tr>
            </a:tbl>
          </a:graphicData>
        </a:graphic>
      </p:graphicFrame>
      <p:sp>
        <p:nvSpPr>
          <p:cNvPr id="3" name="CuadroTexto 2">
            <a:extLst>
              <a:ext uri="{FF2B5EF4-FFF2-40B4-BE49-F238E27FC236}">
                <a16:creationId xmlns:a16="http://schemas.microsoft.com/office/drawing/2014/main" id="{47B43A68-E82C-4B32-8A5A-D0BEC57D6AE8}"/>
              </a:ext>
            </a:extLst>
          </p:cNvPr>
          <p:cNvSpPr txBox="1"/>
          <p:nvPr/>
        </p:nvSpPr>
        <p:spPr>
          <a:xfrm>
            <a:off x="1466550" y="33793"/>
            <a:ext cx="6210900" cy="615553"/>
          </a:xfrm>
          <a:prstGeom prst="rect">
            <a:avLst/>
          </a:prstGeom>
          <a:noFill/>
        </p:spPr>
        <p:txBody>
          <a:bodyPr wrap="square" rtlCol="0">
            <a:spAutoFit/>
          </a:bodyPr>
          <a:lstStyle/>
          <a:p>
            <a:pPr algn="ctr"/>
            <a:r>
              <a:rPr lang="es-ES" sz="1200" b="1" dirty="0"/>
              <a:t>FCFS</a:t>
            </a:r>
          </a:p>
          <a:p>
            <a:pPr algn="ctr"/>
            <a:endParaRPr lang="es-ES" sz="1200" b="1" dirty="0"/>
          </a:p>
          <a:p>
            <a:r>
              <a:rPr lang="es-ES" sz="1000" dirty="0"/>
              <a:t>En un Sistema Operativo que usa planificador FCFS se presenta la siguiente combinación de procesos:</a:t>
            </a:r>
          </a:p>
        </p:txBody>
      </p:sp>
      <p:graphicFrame>
        <p:nvGraphicFramePr>
          <p:cNvPr id="5" name="Tabla 4">
            <a:extLst>
              <a:ext uri="{FF2B5EF4-FFF2-40B4-BE49-F238E27FC236}">
                <a16:creationId xmlns:a16="http://schemas.microsoft.com/office/drawing/2014/main" id="{FA9ECA46-8C34-4EEB-9761-05603C166481}"/>
              </a:ext>
            </a:extLst>
          </p:cNvPr>
          <p:cNvGraphicFramePr>
            <a:graphicFrameLocks noGrp="1"/>
          </p:cNvGraphicFramePr>
          <p:nvPr>
            <p:extLst>
              <p:ext uri="{D42A27DB-BD31-4B8C-83A1-F6EECF244321}">
                <p14:modId xmlns:p14="http://schemas.microsoft.com/office/powerpoint/2010/main" val="3193431802"/>
              </p:ext>
            </p:extLst>
          </p:nvPr>
        </p:nvGraphicFramePr>
        <p:xfrm>
          <a:off x="1530500" y="2277172"/>
          <a:ext cx="3136900" cy="426720"/>
        </p:xfrm>
        <a:graphic>
          <a:graphicData uri="http://schemas.openxmlformats.org/drawingml/2006/table">
            <a:tbl>
              <a:tblPr/>
              <a:tblGrid>
                <a:gridCol w="787400">
                  <a:extLst>
                    <a:ext uri="{9D8B030D-6E8A-4147-A177-3AD203B41FA5}">
                      <a16:colId xmlns:a16="http://schemas.microsoft.com/office/drawing/2014/main" val="3555128910"/>
                    </a:ext>
                  </a:extLst>
                </a:gridCol>
                <a:gridCol w="368300">
                  <a:extLst>
                    <a:ext uri="{9D8B030D-6E8A-4147-A177-3AD203B41FA5}">
                      <a16:colId xmlns:a16="http://schemas.microsoft.com/office/drawing/2014/main" val="2430162477"/>
                    </a:ext>
                  </a:extLst>
                </a:gridCol>
                <a:gridCol w="381000">
                  <a:extLst>
                    <a:ext uri="{9D8B030D-6E8A-4147-A177-3AD203B41FA5}">
                      <a16:colId xmlns:a16="http://schemas.microsoft.com/office/drawing/2014/main" val="1468616079"/>
                    </a:ext>
                  </a:extLst>
                </a:gridCol>
                <a:gridCol w="1079500">
                  <a:extLst>
                    <a:ext uri="{9D8B030D-6E8A-4147-A177-3AD203B41FA5}">
                      <a16:colId xmlns:a16="http://schemas.microsoft.com/office/drawing/2014/main" val="1460222408"/>
                    </a:ext>
                  </a:extLst>
                </a:gridCol>
                <a:gridCol w="520700">
                  <a:extLst>
                    <a:ext uri="{9D8B030D-6E8A-4147-A177-3AD203B41FA5}">
                      <a16:colId xmlns:a16="http://schemas.microsoft.com/office/drawing/2014/main" val="1356314445"/>
                    </a:ext>
                  </a:extLst>
                </a:gridCol>
              </a:tblGrid>
              <a:tr h="236220">
                <a:tc>
                  <a:txBody>
                    <a:bodyPr/>
                    <a:lstStyle/>
                    <a:p>
                      <a:pPr algn="ctr" fontAlgn="ctr"/>
                      <a:r>
                        <a:rPr lang="es-ES" sz="1100" b="1" i="0" u="none" strike="noStrike">
                          <a:solidFill>
                            <a:srgbClr val="000000"/>
                          </a:solidFill>
                          <a:effectLst/>
                          <a:latin typeface="Calibri" panose="020F0502020204030204" pitchFamily="34" charset="0"/>
                        </a:rPr>
                        <a:t>T</a:t>
                      </a:r>
                    </a:p>
                  </a:txBody>
                  <a:tcPr marL="7620" marR="7620" marT="7620" marB="0" anchor="ctr">
                    <a:lnL>
                      <a:noFill/>
                    </a:lnL>
                    <a:lnR>
                      <a:noFill/>
                    </a:lnR>
                    <a:lnT>
                      <a:noFill/>
                    </a:lnT>
                    <a:lnB>
                      <a:noFill/>
                    </a:lnB>
                  </a:tcPr>
                </a:tc>
                <a:tc>
                  <a:txBody>
                    <a:bodyPr/>
                    <a:lstStyle/>
                    <a:p>
                      <a:pPr algn="ctr" fontAlgn="ctr"/>
                      <a:r>
                        <a:rPr lang="es-ES" sz="1100" b="1" i="0" u="none" strike="noStrike">
                          <a:solidFill>
                            <a:srgbClr val="000000"/>
                          </a:solidFill>
                          <a:effectLst/>
                          <a:latin typeface="Calibri" panose="020F0502020204030204" pitchFamily="34" charset="0"/>
                        </a:rPr>
                        <a:t>CPU</a:t>
                      </a:r>
                    </a:p>
                  </a:txBody>
                  <a:tcPr marL="7620" marR="7620" marT="7620" marB="0" anchor="ctr">
                    <a:lnL>
                      <a:noFill/>
                    </a:lnL>
                    <a:lnR>
                      <a:noFill/>
                    </a:lnR>
                    <a:lnT>
                      <a:noFill/>
                    </a:lnT>
                    <a:lnB>
                      <a:noFill/>
                    </a:lnB>
                  </a:tcPr>
                </a:tc>
                <a:tc>
                  <a:txBody>
                    <a:bodyPr/>
                    <a:lstStyle/>
                    <a:p>
                      <a:pPr algn="ctr" fontAlgn="ctr"/>
                      <a:r>
                        <a:rPr lang="es-ES" sz="1100" b="1" i="0" u="none" strike="noStrike">
                          <a:solidFill>
                            <a:srgbClr val="000000"/>
                          </a:solidFill>
                          <a:effectLst/>
                          <a:latin typeface="Calibri" panose="020F0502020204030204" pitchFamily="34" charset="0"/>
                        </a:rPr>
                        <a:t>Llega</a:t>
                      </a:r>
                    </a:p>
                  </a:txBody>
                  <a:tcPr marL="7620" marR="7620" marT="7620" marB="0" anchor="ctr">
                    <a:lnL>
                      <a:noFill/>
                    </a:lnL>
                    <a:lnR>
                      <a:noFill/>
                    </a:lnR>
                    <a:lnT>
                      <a:noFill/>
                    </a:lnT>
                    <a:lnB>
                      <a:noFill/>
                    </a:lnB>
                  </a:tcPr>
                </a:tc>
                <a:tc>
                  <a:txBody>
                    <a:bodyPr/>
                    <a:lstStyle/>
                    <a:p>
                      <a:pPr algn="ctr" fontAlgn="ctr"/>
                      <a:r>
                        <a:rPr lang="es-ES" sz="1100" b="1" i="0" u="none" strike="noStrike">
                          <a:solidFill>
                            <a:srgbClr val="000000"/>
                          </a:solidFill>
                          <a:effectLst/>
                          <a:latin typeface="Calibri" panose="020F0502020204030204" pitchFamily="34" charset="0"/>
                        </a:rPr>
                        <a:t>Cola</a:t>
                      </a:r>
                    </a:p>
                  </a:txBody>
                  <a:tcPr marL="7620" marR="7620" marT="7620" marB="0" anchor="ctr">
                    <a:lnL>
                      <a:noFill/>
                    </a:lnL>
                    <a:lnR>
                      <a:noFill/>
                    </a:lnR>
                    <a:lnT>
                      <a:noFill/>
                    </a:lnT>
                    <a:lnB>
                      <a:noFill/>
                    </a:lnB>
                  </a:tcPr>
                </a:tc>
                <a:tc>
                  <a:txBody>
                    <a:bodyPr/>
                    <a:lstStyle/>
                    <a:p>
                      <a:pPr algn="ctr" fontAlgn="ctr"/>
                      <a:r>
                        <a:rPr lang="es-ES" sz="1100" b="1" i="0" u="none" strike="noStrike">
                          <a:solidFill>
                            <a:srgbClr val="000000"/>
                          </a:solidFill>
                          <a:effectLst/>
                          <a:latin typeface="Calibri" panose="020F0502020204030204" pitchFamily="34" charset="0"/>
                        </a:rPr>
                        <a:t>Finaliza</a:t>
                      </a:r>
                    </a:p>
                  </a:txBody>
                  <a:tcPr marL="7620" marR="7620" marT="7620" marB="0" anchor="ctr">
                    <a:lnL>
                      <a:noFill/>
                    </a:lnL>
                    <a:lnR>
                      <a:noFill/>
                    </a:lnR>
                    <a:lnT>
                      <a:noFill/>
                    </a:lnT>
                    <a:lnB>
                      <a:noFill/>
                    </a:lnB>
                  </a:tcPr>
                </a:tc>
                <a:extLst>
                  <a:ext uri="{0D108BD9-81ED-4DB2-BD59-A6C34878D82A}">
                    <a16:rowId xmlns:a16="http://schemas.microsoft.com/office/drawing/2014/main" val="2027210493"/>
                  </a:ext>
                </a:extLst>
              </a:tr>
              <a:tr h="190500">
                <a:tc>
                  <a:txBody>
                    <a:bodyPr/>
                    <a:lstStyle/>
                    <a:p>
                      <a:pPr algn="ctr" fontAlgn="ctr"/>
                      <a:r>
                        <a:rPr lang="es-ES" sz="1100" b="0" i="0" u="none" strike="noStrike">
                          <a:solidFill>
                            <a:srgbClr val="000000"/>
                          </a:solidFill>
                          <a:effectLst/>
                          <a:latin typeface="Calibri" panose="020F0502020204030204" pitchFamily="34" charset="0"/>
                        </a:rPr>
                        <a:t>0</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A&lt;3&gt;</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0000"/>
                          </a:solidFill>
                          <a:effectLst/>
                          <a:latin typeface="Calibri" panose="020F0502020204030204" pitchFamily="34" charset="0"/>
                        </a:rPr>
                        <a:t>A</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6424307"/>
                  </a:ext>
                </a:extLst>
              </a:tr>
            </a:tbl>
          </a:graphicData>
        </a:graphic>
      </p:graphicFrame>
      <p:graphicFrame>
        <p:nvGraphicFramePr>
          <p:cNvPr id="7" name="Tabla 6">
            <a:extLst>
              <a:ext uri="{FF2B5EF4-FFF2-40B4-BE49-F238E27FC236}">
                <a16:creationId xmlns:a16="http://schemas.microsoft.com/office/drawing/2014/main" id="{281383BE-E527-4814-BCE1-CE6B74033B74}"/>
              </a:ext>
            </a:extLst>
          </p:cNvPr>
          <p:cNvGraphicFramePr>
            <a:graphicFrameLocks noGrp="1"/>
          </p:cNvGraphicFramePr>
          <p:nvPr>
            <p:extLst>
              <p:ext uri="{D42A27DB-BD31-4B8C-83A1-F6EECF244321}">
                <p14:modId xmlns:p14="http://schemas.microsoft.com/office/powerpoint/2010/main" val="4119992715"/>
              </p:ext>
            </p:extLst>
          </p:nvPr>
        </p:nvGraphicFramePr>
        <p:xfrm>
          <a:off x="1566720" y="3669431"/>
          <a:ext cx="4457700" cy="1203960"/>
        </p:xfrm>
        <a:graphic>
          <a:graphicData uri="http://schemas.openxmlformats.org/drawingml/2006/table">
            <a:tbl>
              <a:tblPr/>
              <a:tblGrid>
                <a:gridCol w="292100">
                  <a:extLst>
                    <a:ext uri="{9D8B030D-6E8A-4147-A177-3AD203B41FA5}">
                      <a16:colId xmlns:a16="http://schemas.microsoft.com/office/drawing/2014/main" val="803302632"/>
                    </a:ext>
                  </a:extLst>
                </a:gridCol>
                <a:gridCol w="152400">
                  <a:extLst>
                    <a:ext uri="{9D8B030D-6E8A-4147-A177-3AD203B41FA5}">
                      <a16:colId xmlns:a16="http://schemas.microsoft.com/office/drawing/2014/main" val="243551430"/>
                    </a:ext>
                  </a:extLst>
                </a:gridCol>
                <a:gridCol w="165100">
                  <a:extLst>
                    <a:ext uri="{9D8B030D-6E8A-4147-A177-3AD203B41FA5}">
                      <a16:colId xmlns:a16="http://schemas.microsoft.com/office/drawing/2014/main" val="2003563555"/>
                    </a:ext>
                  </a:extLst>
                </a:gridCol>
                <a:gridCol w="177800">
                  <a:extLst>
                    <a:ext uri="{9D8B030D-6E8A-4147-A177-3AD203B41FA5}">
                      <a16:colId xmlns:a16="http://schemas.microsoft.com/office/drawing/2014/main" val="2310020298"/>
                    </a:ext>
                  </a:extLst>
                </a:gridCol>
                <a:gridCol w="177800">
                  <a:extLst>
                    <a:ext uri="{9D8B030D-6E8A-4147-A177-3AD203B41FA5}">
                      <a16:colId xmlns:a16="http://schemas.microsoft.com/office/drawing/2014/main" val="3690029693"/>
                    </a:ext>
                  </a:extLst>
                </a:gridCol>
                <a:gridCol w="190500">
                  <a:extLst>
                    <a:ext uri="{9D8B030D-6E8A-4147-A177-3AD203B41FA5}">
                      <a16:colId xmlns:a16="http://schemas.microsoft.com/office/drawing/2014/main" val="417527476"/>
                    </a:ext>
                  </a:extLst>
                </a:gridCol>
                <a:gridCol w="177800">
                  <a:extLst>
                    <a:ext uri="{9D8B030D-6E8A-4147-A177-3AD203B41FA5}">
                      <a16:colId xmlns:a16="http://schemas.microsoft.com/office/drawing/2014/main" val="3822859734"/>
                    </a:ext>
                  </a:extLst>
                </a:gridCol>
                <a:gridCol w="203200">
                  <a:extLst>
                    <a:ext uri="{9D8B030D-6E8A-4147-A177-3AD203B41FA5}">
                      <a16:colId xmlns:a16="http://schemas.microsoft.com/office/drawing/2014/main" val="999524904"/>
                    </a:ext>
                  </a:extLst>
                </a:gridCol>
                <a:gridCol w="203200">
                  <a:extLst>
                    <a:ext uri="{9D8B030D-6E8A-4147-A177-3AD203B41FA5}">
                      <a16:colId xmlns:a16="http://schemas.microsoft.com/office/drawing/2014/main" val="3738545322"/>
                    </a:ext>
                  </a:extLst>
                </a:gridCol>
                <a:gridCol w="203200">
                  <a:extLst>
                    <a:ext uri="{9D8B030D-6E8A-4147-A177-3AD203B41FA5}">
                      <a16:colId xmlns:a16="http://schemas.microsoft.com/office/drawing/2014/main" val="2419553371"/>
                    </a:ext>
                  </a:extLst>
                </a:gridCol>
                <a:gridCol w="215900">
                  <a:extLst>
                    <a:ext uri="{9D8B030D-6E8A-4147-A177-3AD203B41FA5}">
                      <a16:colId xmlns:a16="http://schemas.microsoft.com/office/drawing/2014/main" val="3785894940"/>
                    </a:ext>
                  </a:extLst>
                </a:gridCol>
                <a:gridCol w="241300">
                  <a:extLst>
                    <a:ext uri="{9D8B030D-6E8A-4147-A177-3AD203B41FA5}">
                      <a16:colId xmlns:a16="http://schemas.microsoft.com/office/drawing/2014/main" val="43579172"/>
                    </a:ext>
                  </a:extLst>
                </a:gridCol>
                <a:gridCol w="241300">
                  <a:extLst>
                    <a:ext uri="{9D8B030D-6E8A-4147-A177-3AD203B41FA5}">
                      <a16:colId xmlns:a16="http://schemas.microsoft.com/office/drawing/2014/main" val="402910219"/>
                    </a:ext>
                  </a:extLst>
                </a:gridCol>
                <a:gridCol w="215900">
                  <a:extLst>
                    <a:ext uri="{9D8B030D-6E8A-4147-A177-3AD203B41FA5}">
                      <a16:colId xmlns:a16="http://schemas.microsoft.com/office/drawing/2014/main" val="1245630808"/>
                    </a:ext>
                  </a:extLst>
                </a:gridCol>
                <a:gridCol w="215900">
                  <a:extLst>
                    <a:ext uri="{9D8B030D-6E8A-4147-A177-3AD203B41FA5}">
                      <a16:colId xmlns:a16="http://schemas.microsoft.com/office/drawing/2014/main" val="2802858181"/>
                    </a:ext>
                  </a:extLst>
                </a:gridCol>
                <a:gridCol w="241300">
                  <a:extLst>
                    <a:ext uri="{9D8B030D-6E8A-4147-A177-3AD203B41FA5}">
                      <a16:colId xmlns:a16="http://schemas.microsoft.com/office/drawing/2014/main" val="1522626983"/>
                    </a:ext>
                  </a:extLst>
                </a:gridCol>
                <a:gridCol w="228600">
                  <a:extLst>
                    <a:ext uri="{9D8B030D-6E8A-4147-A177-3AD203B41FA5}">
                      <a16:colId xmlns:a16="http://schemas.microsoft.com/office/drawing/2014/main" val="3660735599"/>
                    </a:ext>
                  </a:extLst>
                </a:gridCol>
                <a:gridCol w="215900">
                  <a:extLst>
                    <a:ext uri="{9D8B030D-6E8A-4147-A177-3AD203B41FA5}">
                      <a16:colId xmlns:a16="http://schemas.microsoft.com/office/drawing/2014/main" val="4174516299"/>
                    </a:ext>
                  </a:extLst>
                </a:gridCol>
                <a:gridCol w="228600">
                  <a:extLst>
                    <a:ext uri="{9D8B030D-6E8A-4147-A177-3AD203B41FA5}">
                      <a16:colId xmlns:a16="http://schemas.microsoft.com/office/drawing/2014/main" val="1958106702"/>
                    </a:ext>
                  </a:extLst>
                </a:gridCol>
                <a:gridCol w="215900">
                  <a:extLst>
                    <a:ext uri="{9D8B030D-6E8A-4147-A177-3AD203B41FA5}">
                      <a16:colId xmlns:a16="http://schemas.microsoft.com/office/drawing/2014/main" val="1125172257"/>
                    </a:ext>
                  </a:extLst>
                </a:gridCol>
                <a:gridCol w="254000">
                  <a:extLst>
                    <a:ext uri="{9D8B030D-6E8A-4147-A177-3AD203B41FA5}">
                      <a16:colId xmlns:a16="http://schemas.microsoft.com/office/drawing/2014/main" val="2611911324"/>
                    </a:ext>
                  </a:extLst>
                </a:gridCol>
              </a:tblGrid>
              <a:tr h="236220">
                <a:tc>
                  <a:txBody>
                    <a:bodyPr/>
                    <a:lstStyle/>
                    <a:p>
                      <a:pPr algn="r" fontAlgn="b"/>
                      <a:r>
                        <a:rPr lang="es-ES" sz="1100" b="0" i="0" u="none" strike="noStrike">
                          <a:solidFill>
                            <a:srgbClr val="000000"/>
                          </a:solidFill>
                          <a:effectLst/>
                          <a:latin typeface="Calibri" panose="020F0502020204030204" pitchFamily="34" charset="0"/>
                        </a:rPr>
                        <a:t>A</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l" fontAlgn="b"/>
                      <a:r>
                        <a:rPr lang="es-ES" sz="1100" b="1" i="0" u="none" strike="noStrike">
                          <a:solidFill>
                            <a:srgbClr val="FFFFFF"/>
                          </a:solidFill>
                          <a:effectLst/>
                          <a:latin typeface="Calibri" panose="020F0502020204030204" pitchFamily="34" charset="0"/>
                        </a:rPr>
                        <a:t>A</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b"/>
                      <a:r>
                        <a:rPr lang="es-ES" sz="1100" b="0" i="0" u="none" strike="noStrike" dirty="0">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400" b="1" i="0" u="none" strike="noStrike">
                        <a:solidFill>
                          <a:srgbClr val="FF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180913176"/>
                  </a:ext>
                </a:extLst>
              </a:tr>
              <a:tr h="190500">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es-ES" sz="1100" b="0" i="0" u="none" strike="noStrike">
                          <a:solidFill>
                            <a:srgbClr val="000000"/>
                          </a:solidFill>
                          <a:effectLst/>
                          <a:latin typeface="Calibri" panose="020F0502020204030204" pitchFamily="34" charset="0"/>
                        </a:rPr>
                        <a:t>B</a:t>
                      </a:r>
                    </a:p>
                  </a:txBody>
                  <a:tcPr marL="7620" marR="7620" marT="762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1" i="0" u="none" strike="noStrike">
                          <a:solidFill>
                            <a:srgbClr val="FFFFFF"/>
                          </a:solidFill>
                          <a:effectLst/>
                          <a:latin typeface="Calibri" panose="020F0502020204030204" pitchFamily="34" charset="0"/>
                        </a:rPr>
                        <a:t>B</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533863143"/>
                  </a:ext>
                </a:extLst>
              </a:tr>
              <a:tr h="205740">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s-ES" sz="1100" b="0" i="0" u="none" strike="noStrike">
                          <a:solidFill>
                            <a:srgbClr val="000000"/>
                          </a:solidFill>
                          <a:effectLst/>
                          <a:latin typeface="Calibri" panose="020F0502020204030204" pitchFamily="34" charset="0"/>
                        </a:rPr>
                        <a:t>C</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1" i="0" u="none" strike="noStrike">
                          <a:solidFill>
                            <a:srgbClr val="FFFFFF"/>
                          </a:solidFill>
                          <a:effectLst/>
                          <a:latin typeface="Calibri" panose="020F0502020204030204" pitchFamily="34" charset="0"/>
                        </a:rPr>
                        <a:t>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495815464"/>
                  </a:ext>
                </a:extLst>
              </a:tr>
              <a:tr h="190500">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s-ES" sz="1100" b="0" i="0" u="none" strike="noStrike">
                          <a:solidFill>
                            <a:srgbClr val="000000"/>
                          </a:solidFill>
                          <a:effectLst/>
                          <a:latin typeface="Calibri" panose="020F0502020204030204" pitchFamily="34" charset="0"/>
                        </a:rPr>
                        <a:t>D</a:t>
                      </a:r>
                    </a:p>
                  </a:txBody>
                  <a:tcPr marL="7620" marR="7620" marT="7620" marB="0" anchor="ctr">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1" i="0" u="none" strike="noStrike">
                          <a:solidFill>
                            <a:srgbClr val="FFFFFF"/>
                          </a:solidFill>
                          <a:effectLst/>
                          <a:latin typeface="Calibri" panose="020F0502020204030204" pitchFamily="34" charset="0"/>
                        </a:rPr>
                        <a:t>D</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8679822"/>
                  </a:ext>
                </a:extLst>
              </a:tr>
              <a:tr h="190500">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s-ES" sz="1100" b="0" i="0" u="none" strike="noStrike">
                          <a:solidFill>
                            <a:srgbClr val="000000"/>
                          </a:solidFill>
                          <a:effectLst/>
                          <a:latin typeface="Calibri" panose="020F0502020204030204" pitchFamily="34" charset="0"/>
                        </a:rPr>
                        <a:t>E</a:t>
                      </a:r>
                    </a:p>
                  </a:txBody>
                  <a:tcPr marL="7620" marR="7620" marT="7620" marB="0" anchor="ctr">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1" i="0" u="none" strike="noStrike">
                          <a:solidFill>
                            <a:srgbClr val="FFFFFF"/>
                          </a:solidFill>
                          <a:effectLst/>
                          <a:latin typeface="Calibri" panose="020F0502020204030204" pitchFamily="34" charset="0"/>
                        </a:rPr>
                        <a:t>E</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extLst>
                  <a:ext uri="{0D108BD9-81ED-4DB2-BD59-A6C34878D82A}">
                    <a16:rowId xmlns:a16="http://schemas.microsoft.com/office/drawing/2014/main" val="1215736561"/>
                  </a:ext>
                </a:extLst>
              </a:tr>
              <a:tr h="190500">
                <a:tc>
                  <a:txBody>
                    <a:bodyPr/>
                    <a:lstStyle/>
                    <a:p>
                      <a:pPr algn="r" fontAlgn="b"/>
                      <a:r>
                        <a:rPr lang="es-E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13</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14</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15</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16</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17</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18</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19</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s-ES" sz="1100" b="1" i="0" u="none" strike="noStrike" dirty="0">
                          <a:solidFill>
                            <a:srgbClr val="C00000"/>
                          </a:solidFill>
                          <a:effectLst/>
                          <a:latin typeface="Calibri" panose="020F0502020204030204" pitchFamily="34" charset="0"/>
                        </a:rPr>
                        <a:t>20</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823486238"/>
                  </a:ext>
                </a:extLst>
              </a:tr>
            </a:tbl>
          </a:graphicData>
        </a:graphic>
      </p:graphicFrame>
      <p:graphicFrame>
        <p:nvGraphicFramePr>
          <p:cNvPr id="8" name="Tabla 7">
            <a:extLst>
              <a:ext uri="{FF2B5EF4-FFF2-40B4-BE49-F238E27FC236}">
                <a16:creationId xmlns:a16="http://schemas.microsoft.com/office/drawing/2014/main" id="{37523EAC-F589-4B57-8F2A-43B9E8E82D45}"/>
              </a:ext>
            </a:extLst>
          </p:cNvPr>
          <p:cNvGraphicFramePr>
            <a:graphicFrameLocks noGrp="1"/>
          </p:cNvGraphicFramePr>
          <p:nvPr>
            <p:extLst>
              <p:ext uri="{D42A27DB-BD31-4B8C-83A1-F6EECF244321}">
                <p14:modId xmlns:p14="http://schemas.microsoft.com/office/powerpoint/2010/main" val="561482861"/>
              </p:ext>
            </p:extLst>
          </p:nvPr>
        </p:nvGraphicFramePr>
        <p:xfrm>
          <a:off x="4789488" y="807840"/>
          <a:ext cx="3937000" cy="1097280"/>
        </p:xfrm>
        <a:graphic>
          <a:graphicData uri="http://schemas.openxmlformats.org/drawingml/2006/table">
            <a:tbl>
              <a:tblPr/>
              <a:tblGrid>
                <a:gridCol w="787400">
                  <a:extLst>
                    <a:ext uri="{9D8B030D-6E8A-4147-A177-3AD203B41FA5}">
                      <a16:colId xmlns:a16="http://schemas.microsoft.com/office/drawing/2014/main" val="2454515444"/>
                    </a:ext>
                  </a:extLst>
                </a:gridCol>
                <a:gridCol w="787400">
                  <a:extLst>
                    <a:ext uri="{9D8B030D-6E8A-4147-A177-3AD203B41FA5}">
                      <a16:colId xmlns:a16="http://schemas.microsoft.com/office/drawing/2014/main" val="3586481627"/>
                    </a:ext>
                  </a:extLst>
                </a:gridCol>
                <a:gridCol w="787400">
                  <a:extLst>
                    <a:ext uri="{9D8B030D-6E8A-4147-A177-3AD203B41FA5}">
                      <a16:colId xmlns:a16="http://schemas.microsoft.com/office/drawing/2014/main" val="2699757623"/>
                    </a:ext>
                  </a:extLst>
                </a:gridCol>
                <a:gridCol w="787400">
                  <a:extLst>
                    <a:ext uri="{9D8B030D-6E8A-4147-A177-3AD203B41FA5}">
                      <a16:colId xmlns:a16="http://schemas.microsoft.com/office/drawing/2014/main" val="235217366"/>
                    </a:ext>
                  </a:extLst>
                </a:gridCol>
                <a:gridCol w="787400">
                  <a:extLst>
                    <a:ext uri="{9D8B030D-6E8A-4147-A177-3AD203B41FA5}">
                      <a16:colId xmlns:a16="http://schemas.microsoft.com/office/drawing/2014/main" val="1752180440"/>
                    </a:ext>
                  </a:extLst>
                </a:gridCol>
              </a:tblGrid>
              <a:tr h="182880">
                <a:tc>
                  <a:txBody>
                    <a:bodyPr/>
                    <a:lstStyle/>
                    <a:p>
                      <a:pPr algn="ctr" fontAlgn="ctr"/>
                      <a:r>
                        <a:rPr lang="es-ES" sz="1100" b="1" i="0" u="none" strike="noStrike">
                          <a:solidFill>
                            <a:srgbClr val="000000"/>
                          </a:solidFill>
                          <a:effectLst/>
                          <a:latin typeface="Calibri" panose="020F0502020204030204" pitchFamily="34" charset="0"/>
                        </a:rPr>
                        <a:t>Inicio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1" i="0" u="none" strike="noStrike">
                          <a:solidFill>
                            <a:srgbClr val="000000"/>
                          </a:solidFill>
                          <a:effectLst/>
                          <a:latin typeface="Calibri" panose="020F0502020204030204" pitchFamily="34" charset="0"/>
                        </a:rPr>
                        <a:t>Fin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1" i="0" u="none" strike="noStrike">
                          <a:solidFill>
                            <a:srgbClr val="000000"/>
                          </a:solidFill>
                          <a:effectLst/>
                          <a:latin typeface="Calibri" panose="020F0502020204030204" pitchFamily="34" charset="0"/>
                        </a:rPr>
                        <a:t>T. respuesta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1" i="0" u="none" strike="noStrike">
                          <a:solidFill>
                            <a:srgbClr val="000000"/>
                          </a:solidFill>
                          <a:effectLst/>
                          <a:latin typeface="Calibri" panose="020F0502020204030204" pitchFamily="34" charset="0"/>
                        </a:rPr>
                        <a:t>T. espera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1" i="0" u="none" strike="noStrike">
                          <a:solidFill>
                            <a:srgbClr val="000000"/>
                          </a:solidFill>
                          <a:effectLst/>
                          <a:latin typeface="Calibri" panose="020F0502020204030204" pitchFamily="34" charset="0"/>
                        </a:rPr>
                        <a:t>Penalización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1480851"/>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5756931"/>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6699113"/>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10871"/>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7972195"/>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8752190"/>
                  </a:ext>
                </a:extLst>
              </a:tr>
            </a:tbl>
          </a:graphicData>
        </a:graphic>
      </p:graphicFrame>
    </p:spTree>
    <p:extLst>
      <p:ext uri="{BB962C8B-B14F-4D97-AF65-F5344CB8AC3E}">
        <p14:creationId xmlns:p14="http://schemas.microsoft.com/office/powerpoint/2010/main" val="6188804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877" name="CustomShape 2"/>
          <p:cNvSpPr/>
          <p:nvPr/>
        </p:nvSpPr>
        <p:spPr>
          <a:xfrm>
            <a:off x="1896480" y="995400"/>
            <a:ext cx="378792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Round Robin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El algoritmo Round Robin es una mejora sobre el FCFS puro. Un proceso solo puede estar como máximo ejecutándose durante un múltiplo de ticks llamado </a:t>
            </a:r>
            <a:r>
              <a:rPr lang="es-ES" sz="1350" b="1" strike="noStrike" spc="-1">
                <a:solidFill>
                  <a:srgbClr val="000000"/>
                </a:solidFill>
                <a:latin typeface="Calibri"/>
              </a:rPr>
              <a:t>quantum</a:t>
            </a:r>
            <a:r>
              <a:rPr lang="es-ES" sz="1350" b="0" strike="noStrike" spc="-1">
                <a:solidFill>
                  <a:srgbClr val="000000"/>
                </a:solidFill>
                <a:latin typeface="Calibri"/>
              </a:rPr>
              <a:t>. Si llega a ese límite, el Sistema Operativo lo expulsa de la CPU, lo pone al final de la cola de procesos en estado </a:t>
            </a:r>
            <a:r>
              <a:rPr lang="es-ES" sz="1350" b="1" strike="noStrike" spc="-1">
                <a:solidFill>
                  <a:srgbClr val="000000"/>
                </a:solidFill>
                <a:latin typeface="Calibri"/>
              </a:rPr>
              <a:t>Listo</a:t>
            </a:r>
            <a:r>
              <a:rPr lang="es-ES" sz="1350" b="0" strike="noStrike" spc="-1">
                <a:solidFill>
                  <a:srgbClr val="000000"/>
                </a:solidFill>
                <a:latin typeface="Calibri"/>
              </a:rPr>
              <a:t> y concede a la CPU  al proceso que lleve más tiempo en espera. Esto puede implementarse de forma sencilla con una cola FIFO de procesos en estado </a:t>
            </a:r>
            <a:r>
              <a:rPr lang="es-ES" sz="1350" b="1" strike="noStrike" spc="-1">
                <a:solidFill>
                  <a:srgbClr val="000000"/>
                </a:solidFill>
                <a:latin typeface="Calibri"/>
              </a:rPr>
              <a:t>Listo</a:t>
            </a:r>
            <a:r>
              <a:rPr lang="es-ES" sz="1350" b="0" strike="noStrike" spc="-1">
                <a:solidFill>
                  <a:srgbClr val="000000"/>
                </a:solidFill>
                <a:latin typeface="Calibri"/>
              </a:rPr>
              <a:t>.</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elección del quantum es importante. Si es muy grande, RR tiende a parecerse a FCFS. Si es muy pequeño favorece la equidad en el reparto de la CPU pero cada cambio de contexto supone una penalización por lo que el rendimiento global se vería perjudicado.</a:t>
            </a:r>
            <a:endParaRPr lang="es-ES" sz="1350" b="0" strike="noStrike" spc="-1">
              <a:latin typeface="Arial"/>
            </a:endParaRPr>
          </a:p>
        </p:txBody>
      </p:sp>
      <p:pic>
        <p:nvPicPr>
          <p:cNvPr id="878" name="Picture 2"/>
          <p:cNvPicPr/>
          <p:nvPr/>
        </p:nvPicPr>
        <p:blipFill>
          <a:blip r:embed="rId3"/>
          <a:stretch/>
        </p:blipFill>
        <p:spPr>
          <a:xfrm>
            <a:off x="5794920" y="1145880"/>
            <a:ext cx="3112920" cy="2334600"/>
          </a:xfrm>
          <a:prstGeom prst="rect">
            <a:avLst/>
          </a:prstGeom>
          <a:ln>
            <a:noFill/>
          </a:ln>
        </p:spPr>
      </p:pic>
      <p:sp>
        <p:nvSpPr>
          <p:cNvPr id="879" name="CustomShape 3"/>
          <p:cNvSpPr/>
          <p:nvPr/>
        </p:nvSpPr>
        <p:spPr>
          <a:xfrm>
            <a:off x="5794920" y="3596040"/>
            <a:ext cx="3112920" cy="927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100" b="0" strike="noStrike" spc="-1">
                <a:solidFill>
                  <a:srgbClr val="000000"/>
                </a:solidFill>
                <a:latin typeface="Calibri"/>
              </a:rPr>
              <a:t>Round Robin es como la cola de espera de una montaña rusa. Al terminar el viaje (quantum) los pasajeros son expulsados del tren y si quieren volver a viajar tienen que situarse al final de la cola y esperar su turno.</a:t>
            </a:r>
            <a:endParaRPr lang="es-ES" sz="1100" b="0" strike="noStrike" spc="-1">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 name="CustomShape 1"/>
          <p:cNvSpPr/>
          <p:nvPr/>
        </p:nvSpPr>
        <p:spPr>
          <a:xfrm>
            <a:off x="6690240" y="1388880"/>
            <a:ext cx="2791440" cy="59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1" strike="noStrike" spc="-1">
                <a:solidFill>
                  <a:srgbClr val="0070C0"/>
                </a:solidFill>
                <a:latin typeface="Bradley Hand ITC"/>
                <a:ea typeface="STCaiyun"/>
              </a:rPr>
              <a:t>Con Round Robin la penalización</a:t>
            </a:r>
            <a:endParaRPr lang="es-ES" sz="1100" b="0" strike="noStrike" spc="-1">
              <a:latin typeface="Arial"/>
            </a:endParaRPr>
          </a:p>
          <a:p>
            <a:pPr>
              <a:lnSpc>
                <a:spcPct val="100000"/>
              </a:lnSpc>
            </a:pPr>
            <a:r>
              <a:rPr lang="es-ES" sz="1100" b="1" strike="noStrike" spc="-1">
                <a:solidFill>
                  <a:srgbClr val="0070C0"/>
                </a:solidFill>
                <a:latin typeface="Bradley Hand ITC"/>
                <a:ea typeface="STCaiyun"/>
              </a:rPr>
              <a:t>se reparte de forma más equitativa</a:t>
            </a:r>
            <a:endParaRPr lang="es-ES" sz="1100" b="0" strike="noStrike" spc="-1">
              <a:latin typeface="Arial"/>
            </a:endParaRPr>
          </a:p>
        </p:txBody>
      </p:sp>
      <p:sp>
        <p:nvSpPr>
          <p:cNvPr id="881" name="CustomShape 2"/>
          <p:cNvSpPr/>
          <p:nvPr/>
        </p:nvSpPr>
        <p:spPr>
          <a:xfrm>
            <a:off x="157608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A</a:t>
            </a:r>
            <a:endParaRPr lang="es-ES" sz="1100" b="0" strike="noStrike" spc="-1">
              <a:latin typeface="Arial"/>
            </a:endParaRPr>
          </a:p>
        </p:txBody>
      </p:sp>
      <p:sp>
        <p:nvSpPr>
          <p:cNvPr id="882" name="CustomShape 3"/>
          <p:cNvSpPr/>
          <p:nvPr/>
        </p:nvSpPr>
        <p:spPr>
          <a:xfrm>
            <a:off x="172872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83" name="CustomShape 4"/>
          <p:cNvSpPr/>
          <p:nvPr/>
        </p:nvSpPr>
        <p:spPr>
          <a:xfrm>
            <a:off x="188532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84" name="CustomShape 5"/>
          <p:cNvSpPr/>
          <p:nvPr/>
        </p:nvSpPr>
        <p:spPr>
          <a:xfrm>
            <a:off x="203796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85" name="CustomShape 6"/>
          <p:cNvSpPr/>
          <p:nvPr/>
        </p:nvSpPr>
        <p:spPr>
          <a:xfrm>
            <a:off x="219456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200" b="1" strike="noStrike" spc="-1">
                <a:solidFill>
                  <a:srgbClr val="FFFFFF"/>
                </a:solidFill>
                <a:latin typeface="Calibri"/>
              </a:rPr>
              <a:t>C</a:t>
            </a:r>
            <a:endParaRPr lang="es-ES" sz="1200" b="0" strike="noStrike" spc="-1">
              <a:latin typeface="Arial"/>
            </a:endParaRPr>
          </a:p>
        </p:txBody>
      </p:sp>
      <p:sp>
        <p:nvSpPr>
          <p:cNvPr id="886" name="CustomShape 7"/>
          <p:cNvSpPr/>
          <p:nvPr/>
        </p:nvSpPr>
        <p:spPr>
          <a:xfrm>
            <a:off x="234684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87" name="CustomShape 8"/>
          <p:cNvSpPr/>
          <p:nvPr/>
        </p:nvSpPr>
        <p:spPr>
          <a:xfrm>
            <a:off x="250380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88" name="CustomShape 9"/>
          <p:cNvSpPr/>
          <p:nvPr/>
        </p:nvSpPr>
        <p:spPr>
          <a:xfrm>
            <a:off x="265608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89" name="CustomShape 10"/>
          <p:cNvSpPr/>
          <p:nvPr/>
        </p:nvSpPr>
        <p:spPr>
          <a:xfrm>
            <a:off x="281304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A</a:t>
            </a:r>
            <a:endParaRPr lang="es-ES" sz="1100" b="0" strike="noStrike" spc="-1">
              <a:latin typeface="Arial"/>
            </a:endParaRPr>
          </a:p>
        </p:txBody>
      </p:sp>
      <p:sp>
        <p:nvSpPr>
          <p:cNvPr id="890" name="CustomShape 11"/>
          <p:cNvSpPr/>
          <p:nvPr/>
        </p:nvSpPr>
        <p:spPr>
          <a:xfrm>
            <a:off x="296496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91" name="CustomShape 12"/>
          <p:cNvSpPr/>
          <p:nvPr/>
        </p:nvSpPr>
        <p:spPr>
          <a:xfrm>
            <a:off x="312192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92" name="CustomShape 13"/>
          <p:cNvSpPr/>
          <p:nvPr/>
        </p:nvSpPr>
        <p:spPr>
          <a:xfrm>
            <a:off x="327456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93" name="CustomShape 14"/>
          <p:cNvSpPr/>
          <p:nvPr/>
        </p:nvSpPr>
        <p:spPr>
          <a:xfrm>
            <a:off x="343116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D</a:t>
            </a:r>
            <a:endParaRPr lang="es-ES" sz="1100" b="0" strike="noStrike" spc="-1">
              <a:latin typeface="Arial"/>
            </a:endParaRPr>
          </a:p>
        </p:txBody>
      </p:sp>
      <p:sp>
        <p:nvSpPr>
          <p:cNvPr id="894" name="CustomShape 15"/>
          <p:cNvSpPr/>
          <p:nvPr/>
        </p:nvSpPr>
        <p:spPr>
          <a:xfrm>
            <a:off x="358344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95" name="CustomShape 16"/>
          <p:cNvSpPr/>
          <p:nvPr/>
        </p:nvSpPr>
        <p:spPr>
          <a:xfrm>
            <a:off x="374040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96" name="CustomShape 17"/>
          <p:cNvSpPr/>
          <p:nvPr/>
        </p:nvSpPr>
        <p:spPr>
          <a:xfrm>
            <a:off x="389268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97" name="CustomShape 18"/>
          <p:cNvSpPr/>
          <p:nvPr/>
        </p:nvSpPr>
        <p:spPr>
          <a:xfrm>
            <a:off x="4049640" y="4651560"/>
            <a:ext cx="156240" cy="261000"/>
          </a:xfrm>
          <a:prstGeom prst="rect">
            <a:avLst/>
          </a:prstGeom>
          <a:solidFill>
            <a:schemeClr val="accent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400" b="1" strike="noStrike" spc="-1">
                <a:solidFill>
                  <a:srgbClr val="FFFFFF"/>
                </a:solidFill>
                <a:latin typeface="Calibri"/>
              </a:rPr>
              <a:t>B</a:t>
            </a:r>
            <a:endParaRPr lang="es-ES" sz="1400" b="0" strike="noStrike" spc="-1">
              <a:latin typeface="Arial"/>
            </a:endParaRPr>
          </a:p>
        </p:txBody>
      </p:sp>
      <p:sp>
        <p:nvSpPr>
          <p:cNvPr id="898" name="CustomShape 19"/>
          <p:cNvSpPr/>
          <p:nvPr/>
        </p:nvSpPr>
        <p:spPr>
          <a:xfrm>
            <a:off x="4201920" y="4651560"/>
            <a:ext cx="156240" cy="261000"/>
          </a:xfrm>
          <a:prstGeom prst="rect">
            <a:avLst/>
          </a:prstGeom>
          <a:solidFill>
            <a:schemeClr val="accent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899" name="CustomShape 20"/>
          <p:cNvSpPr/>
          <p:nvPr/>
        </p:nvSpPr>
        <p:spPr>
          <a:xfrm>
            <a:off x="435852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00" name="CustomShape 21"/>
          <p:cNvSpPr/>
          <p:nvPr/>
        </p:nvSpPr>
        <p:spPr>
          <a:xfrm>
            <a:off x="451116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01" name="CustomShape 22"/>
          <p:cNvSpPr/>
          <p:nvPr/>
        </p:nvSpPr>
        <p:spPr>
          <a:xfrm>
            <a:off x="466776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400" b="1" strike="noStrike" spc="-1">
                <a:solidFill>
                  <a:srgbClr val="FFFFFF"/>
                </a:solidFill>
                <a:latin typeface="Calibri"/>
              </a:rPr>
              <a:t>D</a:t>
            </a:r>
            <a:endParaRPr lang="es-ES" sz="1400" b="0" strike="noStrike" spc="-1">
              <a:latin typeface="Arial"/>
            </a:endParaRPr>
          </a:p>
        </p:txBody>
      </p:sp>
      <p:sp>
        <p:nvSpPr>
          <p:cNvPr id="902" name="CustomShape 23"/>
          <p:cNvSpPr/>
          <p:nvPr/>
        </p:nvSpPr>
        <p:spPr>
          <a:xfrm>
            <a:off x="482004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03" name="CustomShape 24"/>
          <p:cNvSpPr/>
          <p:nvPr/>
        </p:nvSpPr>
        <p:spPr>
          <a:xfrm>
            <a:off x="497700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200" b="1" strike="noStrike" spc="-1">
                <a:solidFill>
                  <a:srgbClr val="FFFFFF"/>
                </a:solidFill>
                <a:latin typeface="Calibri"/>
              </a:rPr>
              <a:t>B</a:t>
            </a:r>
            <a:endParaRPr lang="es-ES" sz="1200" b="0" strike="noStrike" spc="-1">
              <a:latin typeface="Arial"/>
            </a:endParaRPr>
          </a:p>
        </p:txBody>
      </p:sp>
      <p:sp>
        <p:nvSpPr>
          <p:cNvPr id="904" name="CustomShape 25"/>
          <p:cNvSpPr/>
          <p:nvPr/>
        </p:nvSpPr>
        <p:spPr>
          <a:xfrm>
            <a:off x="512928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05" name="CustomShape 26"/>
          <p:cNvSpPr/>
          <p:nvPr/>
        </p:nvSpPr>
        <p:spPr>
          <a:xfrm>
            <a:off x="528624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06" name="CustomShape 27"/>
          <p:cNvSpPr/>
          <p:nvPr/>
        </p:nvSpPr>
        <p:spPr>
          <a:xfrm>
            <a:off x="543852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07" name="CustomShape 28"/>
          <p:cNvSpPr/>
          <p:nvPr/>
        </p:nvSpPr>
        <p:spPr>
          <a:xfrm>
            <a:off x="559512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08" name="CustomShape 29"/>
          <p:cNvSpPr/>
          <p:nvPr/>
        </p:nvSpPr>
        <p:spPr>
          <a:xfrm>
            <a:off x="574776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09" name="CustomShape 30"/>
          <p:cNvSpPr/>
          <p:nvPr/>
        </p:nvSpPr>
        <p:spPr>
          <a:xfrm>
            <a:off x="590436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10" name="CustomShape 31"/>
          <p:cNvSpPr/>
          <p:nvPr/>
        </p:nvSpPr>
        <p:spPr>
          <a:xfrm>
            <a:off x="605700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11" name="CustomShape 32"/>
          <p:cNvSpPr/>
          <p:nvPr/>
        </p:nvSpPr>
        <p:spPr>
          <a:xfrm>
            <a:off x="621360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12" name="CustomShape 33"/>
          <p:cNvSpPr/>
          <p:nvPr/>
        </p:nvSpPr>
        <p:spPr>
          <a:xfrm>
            <a:off x="636588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13" name="CustomShape 34"/>
          <p:cNvSpPr/>
          <p:nvPr/>
        </p:nvSpPr>
        <p:spPr>
          <a:xfrm>
            <a:off x="1447200" y="4885200"/>
            <a:ext cx="23904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0</a:t>
            </a:r>
            <a:endParaRPr lang="es-ES" sz="900" b="0" strike="noStrike" spc="-1">
              <a:latin typeface="Arial"/>
            </a:endParaRPr>
          </a:p>
        </p:txBody>
      </p:sp>
      <p:sp>
        <p:nvSpPr>
          <p:cNvPr id="914" name="CustomShape 35"/>
          <p:cNvSpPr/>
          <p:nvPr/>
        </p:nvSpPr>
        <p:spPr>
          <a:xfrm>
            <a:off x="2217960" y="4903920"/>
            <a:ext cx="23904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5</a:t>
            </a:r>
            <a:endParaRPr lang="es-ES" sz="900" b="0" strike="noStrike" spc="-1">
              <a:latin typeface="Arial"/>
            </a:endParaRPr>
          </a:p>
        </p:txBody>
      </p:sp>
      <p:sp>
        <p:nvSpPr>
          <p:cNvPr id="915" name="CustomShape 36"/>
          <p:cNvSpPr/>
          <p:nvPr/>
        </p:nvSpPr>
        <p:spPr>
          <a:xfrm>
            <a:off x="3002400" y="490392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10</a:t>
            </a:r>
            <a:endParaRPr lang="es-ES" sz="900" b="0" strike="noStrike" spc="-1">
              <a:latin typeface="Arial"/>
            </a:endParaRPr>
          </a:p>
        </p:txBody>
      </p:sp>
      <p:sp>
        <p:nvSpPr>
          <p:cNvPr id="916" name="CustomShape 37"/>
          <p:cNvSpPr/>
          <p:nvPr/>
        </p:nvSpPr>
        <p:spPr>
          <a:xfrm>
            <a:off x="3737520" y="490392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15</a:t>
            </a:r>
            <a:endParaRPr lang="es-ES" sz="900" b="0" strike="noStrike" spc="-1">
              <a:latin typeface="Arial"/>
            </a:endParaRPr>
          </a:p>
        </p:txBody>
      </p:sp>
      <p:sp>
        <p:nvSpPr>
          <p:cNvPr id="917" name="CustomShape 38"/>
          <p:cNvSpPr/>
          <p:nvPr/>
        </p:nvSpPr>
        <p:spPr>
          <a:xfrm>
            <a:off x="4534920" y="491256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20</a:t>
            </a:r>
            <a:endParaRPr lang="es-ES" sz="900" b="0" strike="noStrike" spc="-1">
              <a:latin typeface="Arial"/>
            </a:endParaRPr>
          </a:p>
        </p:txBody>
      </p:sp>
      <p:sp>
        <p:nvSpPr>
          <p:cNvPr id="918" name="CustomShape 39"/>
          <p:cNvSpPr/>
          <p:nvPr/>
        </p:nvSpPr>
        <p:spPr>
          <a:xfrm>
            <a:off x="5269680" y="4912560"/>
            <a:ext cx="32292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 25</a:t>
            </a:r>
            <a:endParaRPr lang="es-ES" sz="900" b="0" strike="noStrike" spc="-1">
              <a:latin typeface="Arial"/>
            </a:endParaRPr>
          </a:p>
        </p:txBody>
      </p:sp>
      <p:sp>
        <p:nvSpPr>
          <p:cNvPr id="919" name="CustomShape 40"/>
          <p:cNvSpPr/>
          <p:nvPr/>
        </p:nvSpPr>
        <p:spPr>
          <a:xfrm>
            <a:off x="6057720" y="491256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30</a:t>
            </a:r>
            <a:endParaRPr lang="es-ES" sz="900" b="0" strike="noStrike" spc="-1">
              <a:latin typeface="Arial"/>
            </a:endParaRPr>
          </a:p>
        </p:txBody>
      </p:sp>
      <p:sp>
        <p:nvSpPr>
          <p:cNvPr id="920" name="CustomShape 41"/>
          <p:cNvSpPr/>
          <p:nvPr/>
        </p:nvSpPr>
        <p:spPr>
          <a:xfrm>
            <a:off x="6703560" y="4612680"/>
            <a:ext cx="16196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Ocupación de la CPU</a:t>
            </a:r>
            <a:endParaRPr lang="es-ES" sz="1350" b="0" strike="noStrike" spc="-1">
              <a:latin typeface="Arial"/>
            </a:endParaRPr>
          </a:p>
        </p:txBody>
      </p:sp>
      <p:pic>
        <p:nvPicPr>
          <p:cNvPr id="921" name="Imagen 2"/>
          <p:cNvPicPr/>
          <p:nvPr/>
        </p:nvPicPr>
        <p:blipFill>
          <a:blip r:embed="rId3"/>
          <a:stretch/>
        </p:blipFill>
        <p:spPr>
          <a:xfrm>
            <a:off x="1411560" y="44280"/>
            <a:ext cx="5110920" cy="1775520"/>
          </a:xfrm>
          <a:prstGeom prst="rect">
            <a:avLst/>
          </a:prstGeom>
          <a:ln>
            <a:noFill/>
          </a:ln>
        </p:spPr>
      </p:pic>
      <p:pic>
        <p:nvPicPr>
          <p:cNvPr id="922" name="Imagen 4"/>
          <p:cNvPicPr/>
          <p:nvPr/>
        </p:nvPicPr>
        <p:blipFill>
          <a:blip r:embed="rId4"/>
          <a:stretch/>
        </p:blipFill>
        <p:spPr>
          <a:xfrm>
            <a:off x="1728720" y="1863720"/>
            <a:ext cx="3380040" cy="2649240"/>
          </a:xfrm>
          <a:prstGeom prst="rect">
            <a:avLst/>
          </a:prstGeom>
          <a:ln>
            <a:noFill/>
          </a:ln>
        </p:spPr>
      </p:pic>
      <p:pic>
        <p:nvPicPr>
          <p:cNvPr id="923" name="Imagen 6"/>
          <p:cNvPicPr/>
          <p:nvPr/>
        </p:nvPicPr>
        <p:blipFill>
          <a:blip r:embed="rId5"/>
          <a:stretch/>
        </p:blipFill>
        <p:spPr>
          <a:xfrm>
            <a:off x="5517000" y="2001240"/>
            <a:ext cx="3207960" cy="1198800"/>
          </a:xfrm>
          <a:prstGeom prst="rect">
            <a:avLst/>
          </a:prstGeom>
          <a:ln>
            <a:noFill/>
          </a:ln>
        </p:spPr>
      </p:pic>
      <p:sp>
        <p:nvSpPr>
          <p:cNvPr id="924" name="Line 42"/>
          <p:cNvSpPr/>
          <p:nvPr/>
        </p:nvSpPr>
        <p:spPr>
          <a:xfrm>
            <a:off x="1579680" y="4604040"/>
            <a:ext cx="590040" cy="360"/>
          </a:xfrm>
          <a:prstGeom prst="line">
            <a:avLst/>
          </a:prstGeom>
          <a:ln w="12600">
            <a:solidFill>
              <a:schemeClr val="tx1"/>
            </a:solidFill>
          </a:ln>
        </p:spPr>
        <p:style>
          <a:lnRef idx="1">
            <a:schemeClr val="accent1"/>
          </a:lnRef>
          <a:fillRef idx="0">
            <a:schemeClr val="accent1"/>
          </a:fillRef>
          <a:effectRef idx="0">
            <a:schemeClr val="accent1"/>
          </a:effectRef>
          <a:fontRef idx="minor"/>
        </p:style>
      </p:sp>
      <p:sp>
        <p:nvSpPr>
          <p:cNvPr id="925" name="Line 43"/>
          <p:cNvSpPr/>
          <p:nvPr/>
        </p:nvSpPr>
        <p:spPr>
          <a:xfrm>
            <a:off x="2194560" y="4604040"/>
            <a:ext cx="590040" cy="360"/>
          </a:xfrm>
          <a:prstGeom prst="line">
            <a:avLst/>
          </a:prstGeom>
          <a:ln w="12600">
            <a:solidFill>
              <a:schemeClr val="tx1"/>
            </a:solidFill>
          </a:ln>
        </p:spPr>
        <p:style>
          <a:lnRef idx="1">
            <a:schemeClr val="accent1"/>
          </a:lnRef>
          <a:fillRef idx="0">
            <a:schemeClr val="accent1"/>
          </a:fillRef>
          <a:effectRef idx="0">
            <a:schemeClr val="accent1"/>
          </a:effectRef>
          <a:fontRef idx="minor"/>
        </p:style>
      </p:sp>
      <p:sp>
        <p:nvSpPr>
          <p:cNvPr id="926" name="Line 44"/>
          <p:cNvSpPr/>
          <p:nvPr/>
        </p:nvSpPr>
        <p:spPr>
          <a:xfrm>
            <a:off x="2809080" y="4604040"/>
            <a:ext cx="590400" cy="360"/>
          </a:xfrm>
          <a:prstGeom prst="line">
            <a:avLst/>
          </a:prstGeom>
          <a:ln w="12600">
            <a:solidFill>
              <a:schemeClr val="tx1"/>
            </a:solidFill>
          </a:ln>
        </p:spPr>
        <p:style>
          <a:lnRef idx="1">
            <a:schemeClr val="accent1"/>
          </a:lnRef>
          <a:fillRef idx="0">
            <a:schemeClr val="accent1"/>
          </a:fillRef>
          <a:effectRef idx="0">
            <a:schemeClr val="accent1"/>
          </a:effectRef>
          <a:fontRef idx="minor"/>
        </p:style>
      </p:sp>
      <p:sp>
        <p:nvSpPr>
          <p:cNvPr id="927" name="Line 45"/>
          <p:cNvSpPr/>
          <p:nvPr/>
        </p:nvSpPr>
        <p:spPr>
          <a:xfrm>
            <a:off x="3431160" y="4604040"/>
            <a:ext cx="590040" cy="360"/>
          </a:xfrm>
          <a:prstGeom prst="line">
            <a:avLst/>
          </a:prstGeom>
          <a:ln w="12600">
            <a:solidFill>
              <a:schemeClr val="tx1"/>
            </a:solidFill>
          </a:ln>
        </p:spPr>
        <p:style>
          <a:lnRef idx="1">
            <a:schemeClr val="accent1"/>
          </a:lnRef>
          <a:fillRef idx="0">
            <a:schemeClr val="accent1"/>
          </a:fillRef>
          <a:effectRef idx="0">
            <a:schemeClr val="accent1"/>
          </a:effectRef>
          <a:fontRef idx="minor"/>
        </p:style>
      </p:sp>
      <p:sp>
        <p:nvSpPr>
          <p:cNvPr id="928" name="Line 46"/>
          <p:cNvSpPr/>
          <p:nvPr/>
        </p:nvSpPr>
        <p:spPr>
          <a:xfrm>
            <a:off x="4049280" y="4604040"/>
            <a:ext cx="590400" cy="360"/>
          </a:xfrm>
          <a:prstGeom prst="line">
            <a:avLst/>
          </a:prstGeom>
          <a:ln w="12600">
            <a:solidFill>
              <a:schemeClr val="tx1"/>
            </a:solidFill>
          </a:ln>
        </p:spPr>
        <p:style>
          <a:lnRef idx="1">
            <a:schemeClr val="accent1"/>
          </a:lnRef>
          <a:fillRef idx="0">
            <a:schemeClr val="accent1"/>
          </a:fillRef>
          <a:effectRef idx="0">
            <a:schemeClr val="accent1"/>
          </a:effectRef>
          <a:fontRef idx="minor"/>
        </p:style>
      </p:sp>
      <p:sp>
        <p:nvSpPr>
          <p:cNvPr id="929" name="CustomShape 47"/>
          <p:cNvSpPr/>
          <p:nvPr/>
        </p:nvSpPr>
        <p:spPr>
          <a:xfrm>
            <a:off x="1479240" y="4402080"/>
            <a:ext cx="275400" cy="257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100" b="0" strike="noStrike" spc="-1">
                <a:solidFill>
                  <a:srgbClr val="000000"/>
                </a:solidFill>
                <a:latin typeface="Calibri"/>
              </a:rPr>
              <a:t>Q</a:t>
            </a:r>
            <a:endParaRPr lang="es-ES" sz="1100" b="0" strike="noStrike" spc="-1">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CustomShape 41"/>
          <p:cNvSpPr/>
          <p:nvPr/>
        </p:nvSpPr>
        <p:spPr>
          <a:xfrm>
            <a:off x="6703560" y="4612680"/>
            <a:ext cx="16196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350" b="0" i="0" u="none" strike="noStrike" kern="1200" cap="none" spc="-1" normalizeH="0" baseline="0" noProof="0">
                <a:ln>
                  <a:noFill/>
                </a:ln>
                <a:solidFill>
                  <a:srgbClr val="000000"/>
                </a:solidFill>
                <a:effectLst/>
                <a:uLnTx/>
                <a:uFillTx/>
                <a:latin typeface="Calibri"/>
              </a:rPr>
              <a:t>Ocupación de la CPU</a:t>
            </a:r>
            <a:endParaRPr kumimoji="0" lang="es-ES" sz="1350" b="0" i="0" u="none" strike="noStrike" kern="1200" cap="none" spc="-1" normalizeH="0" baseline="0" noProof="0">
              <a:ln>
                <a:noFill/>
              </a:ln>
              <a:solidFill>
                <a:prstClr val="black"/>
              </a:solidFill>
              <a:effectLst/>
              <a:uLnTx/>
              <a:uFillTx/>
              <a:latin typeface="Arial"/>
            </a:endParaRPr>
          </a:p>
        </p:txBody>
      </p:sp>
      <p:graphicFrame>
        <p:nvGraphicFramePr>
          <p:cNvPr id="2" name="Tabla 1">
            <a:extLst>
              <a:ext uri="{FF2B5EF4-FFF2-40B4-BE49-F238E27FC236}">
                <a16:creationId xmlns:a16="http://schemas.microsoft.com/office/drawing/2014/main" id="{C161122A-53BE-4766-94EF-59FECF8FECC0}"/>
              </a:ext>
            </a:extLst>
          </p:cNvPr>
          <p:cNvGraphicFramePr>
            <a:graphicFrameLocks noGrp="1"/>
          </p:cNvGraphicFramePr>
          <p:nvPr/>
        </p:nvGraphicFramePr>
        <p:xfrm>
          <a:off x="1566720" y="807840"/>
          <a:ext cx="3162300" cy="1097280"/>
        </p:xfrm>
        <a:graphic>
          <a:graphicData uri="http://schemas.openxmlformats.org/drawingml/2006/table">
            <a:tbl>
              <a:tblPr/>
              <a:tblGrid>
                <a:gridCol w="787400">
                  <a:extLst>
                    <a:ext uri="{9D8B030D-6E8A-4147-A177-3AD203B41FA5}">
                      <a16:colId xmlns:a16="http://schemas.microsoft.com/office/drawing/2014/main" val="1248266541"/>
                    </a:ext>
                  </a:extLst>
                </a:gridCol>
                <a:gridCol w="1168400">
                  <a:extLst>
                    <a:ext uri="{9D8B030D-6E8A-4147-A177-3AD203B41FA5}">
                      <a16:colId xmlns:a16="http://schemas.microsoft.com/office/drawing/2014/main" val="3088918620"/>
                    </a:ext>
                  </a:extLst>
                </a:gridCol>
                <a:gridCol w="1206500">
                  <a:extLst>
                    <a:ext uri="{9D8B030D-6E8A-4147-A177-3AD203B41FA5}">
                      <a16:colId xmlns:a16="http://schemas.microsoft.com/office/drawing/2014/main" val="2341277202"/>
                    </a:ext>
                  </a:extLst>
                </a:gridCol>
              </a:tblGrid>
              <a:tr h="182880">
                <a:tc>
                  <a:txBody>
                    <a:bodyPr/>
                    <a:lstStyle/>
                    <a:p>
                      <a:pPr algn="ctr" fontAlgn="b"/>
                      <a:r>
                        <a:rPr lang="es-ES" sz="1100" b="1" i="0" u="none" strike="noStrike" dirty="0">
                          <a:solidFill>
                            <a:srgbClr val="000000"/>
                          </a:solidFill>
                          <a:effectLst/>
                          <a:latin typeface="Calibri" panose="020F0502020204030204" pitchFamily="34" charset="0"/>
                        </a:rPr>
                        <a:t>Proceso</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1" i="0" u="none" strike="noStrike">
                          <a:solidFill>
                            <a:srgbClr val="000000"/>
                          </a:solidFill>
                          <a:effectLst/>
                          <a:latin typeface="Calibri" panose="020F0502020204030204" pitchFamily="34" charset="0"/>
                        </a:rPr>
                        <a:t>Instante de llegada</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1" i="0" u="none" strike="noStrike" dirty="0">
                          <a:solidFill>
                            <a:srgbClr val="000000"/>
                          </a:solidFill>
                          <a:effectLst/>
                          <a:latin typeface="Calibri" panose="020F0502020204030204" pitchFamily="34" charset="0"/>
                        </a:rPr>
                        <a:t>tiempo de ejecución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3868271"/>
                  </a:ext>
                </a:extLst>
              </a:tr>
              <a:tr h="182880">
                <a:tc>
                  <a:txBody>
                    <a:bodyPr/>
                    <a:lstStyle/>
                    <a:p>
                      <a:pPr algn="ctr" fontAlgn="ctr"/>
                      <a:r>
                        <a:rPr lang="es-ES" sz="1100" b="0" i="0" u="none" strike="noStrike" dirty="0">
                          <a:solidFill>
                            <a:srgbClr val="002060"/>
                          </a:solidFill>
                          <a:effectLst/>
                          <a:latin typeface="Calibri" panose="020F0502020204030204" pitchFamily="34" charset="0"/>
                        </a:rPr>
                        <a: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206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790700"/>
                  </a:ext>
                </a:extLst>
              </a:tr>
              <a:tr h="182880">
                <a:tc>
                  <a:txBody>
                    <a:bodyPr/>
                    <a:lstStyle/>
                    <a:p>
                      <a:pPr algn="ctr" fontAlgn="ctr"/>
                      <a:r>
                        <a:rPr lang="es-ES" sz="1100" b="0" i="0" u="none" strike="noStrike">
                          <a:solidFill>
                            <a:srgbClr val="002060"/>
                          </a:solidFill>
                          <a:effectLst/>
                          <a:latin typeface="Calibri" panose="020F0502020204030204" pitchFamily="34" charset="0"/>
                        </a:rPr>
                        <a: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206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5451564"/>
                  </a:ext>
                </a:extLst>
              </a:tr>
              <a:tr h="182880">
                <a:tc>
                  <a:txBody>
                    <a:bodyPr/>
                    <a:lstStyle/>
                    <a:p>
                      <a:pPr algn="ctr" fontAlgn="ctr"/>
                      <a:r>
                        <a:rPr lang="es-ES" sz="1100" b="0" i="0" u="none" strike="noStrike">
                          <a:solidFill>
                            <a:srgbClr val="002060"/>
                          </a:solidFill>
                          <a:effectLst/>
                          <a:latin typeface="Calibri" panose="020F0502020204030204" pitchFamily="34" charset="0"/>
                        </a:rPr>
                        <a:t>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206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091947"/>
                  </a:ext>
                </a:extLst>
              </a:tr>
              <a:tr h="182880">
                <a:tc>
                  <a:txBody>
                    <a:bodyPr/>
                    <a:lstStyle/>
                    <a:p>
                      <a:pPr algn="ctr" fontAlgn="ctr"/>
                      <a:r>
                        <a:rPr lang="es-ES" sz="1100" b="0" i="0" u="none" strike="noStrike">
                          <a:solidFill>
                            <a:srgbClr val="002060"/>
                          </a:solidFill>
                          <a:effectLst/>
                          <a:latin typeface="Calibri" panose="020F0502020204030204" pitchFamily="34" charset="0"/>
                        </a:rPr>
                        <a:t>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2060"/>
                          </a:solidFill>
                          <a:effectLst/>
                          <a:latin typeface="Calibri" panose="020F0502020204030204" pitchFamily="34" charset="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826368"/>
                  </a:ext>
                </a:extLst>
              </a:tr>
              <a:tr h="182880">
                <a:tc>
                  <a:txBody>
                    <a:bodyPr/>
                    <a:lstStyle/>
                    <a:p>
                      <a:pPr algn="ctr" fontAlgn="ctr"/>
                      <a:r>
                        <a:rPr lang="es-ES" sz="1100" b="0" i="0" u="none" strike="noStrike">
                          <a:solidFill>
                            <a:srgbClr val="002060"/>
                          </a:solidFill>
                          <a:effectLst/>
                          <a:latin typeface="Calibri" panose="020F0502020204030204" pitchFamily="34" charset="0"/>
                        </a:rPr>
                        <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dirty="0">
                          <a:solidFill>
                            <a:srgbClr val="00206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5301464"/>
                  </a:ext>
                </a:extLst>
              </a:tr>
            </a:tbl>
          </a:graphicData>
        </a:graphic>
      </p:graphicFrame>
      <p:sp>
        <p:nvSpPr>
          <p:cNvPr id="3" name="CuadroTexto 2">
            <a:extLst>
              <a:ext uri="{FF2B5EF4-FFF2-40B4-BE49-F238E27FC236}">
                <a16:creationId xmlns:a16="http://schemas.microsoft.com/office/drawing/2014/main" id="{47B43A68-E82C-4B32-8A5A-D0BEC57D6AE8}"/>
              </a:ext>
            </a:extLst>
          </p:cNvPr>
          <p:cNvSpPr txBox="1"/>
          <p:nvPr/>
        </p:nvSpPr>
        <p:spPr>
          <a:xfrm>
            <a:off x="1466550" y="33793"/>
            <a:ext cx="7259938" cy="61555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dirty="0">
                <a:ln>
                  <a:noFill/>
                </a:ln>
                <a:solidFill>
                  <a:prstClr val="black"/>
                </a:solidFill>
                <a:effectLst/>
                <a:uLnTx/>
                <a:uFillTx/>
                <a:latin typeface="Arial"/>
              </a:rPr>
              <a:t>Round Robin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200" b="1" i="0" u="none" strike="noStrike" kern="1200" cap="none" spc="0" normalizeH="0" baseline="0" noProof="0" dirty="0">
              <a:ln>
                <a:noFill/>
              </a:ln>
              <a:solidFill>
                <a:prstClr val="black"/>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prstClr val="black"/>
                </a:solidFill>
                <a:effectLst/>
                <a:uLnTx/>
                <a:uFillTx/>
                <a:latin typeface="Arial"/>
              </a:rPr>
              <a:t>Resolved el problema planteado para FCFS </a:t>
            </a:r>
            <a:r>
              <a:rPr lang="es-ES" sz="1000" dirty="0">
                <a:solidFill>
                  <a:prstClr val="black"/>
                </a:solidFill>
                <a:latin typeface="Arial"/>
              </a:rPr>
              <a:t>con </a:t>
            </a:r>
            <a:r>
              <a:rPr kumimoji="0" lang="es-ES" sz="1000" b="0" i="0" u="none" strike="noStrike" kern="1200" cap="none" spc="0" normalizeH="0" baseline="0" noProof="0" dirty="0">
                <a:ln>
                  <a:noFill/>
                </a:ln>
                <a:solidFill>
                  <a:prstClr val="black"/>
                </a:solidFill>
                <a:effectLst/>
                <a:uLnTx/>
                <a:uFillTx/>
                <a:latin typeface="Arial"/>
              </a:rPr>
              <a:t>planificador Round Robin con Quantum(3) :</a:t>
            </a:r>
          </a:p>
        </p:txBody>
      </p:sp>
      <p:graphicFrame>
        <p:nvGraphicFramePr>
          <p:cNvPr id="5" name="Tabla 4">
            <a:extLst>
              <a:ext uri="{FF2B5EF4-FFF2-40B4-BE49-F238E27FC236}">
                <a16:creationId xmlns:a16="http://schemas.microsoft.com/office/drawing/2014/main" id="{FA9ECA46-8C34-4EEB-9761-05603C166481}"/>
              </a:ext>
            </a:extLst>
          </p:cNvPr>
          <p:cNvGraphicFramePr>
            <a:graphicFrameLocks noGrp="1"/>
          </p:cNvGraphicFramePr>
          <p:nvPr>
            <p:extLst>
              <p:ext uri="{D42A27DB-BD31-4B8C-83A1-F6EECF244321}">
                <p14:modId xmlns:p14="http://schemas.microsoft.com/office/powerpoint/2010/main" val="1396893154"/>
              </p:ext>
            </p:extLst>
          </p:nvPr>
        </p:nvGraphicFramePr>
        <p:xfrm>
          <a:off x="1566720" y="2145030"/>
          <a:ext cx="3136900" cy="426720"/>
        </p:xfrm>
        <a:graphic>
          <a:graphicData uri="http://schemas.openxmlformats.org/drawingml/2006/table">
            <a:tbl>
              <a:tblPr/>
              <a:tblGrid>
                <a:gridCol w="787400">
                  <a:extLst>
                    <a:ext uri="{9D8B030D-6E8A-4147-A177-3AD203B41FA5}">
                      <a16:colId xmlns:a16="http://schemas.microsoft.com/office/drawing/2014/main" val="3555128910"/>
                    </a:ext>
                  </a:extLst>
                </a:gridCol>
                <a:gridCol w="368300">
                  <a:extLst>
                    <a:ext uri="{9D8B030D-6E8A-4147-A177-3AD203B41FA5}">
                      <a16:colId xmlns:a16="http://schemas.microsoft.com/office/drawing/2014/main" val="2430162477"/>
                    </a:ext>
                  </a:extLst>
                </a:gridCol>
                <a:gridCol w="381000">
                  <a:extLst>
                    <a:ext uri="{9D8B030D-6E8A-4147-A177-3AD203B41FA5}">
                      <a16:colId xmlns:a16="http://schemas.microsoft.com/office/drawing/2014/main" val="1468616079"/>
                    </a:ext>
                  </a:extLst>
                </a:gridCol>
                <a:gridCol w="1079500">
                  <a:extLst>
                    <a:ext uri="{9D8B030D-6E8A-4147-A177-3AD203B41FA5}">
                      <a16:colId xmlns:a16="http://schemas.microsoft.com/office/drawing/2014/main" val="1460222408"/>
                    </a:ext>
                  </a:extLst>
                </a:gridCol>
                <a:gridCol w="520700">
                  <a:extLst>
                    <a:ext uri="{9D8B030D-6E8A-4147-A177-3AD203B41FA5}">
                      <a16:colId xmlns:a16="http://schemas.microsoft.com/office/drawing/2014/main" val="1356314445"/>
                    </a:ext>
                  </a:extLst>
                </a:gridCol>
              </a:tblGrid>
              <a:tr h="236220">
                <a:tc>
                  <a:txBody>
                    <a:bodyPr/>
                    <a:lstStyle/>
                    <a:p>
                      <a:pPr algn="ctr" fontAlgn="ctr"/>
                      <a:r>
                        <a:rPr lang="es-ES" sz="1100" b="1" i="0" u="none" strike="noStrike">
                          <a:solidFill>
                            <a:srgbClr val="000000"/>
                          </a:solidFill>
                          <a:effectLst/>
                          <a:latin typeface="Calibri" panose="020F0502020204030204" pitchFamily="34" charset="0"/>
                        </a:rPr>
                        <a:t>T</a:t>
                      </a:r>
                    </a:p>
                  </a:txBody>
                  <a:tcPr marL="7620" marR="7620" marT="7620" marB="0" anchor="ctr">
                    <a:lnL>
                      <a:noFill/>
                    </a:lnL>
                    <a:lnR>
                      <a:noFill/>
                    </a:lnR>
                    <a:lnT>
                      <a:noFill/>
                    </a:lnT>
                    <a:lnB>
                      <a:noFill/>
                    </a:lnB>
                  </a:tcPr>
                </a:tc>
                <a:tc>
                  <a:txBody>
                    <a:bodyPr/>
                    <a:lstStyle/>
                    <a:p>
                      <a:pPr algn="ctr" fontAlgn="ctr"/>
                      <a:r>
                        <a:rPr lang="es-ES" sz="1100" b="1" i="0" u="none" strike="noStrike">
                          <a:solidFill>
                            <a:srgbClr val="000000"/>
                          </a:solidFill>
                          <a:effectLst/>
                          <a:latin typeface="Calibri" panose="020F0502020204030204" pitchFamily="34" charset="0"/>
                        </a:rPr>
                        <a:t>CPU</a:t>
                      </a:r>
                    </a:p>
                  </a:txBody>
                  <a:tcPr marL="7620" marR="7620" marT="7620" marB="0" anchor="ctr">
                    <a:lnL>
                      <a:noFill/>
                    </a:lnL>
                    <a:lnR>
                      <a:noFill/>
                    </a:lnR>
                    <a:lnT>
                      <a:noFill/>
                    </a:lnT>
                    <a:lnB>
                      <a:noFill/>
                    </a:lnB>
                  </a:tcPr>
                </a:tc>
                <a:tc>
                  <a:txBody>
                    <a:bodyPr/>
                    <a:lstStyle/>
                    <a:p>
                      <a:pPr algn="ctr" fontAlgn="ctr"/>
                      <a:r>
                        <a:rPr lang="es-ES" sz="1100" b="1" i="0" u="none" strike="noStrike">
                          <a:solidFill>
                            <a:srgbClr val="000000"/>
                          </a:solidFill>
                          <a:effectLst/>
                          <a:latin typeface="Calibri" panose="020F0502020204030204" pitchFamily="34" charset="0"/>
                        </a:rPr>
                        <a:t>Llega</a:t>
                      </a:r>
                    </a:p>
                  </a:txBody>
                  <a:tcPr marL="7620" marR="7620" marT="7620" marB="0" anchor="ctr">
                    <a:lnL>
                      <a:noFill/>
                    </a:lnL>
                    <a:lnR>
                      <a:noFill/>
                    </a:lnR>
                    <a:lnT>
                      <a:noFill/>
                    </a:lnT>
                    <a:lnB>
                      <a:noFill/>
                    </a:lnB>
                  </a:tcPr>
                </a:tc>
                <a:tc>
                  <a:txBody>
                    <a:bodyPr/>
                    <a:lstStyle/>
                    <a:p>
                      <a:pPr algn="ctr" fontAlgn="ctr"/>
                      <a:r>
                        <a:rPr lang="es-ES" sz="1100" b="1" i="0" u="none" strike="noStrike">
                          <a:solidFill>
                            <a:srgbClr val="000000"/>
                          </a:solidFill>
                          <a:effectLst/>
                          <a:latin typeface="Calibri" panose="020F0502020204030204" pitchFamily="34" charset="0"/>
                        </a:rPr>
                        <a:t>Cola</a:t>
                      </a:r>
                    </a:p>
                  </a:txBody>
                  <a:tcPr marL="7620" marR="7620" marT="7620" marB="0" anchor="ctr">
                    <a:lnL>
                      <a:noFill/>
                    </a:lnL>
                    <a:lnR>
                      <a:noFill/>
                    </a:lnR>
                    <a:lnT>
                      <a:noFill/>
                    </a:lnT>
                    <a:lnB>
                      <a:noFill/>
                    </a:lnB>
                  </a:tcPr>
                </a:tc>
                <a:tc>
                  <a:txBody>
                    <a:bodyPr/>
                    <a:lstStyle/>
                    <a:p>
                      <a:pPr algn="ctr" fontAlgn="ctr"/>
                      <a:r>
                        <a:rPr lang="es-ES" sz="1100" b="1" i="0" u="none" strike="noStrike">
                          <a:solidFill>
                            <a:srgbClr val="000000"/>
                          </a:solidFill>
                          <a:effectLst/>
                          <a:latin typeface="Calibri" panose="020F0502020204030204" pitchFamily="34" charset="0"/>
                        </a:rPr>
                        <a:t>Finaliza</a:t>
                      </a:r>
                    </a:p>
                  </a:txBody>
                  <a:tcPr marL="7620" marR="7620" marT="7620" marB="0" anchor="ctr">
                    <a:lnL>
                      <a:noFill/>
                    </a:lnL>
                    <a:lnR>
                      <a:noFill/>
                    </a:lnR>
                    <a:lnT>
                      <a:noFill/>
                    </a:lnT>
                    <a:lnB>
                      <a:noFill/>
                    </a:lnB>
                  </a:tcPr>
                </a:tc>
                <a:extLst>
                  <a:ext uri="{0D108BD9-81ED-4DB2-BD59-A6C34878D82A}">
                    <a16:rowId xmlns:a16="http://schemas.microsoft.com/office/drawing/2014/main" val="2027210493"/>
                  </a:ext>
                </a:extLst>
              </a:tr>
              <a:tr h="190500">
                <a:tc>
                  <a:txBody>
                    <a:bodyPr/>
                    <a:lstStyle/>
                    <a:p>
                      <a:pPr algn="ctr" fontAlgn="ctr"/>
                      <a:r>
                        <a:rPr lang="es-ES" sz="1100" b="0" i="0" u="none" strike="noStrike">
                          <a:solidFill>
                            <a:srgbClr val="000000"/>
                          </a:solidFill>
                          <a:effectLst/>
                          <a:latin typeface="Calibri" panose="020F0502020204030204" pitchFamily="34" charset="0"/>
                        </a:rPr>
                        <a:t>0</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A&lt;3&gt;</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s-ES" sz="1100" b="0" i="0" u="none" strike="noStrike">
                          <a:solidFill>
                            <a:srgbClr val="000000"/>
                          </a:solidFill>
                          <a:effectLst/>
                          <a:latin typeface="Calibri" panose="020F0502020204030204" pitchFamily="34" charset="0"/>
                        </a:rPr>
                        <a:t>A</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6424307"/>
                  </a:ext>
                </a:extLst>
              </a:tr>
            </a:tbl>
          </a:graphicData>
        </a:graphic>
      </p:graphicFrame>
      <p:graphicFrame>
        <p:nvGraphicFramePr>
          <p:cNvPr id="8" name="Tabla 7">
            <a:extLst>
              <a:ext uri="{FF2B5EF4-FFF2-40B4-BE49-F238E27FC236}">
                <a16:creationId xmlns:a16="http://schemas.microsoft.com/office/drawing/2014/main" id="{37523EAC-F589-4B57-8F2A-43B9E8E82D45}"/>
              </a:ext>
            </a:extLst>
          </p:cNvPr>
          <p:cNvGraphicFramePr>
            <a:graphicFrameLocks noGrp="1"/>
          </p:cNvGraphicFramePr>
          <p:nvPr/>
        </p:nvGraphicFramePr>
        <p:xfrm>
          <a:off x="4789488" y="807840"/>
          <a:ext cx="3937000" cy="1097280"/>
        </p:xfrm>
        <a:graphic>
          <a:graphicData uri="http://schemas.openxmlformats.org/drawingml/2006/table">
            <a:tbl>
              <a:tblPr/>
              <a:tblGrid>
                <a:gridCol w="787400">
                  <a:extLst>
                    <a:ext uri="{9D8B030D-6E8A-4147-A177-3AD203B41FA5}">
                      <a16:colId xmlns:a16="http://schemas.microsoft.com/office/drawing/2014/main" val="2454515444"/>
                    </a:ext>
                  </a:extLst>
                </a:gridCol>
                <a:gridCol w="787400">
                  <a:extLst>
                    <a:ext uri="{9D8B030D-6E8A-4147-A177-3AD203B41FA5}">
                      <a16:colId xmlns:a16="http://schemas.microsoft.com/office/drawing/2014/main" val="3586481627"/>
                    </a:ext>
                  </a:extLst>
                </a:gridCol>
                <a:gridCol w="787400">
                  <a:extLst>
                    <a:ext uri="{9D8B030D-6E8A-4147-A177-3AD203B41FA5}">
                      <a16:colId xmlns:a16="http://schemas.microsoft.com/office/drawing/2014/main" val="2699757623"/>
                    </a:ext>
                  </a:extLst>
                </a:gridCol>
                <a:gridCol w="787400">
                  <a:extLst>
                    <a:ext uri="{9D8B030D-6E8A-4147-A177-3AD203B41FA5}">
                      <a16:colId xmlns:a16="http://schemas.microsoft.com/office/drawing/2014/main" val="235217366"/>
                    </a:ext>
                  </a:extLst>
                </a:gridCol>
                <a:gridCol w="787400">
                  <a:extLst>
                    <a:ext uri="{9D8B030D-6E8A-4147-A177-3AD203B41FA5}">
                      <a16:colId xmlns:a16="http://schemas.microsoft.com/office/drawing/2014/main" val="1752180440"/>
                    </a:ext>
                  </a:extLst>
                </a:gridCol>
              </a:tblGrid>
              <a:tr h="182880">
                <a:tc>
                  <a:txBody>
                    <a:bodyPr/>
                    <a:lstStyle/>
                    <a:p>
                      <a:pPr algn="ctr" fontAlgn="ctr"/>
                      <a:r>
                        <a:rPr lang="es-ES" sz="1100" b="1" i="0" u="none" strike="noStrike">
                          <a:solidFill>
                            <a:srgbClr val="000000"/>
                          </a:solidFill>
                          <a:effectLst/>
                          <a:latin typeface="Calibri" panose="020F0502020204030204" pitchFamily="34" charset="0"/>
                        </a:rPr>
                        <a:t>Inicio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1" i="0" u="none" strike="noStrike">
                          <a:solidFill>
                            <a:srgbClr val="000000"/>
                          </a:solidFill>
                          <a:effectLst/>
                          <a:latin typeface="Calibri" panose="020F0502020204030204" pitchFamily="34" charset="0"/>
                        </a:rPr>
                        <a:t>Fin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1" i="0" u="none" strike="noStrike">
                          <a:solidFill>
                            <a:srgbClr val="000000"/>
                          </a:solidFill>
                          <a:effectLst/>
                          <a:latin typeface="Calibri" panose="020F0502020204030204" pitchFamily="34" charset="0"/>
                        </a:rPr>
                        <a:t>T. respuesta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1" i="0" u="none" strike="noStrike">
                          <a:solidFill>
                            <a:srgbClr val="000000"/>
                          </a:solidFill>
                          <a:effectLst/>
                          <a:latin typeface="Calibri" panose="020F0502020204030204" pitchFamily="34" charset="0"/>
                        </a:rPr>
                        <a:t>T. espera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1100" b="1" i="0" u="none" strike="noStrike">
                          <a:solidFill>
                            <a:srgbClr val="000000"/>
                          </a:solidFill>
                          <a:effectLst/>
                          <a:latin typeface="Calibri" panose="020F0502020204030204" pitchFamily="34" charset="0"/>
                        </a:rPr>
                        <a:t>Penalización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1480851"/>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5756931"/>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6699113"/>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10871"/>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7972195"/>
                  </a:ext>
                </a:extLst>
              </a:tr>
              <a:tr h="182880">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1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8752190"/>
                  </a:ext>
                </a:extLst>
              </a:tr>
            </a:tbl>
          </a:graphicData>
        </a:graphic>
      </p:graphicFrame>
      <p:graphicFrame>
        <p:nvGraphicFramePr>
          <p:cNvPr id="4" name="Tabla 3">
            <a:extLst>
              <a:ext uri="{FF2B5EF4-FFF2-40B4-BE49-F238E27FC236}">
                <a16:creationId xmlns:a16="http://schemas.microsoft.com/office/drawing/2014/main" id="{6A80B2A9-6886-461A-A53F-84C14DA2E6E9}"/>
              </a:ext>
            </a:extLst>
          </p:cNvPr>
          <p:cNvGraphicFramePr>
            <a:graphicFrameLocks noGrp="1"/>
          </p:cNvGraphicFramePr>
          <p:nvPr>
            <p:extLst>
              <p:ext uri="{D42A27DB-BD31-4B8C-83A1-F6EECF244321}">
                <p14:modId xmlns:p14="http://schemas.microsoft.com/office/powerpoint/2010/main" val="3072779379"/>
              </p:ext>
            </p:extLst>
          </p:nvPr>
        </p:nvGraphicFramePr>
        <p:xfrm>
          <a:off x="1963737" y="3552990"/>
          <a:ext cx="4445000" cy="1249680"/>
        </p:xfrm>
        <a:graphic>
          <a:graphicData uri="http://schemas.openxmlformats.org/drawingml/2006/table">
            <a:tbl>
              <a:tblPr/>
              <a:tblGrid>
                <a:gridCol w="292100">
                  <a:extLst>
                    <a:ext uri="{9D8B030D-6E8A-4147-A177-3AD203B41FA5}">
                      <a16:colId xmlns:a16="http://schemas.microsoft.com/office/drawing/2014/main" val="2149919823"/>
                    </a:ext>
                  </a:extLst>
                </a:gridCol>
                <a:gridCol w="152400">
                  <a:extLst>
                    <a:ext uri="{9D8B030D-6E8A-4147-A177-3AD203B41FA5}">
                      <a16:colId xmlns:a16="http://schemas.microsoft.com/office/drawing/2014/main" val="3314359545"/>
                    </a:ext>
                  </a:extLst>
                </a:gridCol>
                <a:gridCol w="165100">
                  <a:extLst>
                    <a:ext uri="{9D8B030D-6E8A-4147-A177-3AD203B41FA5}">
                      <a16:colId xmlns:a16="http://schemas.microsoft.com/office/drawing/2014/main" val="2438968988"/>
                    </a:ext>
                  </a:extLst>
                </a:gridCol>
                <a:gridCol w="177800">
                  <a:extLst>
                    <a:ext uri="{9D8B030D-6E8A-4147-A177-3AD203B41FA5}">
                      <a16:colId xmlns:a16="http://schemas.microsoft.com/office/drawing/2014/main" val="2065470554"/>
                    </a:ext>
                  </a:extLst>
                </a:gridCol>
                <a:gridCol w="177800">
                  <a:extLst>
                    <a:ext uri="{9D8B030D-6E8A-4147-A177-3AD203B41FA5}">
                      <a16:colId xmlns:a16="http://schemas.microsoft.com/office/drawing/2014/main" val="294760374"/>
                    </a:ext>
                  </a:extLst>
                </a:gridCol>
                <a:gridCol w="190500">
                  <a:extLst>
                    <a:ext uri="{9D8B030D-6E8A-4147-A177-3AD203B41FA5}">
                      <a16:colId xmlns:a16="http://schemas.microsoft.com/office/drawing/2014/main" val="2899689319"/>
                    </a:ext>
                  </a:extLst>
                </a:gridCol>
                <a:gridCol w="177800">
                  <a:extLst>
                    <a:ext uri="{9D8B030D-6E8A-4147-A177-3AD203B41FA5}">
                      <a16:colId xmlns:a16="http://schemas.microsoft.com/office/drawing/2014/main" val="3844695052"/>
                    </a:ext>
                  </a:extLst>
                </a:gridCol>
                <a:gridCol w="203200">
                  <a:extLst>
                    <a:ext uri="{9D8B030D-6E8A-4147-A177-3AD203B41FA5}">
                      <a16:colId xmlns:a16="http://schemas.microsoft.com/office/drawing/2014/main" val="1260013571"/>
                    </a:ext>
                  </a:extLst>
                </a:gridCol>
                <a:gridCol w="203200">
                  <a:extLst>
                    <a:ext uri="{9D8B030D-6E8A-4147-A177-3AD203B41FA5}">
                      <a16:colId xmlns:a16="http://schemas.microsoft.com/office/drawing/2014/main" val="3395738676"/>
                    </a:ext>
                  </a:extLst>
                </a:gridCol>
                <a:gridCol w="203200">
                  <a:extLst>
                    <a:ext uri="{9D8B030D-6E8A-4147-A177-3AD203B41FA5}">
                      <a16:colId xmlns:a16="http://schemas.microsoft.com/office/drawing/2014/main" val="3008856252"/>
                    </a:ext>
                  </a:extLst>
                </a:gridCol>
                <a:gridCol w="215900">
                  <a:extLst>
                    <a:ext uri="{9D8B030D-6E8A-4147-A177-3AD203B41FA5}">
                      <a16:colId xmlns:a16="http://schemas.microsoft.com/office/drawing/2014/main" val="3079576859"/>
                    </a:ext>
                  </a:extLst>
                </a:gridCol>
                <a:gridCol w="241300">
                  <a:extLst>
                    <a:ext uri="{9D8B030D-6E8A-4147-A177-3AD203B41FA5}">
                      <a16:colId xmlns:a16="http://schemas.microsoft.com/office/drawing/2014/main" val="3249670778"/>
                    </a:ext>
                  </a:extLst>
                </a:gridCol>
                <a:gridCol w="241300">
                  <a:extLst>
                    <a:ext uri="{9D8B030D-6E8A-4147-A177-3AD203B41FA5}">
                      <a16:colId xmlns:a16="http://schemas.microsoft.com/office/drawing/2014/main" val="2238906320"/>
                    </a:ext>
                  </a:extLst>
                </a:gridCol>
                <a:gridCol w="215900">
                  <a:extLst>
                    <a:ext uri="{9D8B030D-6E8A-4147-A177-3AD203B41FA5}">
                      <a16:colId xmlns:a16="http://schemas.microsoft.com/office/drawing/2014/main" val="2729059082"/>
                    </a:ext>
                  </a:extLst>
                </a:gridCol>
                <a:gridCol w="215900">
                  <a:extLst>
                    <a:ext uri="{9D8B030D-6E8A-4147-A177-3AD203B41FA5}">
                      <a16:colId xmlns:a16="http://schemas.microsoft.com/office/drawing/2014/main" val="1189256301"/>
                    </a:ext>
                  </a:extLst>
                </a:gridCol>
                <a:gridCol w="241300">
                  <a:extLst>
                    <a:ext uri="{9D8B030D-6E8A-4147-A177-3AD203B41FA5}">
                      <a16:colId xmlns:a16="http://schemas.microsoft.com/office/drawing/2014/main" val="1247445551"/>
                    </a:ext>
                  </a:extLst>
                </a:gridCol>
                <a:gridCol w="228600">
                  <a:extLst>
                    <a:ext uri="{9D8B030D-6E8A-4147-A177-3AD203B41FA5}">
                      <a16:colId xmlns:a16="http://schemas.microsoft.com/office/drawing/2014/main" val="146781763"/>
                    </a:ext>
                  </a:extLst>
                </a:gridCol>
                <a:gridCol w="215900">
                  <a:extLst>
                    <a:ext uri="{9D8B030D-6E8A-4147-A177-3AD203B41FA5}">
                      <a16:colId xmlns:a16="http://schemas.microsoft.com/office/drawing/2014/main" val="820288149"/>
                    </a:ext>
                  </a:extLst>
                </a:gridCol>
                <a:gridCol w="228600">
                  <a:extLst>
                    <a:ext uri="{9D8B030D-6E8A-4147-A177-3AD203B41FA5}">
                      <a16:colId xmlns:a16="http://schemas.microsoft.com/office/drawing/2014/main" val="2054263243"/>
                    </a:ext>
                  </a:extLst>
                </a:gridCol>
                <a:gridCol w="215900">
                  <a:extLst>
                    <a:ext uri="{9D8B030D-6E8A-4147-A177-3AD203B41FA5}">
                      <a16:colId xmlns:a16="http://schemas.microsoft.com/office/drawing/2014/main" val="4240406782"/>
                    </a:ext>
                  </a:extLst>
                </a:gridCol>
                <a:gridCol w="241300">
                  <a:extLst>
                    <a:ext uri="{9D8B030D-6E8A-4147-A177-3AD203B41FA5}">
                      <a16:colId xmlns:a16="http://schemas.microsoft.com/office/drawing/2014/main" val="198119162"/>
                    </a:ext>
                  </a:extLst>
                </a:gridCol>
              </a:tblGrid>
              <a:tr h="236220">
                <a:tc>
                  <a:txBody>
                    <a:bodyPr/>
                    <a:lstStyle/>
                    <a:p>
                      <a:pPr algn="ctr" fontAlgn="ctr"/>
                      <a:r>
                        <a:rPr lang="es-ES" sz="1100" b="0" i="0" u="none" strike="noStrike">
                          <a:solidFill>
                            <a:srgbClr val="000000"/>
                          </a:solidFill>
                          <a:effectLst/>
                          <a:latin typeface="Calibri" panose="020F0502020204030204" pitchFamily="34" charset="0"/>
                        </a:rPr>
                        <a:t>A</a:t>
                      </a:r>
                    </a:p>
                  </a:txBody>
                  <a:tcPr marL="7620" marR="7620" marT="762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l" fontAlgn="b"/>
                      <a:r>
                        <a:rPr lang="es-ES" sz="1100" b="1" i="0" u="none" strike="noStrike">
                          <a:solidFill>
                            <a:srgbClr val="FFFFFF"/>
                          </a:solidFill>
                          <a:effectLst/>
                          <a:latin typeface="Calibri" panose="020F0502020204030204" pitchFamily="34" charset="0"/>
                        </a:rPr>
                        <a:t>A</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b"/>
                      <a:endParaRPr lang="es-ES" sz="1400" b="1" i="0" u="none" strike="noStrike">
                        <a:solidFill>
                          <a:srgbClr val="FF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400" b="1" i="0" u="none" strike="noStrike">
                        <a:solidFill>
                          <a:srgbClr val="FF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400" b="1" i="0" u="none" strike="noStrike">
                        <a:solidFill>
                          <a:srgbClr val="FF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880242435"/>
                  </a:ext>
                </a:extLst>
              </a:tr>
              <a:tr h="205740">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ctr"/>
                      <a:r>
                        <a:rPr lang="es-ES" sz="1100" b="0" i="0" u="none" strike="noStrike">
                          <a:solidFill>
                            <a:srgbClr val="000000"/>
                          </a:solidFill>
                          <a:effectLst/>
                          <a:latin typeface="Calibri" panose="020F0502020204030204" pitchFamily="34" charset="0"/>
                        </a:rPr>
                        <a:t>B</a:t>
                      </a:r>
                    </a:p>
                  </a:txBody>
                  <a:tcPr marL="7620" marR="7620" marT="7620" marB="0" anchor="ctr">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1" i="0" u="none" strike="noStrike">
                          <a:solidFill>
                            <a:srgbClr val="FFFFFF"/>
                          </a:solidFill>
                          <a:effectLst/>
                          <a:latin typeface="Calibri" panose="020F0502020204030204" pitchFamily="34" charset="0"/>
                        </a:rPr>
                        <a:t>B</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30A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30A0"/>
                    </a:solidFill>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094993394"/>
                  </a:ext>
                </a:extLst>
              </a:tr>
              <a:tr h="205740">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s-ES" sz="1100" b="0" i="0" u="none" strike="noStrike">
                          <a:solidFill>
                            <a:srgbClr val="000000"/>
                          </a:solidFill>
                          <a:effectLst/>
                          <a:latin typeface="Calibri" panose="020F0502020204030204" pitchFamily="34" charset="0"/>
                        </a:rPr>
                        <a:t>C</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1" i="0" u="none" strike="noStrike">
                          <a:solidFill>
                            <a:srgbClr val="FFFFFF"/>
                          </a:solidFill>
                          <a:effectLst/>
                          <a:latin typeface="Calibri" panose="020F0502020204030204" pitchFamily="34" charset="0"/>
                        </a:rPr>
                        <a:t>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500877148"/>
                  </a:ext>
                </a:extLst>
              </a:tr>
              <a:tr h="205740">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s-ES" sz="1100" b="0" i="0" u="none" strike="noStrike">
                          <a:solidFill>
                            <a:srgbClr val="000000"/>
                          </a:solidFill>
                          <a:effectLst/>
                          <a:latin typeface="Calibri" panose="020F0502020204030204" pitchFamily="34" charset="0"/>
                        </a:rPr>
                        <a:t>D</a:t>
                      </a:r>
                    </a:p>
                  </a:txBody>
                  <a:tcPr marL="7620" marR="7620" marT="7620"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1" i="0" u="none" strike="noStrike">
                          <a:solidFill>
                            <a:srgbClr val="FFFFFF"/>
                          </a:solidFill>
                          <a:effectLst/>
                          <a:latin typeface="Calibri" panose="020F0502020204030204" pitchFamily="34" charset="0"/>
                        </a:rPr>
                        <a:t>D</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2521919"/>
                  </a:ext>
                </a:extLst>
              </a:tr>
              <a:tr h="205740">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s-E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s-ES" sz="1100" b="0" i="0" u="none" strike="noStrike">
                          <a:solidFill>
                            <a:srgbClr val="000000"/>
                          </a:solidFill>
                          <a:effectLst/>
                          <a:latin typeface="Calibri" panose="020F0502020204030204" pitchFamily="34" charset="0"/>
                        </a:rPr>
                        <a:t>E</a:t>
                      </a:r>
                    </a:p>
                  </a:txBody>
                  <a:tcPr marL="7620" marR="7620" marT="762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1" i="0" u="none" strike="noStrike">
                          <a:solidFill>
                            <a:srgbClr val="FFFFFF"/>
                          </a:solidFill>
                          <a:effectLst/>
                          <a:latin typeface="Calibri" panose="020F0502020204030204" pitchFamily="34" charset="0"/>
                        </a:rPr>
                        <a:t>E</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tc>
                  <a:txBody>
                    <a:bodyPr/>
                    <a:lstStyle/>
                    <a:p>
                      <a:pPr algn="l" fontAlgn="b"/>
                      <a:r>
                        <a:rPr lang="es-E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5911"/>
                    </a:solidFill>
                  </a:tcPr>
                </a:tc>
                <a:extLst>
                  <a:ext uri="{0D108BD9-81ED-4DB2-BD59-A6C34878D82A}">
                    <a16:rowId xmlns:a16="http://schemas.microsoft.com/office/drawing/2014/main" val="3943679960"/>
                  </a:ext>
                </a:extLst>
              </a:tr>
              <a:tr h="190500">
                <a:tc>
                  <a:txBody>
                    <a:bodyPr/>
                    <a:lstStyle/>
                    <a:p>
                      <a:pPr algn="r" fontAlgn="b"/>
                      <a:r>
                        <a:rPr lang="es-E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8</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11</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12</a:t>
                      </a:r>
                    </a:p>
                  </a:txBody>
                  <a:tcPr marL="7620" marR="7620" marT="7620" marB="0" anchor="b">
                    <a:lnL>
                      <a:noFill/>
                    </a:lnL>
                    <a:lnR>
                      <a:noFill/>
                    </a:lnR>
                    <a:lnT>
                      <a:noFill/>
                    </a:lnT>
                    <a:lnB>
                      <a:noFill/>
                    </a:lnB>
                  </a:tcPr>
                </a:tc>
                <a:tc>
                  <a:txBody>
                    <a:bodyPr/>
                    <a:lstStyle/>
                    <a:p>
                      <a:pPr algn="r" fontAlgn="b"/>
                      <a:r>
                        <a:rPr lang="es-ES" sz="1100" b="0" i="0" u="none" strike="noStrike">
                          <a:solidFill>
                            <a:srgbClr val="000000"/>
                          </a:solidFill>
                          <a:effectLst/>
                          <a:latin typeface="Calibri" panose="020F0502020204030204" pitchFamily="34" charset="0"/>
                        </a:rPr>
                        <a:t>13</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14</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15</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16</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17</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18</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s-ES" sz="1100" b="0" i="0" u="none" strike="noStrike">
                          <a:solidFill>
                            <a:srgbClr val="000000"/>
                          </a:solidFill>
                          <a:effectLst/>
                          <a:latin typeface="Calibri" panose="020F0502020204030204" pitchFamily="34" charset="0"/>
                        </a:rPr>
                        <a:t>19</a:t>
                      </a: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s-ES" sz="1100" b="1" i="0" u="none" strike="noStrike" dirty="0">
                          <a:solidFill>
                            <a:srgbClr val="C00000"/>
                          </a:solidFill>
                          <a:effectLst/>
                          <a:latin typeface="Calibri" panose="020F0502020204030204" pitchFamily="34" charset="0"/>
                        </a:rPr>
                        <a:t>20</a:t>
                      </a:r>
                    </a:p>
                  </a:txBody>
                  <a:tcPr marL="7620" marR="7620" marT="762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027865410"/>
                  </a:ext>
                </a:extLst>
              </a:tr>
            </a:tbl>
          </a:graphicData>
        </a:graphic>
      </p:graphicFrame>
    </p:spTree>
    <p:extLst>
      <p:ext uri="{BB962C8B-B14F-4D97-AF65-F5344CB8AC3E}">
        <p14:creationId xmlns:p14="http://schemas.microsoft.com/office/powerpoint/2010/main" val="3038282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931" name="CustomShape 2"/>
          <p:cNvSpPr/>
          <p:nvPr/>
        </p:nvSpPr>
        <p:spPr>
          <a:xfrm>
            <a:off x="1896480" y="995400"/>
            <a:ext cx="4512600" cy="3996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dirty="0">
                <a:solidFill>
                  <a:srgbClr val="000000"/>
                </a:solidFill>
                <a:uFillTx/>
                <a:latin typeface="Calibri"/>
              </a:rPr>
              <a:t>Planificación con prioridad</a:t>
            </a:r>
            <a:endParaRPr lang="es-ES" sz="1350" b="0" strike="noStrike" spc="-1" dirty="0">
              <a:latin typeface="Arial"/>
            </a:endParaRPr>
          </a:p>
          <a:p>
            <a:pPr algn="just">
              <a:lnSpc>
                <a:spcPct val="100000"/>
              </a:lnSpc>
            </a:pPr>
            <a:endParaRPr lang="es-ES" sz="1350" b="0" strike="noStrike" spc="-1" dirty="0">
              <a:latin typeface="Arial"/>
            </a:endParaRPr>
          </a:p>
          <a:p>
            <a:pPr algn="just">
              <a:lnSpc>
                <a:spcPct val="100000"/>
              </a:lnSpc>
            </a:pPr>
            <a:r>
              <a:rPr lang="es-ES" sz="1350" b="0" strike="noStrike" spc="-1" dirty="0">
                <a:solidFill>
                  <a:srgbClr val="000000"/>
                </a:solidFill>
                <a:latin typeface="Calibri"/>
              </a:rPr>
              <a:t>Los dos sistemas descritos suponen que todos los procesos descritos tienen la misma prioridad pero la realidad no es así. La mayor parte de los Sistemas Operativos son capaces de manejar prioridades para atender antes a un proceso crítico que a otro que puede esperar sin provocar una degradación. Esta característica es más acentuada en los SSOO de tiempo real pero tanto Windows (abre el Administrador de tareas y lo descubrirás) como la familia Unix (comando </a:t>
            </a:r>
            <a:r>
              <a:rPr lang="es-ES" sz="1100" b="1" strike="noStrike" spc="-1" dirty="0" err="1">
                <a:solidFill>
                  <a:srgbClr val="000000"/>
                </a:solidFill>
                <a:latin typeface="Lucida Console"/>
              </a:rPr>
              <a:t>nice</a:t>
            </a:r>
            <a:r>
              <a:rPr lang="es-ES" sz="1350" b="0" strike="noStrike" spc="-1" dirty="0">
                <a:solidFill>
                  <a:srgbClr val="000000"/>
                </a:solidFill>
                <a:latin typeface="Calibri"/>
              </a:rPr>
              <a:t>) manejan colas de prioridades.</a:t>
            </a:r>
            <a:endParaRPr lang="es-ES" sz="1350" b="0" strike="noStrike" spc="-1" dirty="0">
              <a:latin typeface="Arial"/>
            </a:endParaRPr>
          </a:p>
          <a:p>
            <a:pPr algn="just">
              <a:lnSpc>
                <a:spcPct val="100000"/>
              </a:lnSpc>
            </a:pPr>
            <a:endParaRPr lang="es-ES" sz="1350" b="0" strike="noStrike" spc="-1" dirty="0">
              <a:latin typeface="Arial"/>
            </a:endParaRPr>
          </a:p>
          <a:p>
            <a:pPr algn="just">
              <a:lnSpc>
                <a:spcPct val="100000"/>
              </a:lnSpc>
            </a:pPr>
            <a:r>
              <a:rPr lang="es-ES" sz="1350" b="0" strike="noStrike" spc="-1" dirty="0">
                <a:solidFill>
                  <a:srgbClr val="000000"/>
                </a:solidFill>
                <a:latin typeface="Calibri"/>
              </a:rPr>
              <a:t>La idea es que en lugar de una cola de espera hay varias en función de la prioridad y no se atiende ningún proceso de prioridad reducida mientras haya otro de prioridad más alta pendiente de ejecutar. Volviendo al ejemplo de la montaña rusa, hay una cola de baja prioridad donde los usuarios tienen largo tiempo de espera mientras que los de la </a:t>
            </a:r>
            <a:r>
              <a:rPr lang="es-ES" sz="1350" b="0" strike="noStrike" spc="-1" dirty="0" err="1">
                <a:solidFill>
                  <a:srgbClr val="000000"/>
                </a:solidFill>
                <a:latin typeface="Calibri"/>
              </a:rPr>
              <a:t>priority</a:t>
            </a:r>
            <a:r>
              <a:rPr lang="es-ES" sz="1350" b="0" strike="noStrike" spc="-1" dirty="0">
                <a:solidFill>
                  <a:srgbClr val="000000"/>
                </a:solidFill>
                <a:latin typeface="Calibri"/>
              </a:rPr>
              <a:t> </a:t>
            </a:r>
            <a:r>
              <a:rPr lang="es-ES" sz="1350" b="0" strike="noStrike" spc="-1" dirty="0" err="1">
                <a:solidFill>
                  <a:srgbClr val="000000"/>
                </a:solidFill>
                <a:latin typeface="Calibri"/>
              </a:rPr>
              <a:t>queue</a:t>
            </a:r>
            <a:r>
              <a:rPr lang="es-ES" sz="1350" b="0" strike="noStrike" spc="-1" dirty="0">
                <a:solidFill>
                  <a:srgbClr val="000000"/>
                </a:solidFill>
                <a:latin typeface="Calibri"/>
              </a:rPr>
              <a:t> se atienden de inmediato.</a:t>
            </a:r>
            <a:endParaRPr lang="es-ES" sz="1350" b="0" strike="noStrike" spc="-1" dirty="0">
              <a:latin typeface="Arial"/>
            </a:endParaRPr>
          </a:p>
        </p:txBody>
      </p:sp>
      <p:sp>
        <p:nvSpPr>
          <p:cNvPr id="932" name="CustomShape 3"/>
          <p:cNvSpPr/>
          <p:nvPr/>
        </p:nvSpPr>
        <p:spPr>
          <a:xfrm>
            <a:off x="6773040" y="1131120"/>
            <a:ext cx="329760" cy="2503440"/>
          </a:xfrm>
          <a:prstGeom prst="rect">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FFFFFF"/>
                </a:solidFill>
                <a:latin typeface="Calibri"/>
              </a:rPr>
              <a:t>5</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4</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3</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2</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1</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0</a:t>
            </a:r>
            <a:endParaRPr lang="es-ES" sz="1350" b="0" strike="noStrike" spc="-1">
              <a:latin typeface="Arial"/>
            </a:endParaRPr>
          </a:p>
        </p:txBody>
      </p:sp>
      <p:sp>
        <p:nvSpPr>
          <p:cNvPr id="933" name="CustomShape 4"/>
          <p:cNvSpPr/>
          <p:nvPr/>
        </p:nvSpPr>
        <p:spPr>
          <a:xfrm>
            <a:off x="7327800" y="199152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A</a:t>
            </a:r>
            <a:endParaRPr lang="es-ES" sz="1350" b="0" strike="noStrike" spc="-1">
              <a:latin typeface="Arial"/>
            </a:endParaRPr>
          </a:p>
        </p:txBody>
      </p:sp>
      <p:sp>
        <p:nvSpPr>
          <p:cNvPr id="934" name="CustomShape 5"/>
          <p:cNvSpPr/>
          <p:nvPr/>
        </p:nvSpPr>
        <p:spPr>
          <a:xfrm>
            <a:off x="7903440" y="199152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B</a:t>
            </a:r>
            <a:endParaRPr lang="es-ES" sz="1350" b="0" strike="noStrike" spc="-1">
              <a:latin typeface="Arial"/>
            </a:endParaRPr>
          </a:p>
        </p:txBody>
      </p:sp>
      <p:sp>
        <p:nvSpPr>
          <p:cNvPr id="935" name="CustomShape 6"/>
          <p:cNvSpPr/>
          <p:nvPr/>
        </p:nvSpPr>
        <p:spPr>
          <a:xfrm>
            <a:off x="7327800" y="116568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C</a:t>
            </a:r>
            <a:endParaRPr lang="es-ES" sz="1350" b="0" strike="noStrike" spc="-1">
              <a:latin typeface="Arial"/>
            </a:endParaRPr>
          </a:p>
        </p:txBody>
      </p:sp>
      <p:sp>
        <p:nvSpPr>
          <p:cNvPr id="936" name="CustomShape 7"/>
          <p:cNvSpPr/>
          <p:nvPr/>
        </p:nvSpPr>
        <p:spPr>
          <a:xfrm>
            <a:off x="7327800" y="284688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D</a:t>
            </a:r>
            <a:endParaRPr lang="es-ES" sz="1350" b="0" strike="noStrike" spc="-1">
              <a:latin typeface="Arial"/>
            </a:endParaRPr>
          </a:p>
        </p:txBody>
      </p:sp>
      <p:sp>
        <p:nvSpPr>
          <p:cNvPr id="937" name="CustomShape 8"/>
          <p:cNvSpPr/>
          <p:nvPr/>
        </p:nvSpPr>
        <p:spPr>
          <a:xfrm>
            <a:off x="7903440" y="284688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E</a:t>
            </a:r>
            <a:endParaRPr lang="es-ES" sz="1350" b="0" strike="noStrike" spc="-1">
              <a:latin typeface="Arial"/>
            </a:endParaRPr>
          </a:p>
        </p:txBody>
      </p:sp>
      <p:sp>
        <p:nvSpPr>
          <p:cNvPr id="938" name="CustomShape 9"/>
          <p:cNvSpPr/>
          <p:nvPr/>
        </p:nvSpPr>
        <p:spPr>
          <a:xfrm>
            <a:off x="7327800" y="244476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F</a:t>
            </a:r>
            <a:endParaRPr lang="es-ES" sz="1350" b="0" strike="noStrike" spc="-1">
              <a:latin typeface="Arial"/>
            </a:endParaRPr>
          </a:p>
        </p:txBody>
      </p:sp>
      <p:sp>
        <p:nvSpPr>
          <p:cNvPr id="939" name="CustomShape 10"/>
          <p:cNvSpPr/>
          <p:nvPr/>
        </p:nvSpPr>
        <p:spPr>
          <a:xfrm>
            <a:off x="7327800" y="328176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N</a:t>
            </a:r>
            <a:endParaRPr lang="es-ES" sz="1350" b="0" strike="noStrike" spc="-1">
              <a:latin typeface="Arial"/>
            </a:endParaRPr>
          </a:p>
        </p:txBody>
      </p:sp>
      <p:sp>
        <p:nvSpPr>
          <p:cNvPr id="940" name="CustomShape 11"/>
          <p:cNvSpPr/>
          <p:nvPr/>
        </p:nvSpPr>
        <p:spPr>
          <a:xfrm>
            <a:off x="8462160" y="199152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G</a:t>
            </a:r>
            <a:endParaRPr lang="es-ES" sz="1350" b="0" strike="noStrike" spc="-1">
              <a:latin typeface="Arial"/>
            </a:endParaRPr>
          </a:p>
        </p:txBody>
      </p:sp>
      <p:sp>
        <p:nvSpPr>
          <p:cNvPr id="941" name="CustomShape 12"/>
          <p:cNvSpPr/>
          <p:nvPr/>
        </p:nvSpPr>
        <p:spPr>
          <a:xfrm>
            <a:off x="7103160" y="134208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42" name="CustomShape 13"/>
          <p:cNvSpPr/>
          <p:nvPr/>
        </p:nvSpPr>
        <p:spPr>
          <a:xfrm>
            <a:off x="7103160" y="217656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43" name="CustomShape 14"/>
          <p:cNvSpPr/>
          <p:nvPr/>
        </p:nvSpPr>
        <p:spPr>
          <a:xfrm>
            <a:off x="7103160" y="262116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44" name="CustomShape 15"/>
          <p:cNvSpPr/>
          <p:nvPr/>
        </p:nvSpPr>
        <p:spPr>
          <a:xfrm>
            <a:off x="7103160" y="302328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45" name="CustomShape 16"/>
          <p:cNvSpPr/>
          <p:nvPr/>
        </p:nvSpPr>
        <p:spPr>
          <a:xfrm>
            <a:off x="7103160" y="346860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46" name="CustomShape 17"/>
          <p:cNvSpPr/>
          <p:nvPr/>
        </p:nvSpPr>
        <p:spPr>
          <a:xfrm>
            <a:off x="7708680" y="302328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47" name="CustomShape 18"/>
          <p:cNvSpPr/>
          <p:nvPr/>
        </p:nvSpPr>
        <p:spPr>
          <a:xfrm>
            <a:off x="7708680" y="218664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48" name="CustomShape 19"/>
          <p:cNvSpPr/>
          <p:nvPr/>
        </p:nvSpPr>
        <p:spPr>
          <a:xfrm>
            <a:off x="8267400" y="217980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49" name="CustomShape 20"/>
          <p:cNvSpPr/>
          <p:nvPr/>
        </p:nvSpPr>
        <p:spPr>
          <a:xfrm>
            <a:off x="7327800" y="157104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G</a:t>
            </a:r>
            <a:endParaRPr lang="es-ES" sz="1350" b="0" strike="noStrike" spc="-1">
              <a:latin typeface="Arial"/>
            </a:endParaRPr>
          </a:p>
        </p:txBody>
      </p:sp>
      <p:sp>
        <p:nvSpPr>
          <p:cNvPr id="950" name="CustomShape 21"/>
          <p:cNvSpPr/>
          <p:nvPr/>
        </p:nvSpPr>
        <p:spPr>
          <a:xfrm>
            <a:off x="7103160" y="175968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51" name="CustomShape 22"/>
          <p:cNvSpPr/>
          <p:nvPr/>
        </p:nvSpPr>
        <p:spPr>
          <a:xfrm>
            <a:off x="7714080" y="3318480"/>
            <a:ext cx="61380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(Nulo)</a:t>
            </a:r>
            <a:endParaRPr lang="es-ES" sz="1350" b="0" strike="noStrike" spc="-1">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953" name="CustomShape 2"/>
          <p:cNvSpPr/>
          <p:nvPr/>
        </p:nvSpPr>
        <p:spPr>
          <a:xfrm>
            <a:off x="1896480" y="885240"/>
            <a:ext cx="4555080" cy="4201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Planificación con prioridad</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gestión por prioridad conlleva el riesgo de </a:t>
            </a:r>
            <a:r>
              <a:rPr lang="es-ES" sz="1350" b="1" i="1" strike="noStrike" spc="-1">
                <a:solidFill>
                  <a:srgbClr val="000000"/>
                </a:solidFill>
                <a:latin typeface="Calibri"/>
              </a:rPr>
              <a:t>starvation</a:t>
            </a:r>
            <a:r>
              <a:rPr lang="es-ES" sz="1350" b="0" strike="noStrike" spc="-1">
                <a:solidFill>
                  <a:srgbClr val="000000"/>
                </a:solidFill>
                <a:latin typeface="Calibri"/>
              </a:rPr>
              <a:t>, que toda la CPU sea consumida por procesos de prioridad máxima y el resto no pueda entrar casi nunca.</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Para ello se usan las prioridades dinámicas. Si un proceso ha consumido n quantum, el SO rebaja de forma automática su prioridad. También puede incrementarse la prioridad de los que lleven determinado tiempo en cola. En los sistemas de tiempo real el programador puede modificar la prioridad en zonas críticas del código. Las colas pueden gestionarse por FCFS o Round Robin, siendo este último lo más habitual y puede haber distintos valores de quantum según sea la prioridad. La ejecución de los procesos de mayor prioridad se facilita con quantum más prolongados.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1" strike="noStrike" spc="-1">
                <a:solidFill>
                  <a:srgbClr val="000000"/>
                </a:solidFill>
                <a:latin typeface="Calibri"/>
              </a:rPr>
              <a:t>Si la prioridad es expulsiva </a:t>
            </a:r>
            <a:r>
              <a:rPr lang="es-ES" sz="1350" b="0" strike="noStrike" spc="-1">
                <a:solidFill>
                  <a:srgbClr val="000000"/>
                </a:solidFill>
                <a:latin typeface="Calibri"/>
              </a:rPr>
              <a:t>se quita la CPU al proceso en curso en cuanto haya uno más prioritario aunque no haya consumido su quantum.</a:t>
            </a:r>
            <a:endParaRPr lang="es-ES" sz="1350" b="0" strike="noStrike" spc="-1">
              <a:latin typeface="Arial"/>
            </a:endParaRPr>
          </a:p>
        </p:txBody>
      </p:sp>
      <p:sp>
        <p:nvSpPr>
          <p:cNvPr id="954" name="CustomShape 3"/>
          <p:cNvSpPr/>
          <p:nvPr/>
        </p:nvSpPr>
        <p:spPr>
          <a:xfrm>
            <a:off x="6815520" y="1526400"/>
            <a:ext cx="329760" cy="2503440"/>
          </a:xfrm>
          <a:prstGeom prst="rect">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0" strike="noStrike" spc="-1">
                <a:solidFill>
                  <a:srgbClr val="FFFFFF"/>
                </a:solidFill>
                <a:latin typeface="Calibri"/>
              </a:rPr>
              <a:t>5</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4</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3</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2</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1</a:t>
            </a:r>
            <a:endParaRPr lang="es-ES" sz="1350" b="0" strike="noStrike" spc="-1">
              <a:latin typeface="Arial"/>
            </a:endParaRPr>
          </a:p>
          <a:p>
            <a:pPr algn="ctr">
              <a:lnSpc>
                <a:spcPct val="100000"/>
              </a:lnSpc>
            </a:pPr>
            <a:endParaRPr lang="es-ES" sz="1350" b="0" strike="noStrike" spc="-1">
              <a:latin typeface="Arial"/>
            </a:endParaRPr>
          </a:p>
          <a:p>
            <a:pPr algn="ctr">
              <a:lnSpc>
                <a:spcPct val="100000"/>
              </a:lnSpc>
            </a:pPr>
            <a:r>
              <a:rPr lang="es-ES" sz="1350" b="0" strike="noStrike" spc="-1">
                <a:solidFill>
                  <a:srgbClr val="FFFFFF"/>
                </a:solidFill>
                <a:latin typeface="Calibri"/>
              </a:rPr>
              <a:t>0</a:t>
            </a:r>
            <a:endParaRPr lang="es-ES" sz="1350" b="0" strike="noStrike" spc="-1">
              <a:latin typeface="Arial"/>
            </a:endParaRPr>
          </a:p>
        </p:txBody>
      </p:sp>
      <p:sp>
        <p:nvSpPr>
          <p:cNvPr id="955" name="CustomShape 4"/>
          <p:cNvSpPr/>
          <p:nvPr/>
        </p:nvSpPr>
        <p:spPr>
          <a:xfrm>
            <a:off x="7370280" y="238680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A</a:t>
            </a:r>
            <a:endParaRPr lang="es-ES" sz="1350" b="0" strike="noStrike" spc="-1">
              <a:latin typeface="Arial"/>
            </a:endParaRPr>
          </a:p>
        </p:txBody>
      </p:sp>
      <p:sp>
        <p:nvSpPr>
          <p:cNvPr id="956" name="CustomShape 5"/>
          <p:cNvSpPr/>
          <p:nvPr/>
        </p:nvSpPr>
        <p:spPr>
          <a:xfrm>
            <a:off x="7945920" y="238680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B</a:t>
            </a:r>
            <a:endParaRPr lang="es-ES" sz="1350" b="0" strike="noStrike" spc="-1">
              <a:latin typeface="Arial"/>
            </a:endParaRPr>
          </a:p>
        </p:txBody>
      </p:sp>
      <p:sp>
        <p:nvSpPr>
          <p:cNvPr id="957" name="CustomShape 6"/>
          <p:cNvSpPr/>
          <p:nvPr/>
        </p:nvSpPr>
        <p:spPr>
          <a:xfrm>
            <a:off x="7370280" y="1975680"/>
            <a:ext cx="363600" cy="352800"/>
          </a:xfrm>
          <a:prstGeom prst="ellipse">
            <a:avLst/>
          </a:prstGeom>
          <a:solidFill>
            <a:srgbClr val="E79DE2"/>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C</a:t>
            </a:r>
            <a:endParaRPr lang="es-ES" sz="1350" b="0" strike="noStrike" spc="-1">
              <a:latin typeface="Arial"/>
            </a:endParaRPr>
          </a:p>
        </p:txBody>
      </p:sp>
      <p:sp>
        <p:nvSpPr>
          <p:cNvPr id="958" name="CustomShape 7"/>
          <p:cNvSpPr/>
          <p:nvPr/>
        </p:nvSpPr>
        <p:spPr>
          <a:xfrm>
            <a:off x="7370280" y="324180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D</a:t>
            </a:r>
            <a:endParaRPr lang="es-ES" sz="1350" b="0" strike="noStrike" spc="-1">
              <a:latin typeface="Arial"/>
            </a:endParaRPr>
          </a:p>
        </p:txBody>
      </p:sp>
      <p:sp>
        <p:nvSpPr>
          <p:cNvPr id="959" name="CustomShape 8"/>
          <p:cNvSpPr/>
          <p:nvPr/>
        </p:nvSpPr>
        <p:spPr>
          <a:xfrm>
            <a:off x="7945920" y="324180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E</a:t>
            </a:r>
            <a:endParaRPr lang="es-ES" sz="1350" b="0" strike="noStrike" spc="-1">
              <a:latin typeface="Arial"/>
            </a:endParaRPr>
          </a:p>
        </p:txBody>
      </p:sp>
      <p:sp>
        <p:nvSpPr>
          <p:cNvPr id="960" name="CustomShape 9"/>
          <p:cNvSpPr/>
          <p:nvPr/>
        </p:nvSpPr>
        <p:spPr>
          <a:xfrm>
            <a:off x="7370280" y="284004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F</a:t>
            </a:r>
            <a:endParaRPr lang="es-ES" sz="1350" b="0" strike="noStrike" spc="-1">
              <a:latin typeface="Arial"/>
            </a:endParaRPr>
          </a:p>
        </p:txBody>
      </p:sp>
      <p:sp>
        <p:nvSpPr>
          <p:cNvPr id="961" name="CustomShape 10"/>
          <p:cNvSpPr/>
          <p:nvPr/>
        </p:nvSpPr>
        <p:spPr>
          <a:xfrm>
            <a:off x="7370280" y="367704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N</a:t>
            </a:r>
            <a:endParaRPr lang="es-ES" sz="1350" b="0" strike="noStrike" spc="-1">
              <a:latin typeface="Arial"/>
            </a:endParaRPr>
          </a:p>
        </p:txBody>
      </p:sp>
      <p:sp>
        <p:nvSpPr>
          <p:cNvPr id="962" name="CustomShape 11"/>
          <p:cNvSpPr/>
          <p:nvPr/>
        </p:nvSpPr>
        <p:spPr>
          <a:xfrm>
            <a:off x="8504640" y="238680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G</a:t>
            </a:r>
            <a:endParaRPr lang="es-ES" sz="1350" b="0" strike="noStrike" spc="-1">
              <a:latin typeface="Arial"/>
            </a:endParaRPr>
          </a:p>
        </p:txBody>
      </p:sp>
      <p:sp>
        <p:nvSpPr>
          <p:cNvPr id="963" name="CustomShape 12"/>
          <p:cNvSpPr/>
          <p:nvPr/>
        </p:nvSpPr>
        <p:spPr>
          <a:xfrm>
            <a:off x="7146000" y="215208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64" name="CustomShape 13"/>
          <p:cNvSpPr/>
          <p:nvPr/>
        </p:nvSpPr>
        <p:spPr>
          <a:xfrm>
            <a:off x="7146000" y="257184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65" name="CustomShape 14"/>
          <p:cNvSpPr/>
          <p:nvPr/>
        </p:nvSpPr>
        <p:spPr>
          <a:xfrm>
            <a:off x="7146000" y="301644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66" name="CustomShape 15"/>
          <p:cNvSpPr/>
          <p:nvPr/>
        </p:nvSpPr>
        <p:spPr>
          <a:xfrm>
            <a:off x="7146000" y="341856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67" name="CustomShape 16"/>
          <p:cNvSpPr/>
          <p:nvPr/>
        </p:nvSpPr>
        <p:spPr>
          <a:xfrm>
            <a:off x="7146000" y="386388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68" name="CustomShape 17"/>
          <p:cNvSpPr/>
          <p:nvPr/>
        </p:nvSpPr>
        <p:spPr>
          <a:xfrm>
            <a:off x="7751160" y="341856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69" name="CustomShape 18"/>
          <p:cNvSpPr/>
          <p:nvPr/>
        </p:nvSpPr>
        <p:spPr>
          <a:xfrm>
            <a:off x="7751160" y="258192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70" name="CustomShape 19"/>
          <p:cNvSpPr/>
          <p:nvPr/>
        </p:nvSpPr>
        <p:spPr>
          <a:xfrm>
            <a:off x="8309880" y="257508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71" name="CustomShape 20"/>
          <p:cNvSpPr/>
          <p:nvPr/>
        </p:nvSpPr>
        <p:spPr>
          <a:xfrm>
            <a:off x="7945920" y="1966320"/>
            <a:ext cx="363600" cy="352800"/>
          </a:xfrm>
          <a:prstGeom prst="ellipse">
            <a:avLst/>
          </a:prstGeom>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G</a:t>
            </a:r>
            <a:endParaRPr lang="es-ES" sz="1350" b="0" strike="noStrike" spc="-1">
              <a:latin typeface="Arial"/>
            </a:endParaRPr>
          </a:p>
        </p:txBody>
      </p:sp>
      <p:sp>
        <p:nvSpPr>
          <p:cNvPr id="972" name="CustomShape 21"/>
          <p:cNvSpPr/>
          <p:nvPr/>
        </p:nvSpPr>
        <p:spPr>
          <a:xfrm>
            <a:off x="7721640" y="2154600"/>
            <a:ext cx="223920" cy="360"/>
          </a:xfrm>
          <a:custGeom>
            <a:avLst/>
            <a:gdLst/>
            <a:ahLst/>
            <a:cxnLst/>
            <a:rect l="l" t="t" r="r" b="b"/>
            <a:pathLst>
              <a:path w="21600" h="21600">
                <a:moveTo>
                  <a:pt x="0" y="0"/>
                </a:moveTo>
                <a:lnTo>
                  <a:pt x="21600" y="21600"/>
                </a:lnTo>
              </a:path>
            </a:pathLst>
          </a:custGeom>
          <a:noFill/>
          <a:ln w="28440">
            <a:solidFill>
              <a:schemeClr val="accent3">
                <a:lumMod val="50000"/>
              </a:schemeClr>
            </a:solidFill>
            <a:tailEnd type="triangle" w="med" len="med"/>
          </a:ln>
        </p:spPr>
        <p:style>
          <a:lnRef idx="1">
            <a:schemeClr val="accent1"/>
          </a:lnRef>
          <a:fillRef idx="0">
            <a:schemeClr val="accent1"/>
          </a:fillRef>
          <a:effectRef idx="0">
            <a:schemeClr val="accent1"/>
          </a:effectRef>
          <a:fontRef idx="minor"/>
        </p:style>
      </p:sp>
      <p:sp>
        <p:nvSpPr>
          <p:cNvPr id="973" name="CustomShape 22"/>
          <p:cNvSpPr/>
          <p:nvPr/>
        </p:nvSpPr>
        <p:spPr>
          <a:xfrm>
            <a:off x="7756560" y="3713760"/>
            <a:ext cx="61380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(Nulo)</a:t>
            </a:r>
            <a:endParaRPr lang="es-ES" sz="1350" b="0" strike="noStrike" spc="-1">
              <a:latin typeface="Arial"/>
            </a:endParaRPr>
          </a:p>
        </p:txBody>
      </p:sp>
      <p:sp>
        <p:nvSpPr>
          <p:cNvPr id="974" name="CustomShape 23"/>
          <p:cNvSpPr/>
          <p:nvPr/>
        </p:nvSpPr>
        <p:spPr>
          <a:xfrm>
            <a:off x="6409440" y="946080"/>
            <a:ext cx="2791440" cy="59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1" strike="noStrike" spc="-1">
                <a:solidFill>
                  <a:srgbClr val="0070C0"/>
                </a:solidFill>
                <a:latin typeface="Bradley Hand ITC"/>
                <a:ea typeface="STCaiyun"/>
              </a:rPr>
              <a:t>El SO ha rebajado la prioridad del proceso C dando a G la oportunidad de ejecutarse</a:t>
            </a:r>
            <a:endParaRPr lang="es-ES" sz="11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 name="CustomShape 1"/>
          <p:cNvSpPr/>
          <p:nvPr/>
        </p:nvSpPr>
        <p:spPr>
          <a:xfrm>
            <a:off x="6690240" y="1388880"/>
            <a:ext cx="2791440" cy="59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1" strike="noStrike" spc="-1">
                <a:solidFill>
                  <a:srgbClr val="0070C0"/>
                </a:solidFill>
                <a:latin typeface="Bradley Hand ITC"/>
                <a:ea typeface="STCaiyun"/>
              </a:rPr>
              <a:t>El proceso A se ve muy perjudicado</a:t>
            </a:r>
            <a:endParaRPr lang="es-ES" sz="1100" b="0" strike="noStrike" spc="-1">
              <a:latin typeface="Arial"/>
            </a:endParaRPr>
          </a:p>
          <a:p>
            <a:pPr>
              <a:lnSpc>
                <a:spcPct val="100000"/>
              </a:lnSpc>
            </a:pPr>
            <a:r>
              <a:rPr lang="es-ES" sz="1100" b="1" strike="noStrike" spc="-1">
                <a:solidFill>
                  <a:srgbClr val="0070C0"/>
                </a:solidFill>
                <a:latin typeface="Bradley Hand ITC"/>
                <a:ea typeface="STCaiyun"/>
              </a:rPr>
              <a:t>por la ejecución de los de nivel 1</a:t>
            </a:r>
            <a:endParaRPr lang="es-ES" sz="1100" b="0" strike="noStrike" spc="-1">
              <a:latin typeface="Arial"/>
            </a:endParaRPr>
          </a:p>
        </p:txBody>
      </p:sp>
      <p:sp>
        <p:nvSpPr>
          <p:cNvPr id="976" name="CustomShape 2"/>
          <p:cNvSpPr/>
          <p:nvPr/>
        </p:nvSpPr>
        <p:spPr>
          <a:xfrm>
            <a:off x="157608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A</a:t>
            </a:r>
            <a:endParaRPr lang="es-ES" sz="1100" b="0" strike="noStrike" spc="-1">
              <a:latin typeface="Arial"/>
            </a:endParaRPr>
          </a:p>
        </p:txBody>
      </p:sp>
      <p:sp>
        <p:nvSpPr>
          <p:cNvPr id="977" name="CustomShape 3"/>
          <p:cNvSpPr/>
          <p:nvPr/>
        </p:nvSpPr>
        <p:spPr>
          <a:xfrm>
            <a:off x="172872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78" name="CustomShape 4"/>
          <p:cNvSpPr/>
          <p:nvPr/>
        </p:nvSpPr>
        <p:spPr>
          <a:xfrm>
            <a:off x="188532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79" name="CustomShape 5"/>
          <p:cNvSpPr/>
          <p:nvPr/>
        </p:nvSpPr>
        <p:spPr>
          <a:xfrm>
            <a:off x="203796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80" name="CustomShape 6"/>
          <p:cNvSpPr/>
          <p:nvPr/>
        </p:nvSpPr>
        <p:spPr>
          <a:xfrm>
            <a:off x="219456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200" b="1" strike="noStrike" spc="-1">
                <a:solidFill>
                  <a:srgbClr val="FFFFFF"/>
                </a:solidFill>
                <a:latin typeface="Calibri"/>
              </a:rPr>
              <a:t>C</a:t>
            </a:r>
            <a:endParaRPr lang="es-ES" sz="1200" b="0" strike="noStrike" spc="-1">
              <a:latin typeface="Arial"/>
            </a:endParaRPr>
          </a:p>
        </p:txBody>
      </p:sp>
      <p:sp>
        <p:nvSpPr>
          <p:cNvPr id="981" name="CustomShape 7"/>
          <p:cNvSpPr/>
          <p:nvPr/>
        </p:nvSpPr>
        <p:spPr>
          <a:xfrm>
            <a:off x="234684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82" name="CustomShape 8"/>
          <p:cNvSpPr/>
          <p:nvPr/>
        </p:nvSpPr>
        <p:spPr>
          <a:xfrm>
            <a:off x="250380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83" name="CustomShape 9"/>
          <p:cNvSpPr/>
          <p:nvPr/>
        </p:nvSpPr>
        <p:spPr>
          <a:xfrm>
            <a:off x="2656080" y="4651560"/>
            <a:ext cx="156240" cy="261000"/>
          </a:xfrm>
          <a:prstGeom prst="rect">
            <a:avLst/>
          </a:prstGeom>
          <a:solidFill>
            <a:schemeClr val="accent6">
              <a:lumMod val="75000"/>
            </a:schemeClr>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84" name="CustomShape 10"/>
          <p:cNvSpPr/>
          <p:nvPr/>
        </p:nvSpPr>
        <p:spPr>
          <a:xfrm>
            <a:off x="281304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D</a:t>
            </a:r>
            <a:endParaRPr lang="es-ES" sz="1100" b="0" strike="noStrike" spc="-1">
              <a:latin typeface="Arial"/>
            </a:endParaRPr>
          </a:p>
        </p:txBody>
      </p:sp>
      <p:sp>
        <p:nvSpPr>
          <p:cNvPr id="985" name="CustomShape 11"/>
          <p:cNvSpPr/>
          <p:nvPr/>
        </p:nvSpPr>
        <p:spPr>
          <a:xfrm>
            <a:off x="296496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86" name="CustomShape 12"/>
          <p:cNvSpPr/>
          <p:nvPr/>
        </p:nvSpPr>
        <p:spPr>
          <a:xfrm>
            <a:off x="312192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87" name="CustomShape 13"/>
          <p:cNvSpPr/>
          <p:nvPr/>
        </p:nvSpPr>
        <p:spPr>
          <a:xfrm>
            <a:off x="327456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88" name="CustomShape 14"/>
          <p:cNvSpPr/>
          <p:nvPr/>
        </p:nvSpPr>
        <p:spPr>
          <a:xfrm>
            <a:off x="343116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89" name="CustomShape 15"/>
          <p:cNvSpPr/>
          <p:nvPr/>
        </p:nvSpPr>
        <p:spPr>
          <a:xfrm>
            <a:off x="3583440" y="4651560"/>
            <a:ext cx="156240" cy="261000"/>
          </a:xfrm>
          <a:prstGeom prst="rect">
            <a:avLst/>
          </a:prstGeom>
          <a:solidFill>
            <a:schemeClr val="accent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200" b="1" strike="noStrike" spc="-1">
                <a:solidFill>
                  <a:srgbClr val="FFFFFF"/>
                </a:solidFill>
                <a:latin typeface="Calibri"/>
              </a:rPr>
              <a:t>B</a:t>
            </a:r>
            <a:endParaRPr lang="es-ES" sz="1200" b="0" strike="noStrike" spc="-1">
              <a:latin typeface="Arial"/>
            </a:endParaRPr>
          </a:p>
        </p:txBody>
      </p:sp>
      <p:sp>
        <p:nvSpPr>
          <p:cNvPr id="990" name="CustomShape 16"/>
          <p:cNvSpPr/>
          <p:nvPr/>
        </p:nvSpPr>
        <p:spPr>
          <a:xfrm>
            <a:off x="3740400" y="4651560"/>
            <a:ext cx="156240" cy="261000"/>
          </a:xfrm>
          <a:prstGeom prst="rect">
            <a:avLst/>
          </a:prstGeom>
          <a:solidFill>
            <a:schemeClr val="accent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91" name="CustomShape 17"/>
          <p:cNvSpPr/>
          <p:nvPr/>
        </p:nvSpPr>
        <p:spPr>
          <a:xfrm>
            <a:off x="3892680" y="4651560"/>
            <a:ext cx="156240" cy="261000"/>
          </a:xfrm>
          <a:prstGeom prst="rect">
            <a:avLst/>
          </a:prstGeom>
          <a:solidFill>
            <a:schemeClr val="accent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92" name="CustomShape 18"/>
          <p:cNvSpPr/>
          <p:nvPr/>
        </p:nvSpPr>
        <p:spPr>
          <a:xfrm>
            <a:off x="4049640" y="4651560"/>
            <a:ext cx="156240" cy="261000"/>
          </a:xfrm>
          <a:prstGeom prst="rect">
            <a:avLst/>
          </a:prstGeom>
          <a:solidFill>
            <a:schemeClr val="accent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93" name="CustomShape 19"/>
          <p:cNvSpPr/>
          <p:nvPr/>
        </p:nvSpPr>
        <p:spPr>
          <a:xfrm>
            <a:off x="4201920" y="4651560"/>
            <a:ext cx="156240" cy="261000"/>
          </a:xfrm>
          <a:prstGeom prst="rect">
            <a:avLst/>
          </a:prstGeom>
          <a:solidFill>
            <a:schemeClr val="accent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94" name="CustomShape 20"/>
          <p:cNvSpPr/>
          <p:nvPr/>
        </p:nvSpPr>
        <p:spPr>
          <a:xfrm>
            <a:off x="4358520" y="4651560"/>
            <a:ext cx="156240" cy="261000"/>
          </a:xfrm>
          <a:prstGeom prst="rect">
            <a:avLst/>
          </a:prstGeom>
          <a:solidFill>
            <a:srgbClr val="E79DE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100" b="1" strike="noStrike" spc="-1">
                <a:solidFill>
                  <a:srgbClr val="FFFFFF"/>
                </a:solidFill>
                <a:latin typeface="Calibri"/>
              </a:rPr>
              <a:t>D</a:t>
            </a:r>
            <a:endParaRPr lang="es-ES" sz="1100" b="0" strike="noStrike" spc="-1">
              <a:latin typeface="Arial"/>
            </a:endParaRPr>
          </a:p>
        </p:txBody>
      </p:sp>
      <p:sp>
        <p:nvSpPr>
          <p:cNvPr id="995" name="CustomShape 21"/>
          <p:cNvSpPr/>
          <p:nvPr/>
        </p:nvSpPr>
        <p:spPr>
          <a:xfrm>
            <a:off x="4511160" y="4651560"/>
            <a:ext cx="156240" cy="261000"/>
          </a:xfrm>
          <a:prstGeom prst="rect">
            <a:avLst/>
          </a:prstGeom>
          <a:solidFill>
            <a:srgbClr val="ED7D3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350" b="1" strike="noStrike" spc="-1">
                <a:solidFill>
                  <a:srgbClr val="FFFFFF"/>
                </a:solidFill>
                <a:latin typeface="Calibri"/>
              </a:rPr>
              <a:t>B</a:t>
            </a:r>
            <a:endParaRPr lang="es-ES" sz="1350" b="0" strike="noStrike" spc="-1">
              <a:latin typeface="Arial"/>
            </a:endParaRPr>
          </a:p>
        </p:txBody>
      </p:sp>
      <p:sp>
        <p:nvSpPr>
          <p:cNvPr id="996" name="CustomShape 22"/>
          <p:cNvSpPr/>
          <p:nvPr/>
        </p:nvSpPr>
        <p:spPr>
          <a:xfrm>
            <a:off x="4667760" y="4651560"/>
            <a:ext cx="156240" cy="261000"/>
          </a:xfrm>
          <a:prstGeom prst="rect">
            <a:avLst/>
          </a:prstGeom>
          <a:solidFill>
            <a:schemeClr val="accent2"/>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97" name="CustomShape 23"/>
          <p:cNvSpPr/>
          <p:nvPr/>
        </p:nvSpPr>
        <p:spPr>
          <a:xfrm>
            <a:off x="482004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1400" b="1" strike="noStrike" spc="-1">
                <a:solidFill>
                  <a:srgbClr val="FFFFFF"/>
                </a:solidFill>
                <a:latin typeface="Calibri"/>
              </a:rPr>
              <a:t>A</a:t>
            </a:r>
            <a:endParaRPr lang="es-ES" sz="1400" b="0" strike="noStrike" spc="-1">
              <a:latin typeface="Arial"/>
            </a:endParaRPr>
          </a:p>
        </p:txBody>
      </p:sp>
      <p:sp>
        <p:nvSpPr>
          <p:cNvPr id="998" name="CustomShape 24"/>
          <p:cNvSpPr/>
          <p:nvPr/>
        </p:nvSpPr>
        <p:spPr>
          <a:xfrm>
            <a:off x="497700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999" name="CustomShape 25"/>
          <p:cNvSpPr/>
          <p:nvPr/>
        </p:nvSpPr>
        <p:spPr>
          <a:xfrm>
            <a:off x="512928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0" name="CustomShape 26"/>
          <p:cNvSpPr/>
          <p:nvPr/>
        </p:nvSpPr>
        <p:spPr>
          <a:xfrm>
            <a:off x="5286240" y="4651560"/>
            <a:ext cx="156240" cy="261000"/>
          </a:xfrm>
          <a:prstGeom prst="rect">
            <a:avLst/>
          </a:prstGeom>
          <a:solidFill>
            <a:schemeClr val="accent1"/>
          </a:solid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1" name="CustomShape 27"/>
          <p:cNvSpPr/>
          <p:nvPr/>
        </p:nvSpPr>
        <p:spPr>
          <a:xfrm>
            <a:off x="543852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2" name="CustomShape 28"/>
          <p:cNvSpPr/>
          <p:nvPr/>
        </p:nvSpPr>
        <p:spPr>
          <a:xfrm>
            <a:off x="559512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3" name="CustomShape 29"/>
          <p:cNvSpPr/>
          <p:nvPr/>
        </p:nvSpPr>
        <p:spPr>
          <a:xfrm>
            <a:off x="574776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4" name="CustomShape 30"/>
          <p:cNvSpPr/>
          <p:nvPr/>
        </p:nvSpPr>
        <p:spPr>
          <a:xfrm>
            <a:off x="590436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5" name="CustomShape 31"/>
          <p:cNvSpPr/>
          <p:nvPr/>
        </p:nvSpPr>
        <p:spPr>
          <a:xfrm>
            <a:off x="605700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6" name="CustomShape 32"/>
          <p:cNvSpPr/>
          <p:nvPr/>
        </p:nvSpPr>
        <p:spPr>
          <a:xfrm>
            <a:off x="621360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7" name="CustomShape 33"/>
          <p:cNvSpPr/>
          <p:nvPr/>
        </p:nvSpPr>
        <p:spPr>
          <a:xfrm>
            <a:off x="6365880" y="4651560"/>
            <a:ext cx="156240" cy="261000"/>
          </a:xfrm>
          <a:prstGeom prst="rect">
            <a:avLst/>
          </a:prstGeom>
          <a:noFill/>
          <a:ln w="28440">
            <a:solidFill>
              <a:schemeClr val="bg2">
                <a:lumMod val="90000"/>
              </a:schemeClr>
            </a:solidFill>
            <a:custDash>
              <a:ds d="100000" sp="100000"/>
            </a:custDash>
          </a:ln>
        </p:spPr>
        <p:style>
          <a:lnRef idx="2">
            <a:schemeClr val="accent1">
              <a:shade val="50000"/>
            </a:schemeClr>
          </a:lnRef>
          <a:fillRef idx="1">
            <a:schemeClr val="accent1"/>
          </a:fillRef>
          <a:effectRef idx="0">
            <a:schemeClr val="accent1"/>
          </a:effectRef>
          <a:fontRef idx="minor"/>
        </p:style>
      </p:sp>
      <p:sp>
        <p:nvSpPr>
          <p:cNvPr id="1008" name="CustomShape 34"/>
          <p:cNvSpPr/>
          <p:nvPr/>
        </p:nvSpPr>
        <p:spPr>
          <a:xfrm>
            <a:off x="1447200" y="4885200"/>
            <a:ext cx="23904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0</a:t>
            </a:r>
            <a:endParaRPr lang="es-ES" sz="900" b="0" strike="noStrike" spc="-1">
              <a:latin typeface="Arial"/>
            </a:endParaRPr>
          </a:p>
        </p:txBody>
      </p:sp>
      <p:sp>
        <p:nvSpPr>
          <p:cNvPr id="1009" name="CustomShape 35"/>
          <p:cNvSpPr/>
          <p:nvPr/>
        </p:nvSpPr>
        <p:spPr>
          <a:xfrm>
            <a:off x="2217960" y="4903920"/>
            <a:ext cx="23904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5</a:t>
            </a:r>
            <a:endParaRPr lang="es-ES" sz="900" b="0" strike="noStrike" spc="-1">
              <a:latin typeface="Arial"/>
            </a:endParaRPr>
          </a:p>
        </p:txBody>
      </p:sp>
      <p:sp>
        <p:nvSpPr>
          <p:cNvPr id="1010" name="CustomShape 36"/>
          <p:cNvSpPr/>
          <p:nvPr/>
        </p:nvSpPr>
        <p:spPr>
          <a:xfrm>
            <a:off x="3002400" y="490392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10</a:t>
            </a:r>
            <a:endParaRPr lang="es-ES" sz="900" b="0" strike="noStrike" spc="-1">
              <a:latin typeface="Arial"/>
            </a:endParaRPr>
          </a:p>
        </p:txBody>
      </p:sp>
      <p:sp>
        <p:nvSpPr>
          <p:cNvPr id="1011" name="CustomShape 37"/>
          <p:cNvSpPr/>
          <p:nvPr/>
        </p:nvSpPr>
        <p:spPr>
          <a:xfrm>
            <a:off x="3737520" y="490392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15</a:t>
            </a:r>
            <a:endParaRPr lang="es-ES" sz="900" b="0" strike="noStrike" spc="-1">
              <a:latin typeface="Arial"/>
            </a:endParaRPr>
          </a:p>
        </p:txBody>
      </p:sp>
      <p:sp>
        <p:nvSpPr>
          <p:cNvPr id="1012" name="CustomShape 38"/>
          <p:cNvSpPr/>
          <p:nvPr/>
        </p:nvSpPr>
        <p:spPr>
          <a:xfrm>
            <a:off x="4534920" y="491256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20</a:t>
            </a:r>
            <a:endParaRPr lang="es-ES" sz="900" b="0" strike="noStrike" spc="-1">
              <a:latin typeface="Arial"/>
            </a:endParaRPr>
          </a:p>
        </p:txBody>
      </p:sp>
      <p:sp>
        <p:nvSpPr>
          <p:cNvPr id="1013" name="CustomShape 39"/>
          <p:cNvSpPr/>
          <p:nvPr/>
        </p:nvSpPr>
        <p:spPr>
          <a:xfrm>
            <a:off x="5269680" y="4912560"/>
            <a:ext cx="32292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 25</a:t>
            </a:r>
            <a:endParaRPr lang="es-ES" sz="900" b="0" strike="noStrike" spc="-1">
              <a:latin typeface="Arial"/>
            </a:endParaRPr>
          </a:p>
        </p:txBody>
      </p:sp>
      <p:sp>
        <p:nvSpPr>
          <p:cNvPr id="1014" name="CustomShape 40"/>
          <p:cNvSpPr/>
          <p:nvPr/>
        </p:nvSpPr>
        <p:spPr>
          <a:xfrm>
            <a:off x="6057720" y="4912560"/>
            <a:ext cx="297000" cy="227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900" b="0" strike="noStrike" spc="-1">
                <a:solidFill>
                  <a:srgbClr val="000000"/>
                </a:solidFill>
                <a:latin typeface="Calibri"/>
              </a:rPr>
              <a:t>30</a:t>
            </a:r>
            <a:endParaRPr lang="es-ES" sz="900" b="0" strike="noStrike" spc="-1">
              <a:latin typeface="Arial"/>
            </a:endParaRPr>
          </a:p>
        </p:txBody>
      </p:sp>
      <p:sp>
        <p:nvSpPr>
          <p:cNvPr id="1015" name="CustomShape 41"/>
          <p:cNvSpPr/>
          <p:nvPr/>
        </p:nvSpPr>
        <p:spPr>
          <a:xfrm>
            <a:off x="6703560" y="4612680"/>
            <a:ext cx="16196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Ocupación de la CPU</a:t>
            </a:r>
            <a:endParaRPr lang="es-ES" sz="1350" b="0" strike="noStrike" spc="-1">
              <a:latin typeface="Arial"/>
            </a:endParaRPr>
          </a:p>
        </p:txBody>
      </p:sp>
      <p:pic>
        <p:nvPicPr>
          <p:cNvPr id="1016" name="Imagen 7"/>
          <p:cNvPicPr/>
          <p:nvPr/>
        </p:nvPicPr>
        <p:blipFill>
          <a:blip r:embed="rId3"/>
          <a:stretch/>
        </p:blipFill>
        <p:spPr>
          <a:xfrm>
            <a:off x="1576080" y="64080"/>
            <a:ext cx="4327920" cy="1771920"/>
          </a:xfrm>
          <a:prstGeom prst="rect">
            <a:avLst/>
          </a:prstGeom>
          <a:ln>
            <a:noFill/>
          </a:ln>
        </p:spPr>
      </p:pic>
      <p:pic>
        <p:nvPicPr>
          <p:cNvPr id="1017" name="Imagen 11"/>
          <p:cNvPicPr/>
          <p:nvPr/>
        </p:nvPicPr>
        <p:blipFill>
          <a:blip r:embed="rId4"/>
          <a:stretch/>
        </p:blipFill>
        <p:spPr>
          <a:xfrm>
            <a:off x="1628280" y="1818720"/>
            <a:ext cx="3254400" cy="2603880"/>
          </a:xfrm>
          <a:prstGeom prst="rect">
            <a:avLst/>
          </a:prstGeom>
          <a:ln>
            <a:noFill/>
          </a:ln>
        </p:spPr>
      </p:pic>
      <p:pic>
        <p:nvPicPr>
          <p:cNvPr id="1018" name="Imagen 13"/>
          <p:cNvPicPr/>
          <p:nvPr/>
        </p:nvPicPr>
        <p:blipFill>
          <a:blip r:embed="rId5"/>
          <a:stretch/>
        </p:blipFill>
        <p:spPr>
          <a:xfrm>
            <a:off x="5517000" y="1859760"/>
            <a:ext cx="3254040" cy="1243080"/>
          </a:xfrm>
          <a:prstGeom prst="rect">
            <a:avLst/>
          </a:prstGeom>
          <a:ln>
            <a:noFill/>
          </a:ln>
        </p:spPr>
      </p:pic>
      <p:sp>
        <p:nvSpPr>
          <p:cNvPr id="1019" name="Line 42"/>
          <p:cNvSpPr/>
          <p:nvPr/>
        </p:nvSpPr>
        <p:spPr>
          <a:xfrm>
            <a:off x="1579680" y="4602600"/>
            <a:ext cx="590040" cy="360"/>
          </a:xfrm>
          <a:prstGeom prst="line">
            <a:avLst/>
          </a:prstGeom>
          <a:ln w="12600">
            <a:solidFill>
              <a:schemeClr val="tx1"/>
            </a:solidFill>
          </a:ln>
        </p:spPr>
        <p:style>
          <a:lnRef idx="1">
            <a:schemeClr val="accent1"/>
          </a:lnRef>
          <a:fillRef idx="0">
            <a:schemeClr val="accent1"/>
          </a:fillRef>
          <a:effectRef idx="0">
            <a:schemeClr val="accent1"/>
          </a:effectRef>
          <a:fontRef idx="minor"/>
        </p:style>
      </p:sp>
      <p:sp>
        <p:nvSpPr>
          <p:cNvPr id="1020" name="CustomShape 43"/>
          <p:cNvSpPr/>
          <p:nvPr/>
        </p:nvSpPr>
        <p:spPr>
          <a:xfrm>
            <a:off x="1432440" y="4403160"/>
            <a:ext cx="301320" cy="212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800" b="0" strike="noStrike" spc="-1">
                <a:solidFill>
                  <a:srgbClr val="000000"/>
                </a:solidFill>
                <a:latin typeface="Calibri"/>
              </a:rPr>
              <a:t>Q2</a:t>
            </a:r>
            <a:endParaRPr lang="es-ES" sz="800" b="0" strike="noStrike" spc="-1">
              <a:latin typeface="Arial"/>
            </a:endParaRPr>
          </a:p>
        </p:txBody>
      </p:sp>
      <p:sp>
        <p:nvSpPr>
          <p:cNvPr id="1021" name="Line 44"/>
          <p:cNvSpPr/>
          <p:nvPr/>
        </p:nvSpPr>
        <p:spPr>
          <a:xfrm>
            <a:off x="2194920" y="4602600"/>
            <a:ext cx="590400" cy="360"/>
          </a:xfrm>
          <a:prstGeom prst="line">
            <a:avLst/>
          </a:prstGeom>
          <a:ln w="12600">
            <a:solidFill>
              <a:schemeClr val="tx1"/>
            </a:solidFill>
          </a:ln>
        </p:spPr>
        <p:style>
          <a:lnRef idx="1">
            <a:schemeClr val="accent1"/>
          </a:lnRef>
          <a:fillRef idx="0">
            <a:schemeClr val="accent1"/>
          </a:fillRef>
          <a:effectRef idx="0">
            <a:schemeClr val="accent1"/>
          </a:effectRef>
          <a:fontRef idx="minor"/>
        </p:style>
      </p:sp>
      <p:sp>
        <p:nvSpPr>
          <p:cNvPr id="1022" name="CustomShape 45"/>
          <p:cNvSpPr/>
          <p:nvPr/>
        </p:nvSpPr>
        <p:spPr>
          <a:xfrm>
            <a:off x="2092680" y="4434840"/>
            <a:ext cx="301320" cy="212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800" b="0" strike="noStrike" spc="-1">
                <a:solidFill>
                  <a:srgbClr val="000000"/>
                </a:solidFill>
                <a:latin typeface="Calibri"/>
              </a:rPr>
              <a:t>Q2</a:t>
            </a:r>
            <a:endParaRPr lang="es-ES" sz="800" b="0" strike="noStrike" spc="-1">
              <a:latin typeface="Arial"/>
            </a:endParaRPr>
          </a:p>
        </p:txBody>
      </p:sp>
      <p:sp>
        <p:nvSpPr>
          <p:cNvPr id="1023" name="Line 46"/>
          <p:cNvSpPr/>
          <p:nvPr/>
        </p:nvSpPr>
        <p:spPr>
          <a:xfrm flipV="1">
            <a:off x="2809080" y="4601520"/>
            <a:ext cx="770760" cy="2160"/>
          </a:xfrm>
          <a:prstGeom prst="line">
            <a:avLst/>
          </a:prstGeom>
          <a:ln w="12600">
            <a:solidFill>
              <a:srgbClr val="FF0000"/>
            </a:solidFill>
          </a:ln>
        </p:spPr>
        <p:style>
          <a:lnRef idx="1">
            <a:schemeClr val="accent1"/>
          </a:lnRef>
          <a:fillRef idx="0">
            <a:schemeClr val="accent1"/>
          </a:fillRef>
          <a:effectRef idx="0">
            <a:schemeClr val="accent1"/>
          </a:effectRef>
          <a:fontRef idx="minor"/>
        </p:style>
      </p:sp>
      <p:sp>
        <p:nvSpPr>
          <p:cNvPr id="1024" name="CustomShape 47"/>
          <p:cNvSpPr/>
          <p:nvPr/>
        </p:nvSpPr>
        <p:spPr>
          <a:xfrm>
            <a:off x="2721960" y="4429440"/>
            <a:ext cx="301320" cy="212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800" b="0" strike="noStrike" spc="-1">
                <a:solidFill>
                  <a:srgbClr val="FF0000"/>
                </a:solidFill>
                <a:latin typeface="Calibri"/>
              </a:rPr>
              <a:t>Q1</a:t>
            </a:r>
            <a:endParaRPr lang="es-ES" sz="800" b="0" strike="noStrike" spc="-1">
              <a:latin typeface="Arial"/>
            </a:endParaRPr>
          </a:p>
        </p:txBody>
      </p:sp>
      <p:sp>
        <p:nvSpPr>
          <p:cNvPr id="1025" name="Line 48"/>
          <p:cNvSpPr/>
          <p:nvPr/>
        </p:nvSpPr>
        <p:spPr>
          <a:xfrm flipV="1">
            <a:off x="3590280" y="4601520"/>
            <a:ext cx="770760" cy="2160"/>
          </a:xfrm>
          <a:prstGeom prst="line">
            <a:avLst/>
          </a:prstGeom>
          <a:ln w="12600">
            <a:solidFill>
              <a:srgbClr val="FF0000"/>
            </a:solidFill>
          </a:ln>
        </p:spPr>
        <p:style>
          <a:lnRef idx="1">
            <a:schemeClr val="accent1"/>
          </a:lnRef>
          <a:fillRef idx="0">
            <a:schemeClr val="accent1"/>
          </a:fillRef>
          <a:effectRef idx="0">
            <a:schemeClr val="accent1"/>
          </a:effectRef>
          <a:fontRef idx="minor"/>
        </p:style>
      </p:sp>
      <p:sp>
        <p:nvSpPr>
          <p:cNvPr id="1026" name="CustomShape 49"/>
          <p:cNvSpPr/>
          <p:nvPr/>
        </p:nvSpPr>
        <p:spPr>
          <a:xfrm>
            <a:off x="3499560" y="4431600"/>
            <a:ext cx="301320" cy="212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800" b="0" strike="noStrike" spc="-1">
                <a:solidFill>
                  <a:srgbClr val="FF0000"/>
                </a:solidFill>
                <a:latin typeface="Calibri"/>
              </a:rPr>
              <a:t>Q1</a:t>
            </a:r>
            <a:endParaRPr lang="es-ES" sz="800" b="0" strike="noStrike" spc="-1">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28" name="CustomShape 2"/>
          <p:cNvSpPr/>
          <p:nvPr/>
        </p:nvSpPr>
        <p:spPr>
          <a:xfrm>
            <a:off x="1896480" y="885240"/>
            <a:ext cx="3186720" cy="3584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dirty="0">
                <a:solidFill>
                  <a:srgbClr val="000000"/>
                </a:solidFill>
                <a:uFillTx/>
                <a:latin typeface="Calibri"/>
              </a:rPr>
              <a:t>Linux</a:t>
            </a:r>
            <a:endParaRPr lang="es-ES" sz="1350" b="0" strike="noStrike" spc="-1" dirty="0">
              <a:latin typeface="Arial"/>
            </a:endParaRPr>
          </a:p>
          <a:p>
            <a:pPr algn="just">
              <a:lnSpc>
                <a:spcPct val="100000"/>
              </a:lnSpc>
            </a:pPr>
            <a:endParaRPr lang="es-ES" sz="1350" b="0" strike="noStrike" spc="-1" dirty="0">
              <a:latin typeface="Arial"/>
            </a:endParaRPr>
          </a:p>
          <a:p>
            <a:pPr algn="just">
              <a:lnSpc>
                <a:spcPct val="100000"/>
              </a:lnSpc>
            </a:pPr>
            <a:r>
              <a:rPr lang="es-ES" sz="1350" b="0" strike="noStrike" spc="-1" dirty="0">
                <a:solidFill>
                  <a:srgbClr val="000000"/>
                </a:solidFill>
                <a:latin typeface="Calibri"/>
              </a:rPr>
              <a:t>Todos los algoritmos descritos son teóricos, la realidad es bastante más complicada y los planificadores de los sistemas son un elemento crítico para su rendimiento. Tomando como ejemplo Linux, el mismo planificador tiene que servir para garantizar el rendimiento de un gran servidor web donde la mayoría del tráfico es interacción de usuario, el de un supercomputador, con procesos intensivos en el uso de CPU,  o el de un ordenador personal en el que la mayor parte de los recursos los consume la interfaz gráfica y hay una variedad enorme de procesos.</a:t>
            </a:r>
            <a:endParaRPr lang="es-ES" sz="1350" b="0" strike="noStrike" spc="-1" dirty="0">
              <a:latin typeface="Arial"/>
            </a:endParaRPr>
          </a:p>
          <a:p>
            <a:pPr algn="just">
              <a:lnSpc>
                <a:spcPct val="100000"/>
              </a:lnSpc>
            </a:pPr>
            <a:endParaRPr lang="es-ES" sz="1350" b="0" strike="noStrike" spc="-1" dirty="0">
              <a:latin typeface="Arial"/>
            </a:endParaRPr>
          </a:p>
        </p:txBody>
      </p:sp>
      <p:sp>
        <p:nvSpPr>
          <p:cNvPr id="1029" name="CustomShape 3"/>
          <p:cNvSpPr/>
          <p:nvPr/>
        </p:nvSpPr>
        <p:spPr>
          <a:xfrm>
            <a:off x="1896480" y="4258080"/>
            <a:ext cx="7169760" cy="501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Reconciliar todas estas necesidades ha hecho que el planificador de Linux se haya rediseñado dos veces desde cero. </a:t>
            </a:r>
            <a:endParaRPr lang="es-ES" sz="1350" b="0" strike="noStrike" spc="-1">
              <a:latin typeface="Arial"/>
            </a:endParaRPr>
          </a:p>
        </p:txBody>
      </p:sp>
      <p:pic>
        <p:nvPicPr>
          <p:cNvPr id="1030" name="Picture 2"/>
          <p:cNvPicPr/>
          <p:nvPr/>
        </p:nvPicPr>
        <p:blipFill>
          <a:blip r:embed="rId3"/>
          <a:stretch/>
        </p:blipFill>
        <p:spPr>
          <a:xfrm>
            <a:off x="5194440" y="1348623"/>
            <a:ext cx="3760560" cy="2115000"/>
          </a:xfrm>
          <a:prstGeom prst="rect">
            <a:avLst/>
          </a:prstGeom>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32" name="CustomShape 2"/>
          <p:cNvSpPr/>
          <p:nvPr/>
        </p:nvSpPr>
        <p:spPr>
          <a:xfrm>
            <a:off x="1896120" y="885240"/>
            <a:ext cx="6778080" cy="4201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Linux O(1)</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El planificador O(1) utilizaba distintas colas de prioridad, separadas en dos clases:</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Tiempo real: prioridades de 0 a 99</a:t>
            </a:r>
            <a:endParaRPr lang="es-ES" sz="1350" b="0" strike="noStrike" spc="-1">
              <a:latin typeface="Arial"/>
            </a:endParaRPr>
          </a:p>
          <a:p>
            <a:pPr marL="285840" indent="-285480" algn="just">
              <a:lnSpc>
                <a:spcPct val="100000"/>
              </a:lnSpc>
              <a:buClr>
                <a:srgbClr val="000000"/>
              </a:buClr>
              <a:buFont typeface="Arial"/>
              <a:buChar char="•"/>
            </a:pPr>
            <a:r>
              <a:rPr lang="es-ES" sz="1350" b="0" strike="noStrike" spc="-1">
                <a:solidFill>
                  <a:srgbClr val="000000"/>
                </a:solidFill>
                <a:latin typeface="Calibri"/>
              </a:rPr>
              <a:t>Procesos normales: prioridades de 100 a 139</a:t>
            </a:r>
            <a:endParaRPr lang="es-ES" sz="1350" b="0" strike="noStrike" spc="-1">
              <a:latin typeface="Arial"/>
            </a:endParaRPr>
          </a:p>
          <a:p>
            <a:pPr algn="just">
              <a:lnSpc>
                <a:spcPct val="100000"/>
              </a:lnSpc>
            </a:pPr>
            <a:r>
              <a:rPr lang="es-ES" sz="1350" b="0" strike="noStrike" spc="-1">
                <a:solidFill>
                  <a:srgbClr val="000000"/>
                </a:solidFill>
                <a:latin typeface="Calibri"/>
              </a:rPr>
              <a:t>La prioridad base de un proceso es 120, estos valores pueden verse y modificarse con el comando </a:t>
            </a:r>
            <a:r>
              <a:rPr lang="es-ES" sz="1100" b="0" strike="noStrike" spc="-1">
                <a:solidFill>
                  <a:srgbClr val="000000"/>
                </a:solidFill>
                <a:latin typeface="Lucida Console"/>
              </a:rPr>
              <a:t>nice</a:t>
            </a:r>
            <a:r>
              <a:rPr lang="es-ES" sz="1350" b="0" strike="noStrike" spc="-1">
                <a:solidFill>
                  <a:srgbClr val="000000"/>
                </a:solidFill>
                <a:latin typeface="Calibri"/>
              </a:rPr>
              <a:t> [niceness es sinónimo de prioridad en Linux].</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Las prioridades van en orden descendente 0 es la mayor y 139 la menor. O(1) mane dos conjuntos de colas, la de procesos activos y procesos ejecutados (expired). Cuando un proceso consume su parte de CPU se pasa a la cola de procesos (expired). Los procesos nuevos se añaden a la tabla de activos. Cuando no hay ningún proceso pendiente en activos se invierten los papeles, la tabla de expired pasa a ser de activos y viceversa. Este es el mecanismo para evitar la starvation.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O(1) gestionaba la prioridad con un método sencillo. En función del tiempo en el que el proceso permanece bloqueado es fácil predecir si es I/O bounded (mucho tiempo) o CPU bounded (poco tiempo). Con esta cuenta, O(1) disimuía la niceness de un proceso con un bonus de valor entre 0 y 10 subiendo así la prioridad de los procesos I/O bounded.</a:t>
            </a:r>
            <a:endParaRPr lang="es-ES" sz="1350" b="0" strike="noStrike" spc="-1">
              <a:latin typeface="Arial"/>
            </a:endParaRPr>
          </a:p>
          <a:p>
            <a:pPr algn="just">
              <a:lnSpc>
                <a:spcPct val="100000"/>
              </a:lnSpc>
            </a:pPr>
            <a:endParaRPr lang="es-ES" sz="1350" b="0" strike="noStrike" spc="-1">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34" name="CustomShape 2"/>
          <p:cNvSpPr/>
          <p:nvPr/>
        </p:nvSpPr>
        <p:spPr>
          <a:xfrm>
            <a:off x="1896480" y="885240"/>
            <a:ext cx="7049520" cy="70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Linux O(1)</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endParaRPr lang="es-ES" sz="1350" b="0" strike="noStrike" spc="-1">
              <a:latin typeface="Arial"/>
            </a:endParaRPr>
          </a:p>
        </p:txBody>
      </p:sp>
      <p:pic>
        <p:nvPicPr>
          <p:cNvPr id="1035" name="Imagen 4"/>
          <p:cNvPicPr/>
          <p:nvPr/>
        </p:nvPicPr>
        <p:blipFill>
          <a:blip r:embed="rId3"/>
          <a:stretch/>
        </p:blipFill>
        <p:spPr>
          <a:xfrm>
            <a:off x="1627200" y="1149480"/>
            <a:ext cx="5888880" cy="2617200"/>
          </a:xfrm>
          <a:prstGeom prst="rect">
            <a:avLst/>
          </a:prstGeom>
          <a:ln>
            <a:noFill/>
          </a:ln>
        </p:spPr>
      </p:pic>
      <p:sp>
        <p:nvSpPr>
          <p:cNvPr id="1036" name="CustomShape 3"/>
          <p:cNvSpPr/>
          <p:nvPr/>
        </p:nvSpPr>
        <p:spPr>
          <a:xfrm>
            <a:off x="1896480" y="4156920"/>
            <a:ext cx="7049520" cy="501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0000"/>
                </a:solidFill>
                <a:latin typeface="Calibri"/>
              </a:rPr>
              <a:t>El quantum también estaba ligado a la prioridad, y variaba entre 5 ms para los procesos de prioridad mínima a 800 para los de prioridad máxima. </a:t>
            </a:r>
            <a:endParaRPr lang="es-ES" sz="1350" b="0" strike="noStrike" spc="-1">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38" name="CustomShape 2"/>
          <p:cNvSpPr/>
          <p:nvPr/>
        </p:nvSpPr>
        <p:spPr>
          <a:xfrm>
            <a:off x="1896120" y="885240"/>
            <a:ext cx="675432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Linux CFS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Desde la versión 2.6.23 usa el </a:t>
            </a:r>
            <a:r>
              <a:rPr lang="es-ES" sz="1350" b="1" strike="noStrike" spc="-1">
                <a:solidFill>
                  <a:srgbClr val="000000"/>
                </a:solidFill>
                <a:latin typeface="Calibri"/>
              </a:rPr>
              <a:t>Completely Fair Scheduler</a:t>
            </a:r>
            <a:r>
              <a:rPr lang="es-ES" sz="1350" b="0" strike="noStrike" spc="-1">
                <a:solidFill>
                  <a:srgbClr val="000000"/>
                </a:solidFill>
                <a:latin typeface="Calibri"/>
              </a:rPr>
              <a:t> (</a:t>
            </a:r>
            <a:r>
              <a:rPr lang="es-ES" sz="1350" b="1" strike="noStrike" spc="-1">
                <a:solidFill>
                  <a:srgbClr val="000000"/>
                </a:solidFill>
                <a:latin typeface="Calibri"/>
              </a:rPr>
              <a:t>CFS</a:t>
            </a:r>
            <a:r>
              <a:rPr lang="es-ES" sz="1350" b="0" strike="noStrike" spc="-1">
                <a:solidFill>
                  <a:srgbClr val="000000"/>
                </a:solidFill>
                <a:latin typeface="Calibri"/>
              </a:rPr>
              <a:t>), un algoritmo con prioridades que en lugar de diferentes colas por prioridad utiliza un árbol binario. Esta estructura se explica en Matemática Discreta y cuya implementación en C se verá en la asignatura de Algoritmos.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El concepto de Fair Scheduling es sencillo, si en un sistema tenemos N procesos en un tiempo t cada uno de ellos debería ejecutarse t/N. Esta es la teoría, pero la realización práctica no en sencilla. ¿Cuál es el tiempo mínimo en el que debemos aplicar la política? Si t es grande, penalizamos el tiempo de respuesta de los procesos interactivos, si es muy pequeño penalizamos el rendimiento general al disparar el número de cambios de contexto.</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Además, ¿cómo manejaríamos las prioridades? La idea del </a:t>
            </a:r>
            <a:r>
              <a:rPr lang="es-ES" sz="1350" b="0" i="1" strike="noStrike" spc="-1">
                <a:solidFill>
                  <a:srgbClr val="000000"/>
                </a:solidFill>
                <a:latin typeface="Calibri"/>
              </a:rPr>
              <a:t>fair scheduling</a:t>
            </a:r>
            <a:r>
              <a:rPr lang="es-ES" sz="1350" b="0" strike="noStrike" spc="-1">
                <a:solidFill>
                  <a:srgbClr val="000000"/>
                </a:solidFill>
                <a:latin typeface="Calibri"/>
              </a:rPr>
              <a:t> presupone que todos los procesos tienen la misma prioridad. No es difícil extenderla suponiendo que si un proceso consume una unidad de t/N, otro de prioridad triple debería consumir 3t/N, pero tendríamos que estar recalculando continuamente tiempos y prioridades en cada cambio de contexto.</a:t>
            </a:r>
            <a:endParaRPr lang="es-ES" sz="1350" b="0" strike="noStrike" spc="-1">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40" name="CustomShape 2"/>
          <p:cNvSpPr/>
          <p:nvPr/>
        </p:nvSpPr>
        <p:spPr>
          <a:xfrm>
            <a:off x="1896480" y="838800"/>
            <a:ext cx="6573240" cy="3996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Linux CFS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El CFS se basa en dos ideas brillantes, usar un árbol con todos procesos en estado Listo y un </a:t>
            </a:r>
            <a:r>
              <a:rPr lang="es-ES" sz="1350" b="1" strike="noStrike" spc="-1">
                <a:solidFill>
                  <a:srgbClr val="000000"/>
                </a:solidFill>
                <a:latin typeface="Calibri"/>
              </a:rPr>
              <a:t>tiempo de ejecución virtual</a:t>
            </a:r>
            <a:r>
              <a:rPr lang="es-ES" sz="1350" b="0" strike="noStrike" spc="-1">
                <a:solidFill>
                  <a:srgbClr val="000000"/>
                </a:solidFill>
                <a:latin typeface="Calibri"/>
              </a:rPr>
              <a:t> que transcurre a velocidades diferentes en función de las prioridades. De esta manera, se simplifica la estructura de control y se eliminan los problemas de </a:t>
            </a:r>
            <a:r>
              <a:rPr lang="es-ES" sz="1350" b="1" strike="noStrike" spc="-1">
                <a:solidFill>
                  <a:srgbClr val="000000"/>
                </a:solidFill>
                <a:latin typeface="Calibri"/>
              </a:rPr>
              <a:t>starvation</a:t>
            </a:r>
            <a:r>
              <a:rPr lang="es-ES" sz="1350" b="0" strike="noStrike" spc="-1">
                <a:solidFill>
                  <a:srgbClr val="000000"/>
                </a:solidFill>
                <a:latin typeface="Calibri"/>
              </a:rPr>
              <a:t>. Las prioridades aprovechan el valor de </a:t>
            </a:r>
            <a:r>
              <a:rPr lang="es-ES" sz="1350" b="0" i="1" strike="noStrike" spc="-1">
                <a:solidFill>
                  <a:srgbClr val="000000"/>
                </a:solidFill>
                <a:latin typeface="Calibri"/>
              </a:rPr>
              <a:t>niceness</a:t>
            </a:r>
            <a:r>
              <a:rPr lang="es-ES" sz="1350" b="0" strike="noStrike" spc="-1">
                <a:solidFill>
                  <a:srgbClr val="000000"/>
                </a:solidFill>
                <a:latin typeface="Calibri"/>
              </a:rPr>
              <a:t> que ya se introdujo en O(1).</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Cada vez que transcurre un </a:t>
            </a:r>
            <a:r>
              <a:rPr lang="es-ES" sz="1350" b="0" i="1" strike="noStrike" spc="-1">
                <a:solidFill>
                  <a:srgbClr val="000000"/>
                </a:solidFill>
                <a:latin typeface="Calibri"/>
              </a:rPr>
              <a:t>tick</a:t>
            </a:r>
            <a:r>
              <a:rPr lang="es-ES" sz="1350" b="0" strike="noStrike" spc="-1">
                <a:solidFill>
                  <a:srgbClr val="000000"/>
                </a:solidFill>
                <a:latin typeface="Calibri"/>
              </a:rPr>
              <a:t>, el </a:t>
            </a:r>
            <a:r>
              <a:rPr lang="es-ES" sz="1350" b="0" i="1" strike="noStrike" spc="-1">
                <a:solidFill>
                  <a:srgbClr val="000000"/>
                </a:solidFill>
                <a:latin typeface="Calibri"/>
              </a:rPr>
              <a:t>scheduler</a:t>
            </a:r>
            <a:r>
              <a:rPr lang="es-ES" sz="1350" b="0" strike="noStrike" spc="-1">
                <a:solidFill>
                  <a:srgbClr val="000000"/>
                </a:solidFill>
                <a:latin typeface="Calibri"/>
              </a:rPr>
              <a:t> actualiza el árbol. Para ello calcula el tiempo virtual transcurrido por proceso. Por simplificar, un tick puede suponer 8 unidades de tiempo virtual para un proceso de mínima prioridad y solo 1 para otro de máxima. Entre dos </a:t>
            </a:r>
            <a:r>
              <a:rPr lang="es-ES" sz="1350" b="0" i="1" strike="noStrike" spc="-1">
                <a:solidFill>
                  <a:srgbClr val="000000"/>
                </a:solidFill>
                <a:latin typeface="Calibri"/>
              </a:rPr>
              <a:t>ticks</a:t>
            </a:r>
            <a:r>
              <a:rPr lang="es-ES" sz="1350" b="0" strike="noStrike" spc="-1">
                <a:solidFill>
                  <a:srgbClr val="000000"/>
                </a:solidFill>
                <a:latin typeface="Calibri"/>
              </a:rPr>
              <a:t> solo puede variar el valor del proceso en ejecución porque el resto están fuera de la CPU a la espera de recibir turno. CFS es capaz de manejar prioridades dinámicas con lo que ese factor de multiplicación puede variar en el transcurso de la ejecución.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A la hora de decidir a qué proceso se le concede la CPU el criterio es muy sencillo, siempre al nodo de valor mínimo. Para evitar recorrer el árbol, CFS mantiene siempre un puntero a ese nodo. CFS no maneja </a:t>
            </a:r>
            <a:r>
              <a:rPr lang="es-ES" sz="1350" b="0" i="1" strike="noStrike" spc="-1">
                <a:solidFill>
                  <a:srgbClr val="000000"/>
                </a:solidFill>
                <a:latin typeface="Calibri"/>
              </a:rPr>
              <a:t>quantum, </a:t>
            </a:r>
            <a:r>
              <a:rPr lang="es-ES" sz="1350" b="0" strike="noStrike" spc="-1">
                <a:solidFill>
                  <a:srgbClr val="000000"/>
                </a:solidFill>
                <a:latin typeface="Calibri"/>
              </a:rPr>
              <a:t>el proceso correspondiente al nodo mínimo tendrá la CPU hasta superar el valor de otro nodo.</a:t>
            </a:r>
            <a:endParaRPr lang="es-ES" sz="1350" b="0" strike="noStrike" spc="-1">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42" name="CustomShape 2"/>
          <p:cNvSpPr/>
          <p:nvPr/>
        </p:nvSpPr>
        <p:spPr>
          <a:xfrm>
            <a:off x="1896120" y="885240"/>
            <a:ext cx="3729240" cy="3379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Linux CFS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Un árbol binario es una estructura acíclica ordenada de grado 2 como máximo. La primera característica indica que no hay ningún recorrido en el que pueda pasarse más de una vez por un mismo nodo. El grado es el número de hijos que cada nodo puede tener y la ordenación se consigue porque el nodo de la izquierda tiene siempre valor menor que el del padre y el de la derecha mayor.</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Un árbol binario tiene también la propiedad de que la rama más larga tendrá como mucho el doble de longitud que la más corta, lo que junto a la ordenación, hace que sea muy rápido recorrerlo.</a:t>
            </a:r>
            <a:endParaRPr lang="es-ES" sz="1350" b="0" strike="noStrike" spc="-1">
              <a:latin typeface="Arial"/>
            </a:endParaRPr>
          </a:p>
        </p:txBody>
      </p:sp>
      <p:pic>
        <p:nvPicPr>
          <p:cNvPr id="1043" name="Picture 2"/>
          <p:cNvPicPr/>
          <p:nvPr/>
        </p:nvPicPr>
        <p:blipFill>
          <a:blip r:embed="rId3"/>
          <a:stretch/>
        </p:blipFill>
        <p:spPr>
          <a:xfrm>
            <a:off x="5848560" y="1170000"/>
            <a:ext cx="3045600" cy="2534400"/>
          </a:xfrm>
          <a:prstGeom prst="rect">
            <a:avLst/>
          </a:prstGeom>
          <a:ln>
            <a:noFill/>
          </a:ln>
        </p:spPr>
      </p:pic>
      <p:sp>
        <p:nvSpPr>
          <p:cNvPr id="1044" name="CustomShape 3"/>
          <p:cNvSpPr/>
          <p:nvPr/>
        </p:nvSpPr>
        <p:spPr>
          <a:xfrm>
            <a:off x="2984400" y="4719600"/>
            <a:ext cx="536868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strike="noStrike" spc="-1">
                <a:solidFill>
                  <a:srgbClr val="000000"/>
                </a:solidFill>
                <a:latin typeface="Calibri"/>
              </a:rPr>
              <a:t>En </a:t>
            </a:r>
            <a:r>
              <a:rPr lang="es-ES" sz="1100" b="0" u="sng" strike="noStrike" spc="-1">
                <a:solidFill>
                  <a:srgbClr val="0563C1"/>
                </a:solidFill>
                <a:uFillTx/>
                <a:latin typeface="Calibri"/>
                <a:hlinkClick r:id="rId4"/>
              </a:rPr>
              <a:t>https://es.wikipedia.org/wiki/Árbol_binario</a:t>
            </a:r>
            <a:r>
              <a:rPr lang="es-ES" sz="1100" b="0" strike="noStrike" spc="-1">
                <a:solidFill>
                  <a:srgbClr val="000000"/>
                </a:solidFill>
                <a:latin typeface="Calibri"/>
              </a:rPr>
              <a:t> se describe su implementación en C</a:t>
            </a:r>
            <a:endParaRPr lang="es-ES" sz="1100" b="0" strike="noStrike" spc="-1">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46" name="CustomShape 2"/>
          <p:cNvSpPr/>
          <p:nvPr/>
        </p:nvSpPr>
        <p:spPr>
          <a:xfrm>
            <a:off x="1896120" y="898560"/>
            <a:ext cx="3465720" cy="70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Linux CFS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endParaRPr lang="es-ES" sz="1350" b="0" strike="noStrike" spc="-1">
              <a:latin typeface="Arial"/>
            </a:endParaRPr>
          </a:p>
        </p:txBody>
      </p:sp>
      <p:pic>
        <p:nvPicPr>
          <p:cNvPr id="1047" name="Picture 2"/>
          <p:cNvPicPr/>
          <p:nvPr/>
        </p:nvPicPr>
        <p:blipFill>
          <a:blip r:embed="rId3"/>
          <a:stretch/>
        </p:blipFill>
        <p:spPr>
          <a:xfrm>
            <a:off x="3048840" y="1371240"/>
            <a:ext cx="3653640" cy="3040200"/>
          </a:xfrm>
          <a:prstGeom prst="rect">
            <a:avLst/>
          </a:prstGeom>
          <a:ln>
            <a:noFill/>
          </a:ln>
        </p:spPr>
      </p:pic>
      <p:sp>
        <p:nvSpPr>
          <p:cNvPr id="1048" name="CustomShape 3"/>
          <p:cNvSpPr/>
          <p:nvPr/>
        </p:nvSpPr>
        <p:spPr>
          <a:xfrm>
            <a:off x="6514920" y="1186200"/>
            <a:ext cx="1099080" cy="295920"/>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1F4E79"/>
                </a:solidFill>
                <a:latin typeface="Calibri"/>
              </a:rPr>
              <a:t>nodo raíz</a:t>
            </a:r>
            <a:endParaRPr lang="es-ES" sz="1350" b="0" strike="noStrike" spc="-1">
              <a:latin typeface="Arial"/>
            </a:endParaRPr>
          </a:p>
        </p:txBody>
      </p:sp>
      <p:sp>
        <p:nvSpPr>
          <p:cNvPr id="1049" name="CustomShape 4"/>
          <p:cNvSpPr/>
          <p:nvPr/>
        </p:nvSpPr>
        <p:spPr>
          <a:xfrm flipH="1">
            <a:off x="5184360" y="1371240"/>
            <a:ext cx="1330560" cy="229680"/>
          </a:xfrm>
          <a:custGeom>
            <a:avLst/>
            <a:gdLst/>
            <a:ahLst/>
            <a:cxnLst/>
            <a:rect l="l" t="t" r="r" b="b"/>
            <a:pathLst>
              <a:path w="21600" h="21600">
                <a:moveTo>
                  <a:pt x="0" y="0"/>
                </a:moveTo>
                <a:lnTo>
                  <a:pt x="21600" y="21600"/>
                </a:lnTo>
              </a:path>
            </a:pathLst>
          </a:custGeom>
          <a:noFill/>
          <a:ln>
            <a:custDash>
              <a:ds d="100000" sp="100000"/>
            </a:custDash>
            <a:tailEnd type="triangle" w="med" len="med"/>
          </a:ln>
        </p:spPr>
        <p:style>
          <a:lnRef idx="1">
            <a:schemeClr val="accent1"/>
          </a:lnRef>
          <a:fillRef idx="0">
            <a:schemeClr val="accent1"/>
          </a:fillRef>
          <a:effectRef idx="0">
            <a:schemeClr val="accent1"/>
          </a:effectRef>
          <a:fontRef idx="minor"/>
        </p:style>
      </p:sp>
      <p:sp>
        <p:nvSpPr>
          <p:cNvPr id="1050" name="CustomShape 5"/>
          <p:cNvSpPr/>
          <p:nvPr/>
        </p:nvSpPr>
        <p:spPr>
          <a:xfrm>
            <a:off x="2289600" y="3018600"/>
            <a:ext cx="758880" cy="295920"/>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1F4E79"/>
                </a:solidFill>
                <a:latin typeface="Calibri"/>
              </a:rPr>
              <a:t>mínimo</a:t>
            </a:r>
            <a:endParaRPr lang="es-ES" sz="1350" b="0" strike="noStrike" spc="-1">
              <a:latin typeface="Arial"/>
            </a:endParaRPr>
          </a:p>
        </p:txBody>
      </p:sp>
      <p:sp>
        <p:nvSpPr>
          <p:cNvPr id="1051" name="CustomShape 6"/>
          <p:cNvSpPr/>
          <p:nvPr/>
        </p:nvSpPr>
        <p:spPr>
          <a:xfrm>
            <a:off x="6135480" y="4115880"/>
            <a:ext cx="758880" cy="295920"/>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1F4E79"/>
                </a:solidFill>
                <a:latin typeface="Calibri"/>
              </a:rPr>
              <a:t>máximo</a:t>
            </a:r>
            <a:endParaRPr lang="es-ES" sz="1350" b="0" strike="noStrike" spc="-1">
              <a:latin typeface="Arial"/>
            </a:endParaRPr>
          </a:p>
        </p:txBody>
      </p:sp>
      <p:sp>
        <p:nvSpPr>
          <p:cNvPr id="1052" name="CustomShape 7"/>
          <p:cNvSpPr/>
          <p:nvPr/>
        </p:nvSpPr>
        <p:spPr>
          <a:xfrm>
            <a:off x="4455720" y="4548240"/>
            <a:ext cx="503640" cy="475200"/>
          </a:xfrm>
          <a:prstGeom prst="ellipse">
            <a:avLst/>
          </a:prstGeom>
          <a:solidFill>
            <a:schemeClr val="bg1"/>
          </a:solidFill>
          <a:ln w="28440">
            <a:solidFill>
              <a:schemeClr val="accent6"/>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s-ES" sz="2800" b="0" strike="noStrike" spc="-1">
                <a:solidFill>
                  <a:srgbClr val="00B050"/>
                </a:solidFill>
                <a:latin typeface="Calibri"/>
              </a:rPr>
              <a:t>5</a:t>
            </a:r>
            <a:endParaRPr lang="es-ES" sz="2800" b="0" strike="noStrike" spc="-1">
              <a:latin typeface="Arial"/>
            </a:endParaRPr>
          </a:p>
        </p:txBody>
      </p:sp>
      <p:sp>
        <p:nvSpPr>
          <p:cNvPr id="1053" name="CustomShape 8"/>
          <p:cNvSpPr/>
          <p:nvPr/>
        </p:nvSpPr>
        <p:spPr>
          <a:xfrm>
            <a:off x="4254120" y="4268880"/>
            <a:ext cx="274680" cy="348840"/>
          </a:xfrm>
          <a:custGeom>
            <a:avLst/>
            <a:gdLst/>
            <a:ahLst/>
            <a:cxnLst/>
            <a:rect l="l" t="t" r="r" b="b"/>
            <a:pathLst>
              <a:path w="21600" h="21600">
                <a:moveTo>
                  <a:pt x="0" y="0"/>
                </a:moveTo>
                <a:lnTo>
                  <a:pt x="21600" y="21600"/>
                </a:lnTo>
              </a:path>
            </a:pathLst>
          </a:custGeom>
          <a:noFill/>
          <a:ln w="28440">
            <a:solidFill>
              <a:schemeClr val="accent6">
                <a:lumMod val="75000"/>
              </a:schemeClr>
            </a:solidFill>
            <a:tailEnd type="triangle" w="med" len="med"/>
          </a:ln>
        </p:spPr>
        <p:style>
          <a:lnRef idx="1">
            <a:schemeClr val="accent1"/>
          </a:lnRef>
          <a:fillRef idx="0">
            <a:schemeClr val="accent1"/>
          </a:fillRef>
          <a:effectRef idx="0">
            <a:schemeClr val="accent1"/>
          </a:effectRef>
          <a:fontRef idx="minor"/>
        </p:style>
      </p:sp>
      <p:sp>
        <p:nvSpPr>
          <p:cNvPr id="1054" name="CustomShape 9"/>
          <p:cNvSpPr/>
          <p:nvPr/>
        </p:nvSpPr>
        <p:spPr>
          <a:xfrm>
            <a:off x="4031640" y="1301400"/>
            <a:ext cx="65232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B050"/>
                </a:solidFill>
                <a:latin typeface="Calibri"/>
              </a:rPr>
              <a:t>5&gt;8 ?</a:t>
            </a:r>
            <a:endParaRPr lang="es-ES" sz="1350" b="0" strike="noStrike" spc="-1">
              <a:latin typeface="Arial"/>
            </a:endParaRPr>
          </a:p>
        </p:txBody>
      </p:sp>
      <p:sp>
        <p:nvSpPr>
          <p:cNvPr id="1055" name="CustomShape 10"/>
          <p:cNvSpPr/>
          <p:nvPr/>
        </p:nvSpPr>
        <p:spPr>
          <a:xfrm>
            <a:off x="3987720" y="1667520"/>
            <a:ext cx="36108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B050"/>
                </a:solidFill>
                <a:latin typeface="Calibri"/>
              </a:rPr>
              <a:t>no</a:t>
            </a:r>
            <a:endParaRPr lang="es-ES" sz="1350" b="0" strike="noStrike" spc="-1">
              <a:latin typeface="Arial"/>
            </a:endParaRPr>
          </a:p>
        </p:txBody>
      </p:sp>
      <p:sp>
        <p:nvSpPr>
          <p:cNvPr id="1056" name="CustomShape 11"/>
          <p:cNvSpPr/>
          <p:nvPr/>
        </p:nvSpPr>
        <p:spPr>
          <a:xfrm>
            <a:off x="3168720" y="2087280"/>
            <a:ext cx="65232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B050"/>
                </a:solidFill>
                <a:latin typeface="Calibri"/>
              </a:rPr>
              <a:t>5&gt;3 ?</a:t>
            </a:r>
            <a:endParaRPr lang="es-ES" sz="1350" b="0" strike="noStrike" spc="-1">
              <a:latin typeface="Arial"/>
            </a:endParaRPr>
          </a:p>
        </p:txBody>
      </p:sp>
      <p:sp>
        <p:nvSpPr>
          <p:cNvPr id="1057" name="CustomShape 12"/>
          <p:cNvSpPr/>
          <p:nvPr/>
        </p:nvSpPr>
        <p:spPr>
          <a:xfrm>
            <a:off x="4238640" y="2465280"/>
            <a:ext cx="2876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B050"/>
                </a:solidFill>
                <a:latin typeface="Calibri"/>
              </a:rPr>
              <a:t>si</a:t>
            </a:r>
            <a:endParaRPr lang="es-ES" sz="1350" b="0" strike="noStrike" spc="-1">
              <a:latin typeface="Arial"/>
            </a:endParaRPr>
          </a:p>
        </p:txBody>
      </p:sp>
      <p:sp>
        <p:nvSpPr>
          <p:cNvPr id="1058" name="CustomShape 13"/>
          <p:cNvSpPr/>
          <p:nvPr/>
        </p:nvSpPr>
        <p:spPr>
          <a:xfrm>
            <a:off x="3821760" y="3060720"/>
            <a:ext cx="65232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B050"/>
                </a:solidFill>
                <a:latin typeface="Calibri"/>
              </a:rPr>
              <a:t>5&gt;6 ?</a:t>
            </a:r>
            <a:endParaRPr lang="es-ES" sz="1350" b="0" strike="noStrike" spc="-1">
              <a:latin typeface="Arial"/>
            </a:endParaRPr>
          </a:p>
        </p:txBody>
      </p:sp>
      <p:sp>
        <p:nvSpPr>
          <p:cNvPr id="1059" name="CustomShape 14"/>
          <p:cNvSpPr/>
          <p:nvPr/>
        </p:nvSpPr>
        <p:spPr>
          <a:xfrm>
            <a:off x="3967200" y="3465720"/>
            <a:ext cx="36108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B050"/>
                </a:solidFill>
                <a:latin typeface="Calibri"/>
              </a:rPr>
              <a:t>no</a:t>
            </a:r>
            <a:endParaRPr lang="es-ES" sz="1350" b="0" strike="noStrike" spc="-1">
              <a:latin typeface="Arial"/>
            </a:endParaRPr>
          </a:p>
        </p:txBody>
      </p:sp>
      <p:sp>
        <p:nvSpPr>
          <p:cNvPr id="1060" name="CustomShape 15"/>
          <p:cNvSpPr/>
          <p:nvPr/>
        </p:nvSpPr>
        <p:spPr>
          <a:xfrm>
            <a:off x="3303000" y="3965760"/>
            <a:ext cx="65232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350" b="0" strike="noStrike" spc="-1">
                <a:solidFill>
                  <a:srgbClr val="00B050"/>
                </a:solidFill>
                <a:latin typeface="Calibri"/>
              </a:rPr>
              <a:t>5&gt;4 ?</a:t>
            </a:r>
            <a:endParaRPr lang="es-ES" sz="1350" b="0" strike="noStrike" spc="-1">
              <a:latin typeface="Arial"/>
            </a:endParaRPr>
          </a:p>
        </p:txBody>
      </p:sp>
      <p:sp>
        <p:nvSpPr>
          <p:cNvPr id="1061" name="CustomShape 16"/>
          <p:cNvSpPr/>
          <p:nvPr/>
        </p:nvSpPr>
        <p:spPr>
          <a:xfrm>
            <a:off x="4349520" y="4114440"/>
            <a:ext cx="28764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B050"/>
                </a:solidFill>
                <a:latin typeface="Calibri"/>
              </a:rPr>
              <a:t>si</a:t>
            </a:r>
            <a:endParaRPr lang="es-ES" sz="1350" b="0" strike="noStrike" spc="-1">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63" name="CustomShape 2"/>
          <p:cNvSpPr/>
          <p:nvPr/>
        </p:nvSpPr>
        <p:spPr>
          <a:xfrm>
            <a:off x="1896120" y="898560"/>
            <a:ext cx="3465720" cy="70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Linux CFS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endParaRPr lang="es-ES" sz="1350" b="0" strike="noStrike" spc="-1">
              <a:latin typeface="Arial"/>
            </a:endParaRPr>
          </a:p>
        </p:txBody>
      </p:sp>
      <p:pic>
        <p:nvPicPr>
          <p:cNvPr id="1064" name="Picture 2"/>
          <p:cNvPicPr/>
          <p:nvPr/>
        </p:nvPicPr>
        <p:blipFill>
          <a:blip r:embed="rId3"/>
          <a:stretch/>
        </p:blipFill>
        <p:spPr>
          <a:xfrm>
            <a:off x="3269520" y="1176480"/>
            <a:ext cx="4773960" cy="3047400"/>
          </a:xfrm>
          <a:prstGeom prst="rect">
            <a:avLst/>
          </a:prstGeom>
          <a:ln>
            <a:noFill/>
          </a:ln>
        </p:spPr>
      </p:pic>
      <p:sp>
        <p:nvSpPr>
          <p:cNvPr id="1065" name="CustomShape 3"/>
          <p:cNvSpPr/>
          <p:nvPr/>
        </p:nvSpPr>
        <p:spPr>
          <a:xfrm>
            <a:off x="1355760" y="4912920"/>
            <a:ext cx="4334040" cy="425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100" b="0" strike="noStrike" spc="-1">
                <a:solidFill>
                  <a:srgbClr val="000000"/>
                </a:solidFill>
                <a:latin typeface="Calibri"/>
              </a:rPr>
              <a:t>Fuente: </a:t>
            </a:r>
            <a:r>
              <a:rPr lang="es-ES" sz="1100" b="0" u="sng" strike="noStrike" spc="-1">
                <a:solidFill>
                  <a:srgbClr val="0563C1"/>
                </a:solidFill>
                <a:uFillTx/>
                <a:latin typeface="Calibri"/>
                <a:hlinkClick r:id="rId4"/>
              </a:rPr>
              <a:t>https://developer.ibm.com/tutorials/l-completely-fair-scheduler/</a:t>
            </a:r>
            <a:endParaRPr lang="es-ES" sz="1100" b="0" strike="noStrike" spc="-1">
              <a:latin typeface="Arial"/>
            </a:endParaRPr>
          </a:p>
          <a:p>
            <a:pPr>
              <a:lnSpc>
                <a:spcPct val="100000"/>
              </a:lnSpc>
            </a:pPr>
            <a:endParaRPr lang="es-ES" sz="1100" b="0" strike="noStrike" spc="-1">
              <a:latin typeface="Arial"/>
            </a:endParaRPr>
          </a:p>
        </p:txBody>
      </p:sp>
      <p:sp>
        <p:nvSpPr>
          <p:cNvPr id="1066" name="CustomShape 4"/>
          <p:cNvSpPr/>
          <p:nvPr/>
        </p:nvSpPr>
        <p:spPr>
          <a:xfrm>
            <a:off x="1943280" y="1557360"/>
            <a:ext cx="1320840" cy="592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100" b="0" strike="noStrike" spc="-1">
                <a:solidFill>
                  <a:srgbClr val="000000"/>
                </a:solidFill>
                <a:latin typeface="Calibri"/>
              </a:rPr>
              <a:t>Cada nodo contiene</a:t>
            </a:r>
            <a:endParaRPr lang="es-ES" sz="1100" b="0" strike="noStrike" spc="-1">
              <a:latin typeface="Arial"/>
            </a:endParaRPr>
          </a:p>
          <a:p>
            <a:pPr>
              <a:lnSpc>
                <a:spcPct val="100000"/>
              </a:lnSpc>
            </a:pPr>
            <a:r>
              <a:rPr lang="es-ES" sz="1100" b="0" strike="noStrike" spc="-1">
                <a:solidFill>
                  <a:srgbClr val="000000"/>
                </a:solidFill>
                <a:latin typeface="Calibri"/>
              </a:rPr>
              <a:t>el valor del </a:t>
            </a:r>
            <a:r>
              <a:rPr lang="es-ES" sz="1100" b="0" i="1" strike="noStrike" spc="-1">
                <a:solidFill>
                  <a:srgbClr val="000000"/>
                </a:solidFill>
                <a:latin typeface="Calibri"/>
              </a:rPr>
              <a:t>virtual</a:t>
            </a:r>
            <a:endParaRPr lang="es-ES" sz="1100" b="0" strike="noStrike" spc="-1">
              <a:latin typeface="Arial"/>
            </a:endParaRPr>
          </a:p>
          <a:p>
            <a:pPr>
              <a:lnSpc>
                <a:spcPct val="100000"/>
              </a:lnSpc>
            </a:pPr>
            <a:r>
              <a:rPr lang="es-ES" sz="1100" b="0" i="1" strike="noStrike" spc="-1">
                <a:solidFill>
                  <a:srgbClr val="000000"/>
                </a:solidFill>
                <a:latin typeface="Calibri"/>
              </a:rPr>
              <a:t>runtime</a:t>
            </a:r>
            <a:r>
              <a:rPr lang="es-ES" sz="1100" b="0" strike="noStrike" spc="-1">
                <a:solidFill>
                  <a:srgbClr val="000000"/>
                </a:solidFill>
                <a:latin typeface="Calibri"/>
              </a:rPr>
              <a:t> del proceso</a:t>
            </a:r>
            <a:endParaRPr lang="es-ES" sz="1100" b="0" strike="noStrike" spc="-1">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68" name="CustomShape 2"/>
          <p:cNvSpPr/>
          <p:nvPr/>
        </p:nvSpPr>
        <p:spPr>
          <a:xfrm>
            <a:off x="1896480" y="838800"/>
            <a:ext cx="6573240" cy="3584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Linux CFS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Con CFS se eliminan los heurísticos [forma elegante de llamar a las excepciones o trucos] para favorecer a los procesos I/O bounded. Si un proceso es de este tipo se ejecuta por ráafgas y tendrá un valor pequeño de </a:t>
            </a:r>
            <a:r>
              <a:rPr lang="es-ES" sz="1350" b="0" i="1" strike="noStrike" spc="-1">
                <a:solidFill>
                  <a:srgbClr val="000000"/>
                </a:solidFill>
                <a:latin typeface="Calibri"/>
              </a:rPr>
              <a:t>vruntime</a:t>
            </a:r>
            <a:r>
              <a:rPr lang="es-ES" sz="1350" b="0" strike="noStrike" spc="-1">
                <a:solidFill>
                  <a:srgbClr val="000000"/>
                </a:solidFill>
                <a:latin typeface="Calibri"/>
              </a:rPr>
              <a:t> por lo que tenderá a estar en la izquierda del árbol, con altas probabilidades de ejecución.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Por otra parte, cada vez que se crea un proceso, se añade al árbol con el valor mínimo de </a:t>
            </a:r>
            <a:r>
              <a:rPr lang="es-ES" sz="1350" b="0" i="1" strike="noStrike" spc="-1">
                <a:solidFill>
                  <a:srgbClr val="000000"/>
                </a:solidFill>
                <a:latin typeface="Calibri"/>
              </a:rPr>
              <a:t>vruntime</a:t>
            </a:r>
            <a:r>
              <a:rPr lang="es-ES" sz="1350" b="0" strike="noStrike" spc="-1">
                <a:solidFill>
                  <a:srgbClr val="000000"/>
                </a:solidFill>
                <a:latin typeface="Calibri"/>
              </a:rPr>
              <a:t>. Esto facilita que procesos dinámicos de vida muy corta, como la atención en un servidor web de una petición GET, tengan alta prioridad de ejecución, mejorando la responsividad del sistema.</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u="sng" strike="noStrike" spc="-1">
                <a:solidFill>
                  <a:srgbClr val="0563C1"/>
                </a:solidFill>
                <a:uFillTx/>
                <a:latin typeface="Calibri"/>
                <a:hlinkClick r:id="rId3"/>
              </a:rPr>
              <a:t>Algunos usuarios se quejan</a:t>
            </a:r>
            <a:r>
              <a:rPr lang="es-ES" sz="1350" b="0" strike="noStrike" spc="-1">
                <a:solidFill>
                  <a:srgbClr val="000000"/>
                </a:solidFill>
                <a:latin typeface="Calibri"/>
              </a:rPr>
              <a:t> de que CFS beneficia las aplicaciones tipo servidor porque los vendedores de HW pagan por optimizar esta vertiente mientras que no se invierte lo mismo para las aplicaciones de usuario que requieren altas prestaciones como los videojuegos. En cualquier caso, la historia demuestra que la evolución ha sido constante en Linux y CFS será eventualmente sustituido por otro scheduler.</a:t>
            </a:r>
            <a:endParaRPr lang="es-ES" sz="1350" b="0" strike="noStrike" spc="-1">
              <a:latin typeface="Arial"/>
            </a:endParaRPr>
          </a:p>
        </p:txBody>
      </p:sp>
      <p:sp>
        <p:nvSpPr>
          <p:cNvPr id="1069" name="CustomShape 3"/>
          <p:cNvSpPr/>
          <p:nvPr/>
        </p:nvSpPr>
        <p:spPr>
          <a:xfrm>
            <a:off x="3894120" y="4784040"/>
            <a:ext cx="4575600" cy="25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ES" sz="1100" b="0" u="sng" strike="noStrike" spc="-1">
                <a:solidFill>
                  <a:srgbClr val="0563C1"/>
                </a:solidFill>
                <a:uFillTx/>
                <a:latin typeface="Calibri"/>
                <a:hlinkClick r:id="rId4"/>
              </a:rPr>
              <a:t>Hisoria de los schedulers de Linux</a:t>
            </a:r>
            <a:endParaRPr lang="es-ES" sz="1100" b="0" strike="noStrike" spc="-1">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71" name="CustomShape 2"/>
          <p:cNvSpPr/>
          <p:nvPr/>
        </p:nvSpPr>
        <p:spPr>
          <a:xfrm>
            <a:off x="1896120" y="885240"/>
            <a:ext cx="679788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BSD (Berkeley Software Distribution)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Como comparación veamos cómo es el </a:t>
            </a:r>
            <a:r>
              <a:rPr lang="es-ES" sz="1350" b="0" i="1" strike="noStrike" spc="-1">
                <a:solidFill>
                  <a:srgbClr val="000000"/>
                </a:solidFill>
                <a:latin typeface="Calibri"/>
              </a:rPr>
              <a:t>scheduler</a:t>
            </a:r>
            <a:r>
              <a:rPr lang="es-ES" sz="1350" b="0" strike="noStrike" spc="-1">
                <a:solidFill>
                  <a:srgbClr val="000000"/>
                </a:solidFill>
                <a:latin typeface="Calibri"/>
              </a:rPr>
              <a:t> de la otra gran familia, BSD, descendiente del Unix original.</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El algoritmo actual se llama ULE (no es un acrónimo, es un juego de palabras con el nombre del fuente </a:t>
            </a:r>
            <a:r>
              <a:rPr lang="es-ES" sz="1100" b="0" strike="noStrike" spc="-1">
                <a:solidFill>
                  <a:srgbClr val="000000"/>
                </a:solidFill>
                <a:latin typeface="Lucida Console"/>
              </a:rPr>
              <a:t>sched_ule.c</a:t>
            </a:r>
            <a:r>
              <a:rPr lang="es-ES" sz="1350" b="0" strike="noStrike" spc="-1">
                <a:solidFill>
                  <a:srgbClr val="000000"/>
                </a:solidFill>
                <a:latin typeface="Calibri"/>
              </a:rPr>
              <a:t>). Maneja dos colas separadas para procesos interactivos y procesos batch, la primera tiene prioridad absoluta sobre la segunda. A su vez, en cada clase hay distintas colas por prioridad. Se selecciona el proceso (o thread) de la cola de mayor prioridad y se gestiona por Round Robin.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ULE separa el </a:t>
            </a:r>
            <a:r>
              <a:rPr lang="es-ES" sz="1350" b="0" i="1" strike="noStrike" spc="-1">
                <a:solidFill>
                  <a:srgbClr val="000000"/>
                </a:solidFill>
                <a:latin typeface="Calibri"/>
              </a:rPr>
              <a:t>scheduling</a:t>
            </a:r>
            <a:r>
              <a:rPr lang="es-ES" sz="1350" b="0" strike="noStrike" spc="-1">
                <a:solidFill>
                  <a:srgbClr val="000000"/>
                </a:solidFill>
                <a:latin typeface="Calibri"/>
              </a:rPr>
              <a:t> en dos módulos, el de bajo nivel se ejecuta con cada tick y determina si el proceso actual debe ser expulsado y cuál ocupará la CPU. El de alto nivel entra a ejecutarse con una frecuencia mucho menor y se encarga de la gestión de las prioridades dinámicas.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ULE es muy eficaz para sistemas con mucha interactividad, como los equipos de usuario (mac OS es un derivado de FreeBSD).</a:t>
            </a:r>
            <a:endParaRPr lang="es-ES" sz="1350" b="0" strike="noStrike" spc="-1">
              <a:latin typeface="Arial"/>
            </a:endParaRPr>
          </a:p>
          <a:p>
            <a:pPr algn="just">
              <a:lnSpc>
                <a:spcPct val="100000"/>
              </a:lnSpc>
            </a:pPr>
            <a:endParaRPr lang="es-ES" sz="1350" b="0" strike="noStrike" spc="-1">
              <a:latin typeface="Arial"/>
            </a:endParaRPr>
          </a:p>
        </p:txBody>
      </p:sp>
      <p:sp>
        <p:nvSpPr>
          <p:cNvPr id="1072" name="CustomShape 3"/>
          <p:cNvSpPr/>
          <p:nvPr/>
        </p:nvSpPr>
        <p:spPr>
          <a:xfrm>
            <a:off x="2771640" y="4784040"/>
            <a:ext cx="4558320" cy="257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100" b="0" strike="noStrike" spc="-1">
                <a:solidFill>
                  <a:srgbClr val="000000"/>
                </a:solidFill>
                <a:latin typeface="Calibri"/>
              </a:rPr>
              <a:t>Información detallada en </a:t>
            </a:r>
            <a:r>
              <a:rPr lang="es-ES" sz="1100" b="0" u="sng" strike="noStrike" spc="-1">
                <a:solidFill>
                  <a:srgbClr val="0563C1"/>
                </a:solidFill>
                <a:uFillTx/>
                <a:latin typeface="Calibri"/>
                <a:hlinkClick r:id="rId3"/>
              </a:rPr>
              <a:t>https://web.cs.ucdavis.edu/~roper/ecs150/ULE.pdf</a:t>
            </a:r>
            <a:endParaRPr lang="es-ES" sz="1100" b="0" strike="noStrike" spc="-1">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74" name="CustomShape 2"/>
          <p:cNvSpPr/>
          <p:nvPr/>
        </p:nvSpPr>
        <p:spPr>
          <a:xfrm>
            <a:off x="1896120" y="885240"/>
            <a:ext cx="6797880" cy="1734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xv6</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Como implementación muy simple de un sistema tipo Unix, el scheduler de xv6 no se acerca a los niveles de sofisticación de CFS o ULE.</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La planificación se hace mediante una cola única de procesos, sin prioridades, con Round Robin y un quantum único de 100 ms. </a:t>
            </a:r>
            <a:endParaRPr lang="es-ES" sz="1350" b="0" strike="noStrike" spc="-1">
              <a:latin typeface="Arial"/>
            </a:endParaRPr>
          </a:p>
          <a:p>
            <a:pPr algn="just">
              <a:lnSpc>
                <a:spcPct val="100000"/>
              </a:lnSpc>
            </a:pPr>
            <a:endParaRPr lang="es-ES" sz="1350" b="0" strike="noStrike" spc="-1">
              <a:latin typeface="Arial"/>
            </a:endParaRPr>
          </a:p>
        </p:txBody>
      </p:sp>
      <p:pic>
        <p:nvPicPr>
          <p:cNvPr id="1075" name="Picture 2"/>
          <p:cNvPicPr/>
          <p:nvPr/>
        </p:nvPicPr>
        <p:blipFill>
          <a:blip r:embed="rId3"/>
          <a:stretch/>
        </p:blipFill>
        <p:spPr>
          <a:xfrm>
            <a:off x="2154240" y="2844000"/>
            <a:ext cx="5803200" cy="1893960"/>
          </a:xfrm>
          <a:prstGeom prst="rect">
            <a:avLst/>
          </a:prstGeom>
          <a:ln>
            <a:noFill/>
          </a:ln>
        </p:spPr>
      </p:pic>
      <p:sp>
        <p:nvSpPr>
          <p:cNvPr id="1076" name="CustomShape 3"/>
          <p:cNvSpPr/>
          <p:nvPr/>
        </p:nvSpPr>
        <p:spPr>
          <a:xfrm>
            <a:off x="6571800" y="4610880"/>
            <a:ext cx="2224800" cy="295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ES" sz="1350" b="0" strike="noStrike" spc="-1">
                <a:solidFill>
                  <a:srgbClr val="000000"/>
                </a:solidFill>
                <a:latin typeface="Calibri"/>
              </a:rPr>
              <a:t>Estados de un proceso en xv6</a:t>
            </a:r>
            <a:endParaRPr lang="es-ES" sz="1350" b="0" strike="noStrike" spc="-1">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 name="TextShape 1"/>
          <p:cNvSpPr txBox="1"/>
          <p:nvPr/>
        </p:nvSpPr>
        <p:spPr>
          <a:xfrm>
            <a:off x="1776240" y="228600"/>
            <a:ext cx="7049520" cy="530280"/>
          </a:xfrm>
          <a:prstGeom prst="rect">
            <a:avLst/>
          </a:prstGeom>
          <a:noFill/>
          <a:ln>
            <a:noFill/>
          </a:ln>
        </p:spPr>
        <p:txBody>
          <a:bodyPr anchor="b"/>
          <a:lstStyle/>
          <a:p>
            <a:pPr>
              <a:lnSpc>
                <a:spcPct val="90000"/>
              </a:lnSpc>
            </a:pPr>
            <a:r>
              <a:rPr lang="es-ES" sz="3600" b="0" strike="noStrike" spc="-1">
                <a:solidFill>
                  <a:srgbClr val="5B9BD5"/>
                </a:solidFill>
                <a:latin typeface="Calibri Light"/>
              </a:rPr>
              <a:t>Planificación</a:t>
            </a:r>
            <a:endParaRPr lang="es-ES" sz="3600" b="0" strike="noStrike" spc="-1">
              <a:solidFill>
                <a:srgbClr val="000000"/>
              </a:solidFill>
              <a:latin typeface="Calibri"/>
            </a:endParaRPr>
          </a:p>
        </p:txBody>
      </p:sp>
      <p:sp>
        <p:nvSpPr>
          <p:cNvPr id="1078" name="CustomShape 2"/>
          <p:cNvSpPr/>
          <p:nvPr/>
        </p:nvSpPr>
        <p:spPr>
          <a:xfrm>
            <a:off x="1896120" y="885240"/>
            <a:ext cx="6705000" cy="379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s-ES" sz="1350" b="1" u="sng" strike="noStrike" spc="-1">
                <a:solidFill>
                  <a:srgbClr val="000000"/>
                </a:solidFill>
                <a:uFillTx/>
                <a:latin typeface="Calibri"/>
              </a:rPr>
              <a:t>Threads</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Cuando se programa con threads hay dos niveles superpuestos de paralelismo el del proceso y el del hilo (thread). La gestión difiere si los threads se ejecutan en el espacio de usuario o en el de sistema. En el primero (p. ej. threads en Java), el scheduler es parte de la librería de threads y transparente al Sistema Operativo, se ejecutará cuando el proceso en sí tenga la CPU. No entraremos en su descripción, aunque una característica notable es que por su propia naturaleza la planificación en este nivel es no expulsiva y el thread se ejecutará de principio a fin.</a:t>
            </a:r>
            <a:endParaRPr lang="es-ES" sz="1350" b="0" strike="noStrike" spc="-1">
              <a:latin typeface="Arial"/>
            </a:endParaRPr>
          </a:p>
          <a:p>
            <a:pPr algn="just">
              <a:lnSpc>
                <a:spcPct val="100000"/>
              </a:lnSpc>
            </a:pPr>
            <a:endParaRPr lang="es-ES" sz="1350" b="0" strike="noStrike" spc="-1">
              <a:latin typeface="Arial"/>
            </a:endParaRPr>
          </a:p>
          <a:p>
            <a:pPr algn="just">
              <a:lnSpc>
                <a:spcPct val="100000"/>
              </a:lnSpc>
            </a:pPr>
            <a:r>
              <a:rPr lang="es-ES" sz="1350" b="0" strike="noStrike" spc="-1">
                <a:solidFill>
                  <a:srgbClr val="000000"/>
                </a:solidFill>
                <a:latin typeface="Calibri"/>
              </a:rPr>
              <a:t>Si los threads son de sistema, los threads se planifican como si fueran procesos, tal y como hemos descrito hasta ahora por simplificar. De hecho, </a:t>
            </a:r>
            <a:r>
              <a:rPr lang="es-ES" sz="1350" b="1" strike="noStrike" spc="-1">
                <a:solidFill>
                  <a:srgbClr val="000000"/>
                </a:solidFill>
                <a:latin typeface="Calibri"/>
              </a:rPr>
              <a:t>tanto Unix como Windows usan el thread como unidad de planificación</a:t>
            </a:r>
            <a:r>
              <a:rPr lang="es-ES" sz="1350" b="0" strike="noStrike" spc="-1">
                <a:solidFill>
                  <a:srgbClr val="000000"/>
                </a:solidFill>
                <a:latin typeface="Calibri"/>
              </a:rPr>
              <a:t>. La diferencia es que el cambio de contexto entre threads es mucho más rápido que entre procesos. Si el proceso es monothread tendrá solo una entrada en el planificador, si tiene varios, una por cada uno. El estado de los threads de un mismo proceso no tiene por qué coincidir, puede haber hilos en bloqueo y otros listos para ejecución.</a:t>
            </a:r>
            <a:endParaRPr lang="es-ES" sz="1350" b="0" strike="noStrike" spc="-1">
              <a:latin typeface="Arial"/>
            </a:endParaRPr>
          </a:p>
          <a:p>
            <a:pPr algn="just">
              <a:lnSpc>
                <a:spcPct val="100000"/>
              </a:lnSpc>
            </a:pPr>
            <a:endParaRPr lang="es-ES" sz="135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8539</Words>
  <Application>Microsoft Office PowerPoint</Application>
  <PresentationFormat>Presentación en pantalla (16:9)</PresentationFormat>
  <Paragraphs>1070</Paragraphs>
  <Slides>62</Slides>
  <Notes>53</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62</vt:i4>
      </vt:variant>
    </vt:vector>
  </HeadingPairs>
  <TitlesOfParts>
    <vt:vector size="73" baseType="lpstr">
      <vt:lpstr>Arial</vt:lpstr>
      <vt:lpstr>Bradley Hand ITC</vt:lpstr>
      <vt:lpstr>Calibri</vt:lpstr>
      <vt:lpstr>Calibri Light</vt:lpstr>
      <vt:lpstr>Haettenschweiler</vt:lpstr>
      <vt:lpstr>Lucida Console</vt:lpstr>
      <vt:lpstr>Lucida Sans Typewriter</vt:lpstr>
      <vt:lpstr>Symbol</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Pontificia Comillas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 la presentación</dc:title>
  <dc:subject/>
  <dc:creator>Carmen Escudero Guirado</dc:creator>
  <dc:description/>
  <cp:lastModifiedBy>Miguel Mesas</cp:lastModifiedBy>
  <cp:revision>681</cp:revision>
  <dcterms:created xsi:type="dcterms:W3CDTF">2017-07-19T07:53:01Z</dcterms:created>
  <dcterms:modified xsi:type="dcterms:W3CDTF">2022-10-09T22:21:04Z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Universidad Pontificia Comillas</vt:lpwstr>
  </property>
  <property fmtid="{D5CDD505-2E9C-101B-9397-08002B2CF9AE}" pid="4" name="ContentTypeId">
    <vt:lpwstr>0x010100AE6A9B1AE3C694449E1CBECB26767C28</vt:lpwstr>
  </property>
  <property fmtid="{D5CDD505-2E9C-101B-9397-08002B2CF9AE}" pid="5" name="HiddenSlides">
    <vt:i4>0</vt:i4>
  </property>
  <property fmtid="{D5CDD505-2E9C-101B-9397-08002B2CF9AE}" pid="6" name="HyperlinksChanged">
    <vt:bool>false</vt:bool>
  </property>
  <property fmtid="{D5CDD505-2E9C-101B-9397-08002B2CF9AE}" pid="7" name="LinksUpToDate">
    <vt:bool>false</vt:bool>
  </property>
  <property fmtid="{D5CDD505-2E9C-101B-9397-08002B2CF9AE}" pid="8" name="MMClips">
    <vt:i4>0</vt:i4>
  </property>
  <property fmtid="{D5CDD505-2E9C-101B-9397-08002B2CF9AE}" pid="9" name="Notes">
    <vt:i4>51</vt:i4>
  </property>
  <property fmtid="{D5CDD505-2E9C-101B-9397-08002B2CF9AE}" pid="10" name="PresentationFormat">
    <vt:lpwstr>Presentación en pantalla (16:9)</vt:lpwstr>
  </property>
  <property fmtid="{D5CDD505-2E9C-101B-9397-08002B2CF9AE}" pid="11" name="ScaleCrop">
    <vt:bool>false</vt:bool>
  </property>
  <property fmtid="{D5CDD505-2E9C-101B-9397-08002B2CF9AE}" pid="12" name="ShareDoc">
    <vt:bool>false</vt:bool>
  </property>
  <property fmtid="{D5CDD505-2E9C-101B-9397-08002B2CF9AE}" pid="13" name="Slides">
    <vt:i4>60</vt:i4>
  </property>
</Properties>
</file>