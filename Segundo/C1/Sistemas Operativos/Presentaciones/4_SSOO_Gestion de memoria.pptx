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5"/>
  </p:notesMasterIdLst>
  <p:handoutMasterIdLst>
    <p:handoutMasterId r:id="rId76"/>
  </p:handoutMasterIdLst>
  <p:sldIdLst>
    <p:sldId id="256" r:id="rId5"/>
    <p:sldId id="260" r:id="rId6"/>
    <p:sldId id="306" r:id="rId7"/>
    <p:sldId id="362" r:id="rId8"/>
    <p:sldId id="319" r:id="rId9"/>
    <p:sldId id="320" r:id="rId10"/>
    <p:sldId id="321" r:id="rId11"/>
    <p:sldId id="322" r:id="rId12"/>
    <p:sldId id="323" r:id="rId13"/>
    <p:sldId id="324" r:id="rId14"/>
    <p:sldId id="325" r:id="rId15"/>
    <p:sldId id="384" r:id="rId16"/>
    <p:sldId id="385" r:id="rId17"/>
    <p:sldId id="326" r:id="rId18"/>
    <p:sldId id="327" r:id="rId19"/>
    <p:sldId id="328" r:id="rId20"/>
    <p:sldId id="329" r:id="rId21"/>
    <p:sldId id="330" r:id="rId22"/>
    <p:sldId id="332" r:id="rId23"/>
    <p:sldId id="386" r:id="rId24"/>
    <p:sldId id="349" r:id="rId25"/>
    <p:sldId id="331" r:id="rId26"/>
    <p:sldId id="350" r:id="rId27"/>
    <p:sldId id="351" r:id="rId28"/>
    <p:sldId id="333" r:id="rId29"/>
    <p:sldId id="364" r:id="rId30"/>
    <p:sldId id="365" r:id="rId31"/>
    <p:sldId id="366" r:id="rId32"/>
    <p:sldId id="368" r:id="rId33"/>
    <p:sldId id="367" r:id="rId34"/>
    <p:sldId id="369" r:id="rId35"/>
    <p:sldId id="377" r:id="rId36"/>
    <p:sldId id="363" r:id="rId37"/>
    <p:sldId id="353" r:id="rId38"/>
    <p:sldId id="354" r:id="rId39"/>
    <p:sldId id="352" r:id="rId40"/>
    <p:sldId id="334" r:id="rId41"/>
    <p:sldId id="355" r:id="rId42"/>
    <p:sldId id="335" r:id="rId43"/>
    <p:sldId id="345" r:id="rId44"/>
    <p:sldId id="336" r:id="rId45"/>
    <p:sldId id="337" r:id="rId46"/>
    <p:sldId id="338" r:id="rId47"/>
    <p:sldId id="356" r:id="rId48"/>
    <p:sldId id="339" r:id="rId49"/>
    <p:sldId id="357" r:id="rId50"/>
    <p:sldId id="341" r:id="rId51"/>
    <p:sldId id="342" r:id="rId52"/>
    <p:sldId id="343" r:id="rId53"/>
    <p:sldId id="358" r:id="rId54"/>
    <p:sldId id="340" r:id="rId55"/>
    <p:sldId id="346" r:id="rId56"/>
    <p:sldId id="348" r:id="rId57"/>
    <p:sldId id="347" r:id="rId58"/>
    <p:sldId id="380" r:id="rId59"/>
    <p:sldId id="359" r:id="rId60"/>
    <p:sldId id="360" r:id="rId61"/>
    <p:sldId id="361" r:id="rId62"/>
    <p:sldId id="370" r:id="rId63"/>
    <p:sldId id="381" r:id="rId64"/>
    <p:sldId id="382" r:id="rId65"/>
    <p:sldId id="371" r:id="rId66"/>
    <p:sldId id="383" r:id="rId67"/>
    <p:sldId id="372" r:id="rId68"/>
    <p:sldId id="373" r:id="rId69"/>
    <p:sldId id="374" r:id="rId70"/>
    <p:sldId id="376" r:id="rId71"/>
    <p:sldId id="378" r:id="rId72"/>
    <p:sldId id="375" r:id="rId73"/>
    <p:sldId id="379" r:id="rId74"/>
  </p:sldIdLst>
  <p:sldSz cx="9144000" cy="5143500" type="screen16x9"/>
  <p:notesSz cx="6858000" cy="9144000"/>
  <p:defaultTex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EAF9"/>
    <a:srgbClr val="E79DE2"/>
    <a:srgbClr val="ED7D31"/>
    <a:srgbClr val="0D4B92"/>
    <a:srgbClr val="0D4C92"/>
    <a:srgbClr val="0C4B91"/>
    <a:srgbClr val="2C34A3"/>
    <a:srgbClr val="E8BA00"/>
    <a:srgbClr val="F6B7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6456" autoAdjust="0"/>
  </p:normalViewPr>
  <p:slideViewPr>
    <p:cSldViewPr snapToGrid="0" showGuides="1">
      <p:cViewPr varScale="1">
        <p:scale>
          <a:sx n="111" d="100"/>
          <a:sy n="111" d="100"/>
        </p:scale>
        <p:origin x="420" y="45"/>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52" d="100"/>
          <a:sy n="52" d="100"/>
        </p:scale>
        <p:origin x="1040" y="-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110F86B-BA5B-456A-9F15-1001DA431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4" name="Marcador de pie de página 3">
            <a:extLst>
              <a:ext uri="{FF2B5EF4-FFF2-40B4-BE49-F238E27FC236}">
                <a16:creationId xmlns:a16="http://schemas.microsoft.com/office/drawing/2014/main" id="{8D0B463B-5C76-4972-A160-AB124013E3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A52D53BC-EDAA-4129-A929-3C6EABA6580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9F88C2-1804-4662-92F3-C7C5F0CE9812}" type="slidenum">
              <a:rPr lang="es-ES" smtClean="0"/>
              <a:t>‹Nº›</a:t>
            </a:fld>
            <a:endParaRPr lang="es-ES"/>
          </a:p>
        </p:txBody>
      </p:sp>
    </p:spTree>
    <p:extLst>
      <p:ext uri="{BB962C8B-B14F-4D97-AF65-F5344CB8AC3E}">
        <p14:creationId xmlns:p14="http://schemas.microsoft.com/office/powerpoint/2010/main" val="28215942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4FE8B-16C8-4AC4-B2E8-25ABD55C296B}" type="datetimeFigureOut">
              <a:rPr lang="es-ES" smtClean="0"/>
              <a:t>03/11/2023</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525962-8DFE-4459-9D66-AC5413CC5D6A}" type="slidenum">
              <a:rPr lang="es-ES" smtClean="0"/>
              <a:t>‹Nº›</a:t>
            </a:fld>
            <a:endParaRPr lang="es-ES"/>
          </a:p>
        </p:txBody>
      </p:sp>
    </p:spTree>
    <p:extLst>
      <p:ext uri="{BB962C8B-B14F-4D97-AF65-F5344CB8AC3E}">
        <p14:creationId xmlns:p14="http://schemas.microsoft.com/office/powerpoint/2010/main" val="483859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s.wikipedia.org/wiki/Inform%C3%A1tica"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es.wikipedia.org/wiki/CPU" TargetMode="External"/><Relationship Id="rId5" Type="http://schemas.openxmlformats.org/officeDocument/2006/relationships/hyperlink" Target="https://es.wikipedia.org/wiki/Arquitectura_de_ordenadores" TargetMode="External"/><Relationship Id="rId4" Type="http://schemas.openxmlformats.org/officeDocument/2006/relationships/hyperlink" Target="https://es.wikipedia.org/wiki/Bit"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99525962-8DFE-4459-9D66-AC5413CC5D6A}" type="slidenum">
              <a:rPr lang="es-ES" smtClean="0"/>
              <a:t>1</a:t>
            </a:fld>
            <a:endParaRPr lang="es-ES"/>
          </a:p>
        </p:txBody>
      </p:sp>
    </p:spTree>
    <p:extLst>
      <p:ext uri="{BB962C8B-B14F-4D97-AF65-F5344CB8AC3E}">
        <p14:creationId xmlns:p14="http://schemas.microsoft.com/office/powerpoint/2010/main" val="989733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a:t>
            </a:fld>
            <a:endParaRPr lang="es-ES"/>
          </a:p>
        </p:txBody>
      </p:sp>
    </p:spTree>
    <p:extLst>
      <p:ext uri="{BB962C8B-B14F-4D97-AF65-F5344CB8AC3E}">
        <p14:creationId xmlns:p14="http://schemas.microsoft.com/office/powerpoint/2010/main" val="207955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https://en.m.wikipedia.org/wiki/File:ComputerMemoryHierarchy.svg</a:t>
            </a:r>
          </a:p>
          <a:p>
            <a:endParaRPr lang="es-ES" dirty="0"/>
          </a:p>
          <a:p>
            <a:r>
              <a:rPr lang="es-ES" dirty="0"/>
              <a:t>En la máquina de </a:t>
            </a:r>
            <a:r>
              <a:rPr lang="es-ES" dirty="0" err="1"/>
              <a:t>von</a:t>
            </a:r>
            <a:r>
              <a:rPr lang="es-ES" dirty="0"/>
              <a:t> Neumann, la CPU accede a la memoria RAM directamente, escribiendo la dirección física de la palabra que quiere leer o escribir.</a:t>
            </a:r>
          </a:p>
          <a:p>
            <a:r>
              <a:rPr lang="es-ES" dirty="0"/>
              <a:t>En los microprocesadores de 8 bits, el bus de direcciones tenía 16 bits y el máximo de memoria era 2</a:t>
            </a:r>
            <a:r>
              <a:rPr lang="es-ES" baseline="30000" dirty="0"/>
              <a:t>16</a:t>
            </a:r>
            <a:r>
              <a:rPr lang="es-ES" dirty="0"/>
              <a:t> = 2</a:t>
            </a:r>
            <a:r>
              <a:rPr lang="es-ES" baseline="30000" dirty="0"/>
              <a:t>6</a:t>
            </a:r>
            <a:r>
              <a:rPr lang="es-ES" dirty="0"/>
              <a:t> x 2</a:t>
            </a:r>
            <a:r>
              <a:rPr lang="es-ES" baseline="30000" dirty="0"/>
              <a:t>10</a:t>
            </a:r>
            <a:r>
              <a:rPr lang="es-ES" dirty="0"/>
              <a:t> = 64 kB </a:t>
            </a:r>
          </a:p>
          <a:p>
            <a:r>
              <a:rPr lang="es-ES" dirty="0"/>
              <a:t>En la arquitectura de 32 bits (por ejemplo Intel 386), el máximo tamaño de la RAM era 2</a:t>
            </a:r>
            <a:r>
              <a:rPr lang="es-ES" baseline="30000" dirty="0"/>
              <a:t>32</a:t>
            </a:r>
            <a:r>
              <a:rPr lang="es-ES" dirty="0"/>
              <a:t>=2</a:t>
            </a:r>
            <a:r>
              <a:rPr lang="es-ES" baseline="30000" dirty="0"/>
              <a:t>2</a:t>
            </a:r>
            <a:r>
              <a:rPr lang="es-ES" dirty="0"/>
              <a:t> x 2</a:t>
            </a:r>
            <a:r>
              <a:rPr lang="es-ES" baseline="30000" dirty="0"/>
              <a:t>30</a:t>
            </a:r>
            <a:r>
              <a:rPr lang="es-ES" dirty="0"/>
              <a:t> = 4 GB</a:t>
            </a:r>
          </a:p>
          <a:p>
            <a:r>
              <a:rPr lang="es-ES" dirty="0"/>
              <a:t>En las arquitecturas de 64 bits el límite teórico son 16 EB (</a:t>
            </a:r>
            <a:r>
              <a:rPr lang="es-ES" dirty="0" err="1"/>
              <a:t>ExaBytes</a:t>
            </a:r>
            <a:r>
              <a:rPr lang="es-ES" dirty="0"/>
              <a:t>)</a:t>
            </a:r>
          </a:p>
          <a:p>
            <a:endParaRPr lang="es-ES" dirty="0"/>
          </a:p>
          <a:p>
            <a:r>
              <a:rPr lang="es-ES" dirty="0"/>
              <a:t>Si tenemos muchos procesos a la vez, el tamaño de memoria necesario excedería el máximo de RAM, pero podemos conseguir que en cada momento solo estén cargados los fragmentos de código y datos necesarios para la ejecución. Esto se logra con la memoria virtual y el método de paginación. Aquello que no puede estar en RAM, está en disco, en una zona especial llamada “de intercambio” (</a:t>
            </a:r>
            <a:r>
              <a:rPr lang="es-ES" dirty="0" err="1"/>
              <a:t>swapping</a:t>
            </a:r>
            <a:r>
              <a:rPr lang="es-ES" dirty="0"/>
              <a:t>). La lectura desde disco es muy lenta comparada con la lectura de memoria por lo que habrá que limitar al máximo esos accesos.</a:t>
            </a:r>
          </a:p>
          <a:p>
            <a:endParaRPr lang="es-ES" dirty="0"/>
          </a:p>
          <a:p>
            <a:r>
              <a:rPr lang="es-ES" dirty="0"/>
              <a:t>Dentro de la CPU hay unos registros de propósito general, que son muy rápidos. Los compiladores optimizan el código máquina para hacer uso intensivo de estos registros, pero son insuficientes. Como la lectura de la RAM es muchísimo más lenta, los microprocesadores modernos llevan memoria caché. Es un buffer de memoria, construido en el propio sustrato de silicio del microprocesador, de acceso rapidísimo. Como los programas tienden a repetir instrucciones (localidad temporal), y a ejecutar de forma lineal (localidad espacial), si tenemos cargados esos fragmentos en la caché la velocidad de ejecución se acelera mucho. Cuando no es así, se produce un “fallo de página” y la caché debe actualizarse desde la RAM. Todo esto se hace por hardware, el SSOO no interviene. Puede haber varios niveles de caché.</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a:t>
            </a:fld>
            <a:endParaRPr lang="es-ES"/>
          </a:p>
        </p:txBody>
      </p:sp>
    </p:spTree>
    <p:extLst>
      <p:ext uri="{BB962C8B-B14F-4D97-AF65-F5344CB8AC3E}">
        <p14:creationId xmlns:p14="http://schemas.microsoft.com/office/powerpoint/2010/main" val="3601220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P1-&gt; ¿Qué es el conjunto de trabajo?: fragmento de código y datos que se acceden de forma repetida durante un periodo breve.</a:t>
            </a:r>
          </a:p>
          <a:p>
            <a:endParaRPr lang="es-ES" dirty="0"/>
          </a:p>
          <a:p>
            <a:r>
              <a:rPr lang="es-ES" b="1" dirty="0">
                <a:effectLst/>
                <a:ea typeface="Arial" panose="020B0604020202020204" pitchFamily="34" charset="0"/>
                <a:cs typeface="Arial" panose="020B0604020202020204" pitchFamily="34" charset="0"/>
              </a:rPr>
              <a:t>1.2.2</a:t>
            </a:r>
            <a:r>
              <a:rPr lang="es-ES" sz="1800" b="1" dirty="0">
                <a:effectLst/>
                <a:latin typeface="Times New Roman" panose="02020603050405020304" pitchFamily="18" charset="0"/>
                <a:ea typeface="Arial" panose="020B0604020202020204" pitchFamily="34" charset="0"/>
                <a:cs typeface="Arial" panose="020B0604020202020204" pitchFamily="34" charset="0"/>
              </a:rPr>
              <a:t>       </a:t>
            </a:r>
            <a:r>
              <a:rPr lang="es-ES" b="1" dirty="0">
                <a:effectLst/>
              </a:rPr>
              <a:t>Principio de localidad temporal</a:t>
            </a:r>
            <a:endParaRPr lang="es-ES" b="1" dirty="0"/>
          </a:p>
          <a:p>
            <a:pPr algn="just"/>
            <a:r>
              <a:rPr lang="es-ES" dirty="0">
                <a:effectLst/>
              </a:rPr>
              <a:t>Si en un momento dado se accede a una posición de memoria, es probable que poco después se acceda a esa misma dirección de memoria. Un ejemplo de localidad temporal en el acceso a código se encuentra también en la ejecución de bucles, la misma instrucción se accede para ejecutarla varias veces. Un ejemplo de localidad temporal en el acceso a datos es por ejemplo el acceso a un contador durante la ejecución de un bucle. </a:t>
            </a:r>
          </a:p>
          <a:p>
            <a:pPr algn="just"/>
            <a:r>
              <a:rPr lang="es-ES" dirty="0">
                <a:effectLst/>
              </a:rPr>
              <a:t> </a:t>
            </a:r>
          </a:p>
          <a:p>
            <a:r>
              <a:rPr lang="es-ES" b="1" dirty="0">
                <a:effectLst/>
                <a:ea typeface="Arial" panose="020B0604020202020204" pitchFamily="34" charset="0"/>
                <a:cs typeface="Arial" panose="020B0604020202020204" pitchFamily="34" charset="0"/>
              </a:rPr>
              <a:t>1.2.3</a:t>
            </a:r>
            <a:r>
              <a:rPr lang="es-ES" sz="1800" b="1" dirty="0">
                <a:effectLst/>
                <a:latin typeface="Times New Roman" panose="02020603050405020304" pitchFamily="18" charset="0"/>
                <a:ea typeface="Arial" panose="020B0604020202020204" pitchFamily="34" charset="0"/>
                <a:cs typeface="Arial" panose="020B0604020202020204" pitchFamily="34" charset="0"/>
              </a:rPr>
              <a:t>       </a:t>
            </a:r>
            <a:r>
              <a:rPr lang="es-ES" b="1" dirty="0">
                <a:effectLst/>
              </a:rPr>
              <a:t>Principio de localidad espacial</a:t>
            </a:r>
            <a:endParaRPr lang="es-ES" b="1" dirty="0"/>
          </a:p>
          <a:p>
            <a:pPr algn="just"/>
            <a:r>
              <a:rPr lang="es-ES" dirty="0">
                <a:effectLst/>
              </a:rPr>
              <a:t>Este principio indica que: si en un momento dado se accede a una dirección de memoria, es probable que poco después se acceda a una dirección de memoria cercana. Un ejemplo de localidad espacial es el acceso al código durante la ejecución secuencial de un programa. Otro ejemplo se tiene en el acceso a los datos de un array.</a:t>
            </a:r>
          </a:p>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a:t>
            </a:fld>
            <a:endParaRPr lang="es-ES"/>
          </a:p>
        </p:txBody>
      </p:sp>
    </p:spTree>
    <p:extLst>
      <p:ext uri="{BB962C8B-B14F-4D97-AF65-F5344CB8AC3E}">
        <p14:creationId xmlns:p14="http://schemas.microsoft.com/office/powerpoint/2010/main" val="1904023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https://es.wikipedia.org/wiki/Kibibyte</a:t>
            </a:r>
          </a:p>
          <a:p>
            <a:endParaRPr lang="es-ES" dirty="0"/>
          </a:p>
          <a:p>
            <a:r>
              <a:rPr lang="es-ES" dirty="0"/>
              <a:t>Una </a:t>
            </a:r>
            <a:r>
              <a:rPr lang="es-ES" b="1" dirty="0"/>
              <a:t>palabra</a:t>
            </a:r>
            <a:r>
              <a:rPr lang="es-ES" dirty="0"/>
              <a:t> en la </a:t>
            </a:r>
            <a:r>
              <a:rPr lang="es-ES" b="1" dirty="0"/>
              <a:t>memoria</a:t>
            </a:r>
            <a:r>
              <a:rPr lang="es-ES" dirty="0"/>
              <a:t> es una entidad de bits </a:t>
            </a:r>
            <a:r>
              <a:rPr lang="es-ES" b="1" dirty="0"/>
              <a:t>que</a:t>
            </a:r>
            <a:r>
              <a:rPr lang="es-ES" dirty="0"/>
              <a:t> se introducen o se sacan del almacenamiento </a:t>
            </a:r>
            <a:r>
              <a:rPr lang="es-ES" b="1" dirty="0"/>
              <a:t>como</a:t>
            </a:r>
            <a:r>
              <a:rPr lang="es-ES" dirty="0"/>
              <a:t> una unidad. Una </a:t>
            </a:r>
            <a:r>
              <a:rPr lang="es-ES" b="1" dirty="0"/>
              <a:t>palabra de memoria</a:t>
            </a:r>
            <a:r>
              <a:rPr lang="es-ES" dirty="0"/>
              <a:t> es un grupo de números 1 y 0 </a:t>
            </a:r>
            <a:r>
              <a:rPr lang="es-ES" b="1" dirty="0"/>
              <a:t>que</a:t>
            </a:r>
            <a:r>
              <a:rPr lang="es-ES" dirty="0"/>
              <a:t> puede representar un número, un código de instrucción, uno o mas caracteres alfanuméricos o cualquier otra información en código binario.</a:t>
            </a:r>
          </a:p>
          <a:p>
            <a:endParaRPr lang="es-ES" dirty="0"/>
          </a:p>
          <a:p>
            <a:r>
              <a:rPr lang="es-ES" dirty="0"/>
              <a:t>En el contexto de la </a:t>
            </a:r>
            <a:r>
              <a:rPr lang="es-ES" dirty="0">
                <a:hlinkClick r:id="rId3" tooltip="Informática"/>
              </a:rPr>
              <a:t>informática</a:t>
            </a:r>
            <a:r>
              <a:rPr lang="es-ES" dirty="0"/>
              <a:t>, una </a:t>
            </a:r>
            <a:r>
              <a:rPr lang="es-ES" b="1" dirty="0"/>
              <a:t>palabra</a:t>
            </a:r>
            <a:r>
              <a:rPr lang="es-ES" dirty="0"/>
              <a:t> es una cadena finita de </a:t>
            </a:r>
            <a:r>
              <a:rPr lang="es-ES" dirty="0">
                <a:hlinkClick r:id="rId4" tooltip="Bit"/>
              </a:rPr>
              <a:t>bits</a:t>
            </a:r>
            <a:r>
              <a:rPr lang="es-ES" dirty="0"/>
              <a:t> que son manejados como un conjunto por la máquina. El tamaño o longitud de una palabra hace referencia al número de bits contenidos en ella, y es un aspecto muy importante al momento de diseñar una </a:t>
            </a:r>
            <a:r>
              <a:rPr lang="es-ES" dirty="0">
                <a:hlinkClick r:id="rId5" tooltip="Arquitectura de ordenadores"/>
              </a:rPr>
              <a:t>arquitectura de ordenadores</a:t>
            </a:r>
            <a:r>
              <a:rPr lang="es-ES" dirty="0"/>
              <a:t>. </a:t>
            </a:r>
          </a:p>
          <a:p>
            <a:endParaRPr lang="es-ES" dirty="0"/>
          </a:p>
          <a:p>
            <a:r>
              <a:rPr lang="es-ES" dirty="0"/>
              <a:t>El tamaño de una palabra se refleja en muchos aspectos de la estructura y las operaciones de las computadoras. La mayoría de los registros en un ordenador normalmente tienen el tamaño de la palabra. El valor numérico típico manipulado por un ordenador es probablemente el tamaño de palabra. La cantidad de datos transferidos entre la </a:t>
            </a:r>
            <a:r>
              <a:rPr lang="es-ES" dirty="0">
                <a:hlinkClick r:id="rId6" tooltip="CPU"/>
              </a:rPr>
              <a:t>CPU</a:t>
            </a:r>
            <a:r>
              <a:rPr lang="es-ES" dirty="0"/>
              <a:t> del ordenador y el sistema de memoria a menudo es más de una palabra. Una dirección utilizada para designar una localización de memoria a menudo ocupa una palabra. </a:t>
            </a:r>
          </a:p>
          <a:p>
            <a:r>
              <a:rPr lang="es-ES" dirty="0"/>
              <a:t>Los ordenadores modernos normalmente tienen un tamaño de palabra de 16, 32 o 64 bits. </a:t>
            </a:r>
          </a:p>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a:t>
            </a:fld>
            <a:endParaRPr lang="es-ES"/>
          </a:p>
        </p:txBody>
      </p:sp>
    </p:spTree>
    <p:extLst>
      <p:ext uri="{BB962C8B-B14F-4D97-AF65-F5344CB8AC3E}">
        <p14:creationId xmlns:p14="http://schemas.microsoft.com/office/powerpoint/2010/main" val="2172868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P2: Bloque. Datos de la RAM que se instancian en una línea de la caché</a:t>
            </a:r>
          </a:p>
          <a:p>
            <a:endParaRPr lang="es-ES" dirty="0"/>
          </a:p>
          <a:p>
            <a:r>
              <a:rPr lang="es-ES" dirty="0"/>
              <a:t>CPU lee y escribe palabras de la RAM</a:t>
            </a:r>
          </a:p>
          <a:p>
            <a:r>
              <a:rPr lang="es-ES" dirty="0" err="1"/>
              <a:t>Mem</a:t>
            </a:r>
            <a:r>
              <a:rPr lang="es-ES" dirty="0"/>
              <a:t> Caché intercambia bloques con la RAM</a:t>
            </a:r>
          </a:p>
          <a:p>
            <a:endParaRPr lang="es-ES" dirty="0"/>
          </a:p>
          <a:p>
            <a:r>
              <a:rPr lang="es-ES" dirty="0"/>
              <a:t>Bloque son conjuntos de 8,16,32 bytes</a:t>
            </a:r>
          </a:p>
          <a:p>
            <a:endParaRPr lang="es-ES" dirty="0"/>
          </a:p>
          <a:p>
            <a:r>
              <a:rPr lang="es-ES" dirty="0" err="1"/>
              <a:t>Linea</a:t>
            </a:r>
            <a:r>
              <a:rPr lang="es-ES" dirty="0"/>
              <a:t> unidad en la que se organiza la caché</a:t>
            </a:r>
          </a:p>
          <a:p>
            <a:endParaRPr lang="es-ES" dirty="0"/>
          </a:p>
          <a:p>
            <a:r>
              <a:rPr lang="es-ES" dirty="0"/>
              <a:t>Tamaño de línea coincide con el conjunto de bytes del bloque</a:t>
            </a:r>
          </a:p>
          <a:p>
            <a:endParaRPr lang="es-ES" dirty="0"/>
          </a:p>
          <a:p>
            <a:pPr algn="just"/>
            <a:r>
              <a:rPr lang="es-ES" dirty="0">
                <a:effectLst/>
              </a:rPr>
              <a:t>La memoria caché es la memoria más rápida del sistema de memoria. En la actualidad se implementa con chips de memoria RAM estática, los cuales son relativamente caros y de baja capacidad.</a:t>
            </a:r>
          </a:p>
          <a:p>
            <a:pPr algn="just"/>
            <a:r>
              <a:rPr lang="es-ES" dirty="0">
                <a:effectLst/>
              </a:rPr>
              <a:t>La memoria caché se divide en bloques, todos ellos conteniendo el mismo número de bytes. Cada bloque contiene un conjunto de datos ubicados en posiciones de memoria consecutivas. Cada vez que la CPU intenta acceder a una dirección de memoria que no está en ningún bloque de la caché se produce un </a:t>
            </a:r>
            <a:r>
              <a:rPr lang="es-ES" b="1" dirty="0">
                <a:effectLst/>
              </a:rPr>
              <a:t>fallo</a:t>
            </a:r>
            <a:r>
              <a:rPr lang="es-ES" dirty="0">
                <a:effectLst/>
              </a:rPr>
              <a:t> de caché, y en caso contrario un </a:t>
            </a:r>
            <a:r>
              <a:rPr lang="es-ES" b="1" dirty="0">
                <a:effectLst/>
              </a:rPr>
              <a:t>acierto</a:t>
            </a:r>
            <a:r>
              <a:rPr lang="es-ES" dirty="0">
                <a:effectLst/>
              </a:rPr>
              <a:t> de caché. La consecuencia del fallo es que se suspende momentáneamente el acceso, se copia el bloque que contiene la dirección desde la memoria principal a la memoria caché y a continuación se reanuda el acceso. Desde el punto de vista de interacción con la memoria caché, la memoria principal se puede ver como un gran almacén de bloques del mismo tamaño que los bloques de la memoria caché.</a:t>
            </a:r>
          </a:p>
          <a:p>
            <a:pPr algn="just"/>
            <a:r>
              <a:rPr lang="es-ES" dirty="0">
                <a:effectLst/>
              </a:rPr>
              <a:t>Por ejemplo,  una memoria caché de 32 bytes organizada en bloques de 4 bytes tendrá 8 bloques. Si la memoria principal es de 256 bytes, la memoria caché percibe a la memoria principal como 64 bloques de 4 bytes cada uno.</a:t>
            </a:r>
          </a:p>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a:t>
            </a:fld>
            <a:endParaRPr lang="es-ES"/>
          </a:p>
        </p:txBody>
      </p:sp>
    </p:spTree>
    <p:extLst>
      <p:ext uri="{BB962C8B-B14F-4D97-AF65-F5344CB8AC3E}">
        <p14:creationId xmlns:p14="http://schemas.microsoft.com/office/powerpoint/2010/main" val="1856661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7</a:t>
            </a:fld>
            <a:endParaRPr lang="es-ES"/>
          </a:p>
        </p:txBody>
      </p:sp>
    </p:spTree>
    <p:extLst>
      <p:ext uri="{BB962C8B-B14F-4D97-AF65-F5344CB8AC3E}">
        <p14:creationId xmlns:p14="http://schemas.microsoft.com/office/powerpoint/2010/main" val="1893674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dirty="0" err="1">
                <a:solidFill>
                  <a:schemeClr val="tx1"/>
                </a:solidFill>
                <a:latin typeface="Lucida Sans Typewriter" panose="020B0509030504030204" pitchFamily="49" charset="0"/>
              </a:rPr>
              <a:t>t</a:t>
            </a:r>
            <a:r>
              <a:rPr lang="es-ES" sz="1200" baseline="-25000" dirty="0" err="1">
                <a:solidFill>
                  <a:schemeClr val="tx1"/>
                </a:solidFill>
                <a:latin typeface="Lucida Sans Typewriter" panose="020B0509030504030204" pitchFamily="49" charset="0"/>
              </a:rPr>
              <a:t>ef</a:t>
            </a:r>
            <a:r>
              <a:rPr lang="es-ES" sz="1200" dirty="0">
                <a:solidFill>
                  <a:schemeClr val="tx1"/>
                </a:solidFill>
                <a:latin typeface="Lucida Sans Typewriter" panose="020B0509030504030204" pitchFamily="49" charset="0"/>
              </a:rPr>
              <a:t> = 2 x 0.9 + 50*4 x 0.1 =</a:t>
            </a:r>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8</a:t>
            </a:fld>
            <a:endParaRPr lang="es-ES"/>
          </a:p>
        </p:txBody>
      </p:sp>
    </p:spTree>
    <p:extLst>
      <p:ext uri="{BB962C8B-B14F-4D97-AF65-F5344CB8AC3E}">
        <p14:creationId xmlns:p14="http://schemas.microsoft.com/office/powerpoint/2010/main" val="2059861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9</a:t>
            </a:fld>
            <a:endParaRPr lang="es-ES"/>
          </a:p>
        </p:txBody>
      </p:sp>
    </p:spTree>
    <p:extLst>
      <p:ext uri="{BB962C8B-B14F-4D97-AF65-F5344CB8AC3E}">
        <p14:creationId xmlns:p14="http://schemas.microsoft.com/office/powerpoint/2010/main" val="3118587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10</a:t>
            </a:fld>
            <a:endParaRPr lang="es-ES"/>
          </a:p>
        </p:txBody>
      </p:sp>
    </p:spTree>
    <p:extLst>
      <p:ext uri="{BB962C8B-B14F-4D97-AF65-F5344CB8AC3E}">
        <p14:creationId xmlns:p14="http://schemas.microsoft.com/office/powerpoint/2010/main" val="836036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11</a:t>
            </a:fld>
            <a:endParaRPr lang="es-ES"/>
          </a:p>
        </p:txBody>
      </p:sp>
    </p:spTree>
    <p:extLst>
      <p:ext uri="{BB962C8B-B14F-4D97-AF65-F5344CB8AC3E}">
        <p14:creationId xmlns:p14="http://schemas.microsoft.com/office/powerpoint/2010/main" val="979608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12</a:t>
            </a:fld>
            <a:endParaRPr lang="es-ES"/>
          </a:p>
        </p:txBody>
      </p:sp>
    </p:spTree>
    <p:extLst>
      <p:ext uri="{BB962C8B-B14F-4D97-AF65-F5344CB8AC3E}">
        <p14:creationId xmlns:p14="http://schemas.microsoft.com/office/powerpoint/2010/main" val="5362664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13</a:t>
            </a:fld>
            <a:endParaRPr lang="es-ES"/>
          </a:p>
        </p:txBody>
      </p:sp>
    </p:spTree>
    <p:extLst>
      <p:ext uri="{BB962C8B-B14F-4D97-AF65-F5344CB8AC3E}">
        <p14:creationId xmlns:p14="http://schemas.microsoft.com/office/powerpoint/2010/main" val="1635867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14</a:t>
            </a:fld>
            <a:endParaRPr lang="es-ES"/>
          </a:p>
        </p:txBody>
      </p:sp>
    </p:spTree>
    <p:extLst>
      <p:ext uri="{BB962C8B-B14F-4D97-AF65-F5344CB8AC3E}">
        <p14:creationId xmlns:p14="http://schemas.microsoft.com/office/powerpoint/2010/main" val="22838551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15</a:t>
            </a:fld>
            <a:endParaRPr lang="es-ES"/>
          </a:p>
        </p:txBody>
      </p:sp>
    </p:spTree>
    <p:extLst>
      <p:ext uri="{BB962C8B-B14F-4D97-AF65-F5344CB8AC3E}">
        <p14:creationId xmlns:p14="http://schemas.microsoft.com/office/powerpoint/2010/main" val="2108944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16</a:t>
            </a:fld>
            <a:endParaRPr lang="es-ES"/>
          </a:p>
        </p:txBody>
      </p:sp>
    </p:spTree>
    <p:extLst>
      <p:ext uri="{BB962C8B-B14F-4D97-AF65-F5344CB8AC3E}">
        <p14:creationId xmlns:p14="http://schemas.microsoft.com/office/powerpoint/2010/main" val="16298670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17</a:t>
            </a:fld>
            <a:endParaRPr lang="es-ES"/>
          </a:p>
        </p:txBody>
      </p:sp>
    </p:spTree>
    <p:extLst>
      <p:ext uri="{BB962C8B-B14F-4D97-AF65-F5344CB8AC3E}">
        <p14:creationId xmlns:p14="http://schemas.microsoft.com/office/powerpoint/2010/main" val="2109320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18</a:t>
            </a:fld>
            <a:endParaRPr lang="es-ES"/>
          </a:p>
        </p:txBody>
      </p:sp>
    </p:spTree>
    <p:extLst>
      <p:ext uri="{BB962C8B-B14F-4D97-AF65-F5344CB8AC3E}">
        <p14:creationId xmlns:p14="http://schemas.microsoft.com/office/powerpoint/2010/main" val="35984202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19</a:t>
            </a:fld>
            <a:endParaRPr lang="es-ES"/>
          </a:p>
        </p:txBody>
      </p:sp>
    </p:spTree>
    <p:extLst>
      <p:ext uri="{BB962C8B-B14F-4D97-AF65-F5344CB8AC3E}">
        <p14:creationId xmlns:p14="http://schemas.microsoft.com/office/powerpoint/2010/main" val="33241745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20</a:t>
            </a:fld>
            <a:endParaRPr lang="es-ES"/>
          </a:p>
        </p:txBody>
      </p:sp>
    </p:spTree>
    <p:extLst>
      <p:ext uri="{BB962C8B-B14F-4D97-AF65-F5344CB8AC3E}">
        <p14:creationId xmlns:p14="http://schemas.microsoft.com/office/powerpoint/2010/main" val="19140158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21</a:t>
            </a:fld>
            <a:endParaRPr lang="es-ES"/>
          </a:p>
        </p:txBody>
      </p:sp>
    </p:spTree>
    <p:extLst>
      <p:ext uri="{BB962C8B-B14F-4D97-AF65-F5344CB8AC3E}">
        <p14:creationId xmlns:p14="http://schemas.microsoft.com/office/powerpoint/2010/main" val="2980003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22</a:t>
            </a:fld>
            <a:endParaRPr lang="es-ES"/>
          </a:p>
        </p:txBody>
      </p:sp>
    </p:spTree>
    <p:extLst>
      <p:ext uri="{BB962C8B-B14F-4D97-AF65-F5344CB8AC3E}">
        <p14:creationId xmlns:p14="http://schemas.microsoft.com/office/powerpoint/2010/main" val="34337102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23</a:t>
            </a:fld>
            <a:endParaRPr lang="es-ES"/>
          </a:p>
        </p:txBody>
      </p:sp>
    </p:spTree>
    <p:extLst>
      <p:ext uri="{BB962C8B-B14F-4D97-AF65-F5344CB8AC3E}">
        <p14:creationId xmlns:p14="http://schemas.microsoft.com/office/powerpoint/2010/main" val="42918532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Link: Curso de Memoria Caché del profesor Harry Porter de Portland </a:t>
            </a:r>
            <a:r>
              <a:rPr lang="es-ES" dirty="0" err="1"/>
              <a:t>State</a:t>
            </a:r>
            <a:r>
              <a:rPr lang="es-ES" dirty="0"/>
              <a:t> </a:t>
            </a:r>
            <a:r>
              <a:rPr lang="es-ES" dirty="0" err="1"/>
              <a:t>University</a:t>
            </a:r>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24</a:t>
            </a:fld>
            <a:endParaRPr lang="es-ES"/>
          </a:p>
        </p:txBody>
      </p:sp>
    </p:spTree>
    <p:extLst>
      <p:ext uri="{BB962C8B-B14F-4D97-AF65-F5344CB8AC3E}">
        <p14:creationId xmlns:p14="http://schemas.microsoft.com/office/powerpoint/2010/main" val="2593213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Aquí </a:t>
            </a:r>
            <a:r>
              <a:rPr lang="es-ES"/>
              <a:t>segunda sesión</a:t>
            </a:r>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25</a:t>
            </a:fld>
            <a:endParaRPr lang="es-ES"/>
          </a:p>
        </p:txBody>
      </p:sp>
    </p:spTree>
    <p:extLst>
      <p:ext uri="{BB962C8B-B14F-4D97-AF65-F5344CB8AC3E}">
        <p14:creationId xmlns:p14="http://schemas.microsoft.com/office/powerpoint/2010/main" val="36997685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26</a:t>
            </a:fld>
            <a:endParaRPr lang="es-ES"/>
          </a:p>
        </p:txBody>
      </p:sp>
    </p:spTree>
    <p:extLst>
      <p:ext uri="{BB962C8B-B14F-4D97-AF65-F5344CB8AC3E}">
        <p14:creationId xmlns:p14="http://schemas.microsoft.com/office/powerpoint/2010/main" val="34517587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27</a:t>
            </a:fld>
            <a:endParaRPr lang="es-ES"/>
          </a:p>
        </p:txBody>
      </p:sp>
    </p:spTree>
    <p:extLst>
      <p:ext uri="{BB962C8B-B14F-4D97-AF65-F5344CB8AC3E}">
        <p14:creationId xmlns:p14="http://schemas.microsoft.com/office/powerpoint/2010/main" val="25238482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28</a:t>
            </a:fld>
            <a:endParaRPr lang="es-ES"/>
          </a:p>
        </p:txBody>
      </p:sp>
    </p:spTree>
    <p:extLst>
      <p:ext uri="{BB962C8B-B14F-4D97-AF65-F5344CB8AC3E}">
        <p14:creationId xmlns:p14="http://schemas.microsoft.com/office/powerpoint/2010/main" val="36207160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29</a:t>
            </a:fld>
            <a:endParaRPr lang="es-ES"/>
          </a:p>
        </p:txBody>
      </p:sp>
    </p:spTree>
    <p:extLst>
      <p:ext uri="{BB962C8B-B14F-4D97-AF65-F5344CB8AC3E}">
        <p14:creationId xmlns:p14="http://schemas.microsoft.com/office/powerpoint/2010/main" val="14370365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30</a:t>
            </a:fld>
            <a:endParaRPr lang="es-ES"/>
          </a:p>
        </p:txBody>
      </p:sp>
    </p:spTree>
    <p:extLst>
      <p:ext uri="{BB962C8B-B14F-4D97-AF65-F5344CB8AC3E}">
        <p14:creationId xmlns:p14="http://schemas.microsoft.com/office/powerpoint/2010/main" val="2071292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31</a:t>
            </a:fld>
            <a:endParaRPr lang="es-ES"/>
          </a:p>
        </p:txBody>
      </p:sp>
    </p:spTree>
    <p:extLst>
      <p:ext uri="{BB962C8B-B14F-4D97-AF65-F5344CB8AC3E}">
        <p14:creationId xmlns:p14="http://schemas.microsoft.com/office/powerpoint/2010/main" val="26537155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https://commons.wikimedia.org/wiki/File:Protected_mode_segments.svg</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32</a:t>
            </a:fld>
            <a:endParaRPr lang="es-ES"/>
          </a:p>
        </p:txBody>
      </p:sp>
    </p:spTree>
    <p:extLst>
      <p:ext uri="{BB962C8B-B14F-4D97-AF65-F5344CB8AC3E}">
        <p14:creationId xmlns:p14="http://schemas.microsoft.com/office/powerpoint/2010/main" val="14986924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33</a:t>
            </a:fld>
            <a:endParaRPr lang="es-ES"/>
          </a:p>
        </p:txBody>
      </p:sp>
    </p:spTree>
    <p:extLst>
      <p:ext uri="{BB962C8B-B14F-4D97-AF65-F5344CB8AC3E}">
        <p14:creationId xmlns:p14="http://schemas.microsoft.com/office/powerpoint/2010/main" val="14713885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34</a:t>
            </a:fld>
            <a:endParaRPr lang="es-ES"/>
          </a:p>
        </p:txBody>
      </p:sp>
    </p:spTree>
    <p:extLst>
      <p:ext uri="{BB962C8B-B14F-4D97-AF65-F5344CB8AC3E}">
        <p14:creationId xmlns:p14="http://schemas.microsoft.com/office/powerpoint/2010/main" val="20538748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35</a:t>
            </a:fld>
            <a:endParaRPr lang="es-ES"/>
          </a:p>
        </p:txBody>
      </p:sp>
    </p:spTree>
    <p:extLst>
      <p:ext uri="{BB962C8B-B14F-4D97-AF65-F5344CB8AC3E}">
        <p14:creationId xmlns:p14="http://schemas.microsoft.com/office/powerpoint/2010/main" val="14131042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36</a:t>
            </a:fld>
            <a:endParaRPr lang="es-ES"/>
          </a:p>
        </p:txBody>
      </p:sp>
    </p:spTree>
    <p:extLst>
      <p:ext uri="{BB962C8B-B14F-4D97-AF65-F5344CB8AC3E}">
        <p14:creationId xmlns:p14="http://schemas.microsoft.com/office/powerpoint/2010/main" val="42623006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37</a:t>
            </a:fld>
            <a:endParaRPr lang="es-ES"/>
          </a:p>
        </p:txBody>
      </p:sp>
    </p:spTree>
    <p:extLst>
      <p:ext uri="{BB962C8B-B14F-4D97-AF65-F5344CB8AC3E}">
        <p14:creationId xmlns:p14="http://schemas.microsoft.com/office/powerpoint/2010/main" val="1705831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38</a:t>
            </a:fld>
            <a:endParaRPr lang="es-ES"/>
          </a:p>
        </p:txBody>
      </p:sp>
    </p:spTree>
    <p:extLst>
      <p:ext uri="{BB962C8B-B14F-4D97-AF65-F5344CB8AC3E}">
        <p14:creationId xmlns:p14="http://schemas.microsoft.com/office/powerpoint/2010/main" val="32564193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modelo más sencillo de tabla es la de un nivel. Se trata en realidad de un vector con tantas entradas como páginas de la memoria virtual del proceso, en cada una de ellas estará el número de marco o un valor nulo si la página no está cargada o no se usa. </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39</a:t>
            </a:fld>
            <a:endParaRPr lang="es-ES"/>
          </a:p>
        </p:txBody>
      </p:sp>
    </p:spTree>
    <p:extLst>
      <p:ext uri="{BB962C8B-B14F-4D97-AF65-F5344CB8AC3E}">
        <p14:creationId xmlns:p14="http://schemas.microsoft.com/office/powerpoint/2010/main" val="22713888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40</a:t>
            </a:fld>
            <a:endParaRPr lang="es-ES"/>
          </a:p>
        </p:txBody>
      </p:sp>
    </p:spTree>
    <p:extLst>
      <p:ext uri="{BB962C8B-B14F-4D97-AF65-F5344CB8AC3E}">
        <p14:creationId xmlns:p14="http://schemas.microsoft.com/office/powerpoint/2010/main" val="39607460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41</a:t>
            </a:fld>
            <a:endParaRPr lang="es-ES"/>
          </a:p>
        </p:txBody>
      </p:sp>
    </p:spTree>
    <p:extLst>
      <p:ext uri="{BB962C8B-B14F-4D97-AF65-F5344CB8AC3E}">
        <p14:creationId xmlns:p14="http://schemas.microsoft.com/office/powerpoint/2010/main" val="3987102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42</a:t>
            </a:fld>
            <a:endParaRPr lang="es-ES"/>
          </a:p>
        </p:txBody>
      </p:sp>
    </p:spTree>
    <p:extLst>
      <p:ext uri="{BB962C8B-B14F-4D97-AF65-F5344CB8AC3E}">
        <p14:creationId xmlns:p14="http://schemas.microsoft.com/office/powerpoint/2010/main" val="37601697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43</a:t>
            </a:fld>
            <a:endParaRPr lang="es-ES"/>
          </a:p>
        </p:txBody>
      </p:sp>
    </p:spTree>
    <p:extLst>
      <p:ext uri="{BB962C8B-B14F-4D97-AF65-F5344CB8AC3E}">
        <p14:creationId xmlns:p14="http://schemas.microsoft.com/office/powerpoint/2010/main" val="29882818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44</a:t>
            </a:fld>
            <a:endParaRPr lang="es-ES"/>
          </a:p>
        </p:txBody>
      </p:sp>
    </p:spTree>
    <p:extLst>
      <p:ext uri="{BB962C8B-B14F-4D97-AF65-F5344CB8AC3E}">
        <p14:creationId xmlns:p14="http://schemas.microsoft.com/office/powerpoint/2010/main" val="41465082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45</a:t>
            </a:fld>
            <a:endParaRPr lang="es-ES"/>
          </a:p>
        </p:txBody>
      </p:sp>
    </p:spTree>
    <p:extLst>
      <p:ext uri="{BB962C8B-B14F-4D97-AF65-F5344CB8AC3E}">
        <p14:creationId xmlns:p14="http://schemas.microsoft.com/office/powerpoint/2010/main" val="4234359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46</a:t>
            </a:fld>
            <a:endParaRPr lang="es-ES"/>
          </a:p>
        </p:txBody>
      </p:sp>
    </p:spTree>
    <p:extLst>
      <p:ext uri="{BB962C8B-B14F-4D97-AF65-F5344CB8AC3E}">
        <p14:creationId xmlns:p14="http://schemas.microsoft.com/office/powerpoint/2010/main" val="28065553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47</a:t>
            </a:fld>
            <a:endParaRPr lang="es-ES"/>
          </a:p>
        </p:txBody>
      </p:sp>
    </p:spTree>
    <p:extLst>
      <p:ext uri="{BB962C8B-B14F-4D97-AF65-F5344CB8AC3E}">
        <p14:creationId xmlns:p14="http://schemas.microsoft.com/office/powerpoint/2010/main" val="37748838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48</a:t>
            </a:fld>
            <a:endParaRPr lang="es-ES"/>
          </a:p>
        </p:txBody>
      </p:sp>
    </p:spTree>
    <p:extLst>
      <p:ext uri="{BB962C8B-B14F-4D97-AF65-F5344CB8AC3E}">
        <p14:creationId xmlns:p14="http://schemas.microsoft.com/office/powerpoint/2010/main" val="24153603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Las tablas de varios niveles permiten gestionar la memoria virtual de equipos de 64 bits. En este ejemplo se ve cómo el i7 maneja direcciones virtuales de 48 bits y direcciones físicas de 58 con una tabla de 4 niveles. Todas las hojas del árbol son de 4 kB.</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49</a:t>
            </a:fld>
            <a:endParaRPr lang="es-ES"/>
          </a:p>
        </p:txBody>
      </p:sp>
    </p:spTree>
    <p:extLst>
      <p:ext uri="{BB962C8B-B14F-4D97-AF65-F5344CB8AC3E}">
        <p14:creationId xmlns:p14="http://schemas.microsoft.com/office/powerpoint/2010/main" val="12845920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50</a:t>
            </a:fld>
            <a:endParaRPr lang="es-ES"/>
          </a:p>
        </p:txBody>
      </p:sp>
    </p:spTree>
    <p:extLst>
      <p:ext uri="{BB962C8B-B14F-4D97-AF65-F5344CB8AC3E}">
        <p14:creationId xmlns:p14="http://schemas.microsoft.com/office/powerpoint/2010/main" val="20596081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https://en.wikipedia.org/wiki/Translation_lookaside_buffer</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51</a:t>
            </a:fld>
            <a:endParaRPr lang="es-ES"/>
          </a:p>
        </p:txBody>
      </p:sp>
    </p:spTree>
    <p:extLst>
      <p:ext uri="{BB962C8B-B14F-4D97-AF65-F5344CB8AC3E}">
        <p14:creationId xmlns:p14="http://schemas.microsoft.com/office/powerpoint/2010/main" val="36420417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52</a:t>
            </a:fld>
            <a:endParaRPr lang="es-ES"/>
          </a:p>
        </p:txBody>
      </p:sp>
    </p:spTree>
    <p:extLst>
      <p:ext uri="{BB962C8B-B14F-4D97-AF65-F5344CB8AC3E}">
        <p14:creationId xmlns:p14="http://schemas.microsoft.com/office/powerpoint/2010/main" val="39646026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53</a:t>
            </a:fld>
            <a:endParaRPr lang="es-ES"/>
          </a:p>
        </p:txBody>
      </p:sp>
    </p:spTree>
    <p:extLst>
      <p:ext uri="{BB962C8B-B14F-4D97-AF65-F5344CB8AC3E}">
        <p14:creationId xmlns:p14="http://schemas.microsoft.com/office/powerpoint/2010/main" val="32735776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https://freesvg.org/confused-cartoon-kid, </a:t>
            </a:r>
            <a:r>
              <a:rPr lang="es-ES" dirty="0" err="1"/>
              <a:t>Public</a:t>
            </a:r>
            <a:r>
              <a:rPr lang="es-ES" dirty="0"/>
              <a:t> </a:t>
            </a:r>
            <a:r>
              <a:rPr lang="es-ES" dirty="0" err="1"/>
              <a:t>Domain</a:t>
            </a:r>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54</a:t>
            </a:fld>
            <a:endParaRPr lang="es-ES"/>
          </a:p>
        </p:txBody>
      </p:sp>
    </p:spTree>
    <p:extLst>
      <p:ext uri="{BB962C8B-B14F-4D97-AF65-F5344CB8AC3E}">
        <p14:creationId xmlns:p14="http://schemas.microsoft.com/office/powerpoint/2010/main" val="35125101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55</a:t>
            </a:fld>
            <a:endParaRPr lang="es-ES"/>
          </a:p>
        </p:txBody>
      </p:sp>
    </p:spTree>
    <p:extLst>
      <p:ext uri="{BB962C8B-B14F-4D97-AF65-F5344CB8AC3E}">
        <p14:creationId xmlns:p14="http://schemas.microsoft.com/office/powerpoint/2010/main" val="290751983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56</a:t>
            </a:fld>
            <a:endParaRPr lang="es-ES"/>
          </a:p>
        </p:txBody>
      </p:sp>
    </p:spTree>
    <p:extLst>
      <p:ext uri="{BB962C8B-B14F-4D97-AF65-F5344CB8AC3E}">
        <p14:creationId xmlns:p14="http://schemas.microsoft.com/office/powerpoint/2010/main" val="26987940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57</a:t>
            </a:fld>
            <a:endParaRPr lang="es-ES"/>
          </a:p>
        </p:txBody>
      </p:sp>
    </p:spTree>
    <p:extLst>
      <p:ext uri="{BB962C8B-B14F-4D97-AF65-F5344CB8AC3E}">
        <p14:creationId xmlns:p14="http://schemas.microsoft.com/office/powerpoint/2010/main" val="40531567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58</a:t>
            </a:fld>
            <a:endParaRPr lang="es-ES"/>
          </a:p>
        </p:txBody>
      </p:sp>
    </p:spTree>
    <p:extLst>
      <p:ext uri="{BB962C8B-B14F-4D97-AF65-F5344CB8AC3E}">
        <p14:creationId xmlns:p14="http://schemas.microsoft.com/office/powerpoint/2010/main" val="22093518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59</a:t>
            </a:fld>
            <a:endParaRPr lang="es-ES"/>
          </a:p>
        </p:txBody>
      </p:sp>
    </p:spTree>
    <p:extLst>
      <p:ext uri="{BB962C8B-B14F-4D97-AF65-F5344CB8AC3E}">
        <p14:creationId xmlns:p14="http://schemas.microsoft.com/office/powerpoint/2010/main" val="10808615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https://www.pikist.com/free-photo-ibeur</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60</a:t>
            </a:fld>
            <a:endParaRPr lang="es-ES"/>
          </a:p>
        </p:txBody>
      </p:sp>
    </p:spTree>
    <p:extLst>
      <p:ext uri="{BB962C8B-B14F-4D97-AF65-F5344CB8AC3E}">
        <p14:creationId xmlns:p14="http://schemas.microsoft.com/office/powerpoint/2010/main" val="11500504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https://www.pikist.com/free-photo-ibeur</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61</a:t>
            </a:fld>
            <a:endParaRPr lang="es-ES"/>
          </a:p>
        </p:txBody>
      </p:sp>
    </p:spTree>
    <p:extLst>
      <p:ext uri="{BB962C8B-B14F-4D97-AF65-F5344CB8AC3E}">
        <p14:creationId xmlns:p14="http://schemas.microsoft.com/office/powerpoint/2010/main" val="39846016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62</a:t>
            </a:fld>
            <a:endParaRPr lang="es-ES"/>
          </a:p>
        </p:txBody>
      </p:sp>
    </p:spTree>
    <p:extLst>
      <p:ext uri="{BB962C8B-B14F-4D97-AF65-F5344CB8AC3E}">
        <p14:creationId xmlns:p14="http://schemas.microsoft.com/office/powerpoint/2010/main" val="34525792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63</a:t>
            </a:fld>
            <a:endParaRPr lang="es-ES"/>
          </a:p>
        </p:txBody>
      </p:sp>
    </p:spTree>
    <p:extLst>
      <p:ext uri="{BB962C8B-B14F-4D97-AF65-F5344CB8AC3E}">
        <p14:creationId xmlns:p14="http://schemas.microsoft.com/office/powerpoint/2010/main" val="25597113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64</a:t>
            </a:fld>
            <a:endParaRPr lang="es-ES"/>
          </a:p>
        </p:txBody>
      </p:sp>
    </p:spTree>
    <p:extLst>
      <p:ext uri="{BB962C8B-B14F-4D97-AF65-F5344CB8AC3E}">
        <p14:creationId xmlns:p14="http://schemas.microsoft.com/office/powerpoint/2010/main" val="3910464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65</a:t>
            </a:fld>
            <a:endParaRPr lang="es-ES"/>
          </a:p>
        </p:txBody>
      </p:sp>
    </p:spTree>
    <p:extLst>
      <p:ext uri="{BB962C8B-B14F-4D97-AF65-F5344CB8AC3E}">
        <p14:creationId xmlns:p14="http://schemas.microsoft.com/office/powerpoint/2010/main" val="387259378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66</a:t>
            </a:fld>
            <a:endParaRPr lang="es-ES"/>
          </a:p>
        </p:txBody>
      </p:sp>
    </p:spTree>
    <p:extLst>
      <p:ext uri="{BB962C8B-B14F-4D97-AF65-F5344CB8AC3E}">
        <p14:creationId xmlns:p14="http://schemas.microsoft.com/office/powerpoint/2010/main" val="200719841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67</a:t>
            </a:fld>
            <a:endParaRPr lang="es-ES"/>
          </a:p>
        </p:txBody>
      </p:sp>
    </p:spTree>
    <p:extLst>
      <p:ext uri="{BB962C8B-B14F-4D97-AF65-F5344CB8AC3E}">
        <p14:creationId xmlns:p14="http://schemas.microsoft.com/office/powerpoint/2010/main" val="53762092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https://gabrieletolomei.files.wordpress.com/2013/10/program_in_memory2.png</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68</a:t>
            </a:fld>
            <a:endParaRPr lang="es-ES"/>
          </a:p>
        </p:txBody>
      </p:sp>
    </p:spTree>
    <p:extLst>
      <p:ext uri="{BB962C8B-B14F-4D97-AF65-F5344CB8AC3E}">
        <p14:creationId xmlns:p14="http://schemas.microsoft.com/office/powerpoint/2010/main" val="58596340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69</a:t>
            </a:fld>
            <a:endParaRPr lang="es-ES"/>
          </a:p>
        </p:txBody>
      </p:sp>
    </p:spTree>
    <p:extLst>
      <p:ext uri="{BB962C8B-B14F-4D97-AF65-F5344CB8AC3E}">
        <p14:creationId xmlns:p14="http://schemas.microsoft.com/office/powerpoint/2010/main" val="22577609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70</a:t>
            </a:fld>
            <a:endParaRPr lang="es-ES"/>
          </a:p>
        </p:txBody>
      </p:sp>
    </p:spTree>
    <p:extLst>
      <p:ext uri="{BB962C8B-B14F-4D97-AF65-F5344CB8AC3E}">
        <p14:creationId xmlns:p14="http://schemas.microsoft.com/office/powerpoint/2010/main" val="36573370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62396" y="1454706"/>
            <a:ext cx="6115731" cy="2139553"/>
          </a:xfrm>
        </p:spPr>
        <p:txBody>
          <a:bodyPr anchor="b"/>
          <a:lstStyle>
            <a:lvl1pPr>
              <a:defRPr sz="4800">
                <a:solidFill>
                  <a:schemeClr val="accent1">
                    <a:lumMod val="50000"/>
                  </a:schemeClr>
                </a:solidFill>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762396" y="3614500"/>
            <a:ext cx="6115732" cy="1125140"/>
          </a:xfrm>
        </p:spPr>
        <p:txBody>
          <a:bodyPr>
            <a:normAutofit/>
          </a:bodyPr>
          <a:lstStyle>
            <a:lvl1pPr marL="0" indent="0">
              <a:buNone/>
              <a:defRPr sz="24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el estilo de texto del patrón</a:t>
            </a:r>
          </a:p>
        </p:txBody>
      </p:sp>
      <p:pic>
        <p:nvPicPr>
          <p:cNvPr id="2050" name="Picture 2" descr="Imagen relacionada">
            <a:extLst>
              <a:ext uri="{FF2B5EF4-FFF2-40B4-BE49-F238E27FC236}">
                <a16:creationId xmlns:a16="http://schemas.microsoft.com/office/drawing/2014/main" id="{DE157B29-00A7-4167-8C14-2765A1C6B7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75112" y="170447"/>
            <a:ext cx="3169752" cy="63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75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3 Marcador de pie de página">
            <a:extLst>
              <a:ext uri="{FF2B5EF4-FFF2-40B4-BE49-F238E27FC236}">
                <a16:creationId xmlns:a16="http://schemas.microsoft.com/office/drawing/2014/main" id="{749EC5CE-810F-4117-BBA0-B107EC391EF1}"/>
              </a:ext>
            </a:extLst>
          </p:cNvPr>
          <p:cNvSpPr>
            <a:spLocks noGrp="1"/>
          </p:cNvSpPr>
          <p:nvPr>
            <p:ph type="ftr" sz="quarter" idx="4294967295"/>
          </p:nvPr>
        </p:nvSpPr>
        <p:spPr>
          <a:xfrm>
            <a:off x="6589986" y="1588"/>
            <a:ext cx="2340883" cy="366274"/>
          </a:xfrm>
          <a:prstGeom prst="rect">
            <a:avLst/>
          </a:prstGeom>
        </p:spPr>
        <p:txBody>
          <a:bodyPr/>
          <a:lstStyle>
            <a:lvl1pPr algn="r">
              <a:defRPr sz="1050" b="1">
                <a:solidFill>
                  <a:schemeClr val="bg2">
                    <a:lumMod val="75000"/>
                  </a:schemeClr>
                </a:solidFill>
              </a:defRPr>
            </a:lvl1pPr>
          </a:lstStyle>
          <a:p>
            <a:r>
              <a:rPr lang="es-ES"/>
              <a:t>SSOO 2020-2021 Javier Gª Algarra</a:t>
            </a:r>
            <a:endParaRPr lang="es-ES" dirty="0"/>
          </a:p>
        </p:txBody>
      </p:sp>
    </p:spTree>
    <p:extLst>
      <p:ext uri="{BB962C8B-B14F-4D97-AF65-F5344CB8AC3E}">
        <p14:creationId xmlns:p14="http://schemas.microsoft.com/office/powerpoint/2010/main" val="1673075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5EC38A5-CE2E-4E67-8398-C4306CC2E4C3}"/>
              </a:ext>
            </a:extLst>
          </p:cNvPr>
          <p:cNvSpPr txBox="1"/>
          <p:nvPr userDrawn="1"/>
        </p:nvSpPr>
        <p:spPr>
          <a:xfrm rot="16200000">
            <a:off x="-605643" y="230543"/>
            <a:ext cx="1380564" cy="169277"/>
          </a:xfrm>
          <a:prstGeom prst="rect">
            <a:avLst/>
          </a:prstGeom>
          <a:noFill/>
        </p:spPr>
        <p:txBody>
          <a:bodyPr wrap="square" rtlCol="0">
            <a:spAutoFit/>
          </a:bodyPr>
          <a:lstStyle/>
          <a:p>
            <a:r>
              <a:rPr lang="es-ES" sz="500" dirty="0">
                <a:solidFill>
                  <a:schemeClr val="bg2">
                    <a:lumMod val="90000"/>
                  </a:schemeClr>
                </a:solidFill>
              </a:rPr>
              <a:t>SSOO Carlos Vallez 2022</a:t>
            </a:r>
          </a:p>
        </p:txBody>
      </p:sp>
    </p:spTree>
    <p:extLst>
      <p:ext uri="{BB962C8B-B14F-4D97-AF65-F5344CB8AC3E}">
        <p14:creationId xmlns:p14="http://schemas.microsoft.com/office/powerpoint/2010/main" val="191664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ítulo y objetos">
    <p:spTree>
      <p:nvGrpSpPr>
        <p:cNvPr id="1" name=""/>
        <p:cNvGrpSpPr/>
        <p:nvPr/>
      </p:nvGrpSpPr>
      <p:grpSpPr>
        <a:xfrm>
          <a:off x="0" y="0"/>
          <a:ext cx="0" cy="0"/>
          <a:chOff x="0" y="0"/>
          <a:chExt cx="0" cy="0"/>
        </a:xfrm>
      </p:grpSpPr>
      <p:sp>
        <p:nvSpPr>
          <p:cNvPr id="20" name="Rectangle 9"/>
          <p:cNvSpPr/>
          <p:nvPr userDrawn="1"/>
        </p:nvSpPr>
        <p:spPr>
          <a:xfrm>
            <a:off x="8435268" y="160384"/>
            <a:ext cx="86236" cy="5940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1" name="Rectangle 10"/>
          <p:cNvSpPr/>
          <p:nvPr userDrawn="1"/>
        </p:nvSpPr>
        <p:spPr>
          <a:xfrm>
            <a:off x="8569419" y="160384"/>
            <a:ext cx="576072" cy="5940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0" name="Footer Placeholder 4"/>
          <p:cNvSpPr>
            <a:spLocks noGrp="1"/>
          </p:cNvSpPr>
          <p:nvPr>
            <p:ph type="ftr" sz="quarter" idx="3"/>
          </p:nvPr>
        </p:nvSpPr>
        <p:spPr>
          <a:xfrm>
            <a:off x="4554487" y="357504"/>
            <a:ext cx="3600400" cy="225920"/>
          </a:xfrm>
          <a:prstGeom prst="rect">
            <a:avLst/>
          </a:prstGeom>
        </p:spPr>
        <p:txBody>
          <a:bodyPr vert="horz" lIns="91440" tIns="0" rIns="91440" bIns="45720" rtlCol="0" anchor="ctr"/>
          <a:lstStyle>
            <a:lvl1pPr algn="r">
              <a:defRPr sz="900">
                <a:solidFill>
                  <a:schemeClr val="tx2">
                    <a:lumMod val="75000"/>
                  </a:schemeClr>
                </a:solidFill>
              </a:defRPr>
            </a:lvl1pPr>
          </a:lstStyle>
          <a:p>
            <a:r>
              <a:rPr lang="es-ES" dirty="0"/>
              <a:t>Python Elemental </a:t>
            </a:r>
          </a:p>
        </p:txBody>
      </p:sp>
      <p:sp>
        <p:nvSpPr>
          <p:cNvPr id="16" name="15 Título"/>
          <p:cNvSpPr>
            <a:spLocks noGrp="1"/>
          </p:cNvSpPr>
          <p:nvPr>
            <p:ph type="title"/>
          </p:nvPr>
        </p:nvSpPr>
        <p:spPr/>
        <p:txBody>
          <a:bodyPr/>
          <a:lstStyle>
            <a:lvl1pPr>
              <a:defRPr>
                <a:solidFill>
                  <a:schemeClr val="tx2">
                    <a:lumMod val="75000"/>
                  </a:schemeClr>
                </a:solidFill>
              </a:defRPr>
            </a:lvl1pPr>
          </a:lstStyle>
          <a:p>
            <a:r>
              <a:rPr lang="es-ES" dirty="0"/>
              <a:t>Haga clic para modificar el estilo de título del patrón</a:t>
            </a:r>
          </a:p>
        </p:txBody>
      </p:sp>
      <p:sp>
        <p:nvSpPr>
          <p:cNvPr id="18" name="5 Marcador de número de diapositiva"/>
          <p:cNvSpPr txBox="1">
            <a:spLocks/>
          </p:cNvSpPr>
          <p:nvPr userDrawn="1"/>
        </p:nvSpPr>
        <p:spPr>
          <a:xfrm>
            <a:off x="8532439" y="303498"/>
            <a:ext cx="596305" cy="273844"/>
          </a:xfrm>
          <a:prstGeom prst="rect">
            <a:avLst/>
          </a:prstGeom>
        </p:spPr>
        <p:txBody>
          <a:bodyPr anchor="ctr"/>
          <a:lstStyle>
            <a:defPPr>
              <a:defRPr lang="es-ES"/>
            </a:defPPr>
            <a:lvl1pPr marL="0" algn="l"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D5034FA-E3E3-464F-AB21-ECE51F6ED024}" type="slidenum">
              <a:rPr lang="es-ES" sz="1050" b="0" smtClean="0"/>
              <a:pPr algn="ctr"/>
              <a:t>‹Nº›</a:t>
            </a:fld>
            <a:endParaRPr lang="es-ES" sz="1050" b="0" dirty="0"/>
          </a:p>
        </p:txBody>
      </p:sp>
      <p:pic>
        <p:nvPicPr>
          <p:cNvPr id="11" name="Picture 2" descr="C:\Users\eva.perandones\Downloads\Logo azul.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5" y="224440"/>
            <a:ext cx="1654895" cy="46595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11 Conector recto"/>
          <p:cNvCxnSpPr/>
          <p:nvPr userDrawn="1"/>
        </p:nvCxnSpPr>
        <p:spPr>
          <a:xfrm>
            <a:off x="251521" y="1491630"/>
            <a:ext cx="8605935" cy="0"/>
          </a:xfrm>
          <a:prstGeom prst="line">
            <a:avLst/>
          </a:prstGeom>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5123179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742270A-C90A-439D-BA55-8EC057654CEF}"/>
              </a:ext>
            </a:extLst>
          </p:cNvPr>
          <p:cNvSpPr/>
          <p:nvPr userDrawn="1"/>
        </p:nvSpPr>
        <p:spPr>
          <a:xfrm>
            <a:off x="-8120" y="0"/>
            <a:ext cx="1211493" cy="5143499"/>
          </a:xfrm>
          <a:prstGeom prst="rect">
            <a:avLst/>
          </a:prstGeom>
          <a:solidFill>
            <a:srgbClr val="0D4B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itle Placeholder 1"/>
          <p:cNvSpPr>
            <a:spLocks noGrp="1"/>
          </p:cNvSpPr>
          <p:nvPr>
            <p:ph type="title"/>
          </p:nvPr>
        </p:nvSpPr>
        <p:spPr>
          <a:xfrm>
            <a:off x="1521110" y="228599"/>
            <a:ext cx="7367620" cy="1053399"/>
          </a:xfrm>
          <a:prstGeom prst="rect">
            <a:avLst/>
          </a:prstGeom>
        </p:spPr>
        <p:txBody>
          <a:bodyPr vert="horz" lIns="91440" tIns="45720" rIns="91440" bIns="45720" rtlCol="0" anchor="b" anchorCtr="0">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521110" y="1369219"/>
            <a:ext cx="7367620" cy="3263504"/>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pic>
        <p:nvPicPr>
          <p:cNvPr id="8" name="Picture 2" descr="Resultado de imagen de u-tad logo png">
            <a:extLst>
              <a:ext uri="{FF2B5EF4-FFF2-40B4-BE49-F238E27FC236}">
                <a16:creationId xmlns:a16="http://schemas.microsoft.com/office/drawing/2014/main" id="{99A48252-F53C-4310-A655-6882B7787FD7}"/>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1" t="10627" r="4269" b="35524"/>
          <a:stretch/>
        </p:blipFill>
        <p:spPr bwMode="auto">
          <a:xfrm>
            <a:off x="-8121" y="4398808"/>
            <a:ext cx="1211493" cy="681465"/>
          </a:xfrm>
          <a:prstGeom prst="rect">
            <a:avLst/>
          </a:prstGeom>
          <a:solidFill>
            <a:srgbClr val="0C4B91"/>
          </a:solidFill>
        </p:spPr>
      </p:pic>
      <p:sp>
        <p:nvSpPr>
          <p:cNvPr id="7" name="3 Marcador de pie de página">
            <a:extLst>
              <a:ext uri="{FF2B5EF4-FFF2-40B4-BE49-F238E27FC236}">
                <a16:creationId xmlns:a16="http://schemas.microsoft.com/office/drawing/2014/main" id="{97188F81-2B38-4CB1-AF4E-C06C854011AE}"/>
              </a:ext>
            </a:extLst>
          </p:cNvPr>
          <p:cNvSpPr>
            <a:spLocks noGrp="1"/>
          </p:cNvSpPr>
          <p:nvPr>
            <p:ph type="ftr" sz="quarter" idx="3"/>
          </p:nvPr>
        </p:nvSpPr>
        <p:spPr>
          <a:xfrm>
            <a:off x="6589986" y="1588"/>
            <a:ext cx="2340883" cy="366274"/>
          </a:xfrm>
          <a:prstGeom prst="rect">
            <a:avLst/>
          </a:prstGeom>
        </p:spPr>
        <p:txBody>
          <a:bodyPr/>
          <a:lstStyle>
            <a:lvl1pPr algn="r">
              <a:defRPr sz="1050" b="1">
                <a:solidFill>
                  <a:schemeClr val="bg2">
                    <a:lumMod val="75000"/>
                  </a:schemeClr>
                </a:solidFill>
              </a:defRPr>
            </a:lvl1pPr>
          </a:lstStyle>
          <a:p>
            <a:r>
              <a:rPr lang="es-ES"/>
              <a:t>SSOO 2020-2021 Javier Gª Algarra</a:t>
            </a:r>
            <a:endParaRPr lang="es-ES" dirty="0"/>
          </a:p>
        </p:txBody>
      </p:sp>
    </p:spTree>
    <p:extLst>
      <p:ext uri="{BB962C8B-B14F-4D97-AF65-F5344CB8AC3E}">
        <p14:creationId xmlns:p14="http://schemas.microsoft.com/office/powerpoint/2010/main" val="3893326617"/>
      </p:ext>
    </p:extLst>
  </p:cSld>
  <p:clrMap bg1="lt1" tx1="dk1" bg2="lt2" tx2="dk2" accent1="accent1" accent2="accent2" accent3="accent3" accent4="accent4" accent5="accent5" accent6="accent6" hlink="hlink" folHlink="folHlink"/>
  <p:sldLayoutIdLst>
    <p:sldLayoutId id="2147483663" r:id="rId1"/>
    <p:sldLayoutId id="2147483666" r:id="rId2"/>
    <p:sldLayoutId id="2147483667" r:id="rId3"/>
    <p:sldLayoutId id="2147483668" r:id="rId4"/>
  </p:sldLayoutIdLst>
  <p:txStyles>
    <p:title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j-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j-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avier.algarra@u-tad.com"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creativecommons.org/licenses/by/4.0/" TargetMode="External"/><Relationship Id="rId5" Type="http://schemas.openxmlformats.org/officeDocument/2006/relationships/hyperlink" Target="mailto:carlos.vallez@u-tad.com" TargetMode="External"/><Relationship Id="rId4" Type="http://schemas.openxmlformats.org/officeDocument/2006/relationships/hyperlink" Target="mailto:miguel.mesas@u-tad.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youtube.com/playlist?list=PLbtzT1TYeoMgJ4NcWFuXpnF24fsiaOdGq"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hyperlink" Target="https://www.youtube.com/watch?v=8kBPRrHOTwg"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hyperlink" Target="https://security.stackexchange.com/questions/29350/swap-file-may-contain-sensitive-data" TargetMode="External"/><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hyperlink" Target="https://feeding.cloud.geek.nz/posts/encrypted-swap-partition-on/" TargetMode="Externa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 name="Título 5"/>
          <p:cNvSpPr>
            <a:spLocks noGrp="1"/>
          </p:cNvSpPr>
          <p:nvPr>
            <p:ph type="title"/>
          </p:nvPr>
        </p:nvSpPr>
        <p:spPr>
          <a:xfrm>
            <a:off x="1569019" y="1400462"/>
            <a:ext cx="7104201" cy="1520969"/>
          </a:xfrm>
        </p:spPr>
        <p:txBody>
          <a:bodyPr/>
          <a:lstStyle/>
          <a:p>
            <a:pPr algn="ctr"/>
            <a:br>
              <a:rPr lang="es-ES" sz="1200" dirty="0"/>
            </a:br>
            <a:br>
              <a:rPr lang="es-ES" sz="4000" dirty="0"/>
            </a:br>
            <a:br>
              <a:rPr lang="es-ES" sz="4000" dirty="0"/>
            </a:br>
            <a:br>
              <a:rPr lang="es-ES" sz="4000" dirty="0"/>
            </a:br>
            <a:br>
              <a:rPr lang="es-ES" sz="4000" dirty="0"/>
            </a:br>
            <a:r>
              <a:rPr lang="es-ES" sz="2000" dirty="0"/>
              <a:t>Sistemas Operativos</a:t>
            </a:r>
            <a:br>
              <a:rPr lang="es-ES" sz="4000" dirty="0"/>
            </a:br>
            <a:br>
              <a:rPr lang="es-ES" sz="4000" dirty="0"/>
            </a:br>
            <a:r>
              <a:rPr lang="es-ES" sz="4000" dirty="0"/>
              <a:t>4. Gestión de memoria</a:t>
            </a:r>
            <a:endParaRPr lang="es-ES" sz="4000" b="1" dirty="0"/>
          </a:p>
        </p:txBody>
      </p:sp>
      <p:sp>
        <p:nvSpPr>
          <p:cNvPr id="7" name="Marcador de texto 6"/>
          <p:cNvSpPr>
            <a:spLocks noGrp="1"/>
          </p:cNvSpPr>
          <p:nvPr>
            <p:ph type="body" idx="1"/>
          </p:nvPr>
        </p:nvSpPr>
        <p:spPr>
          <a:xfrm>
            <a:off x="1762396" y="2921432"/>
            <a:ext cx="6910824" cy="2145124"/>
          </a:xfrm>
        </p:spPr>
        <p:txBody>
          <a:bodyPr>
            <a:normAutofit fontScale="55000" lnSpcReduction="20000"/>
          </a:bodyPr>
          <a:lstStyle/>
          <a:p>
            <a:pPr algn="r"/>
            <a:endParaRPr lang="es-ES" sz="1800" dirty="0"/>
          </a:p>
          <a:p>
            <a:pPr algn="r"/>
            <a:endParaRPr lang="es-ES" sz="1800" dirty="0"/>
          </a:p>
          <a:p>
            <a:pPr algn="r">
              <a:lnSpc>
                <a:spcPct val="90000"/>
              </a:lnSpc>
              <a:spcBef>
                <a:spcPts val="751"/>
              </a:spcBef>
            </a:pPr>
            <a:r>
              <a:rPr lang="es-ES" sz="1800" b="0" strike="noStrike" spc="-1" dirty="0">
                <a:solidFill>
                  <a:srgbClr val="8B8B8B"/>
                </a:solidFill>
                <a:latin typeface="Calibri Light"/>
              </a:rPr>
              <a:t>Javier García Algarra</a:t>
            </a:r>
            <a:endParaRPr lang="es-ES" sz="1800" b="0" strike="noStrike" spc="-1" dirty="0">
              <a:solidFill>
                <a:srgbClr val="000000"/>
              </a:solidFill>
              <a:latin typeface="Calibri Light"/>
            </a:endParaRPr>
          </a:p>
          <a:p>
            <a:pPr algn="r">
              <a:lnSpc>
                <a:spcPct val="90000"/>
              </a:lnSpc>
              <a:spcBef>
                <a:spcPts val="751"/>
              </a:spcBef>
            </a:pPr>
            <a:r>
              <a:rPr lang="es-ES" sz="1800" b="0" strike="noStrike" spc="-1" dirty="0">
                <a:solidFill>
                  <a:srgbClr val="8B8B8B"/>
                </a:solidFill>
                <a:latin typeface="Calibri Light"/>
                <a:hlinkClick r:id="rId3"/>
              </a:rPr>
              <a:t>javier.algarra@u-tad.com</a:t>
            </a:r>
            <a:endParaRPr lang="es-ES" sz="1800" b="0" strike="noStrike" spc="-1" dirty="0">
              <a:solidFill>
                <a:srgbClr val="8B8B8B"/>
              </a:solidFill>
              <a:latin typeface="Calibri Light"/>
            </a:endParaRPr>
          </a:p>
          <a:p>
            <a:pPr algn="r">
              <a:lnSpc>
                <a:spcPct val="90000"/>
              </a:lnSpc>
              <a:spcBef>
                <a:spcPts val="751"/>
              </a:spcBef>
            </a:pPr>
            <a:r>
              <a:rPr lang="es-ES" sz="1800" b="0" strike="noStrike" spc="-1" dirty="0">
                <a:solidFill>
                  <a:srgbClr val="000000"/>
                </a:solidFill>
                <a:latin typeface="Calibri Light"/>
              </a:rPr>
              <a:t>Miguel Ángel Mesas</a:t>
            </a:r>
          </a:p>
          <a:p>
            <a:pPr algn="r">
              <a:lnSpc>
                <a:spcPct val="90000"/>
              </a:lnSpc>
              <a:spcBef>
                <a:spcPts val="751"/>
              </a:spcBef>
            </a:pPr>
            <a:r>
              <a:rPr lang="es-ES" sz="1800" b="0" strike="noStrike" spc="-1" dirty="0">
                <a:solidFill>
                  <a:srgbClr val="000000"/>
                </a:solidFill>
                <a:latin typeface="Calibri Light"/>
                <a:hlinkClick r:id="rId4"/>
              </a:rPr>
              <a:t>miguel.mesas@u-tad.com</a:t>
            </a:r>
            <a:endParaRPr lang="es-ES" sz="1800" b="0" strike="noStrike" spc="-1" dirty="0">
              <a:solidFill>
                <a:srgbClr val="000000"/>
              </a:solidFill>
              <a:latin typeface="Calibri Light"/>
            </a:endParaRPr>
          </a:p>
          <a:p>
            <a:pPr algn="r">
              <a:lnSpc>
                <a:spcPct val="90000"/>
              </a:lnSpc>
              <a:spcBef>
                <a:spcPts val="751"/>
              </a:spcBef>
            </a:pPr>
            <a:r>
              <a:rPr lang="es-ES" sz="1800" b="0" strike="noStrike" spc="-1" dirty="0">
                <a:solidFill>
                  <a:srgbClr val="000000"/>
                </a:solidFill>
                <a:latin typeface="Calibri Light"/>
              </a:rPr>
              <a:t>Carlos M. Vallez</a:t>
            </a:r>
          </a:p>
          <a:p>
            <a:pPr algn="r">
              <a:lnSpc>
                <a:spcPct val="90000"/>
              </a:lnSpc>
              <a:spcBef>
                <a:spcPts val="751"/>
              </a:spcBef>
            </a:pPr>
            <a:r>
              <a:rPr lang="es-ES" sz="1400" spc="-1" dirty="0">
                <a:solidFill>
                  <a:srgbClr val="000000"/>
                </a:solidFill>
                <a:latin typeface="Calibri Light"/>
                <a:hlinkClick r:id="rId5"/>
              </a:rPr>
              <a:t>c</a:t>
            </a:r>
            <a:r>
              <a:rPr lang="es-ES" sz="1800" b="0" strike="noStrike" spc="-1" dirty="0">
                <a:solidFill>
                  <a:srgbClr val="000000"/>
                </a:solidFill>
                <a:latin typeface="Calibri Light"/>
                <a:hlinkClick r:id="rId5"/>
              </a:rPr>
              <a:t>arlos.vallez@u-tad.com</a:t>
            </a:r>
            <a:endParaRPr lang="es-ES" sz="1800" b="0" strike="noStrike" spc="-1" dirty="0">
              <a:solidFill>
                <a:srgbClr val="000000"/>
              </a:solidFill>
              <a:latin typeface="Calibri Light"/>
            </a:endParaRPr>
          </a:p>
          <a:p>
            <a:pPr algn="r">
              <a:lnSpc>
                <a:spcPct val="90000"/>
              </a:lnSpc>
              <a:spcBef>
                <a:spcPts val="751"/>
              </a:spcBef>
            </a:pPr>
            <a:endParaRPr lang="es-ES" sz="1800" b="0" strike="noStrike" spc="-1" dirty="0">
              <a:solidFill>
                <a:srgbClr val="000000"/>
              </a:solidFill>
              <a:latin typeface="Calibri Light"/>
            </a:endParaRPr>
          </a:p>
          <a:p>
            <a:pPr algn="r">
              <a:lnSpc>
                <a:spcPct val="90000"/>
              </a:lnSpc>
              <a:spcBef>
                <a:spcPts val="751"/>
              </a:spcBef>
            </a:pPr>
            <a:r>
              <a:rPr lang="es-ES" sz="1800" b="0" strike="noStrike" spc="-1" dirty="0">
                <a:solidFill>
                  <a:srgbClr val="8B8B8B"/>
                </a:solidFill>
                <a:latin typeface="Calibri Light"/>
              </a:rPr>
              <a:t>2022-2023</a:t>
            </a:r>
            <a:endParaRPr lang="es-ES" sz="1800" b="0" strike="noStrike" spc="-1" dirty="0">
              <a:solidFill>
                <a:srgbClr val="000000"/>
              </a:solidFill>
              <a:latin typeface="Calibri Light"/>
            </a:endParaRPr>
          </a:p>
        </p:txBody>
      </p:sp>
      <p:sp>
        <p:nvSpPr>
          <p:cNvPr id="9" name="Rectangle 1">
            <a:extLst>
              <a:ext uri="{FF2B5EF4-FFF2-40B4-BE49-F238E27FC236}">
                <a16:creationId xmlns:a16="http://schemas.microsoft.com/office/drawing/2014/main" id="{2067DBC0-8C2B-4E0B-BE3C-2840A2E7DFA9}"/>
              </a:ext>
            </a:extLst>
          </p:cNvPr>
          <p:cNvSpPr>
            <a:spLocks noChangeArrowheads="1"/>
          </p:cNvSpPr>
          <p:nvPr/>
        </p:nvSpPr>
        <p:spPr bwMode="auto">
          <a:xfrm>
            <a:off x="1174205" y="4666446"/>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u="sng" dirty="0">
                <a:solidFill>
                  <a:srgbClr val="0066CC"/>
                </a:solidFill>
                <a:latin typeface="Times New Roman" panose="02020603050405020304" pitchFamily="18" charset="0"/>
                <a:cs typeface="Times New Roman" panose="02020603050405020304" pitchFamily="18" charset="0"/>
              </a:rPr>
              <a:t> </a:t>
            </a:r>
            <a:br>
              <a:rPr kumimoji="0" lang="es-ES" altLang="es-ES" sz="600" b="0" i="0" u="none" strike="noStrike" cap="none" normalizeH="0" baseline="0" dirty="0">
                <a:ln>
                  <a:noFill/>
                </a:ln>
                <a:solidFill>
                  <a:schemeClr val="tx1"/>
                </a:solidFill>
                <a:effectLst/>
              </a:rPr>
            </a:br>
            <a:r>
              <a:rPr lang="es-ES" altLang="es-ES" sz="800" dirty="0">
                <a:solidFill>
                  <a:srgbClr val="000000"/>
                </a:solidFill>
                <a:latin typeface="+mj-lt"/>
                <a:cs typeface="Times New Roman" panose="02020603050405020304" pitchFamily="18" charset="0"/>
              </a:rPr>
              <a:t>Sistemas Operativos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by</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Javier García Algarra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is</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licensed</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under</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6"/>
              </a:rPr>
              <a:t>Creative</a:t>
            </a:r>
            <a:r>
              <a:rPr kumimoji="0" lang="es-ES" altLang="es-ES" sz="800" b="0" i="0" u="sng" strike="noStrike" cap="none" normalizeH="0" baseline="0" dirty="0">
                <a:ln>
                  <a:noFill/>
                </a:ln>
                <a:solidFill>
                  <a:srgbClr val="0066CC"/>
                </a:solidFill>
                <a:effectLst/>
                <a:latin typeface="+mj-lt"/>
                <a:cs typeface="Times New Roman" panose="02020603050405020304" pitchFamily="18" charset="0"/>
                <a:hlinkClick r:id="rId6"/>
              </a:rPr>
              <a:t>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6"/>
              </a:rPr>
              <a:t>Commons</a:t>
            </a:r>
            <a:r>
              <a:rPr kumimoji="0" lang="es-ES" altLang="es-ES" sz="800" b="0" i="0" u="sng" strike="noStrike" cap="none" normalizeH="0" baseline="0" dirty="0">
                <a:ln>
                  <a:noFill/>
                </a:ln>
                <a:solidFill>
                  <a:srgbClr val="0066CC"/>
                </a:solidFill>
                <a:effectLst/>
                <a:latin typeface="+mj-lt"/>
                <a:cs typeface="Times New Roman" panose="02020603050405020304" pitchFamily="18" charset="0"/>
                <a:hlinkClick r:id="rId6"/>
              </a:rPr>
              <a:t> Reconocimiento 4.0 Internacional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6"/>
              </a:rPr>
              <a:t>License</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endParaRPr kumimoji="0" lang="es-ES" altLang="es-ES" sz="900" b="0" i="0" u="sng" strike="noStrike" cap="none" normalizeH="0" baseline="0" dirty="0">
              <a:ln>
                <a:noFill/>
              </a:ln>
              <a:solidFill>
                <a:srgbClr val="0066CC"/>
              </a:solidFill>
              <a:effectLst/>
              <a:latin typeface="+mj-lt"/>
              <a:cs typeface="Times New Roman" panose="02020603050405020304" pitchFamily="18" charset="0"/>
            </a:endParaRPr>
          </a:p>
        </p:txBody>
      </p:sp>
      <p:pic>
        <p:nvPicPr>
          <p:cNvPr id="10" name="Picture 2" descr="Licencia de Creative Commons">
            <a:hlinkClick r:id="rId6"/>
            <a:extLst>
              <a:ext uri="{FF2B5EF4-FFF2-40B4-BE49-F238E27FC236}">
                <a16:creationId xmlns:a16="http://schemas.microsoft.com/office/drawing/2014/main" id="{B07F3E68-2BCF-4EC0-B981-29542191BC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5898" y="4722447"/>
            <a:ext cx="762000"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158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54BE3C9-6149-4C4B-B81B-3387E3937E53}"/>
              </a:ext>
            </a:extLst>
          </p:cNvPr>
          <p:cNvSpPr txBox="1"/>
          <p:nvPr/>
        </p:nvSpPr>
        <p:spPr>
          <a:xfrm>
            <a:off x="1757843" y="1268616"/>
            <a:ext cx="6862455" cy="3539430"/>
          </a:xfrm>
          <a:prstGeom prst="rect">
            <a:avLst/>
          </a:prstGeom>
          <a:noFill/>
        </p:spPr>
        <p:txBody>
          <a:bodyPr wrap="square" rtlCol="0">
            <a:spAutoFit/>
          </a:bodyPr>
          <a:lstStyle/>
          <a:p>
            <a:pPr algn="just"/>
            <a:r>
              <a:rPr lang="es-ES" sz="1600" dirty="0"/>
              <a:t>La memoria es el elemento que almacena los datos y el programa en el modelo de </a:t>
            </a:r>
            <a:r>
              <a:rPr lang="es-ES" sz="1600" dirty="0" err="1"/>
              <a:t>von</a:t>
            </a:r>
            <a:r>
              <a:rPr lang="es-ES" sz="1600" dirty="0"/>
              <a:t> Neumann. Aparentemente no parece que el Sistema Operativo tenga mucho que hacer con un elemento que es hardware.</a:t>
            </a:r>
          </a:p>
          <a:p>
            <a:pPr algn="just"/>
            <a:endParaRPr lang="es-ES" sz="1600" dirty="0"/>
          </a:p>
          <a:p>
            <a:pPr algn="just"/>
            <a:r>
              <a:rPr lang="es-ES" sz="1600" dirty="0"/>
              <a:t>Sin embargo, en un sistema multiproceso, el SO tiene que encargarse de que todos los procesos tengan la memoria necesaria y llevar la contabilidad de dónde están cargados. Además debe impedir que un proceso acceda a la memoria de otro o que por error corrompa su propio ejecutable.</a:t>
            </a:r>
          </a:p>
          <a:p>
            <a:pPr algn="just"/>
            <a:endParaRPr lang="es-ES" sz="1600" dirty="0"/>
          </a:p>
          <a:p>
            <a:pPr algn="just"/>
            <a:r>
              <a:rPr lang="es-ES" sz="1600" dirty="0"/>
              <a:t>Añádase a esto que la velocidad de acceso a la memoria RAM no ha aumentado en la misma proporción que la velocidad de proceso de las CPU y que en un PC de sobremesa podemos tener en cualquier momento un centenar de procesos que no cabrían en la memoria física. El SO resuelve todos estos problemas gestionando una jerarquía de memoria muy sofisticada.</a:t>
            </a:r>
          </a:p>
        </p:txBody>
      </p:sp>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Introducción</a:t>
            </a:r>
          </a:p>
        </p:txBody>
      </p:sp>
    </p:spTree>
    <p:extLst>
      <p:ext uri="{BB962C8B-B14F-4D97-AF65-F5344CB8AC3E}">
        <p14:creationId xmlns:p14="http://schemas.microsoft.com/office/powerpoint/2010/main" val="2206614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Jerarquía de memoria</a:t>
            </a:r>
          </a:p>
        </p:txBody>
      </p:sp>
      <p:pic>
        <p:nvPicPr>
          <p:cNvPr id="11266" name="Picture 2">
            <a:extLst>
              <a:ext uri="{FF2B5EF4-FFF2-40B4-BE49-F238E27FC236}">
                <a16:creationId xmlns:a16="http://schemas.microsoft.com/office/drawing/2014/main" id="{B7138872-CBFC-4C0C-8333-F0517B72EE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050" b="-12050"/>
          <a:stretch/>
        </p:blipFill>
        <p:spPr bwMode="auto">
          <a:xfrm>
            <a:off x="3580209" y="899091"/>
            <a:ext cx="5397176" cy="4015809"/>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7D1231B5-C132-0F2C-A288-51DE9A2678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1945" y="1217856"/>
            <a:ext cx="1462622" cy="1257130"/>
          </a:xfrm>
          <a:prstGeom prst="rect">
            <a:avLst/>
          </a:prstGeom>
        </p:spPr>
      </p:pic>
      <p:pic>
        <p:nvPicPr>
          <p:cNvPr id="8" name="Imagen 7">
            <a:extLst>
              <a:ext uri="{FF2B5EF4-FFF2-40B4-BE49-F238E27FC236}">
                <a16:creationId xmlns:a16="http://schemas.microsoft.com/office/drawing/2014/main" id="{DC2ADEEE-6DC3-FABB-9177-0F1FEC0530DC}"/>
              </a:ext>
            </a:extLst>
          </p:cNvPr>
          <p:cNvPicPr>
            <a:picLocks noChangeAspect="1"/>
          </p:cNvPicPr>
          <p:nvPr/>
        </p:nvPicPr>
        <p:blipFill>
          <a:blip r:embed="rId5"/>
          <a:stretch>
            <a:fillRect/>
          </a:stretch>
        </p:blipFill>
        <p:spPr>
          <a:xfrm>
            <a:off x="1351259" y="2668514"/>
            <a:ext cx="2076553" cy="1257129"/>
          </a:xfrm>
          <a:prstGeom prst="rect">
            <a:avLst/>
          </a:prstGeom>
        </p:spPr>
      </p:pic>
    </p:spTree>
    <p:extLst>
      <p:ext uri="{BB962C8B-B14F-4D97-AF65-F5344CB8AC3E}">
        <p14:creationId xmlns:p14="http://schemas.microsoft.com/office/powerpoint/2010/main" val="555563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Jerarquía de memoria</a:t>
            </a:r>
          </a:p>
        </p:txBody>
      </p:sp>
      <p:sp>
        <p:nvSpPr>
          <p:cNvPr id="2" name="CuadroTexto 1">
            <a:extLst>
              <a:ext uri="{FF2B5EF4-FFF2-40B4-BE49-F238E27FC236}">
                <a16:creationId xmlns:a16="http://schemas.microsoft.com/office/drawing/2014/main" id="{80239A5C-24A3-4AA4-A773-186CFFA82ECC}"/>
              </a:ext>
            </a:extLst>
          </p:cNvPr>
          <p:cNvSpPr txBox="1"/>
          <p:nvPr/>
        </p:nvSpPr>
        <p:spPr>
          <a:xfrm>
            <a:off x="1411149" y="759417"/>
            <a:ext cx="3439527" cy="4247317"/>
          </a:xfrm>
          <a:prstGeom prst="rect">
            <a:avLst/>
          </a:prstGeom>
          <a:noFill/>
        </p:spPr>
        <p:txBody>
          <a:bodyPr wrap="square" rtlCol="0">
            <a:spAutoFit/>
          </a:bodyPr>
          <a:lstStyle/>
          <a:p>
            <a:pPr algn="just"/>
            <a:r>
              <a:rPr lang="es-ES" dirty="0"/>
              <a:t>El funcionamiento de la jerarquía de memoria se basa en dos posibilidades estadísticas del código: </a:t>
            </a:r>
            <a:r>
              <a:rPr lang="es-ES" b="1" dirty="0"/>
              <a:t>proximidad o localidad espacial </a:t>
            </a:r>
            <a:r>
              <a:rPr lang="es-ES" dirty="0"/>
              <a:t>y </a:t>
            </a:r>
            <a:r>
              <a:rPr lang="es-ES" b="1" dirty="0"/>
              <a:t>proximidad o localidad temporal</a:t>
            </a:r>
            <a:r>
              <a:rPr lang="es-ES" dirty="0"/>
              <a:t>.</a:t>
            </a:r>
          </a:p>
          <a:p>
            <a:pPr algn="just"/>
            <a:endParaRPr lang="es-ES" dirty="0"/>
          </a:p>
          <a:p>
            <a:pPr marL="285750" indent="-285750" algn="just">
              <a:buFont typeface="Arial" panose="020B0604020202020204" pitchFamily="34" charset="0"/>
              <a:buChar char="•"/>
            </a:pPr>
            <a:r>
              <a:rPr lang="es-ES" dirty="0"/>
              <a:t>La </a:t>
            </a:r>
            <a:r>
              <a:rPr lang="es-ES" b="1" dirty="0"/>
              <a:t>proximidad espacial </a:t>
            </a:r>
            <a:r>
              <a:rPr lang="es-ES" dirty="0"/>
              <a:t>se produce porque el programa se ejecuta de forma lineal la mayor parte del tiempo y por tanto las instrucciones de código máquina son consecutivas y los datos también suelen residir en zonas acotadas (vectores, tablas)</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La </a:t>
            </a:r>
            <a:r>
              <a:rPr lang="es-ES" b="1" dirty="0"/>
              <a:t>proximidad temporal </a:t>
            </a:r>
            <a:r>
              <a:rPr lang="es-ES" dirty="0"/>
              <a:t>se produce por la repetición de secuencias de código en bucles y llamadas a funciones.</a:t>
            </a:r>
          </a:p>
          <a:p>
            <a:pPr marL="285750" indent="-285750" algn="just">
              <a:buFont typeface="Arial" panose="020B0604020202020204" pitchFamily="34" charset="0"/>
              <a:buChar char="•"/>
            </a:pPr>
            <a:endParaRPr lang="es-ES" dirty="0"/>
          </a:p>
          <a:p>
            <a:pPr algn="just"/>
            <a:r>
              <a:rPr lang="es-ES" dirty="0"/>
              <a:t>Se denomina </a:t>
            </a:r>
            <a:r>
              <a:rPr lang="es-ES" b="1" dirty="0"/>
              <a:t>conjunto de trabajo </a:t>
            </a:r>
            <a:r>
              <a:rPr lang="es-ES" dirty="0"/>
              <a:t>al fragmento de código y datos que se acceden de forma repetida durante un periodo breve.</a:t>
            </a:r>
          </a:p>
        </p:txBody>
      </p:sp>
      <p:pic>
        <p:nvPicPr>
          <p:cNvPr id="5" name="Imagen 4" descr="Una captura de pantalla de una red social&#10;&#10;Descripción generada automáticamente">
            <a:extLst>
              <a:ext uri="{FF2B5EF4-FFF2-40B4-BE49-F238E27FC236}">
                <a16:creationId xmlns:a16="http://schemas.microsoft.com/office/drawing/2014/main" id="{993DF4E5-CA9B-47E4-B945-3121E11DD7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0959" y="940324"/>
            <a:ext cx="3990706" cy="3624069"/>
          </a:xfrm>
          <a:prstGeom prst="rect">
            <a:avLst/>
          </a:prstGeom>
        </p:spPr>
      </p:pic>
      <p:cxnSp>
        <p:nvCxnSpPr>
          <p:cNvPr id="7" name="Conector recto de flecha 6">
            <a:extLst>
              <a:ext uri="{FF2B5EF4-FFF2-40B4-BE49-F238E27FC236}">
                <a16:creationId xmlns:a16="http://schemas.microsoft.com/office/drawing/2014/main" id="{D4165410-DE51-4D60-8763-61949506F29C}"/>
              </a:ext>
            </a:extLst>
          </p:cNvPr>
          <p:cNvCxnSpPr/>
          <p:nvPr/>
        </p:nvCxnSpPr>
        <p:spPr>
          <a:xfrm>
            <a:off x="6662057" y="1594919"/>
            <a:ext cx="0" cy="7315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319447BD-3C92-44E5-A10C-8B7F1380AB23}"/>
              </a:ext>
            </a:extLst>
          </p:cNvPr>
          <p:cNvCxnSpPr>
            <a:cxnSpLocks/>
          </p:cNvCxnSpPr>
          <p:nvPr/>
        </p:nvCxnSpPr>
        <p:spPr>
          <a:xfrm>
            <a:off x="6662057" y="2614279"/>
            <a:ext cx="0" cy="79057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303D70F3-81C7-497D-AB4C-E378856F709B}"/>
              </a:ext>
            </a:extLst>
          </p:cNvPr>
          <p:cNvCxnSpPr/>
          <p:nvPr/>
        </p:nvCxnSpPr>
        <p:spPr>
          <a:xfrm>
            <a:off x="6662057" y="3592085"/>
            <a:ext cx="0" cy="7315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 name="Flecha: curvada hacia abajo 9">
            <a:extLst>
              <a:ext uri="{FF2B5EF4-FFF2-40B4-BE49-F238E27FC236}">
                <a16:creationId xmlns:a16="http://schemas.microsoft.com/office/drawing/2014/main" id="{098C40AD-989A-47A4-B509-66789730F6CC}"/>
              </a:ext>
            </a:extLst>
          </p:cNvPr>
          <p:cNvSpPr/>
          <p:nvPr/>
        </p:nvSpPr>
        <p:spPr>
          <a:xfrm rot="16200000">
            <a:off x="6229404" y="3319715"/>
            <a:ext cx="300901" cy="243838"/>
          </a:xfrm>
          <a:prstGeom prst="curvedDownArrow">
            <a:avLst>
              <a:gd name="adj1" fmla="val 25000"/>
              <a:gd name="adj2" fmla="val 50000"/>
              <a:gd name="adj3" fmla="val 90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2" name="Flecha: curvada hacia abajo 11">
            <a:extLst>
              <a:ext uri="{FF2B5EF4-FFF2-40B4-BE49-F238E27FC236}">
                <a16:creationId xmlns:a16="http://schemas.microsoft.com/office/drawing/2014/main" id="{01BEBBB1-97E3-4DCE-9365-492ED153A85B}"/>
              </a:ext>
            </a:extLst>
          </p:cNvPr>
          <p:cNvSpPr/>
          <p:nvPr/>
        </p:nvSpPr>
        <p:spPr>
          <a:xfrm rot="16200000">
            <a:off x="6229404" y="2354971"/>
            <a:ext cx="300901" cy="243838"/>
          </a:xfrm>
          <a:prstGeom prst="curvedDownArrow">
            <a:avLst>
              <a:gd name="adj1" fmla="val 25000"/>
              <a:gd name="adj2" fmla="val 50000"/>
              <a:gd name="adj3" fmla="val 90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14" name="CuadroTexto 13">
            <a:extLst>
              <a:ext uri="{FF2B5EF4-FFF2-40B4-BE49-F238E27FC236}">
                <a16:creationId xmlns:a16="http://schemas.microsoft.com/office/drawing/2014/main" id="{E731EB11-606F-4B61-866F-1F543F460DC7}"/>
              </a:ext>
            </a:extLst>
          </p:cNvPr>
          <p:cNvSpPr txBox="1"/>
          <p:nvPr/>
        </p:nvSpPr>
        <p:spPr>
          <a:xfrm>
            <a:off x="5922111" y="4507969"/>
            <a:ext cx="1479892" cy="300082"/>
          </a:xfrm>
          <a:prstGeom prst="rect">
            <a:avLst/>
          </a:prstGeom>
          <a:noFill/>
        </p:spPr>
        <p:txBody>
          <a:bodyPr wrap="none" rtlCol="0">
            <a:spAutoFit/>
          </a:bodyPr>
          <a:lstStyle/>
          <a:p>
            <a:r>
              <a:rPr lang="es-ES" b="1" dirty="0">
                <a:solidFill>
                  <a:schemeClr val="accent1">
                    <a:lumMod val="75000"/>
                  </a:schemeClr>
                </a:solidFill>
              </a:rPr>
              <a:t>Flujo de ejecución</a:t>
            </a:r>
          </a:p>
        </p:txBody>
      </p:sp>
    </p:spTree>
    <p:extLst>
      <p:ext uri="{BB962C8B-B14F-4D97-AF65-F5344CB8AC3E}">
        <p14:creationId xmlns:p14="http://schemas.microsoft.com/office/powerpoint/2010/main" val="544027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Jerarquía de memoria</a:t>
            </a:r>
          </a:p>
        </p:txBody>
      </p:sp>
      <p:pic>
        <p:nvPicPr>
          <p:cNvPr id="6" name="Imagen 5">
            <a:extLst>
              <a:ext uri="{FF2B5EF4-FFF2-40B4-BE49-F238E27FC236}">
                <a16:creationId xmlns:a16="http://schemas.microsoft.com/office/drawing/2014/main" id="{5AFD5044-1A59-46AE-9F6D-C6B3967EC2B5}"/>
              </a:ext>
            </a:extLst>
          </p:cNvPr>
          <p:cNvPicPr>
            <a:picLocks noChangeAspect="1"/>
          </p:cNvPicPr>
          <p:nvPr/>
        </p:nvPicPr>
        <p:blipFill>
          <a:blip r:embed="rId3"/>
          <a:stretch>
            <a:fillRect/>
          </a:stretch>
        </p:blipFill>
        <p:spPr>
          <a:xfrm>
            <a:off x="1290369" y="3310121"/>
            <a:ext cx="7535917" cy="1454738"/>
          </a:xfrm>
          <a:prstGeom prst="rect">
            <a:avLst/>
          </a:prstGeom>
        </p:spPr>
      </p:pic>
      <p:sp>
        <p:nvSpPr>
          <p:cNvPr id="7" name="CuadroTexto 6">
            <a:extLst>
              <a:ext uri="{FF2B5EF4-FFF2-40B4-BE49-F238E27FC236}">
                <a16:creationId xmlns:a16="http://schemas.microsoft.com/office/drawing/2014/main" id="{F5A4741B-7264-420D-A8EE-35FC4972B48D}"/>
              </a:ext>
            </a:extLst>
          </p:cNvPr>
          <p:cNvSpPr txBox="1"/>
          <p:nvPr/>
        </p:nvSpPr>
        <p:spPr>
          <a:xfrm>
            <a:off x="1290369" y="4764859"/>
            <a:ext cx="6760757" cy="300082"/>
          </a:xfrm>
          <a:prstGeom prst="rect">
            <a:avLst/>
          </a:prstGeom>
          <a:noFill/>
        </p:spPr>
        <p:txBody>
          <a:bodyPr wrap="square" rtlCol="0">
            <a:spAutoFit/>
          </a:bodyPr>
          <a:lstStyle/>
          <a:p>
            <a:r>
              <a:rPr lang="es-ES" dirty="0"/>
              <a:t>De Miguel, Pérez Costoya: “Sistemas Operativos”, UPM, 2016 </a:t>
            </a:r>
          </a:p>
        </p:txBody>
      </p:sp>
      <p:sp>
        <p:nvSpPr>
          <p:cNvPr id="9" name="Rectángulo 8">
            <a:extLst>
              <a:ext uri="{FF2B5EF4-FFF2-40B4-BE49-F238E27FC236}">
                <a16:creationId xmlns:a16="http://schemas.microsoft.com/office/drawing/2014/main" id="{5797F74C-4966-4044-B9DB-C201B18D1916}"/>
              </a:ext>
            </a:extLst>
          </p:cNvPr>
          <p:cNvSpPr/>
          <p:nvPr/>
        </p:nvSpPr>
        <p:spPr>
          <a:xfrm>
            <a:off x="2426232" y="1367458"/>
            <a:ext cx="1331977" cy="1003691"/>
          </a:xfrm>
          <a:prstGeom prst="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37" name="Grupo 36">
            <a:extLst>
              <a:ext uri="{FF2B5EF4-FFF2-40B4-BE49-F238E27FC236}">
                <a16:creationId xmlns:a16="http://schemas.microsoft.com/office/drawing/2014/main" id="{B47BE461-8A0C-46E5-A0D8-DBCD9AF4DC89}"/>
              </a:ext>
            </a:extLst>
          </p:cNvPr>
          <p:cNvGrpSpPr/>
          <p:nvPr/>
        </p:nvGrpSpPr>
        <p:grpSpPr>
          <a:xfrm>
            <a:off x="2948913" y="1460277"/>
            <a:ext cx="725214" cy="427508"/>
            <a:chOff x="2017986" y="1303282"/>
            <a:chExt cx="840828" cy="427508"/>
          </a:xfrm>
        </p:grpSpPr>
        <p:sp>
          <p:nvSpPr>
            <p:cNvPr id="10" name="Rectángulo 9">
              <a:extLst>
                <a:ext uri="{FF2B5EF4-FFF2-40B4-BE49-F238E27FC236}">
                  <a16:creationId xmlns:a16="http://schemas.microsoft.com/office/drawing/2014/main" id="{F8E6402D-75BB-4407-B7F4-2CB3FFB86F3E}"/>
                </a:ext>
              </a:extLst>
            </p:cNvPr>
            <p:cNvSpPr/>
            <p:nvPr/>
          </p:nvSpPr>
          <p:spPr>
            <a:xfrm>
              <a:off x="2017986" y="1303282"/>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32CE86DB-D680-46B0-B403-8994A5074CED}"/>
                </a:ext>
              </a:extLst>
            </p:cNvPr>
            <p:cNvSpPr/>
            <p:nvPr/>
          </p:nvSpPr>
          <p:spPr>
            <a:xfrm>
              <a:off x="2017986" y="1410159"/>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ángulo 12">
              <a:extLst>
                <a:ext uri="{FF2B5EF4-FFF2-40B4-BE49-F238E27FC236}">
                  <a16:creationId xmlns:a16="http://schemas.microsoft.com/office/drawing/2014/main" id="{B956C8C2-C3C5-4E79-9A3E-A9BA61E0549B}"/>
                </a:ext>
              </a:extLst>
            </p:cNvPr>
            <p:cNvSpPr/>
            <p:nvPr/>
          </p:nvSpPr>
          <p:spPr>
            <a:xfrm>
              <a:off x="2017986" y="1517036"/>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98A67C36-164B-4806-A046-4C52EA32C57F}"/>
                </a:ext>
              </a:extLst>
            </p:cNvPr>
            <p:cNvSpPr/>
            <p:nvPr/>
          </p:nvSpPr>
          <p:spPr>
            <a:xfrm>
              <a:off x="2017986" y="1623913"/>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7" name="CuadroTexto 16">
            <a:extLst>
              <a:ext uri="{FF2B5EF4-FFF2-40B4-BE49-F238E27FC236}">
                <a16:creationId xmlns:a16="http://schemas.microsoft.com/office/drawing/2014/main" id="{CBA22F65-CAF1-44DF-AF50-0ED1A6D10BE7}"/>
              </a:ext>
            </a:extLst>
          </p:cNvPr>
          <p:cNvSpPr txBox="1"/>
          <p:nvPr/>
        </p:nvSpPr>
        <p:spPr>
          <a:xfrm>
            <a:off x="2435066" y="1379296"/>
            <a:ext cx="478016" cy="300082"/>
          </a:xfrm>
          <a:prstGeom prst="rect">
            <a:avLst/>
          </a:prstGeom>
          <a:noFill/>
        </p:spPr>
        <p:txBody>
          <a:bodyPr wrap="none" rtlCol="0">
            <a:spAutoFit/>
          </a:bodyPr>
          <a:lstStyle/>
          <a:p>
            <a:r>
              <a:rPr lang="es-ES" b="1" dirty="0"/>
              <a:t>CPU</a:t>
            </a:r>
          </a:p>
        </p:txBody>
      </p:sp>
      <p:sp>
        <p:nvSpPr>
          <p:cNvPr id="18" name="CuadroTexto 17">
            <a:extLst>
              <a:ext uri="{FF2B5EF4-FFF2-40B4-BE49-F238E27FC236}">
                <a16:creationId xmlns:a16="http://schemas.microsoft.com/office/drawing/2014/main" id="{D57BEBAD-FCA5-46A1-B309-5C84E21936A8}"/>
              </a:ext>
            </a:extLst>
          </p:cNvPr>
          <p:cNvSpPr txBox="1"/>
          <p:nvPr/>
        </p:nvSpPr>
        <p:spPr>
          <a:xfrm>
            <a:off x="2933689" y="1887785"/>
            <a:ext cx="824521" cy="300082"/>
          </a:xfrm>
          <a:prstGeom prst="rect">
            <a:avLst/>
          </a:prstGeom>
          <a:noFill/>
        </p:spPr>
        <p:txBody>
          <a:bodyPr wrap="none" rtlCol="0">
            <a:spAutoFit/>
          </a:bodyPr>
          <a:lstStyle/>
          <a:p>
            <a:r>
              <a:rPr lang="es-ES" dirty="0"/>
              <a:t>Registros</a:t>
            </a:r>
          </a:p>
        </p:txBody>
      </p:sp>
      <p:sp>
        <p:nvSpPr>
          <p:cNvPr id="35" name="CuadroTexto 34">
            <a:extLst>
              <a:ext uri="{FF2B5EF4-FFF2-40B4-BE49-F238E27FC236}">
                <a16:creationId xmlns:a16="http://schemas.microsoft.com/office/drawing/2014/main" id="{0695D223-167C-47CE-BC4B-E3E98B38ACB2}"/>
              </a:ext>
            </a:extLst>
          </p:cNvPr>
          <p:cNvSpPr txBox="1"/>
          <p:nvPr/>
        </p:nvSpPr>
        <p:spPr>
          <a:xfrm>
            <a:off x="4265666" y="2088075"/>
            <a:ext cx="785793" cy="300082"/>
          </a:xfrm>
          <a:prstGeom prst="rect">
            <a:avLst/>
          </a:prstGeom>
          <a:noFill/>
        </p:spPr>
        <p:txBody>
          <a:bodyPr wrap="none" rtlCol="0">
            <a:spAutoFit/>
          </a:bodyPr>
          <a:lstStyle/>
          <a:p>
            <a:r>
              <a:rPr lang="es-ES" b="1" dirty="0"/>
              <a:t>Caché(s)</a:t>
            </a:r>
          </a:p>
        </p:txBody>
      </p:sp>
      <p:sp>
        <p:nvSpPr>
          <p:cNvPr id="38" name="Flecha: a la izquierda y derecha 37">
            <a:extLst>
              <a:ext uri="{FF2B5EF4-FFF2-40B4-BE49-F238E27FC236}">
                <a16:creationId xmlns:a16="http://schemas.microsoft.com/office/drawing/2014/main" id="{22D4EE78-F777-41E2-A28D-199FDCFBC1DB}"/>
              </a:ext>
            </a:extLst>
          </p:cNvPr>
          <p:cNvSpPr/>
          <p:nvPr/>
        </p:nvSpPr>
        <p:spPr>
          <a:xfrm>
            <a:off x="3773433" y="1658318"/>
            <a:ext cx="378152" cy="229467"/>
          </a:xfrm>
          <a:prstGeom prst="leftRightArrow">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44" name="Grupo 43">
            <a:extLst>
              <a:ext uri="{FF2B5EF4-FFF2-40B4-BE49-F238E27FC236}">
                <a16:creationId xmlns:a16="http://schemas.microsoft.com/office/drawing/2014/main" id="{56438A1A-E952-4904-A03A-09C80FE74F7E}"/>
              </a:ext>
            </a:extLst>
          </p:cNvPr>
          <p:cNvGrpSpPr/>
          <p:nvPr/>
        </p:nvGrpSpPr>
        <p:grpSpPr>
          <a:xfrm>
            <a:off x="4151586" y="1439279"/>
            <a:ext cx="840828" cy="641262"/>
            <a:chOff x="3214413" y="1315982"/>
            <a:chExt cx="840828" cy="641262"/>
          </a:xfrm>
        </p:grpSpPr>
        <p:sp>
          <p:nvSpPr>
            <p:cNvPr id="19" name="Rectángulo 18">
              <a:extLst>
                <a:ext uri="{FF2B5EF4-FFF2-40B4-BE49-F238E27FC236}">
                  <a16:creationId xmlns:a16="http://schemas.microsoft.com/office/drawing/2014/main" id="{62C11661-8D11-401C-AD6C-D97C7BEF0390}"/>
                </a:ext>
              </a:extLst>
            </p:cNvPr>
            <p:cNvSpPr/>
            <p:nvPr/>
          </p:nvSpPr>
          <p:spPr>
            <a:xfrm>
              <a:off x="3214413" y="1315982"/>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a:extLst>
                <a:ext uri="{FF2B5EF4-FFF2-40B4-BE49-F238E27FC236}">
                  <a16:creationId xmlns:a16="http://schemas.microsoft.com/office/drawing/2014/main" id="{AAC347AC-2BF0-4E5F-8840-3FDD274F76DD}"/>
                </a:ext>
              </a:extLst>
            </p:cNvPr>
            <p:cNvSpPr/>
            <p:nvPr/>
          </p:nvSpPr>
          <p:spPr>
            <a:xfrm>
              <a:off x="3214413" y="1422859"/>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22">
              <a:extLst>
                <a:ext uri="{FF2B5EF4-FFF2-40B4-BE49-F238E27FC236}">
                  <a16:creationId xmlns:a16="http://schemas.microsoft.com/office/drawing/2014/main" id="{A8FE0989-C90B-4582-9978-D727570E49ED}"/>
                </a:ext>
              </a:extLst>
            </p:cNvPr>
            <p:cNvSpPr/>
            <p:nvPr/>
          </p:nvSpPr>
          <p:spPr>
            <a:xfrm>
              <a:off x="3214413" y="1529736"/>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Rectángulo 24">
              <a:extLst>
                <a:ext uri="{FF2B5EF4-FFF2-40B4-BE49-F238E27FC236}">
                  <a16:creationId xmlns:a16="http://schemas.microsoft.com/office/drawing/2014/main" id="{D2AC90C5-C274-4710-8205-C2AB18C634E4}"/>
                </a:ext>
              </a:extLst>
            </p:cNvPr>
            <p:cNvSpPr/>
            <p:nvPr/>
          </p:nvSpPr>
          <p:spPr>
            <a:xfrm>
              <a:off x="3214413" y="1636613"/>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Rectángulo 38">
              <a:extLst>
                <a:ext uri="{FF2B5EF4-FFF2-40B4-BE49-F238E27FC236}">
                  <a16:creationId xmlns:a16="http://schemas.microsoft.com/office/drawing/2014/main" id="{2357BEC8-979E-4B99-BEE4-1D6DD2FDAF81}"/>
                </a:ext>
              </a:extLst>
            </p:cNvPr>
            <p:cNvSpPr/>
            <p:nvPr/>
          </p:nvSpPr>
          <p:spPr>
            <a:xfrm>
              <a:off x="3214413" y="1743490"/>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Rectángulo 40">
              <a:extLst>
                <a:ext uri="{FF2B5EF4-FFF2-40B4-BE49-F238E27FC236}">
                  <a16:creationId xmlns:a16="http://schemas.microsoft.com/office/drawing/2014/main" id="{A1E2AF96-F2DD-4383-ADDD-D54B20AA14A9}"/>
                </a:ext>
              </a:extLst>
            </p:cNvPr>
            <p:cNvSpPr/>
            <p:nvPr/>
          </p:nvSpPr>
          <p:spPr>
            <a:xfrm>
              <a:off x="3214413" y="1850367"/>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43" name="Rectángulo 42">
            <a:extLst>
              <a:ext uri="{FF2B5EF4-FFF2-40B4-BE49-F238E27FC236}">
                <a16:creationId xmlns:a16="http://schemas.microsoft.com/office/drawing/2014/main" id="{6C5C374D-6CD1-463F-AC8D-74CDB4F67F73}"/>
              </a:ext>
            </a:extLst>
          </p:cNvPr>
          <p:cNvSpPr/>
          <p:nvPr/>
        </p:nvSpPr>
        <p:spPr>
          <a:xfrm>
            <a:off x="2268642" y="1213396"/>
            <a:ext cx="2805546" cy="13453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CuadroTexto 44">
            <a:extLst>
              <a:ext uri="{FF2B5EF4-FFF2-40B4-BE49-F238E27FC236}">
                <a16:creationId xmlns:a16="http://schemas.microsoft.com/office/drawing/2014/main" id="{8C88A8F5-CC6E-4664-97B9-E48E0621C638}"/>
              </a:ext>
            </a:extLst>
          </p:cNvPr>
          <p:cNvSpPr txBox="1"/>
          <p:nvPr/>
        </p:nvSpPr>
        <p:spPr>
          <a:xfrm>
            <a:off x="2268642" y="2604542"/>
            <a:ext cx="1397114" cy="300082"/>
          </a:xfrm>
          <a:prstGeom prst="rect">
            <a:avLst/>
          </a:prstGeom>
          <a:noFill/>
        </p:spPr>
        <p:txBody>
          <a:bodyPr wrap="none" rtlCol="0">
            <a:spAutoFit/>
          </a:bodyPr>
          <a:lstStyle/>
          <a:p>
            <a:r>
              <a:rPr lang="es-ES" b="1" dirty="0"/>
              <a:t>microprocesador</a:t>
            </a:r>
          </a:p>
        </p:txBody>
      </p:sp>
      <p:grpSp>
        <p:nvGrpSpPr>
          <p:cNvPr id="47" name="Grupo 46">
            <a:extLst>
              <a:ext uri="{FF2B5EF4-FFF2-40B4-BE49-F238E27FC236}">
                <a16:creationId xmlns:a16="http://schemas.microsoft.com/office/drawing/2014/main" id="{7DBDC2DF-C646-4639-AF3F-82394FDCD1AD}"/>
              </a:ext>
            </a:extLst>
          </p:cNvPr>
          <p:cNvGrpSpPr/>
          <p:nvPr/>
        </p:nvGrpSpPr>
        <p:grpSpPr>
          <a:xfrm>
            <a:off x="5673841" y="1177535"/>
            <a:ext cx="561108" cy="1486740"/>
            <a:chOff x="4577450" y="832518"/>
            <a:chExt cx="840828" cy="1916900"/>
          </a:xfrm>
        </p:grpSpPr>
        <p:grpSp>
          <p:nvGrpSpPr>
            <p:cNvPr id="48" name="Grupo 47">
              <a:extLst>
                <a:ext uri="{FF2B5EF4-FFF2-40B4-BE49-F238E27FC236}">
                  <a16:creationId xmlns:a16="http://schemas.microsoft.com/office/drawing/2014/main" id="{4E7CAA90-2BD0-458C-A2E7-FDA0AE9C608C}"/>
                </a:ext>
              </a:extLst>
            </p:cNvPr>
            <p:cNvGrpSpPr/>
            <p:nvPr/>
          </p:nvGrpSpPr>
          <p:grpSpPr>
            <a:xfrm>
              <a:off x="4577450" y="832518"/>
              <a:ext cx="840828" cy="641262"/>
              <a:chOff x="3214413" y="1315982"/>
              <a:chExt cx="840828" cy="641262"/>
            </a:xfrm>
          </p:grpSpPr>
          <p:sp>
            <p:nvSpPr>
              <p:cNvPr id="49" name="Rectángulo 48">
                <a:extLst>
                  <a:ext uri="{FF2B5EF4-FFF2-40B4-BE49-F238E27FC236}">
                    <a16:creationId xmlns:a16="http://schemas.microsoft.com/office/drawing/2014/main" id="{6C117796-7CD9-4FF4-B705-F84F8E692800}"/>
                  </a:ext>
                </a:extLst>
              </p:cNvPr>
              <p:cNvSpPr/>
              <p:nvPr/>
            </p:nvSpPr>
            <p:spPr>
              <a:xfrm>
                <a:off x="3214413" y="1315982"/>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Rectángulo 49">
                <a:extLst>
                  <a:ext uri="{FF2B5EF4-FFF2-40B4-BE49-F238E27FC236}">
                    <a16:creationId xmlns:a16="http://schemas.microsoft.com/office/drawing/2014/main" id="{FFB660E7-0182-4FFB-9BC6-33E8A3BE53F5}"/>
                  </a:ext>
                </a:extLst>
              </p:cNvPr>
              <p:cNvSpPr/>
              <p:nvPr/>
            </p:nvSpPr>
            <p:spPr>
              <a:xfrm>
                <a:off x="3214413" y="1422859"/>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Rectángulo 50">
                <a:extLst>
                  <a:ext uri="{FF2B5EF4-FFF2-40B4-BE49-F238E27FC236}">
                    <a16:creationId xmlns:a16="http://schemas.microsoft.com/office/drawing/2014/main" id="{415744F4-2EAE-4F4B-8B48-7681B197212F}"/>
                  </a:ext>
                </a:extLst>
              </p:cNvPr>
              <p:cNvSpPr/>
              <p:nvPr/>
            </p:nvSpPr>
            <p:spPr>
              <a:xfrm>
                <a:off x="3214413" y="1529736"/>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Rectángulo 51">
                <a:extLst>
                  <a:ext uri="{FF2B5EF4-FFF2-40B4-BE49-F238E27FC236}">
                    <a16:creationId xmlns:a16="http://schemas.microsoft.com/office/drawing/2014/main" id="{0BD1D56D-5572-44F8-AAB0-4FDA52D99835}"/>
                  </a:ext>
                </a:extLst>
              </p:cNvPr>
              <p:cNvSpPr/>
              <p:nvPr/>
            </p:nvSpPr>
            <p:spPr>
              <a:xfrm>
                <a:off x="3214413" y="1636613"/>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Rectángulo 52">
                <a:extLst>
                  <a:ext uri="{FF2B5EF4-FFF2-40B4-BE49-F238E27FC236}">
                    <a16:creationId xmlns:a16="http://schemas.microsoft.com/office/drawing/2014/main" id="{7DCAE234-6BFE-45F7-A5AF-7852749324C8}"/>
                  </a:ext>
                </a:extLst>
              </p:cNvPr>
              <p:cNvSpPr/>
              <p:nvPr/>
            </p:nvSpPr>
            <p:spPr>
              <a:xfrm>
                <a:off x="3214413" y="1743490"/>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Rectángulo 53">
                <a:extLst>
                  <a:ext uri="{FF2B5EF4-FFF2-40B4-BE49-F238E27FC236}">
                    <a16:creationId xmlns:a16="http://schemas.microsoft.com/office/drawing/2014/main" id="{72D549C6-19D1-40DA-AD88-E43F98FCEF24}"/>
                  </a:ext>
                </a:extLst>
              </p:cNvPr>
              <p:cNvSpPr/>
              <p:nvPr/>
            </p:nvSpPr>
            <p:spPr>
              <a:xfrm>
                <a:off x="3214413" y="1850367"/>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55" name="Grupo 54">
              <a:extLst>
                <a:ext uri="{FF2B5EF4-FFF2-40B4-BE49-F238E27FC236}">
                  <a16:creationId xmlns:a16="http://schemas.microsoft.com/office/drawing/2014/main" id="{6F16596A-17A5-4A70-A419-36204D9A8EE4}"/>
                </a:ext>
              </a:extLst>
            </p:cNvPr>
            <p:cNvGrpSpPr/>
            <p:nvPr/>
          </p:nvGrpSpPr>
          <p:grpSpPr>
            <a:xfrm>
              <a:off x="4577450" y="2108156"/>
              <a:ext cx="840828" cy="641262"/>
              <a:chOff x="3214413" y="1315982"/>
              <a:chExt cx="840828" cy="641262"/>
            </a:xfrm>
          </p:grpSpPr>
          <p:sp>
            <p:nvSpPr>
              <p:cNvPr id="56" name="Rectángulo 55">
                <a:extLst>
                  <a:ext uri="{FF2B5EF4-FFF2-40B4-BE49-F238E27FC236}">
                    <a16:creationId xmlns:a16="http://schemas.microsoft.com/office/drawing/2014/main" id="{A2A99B32-8121-40A9-AD08-28175979EC28}"/>
                  </a:ext>
                </a:extLst>
              </p:cNvPr>
              <p:cNvSpPr/>
              <p:nvPr/>
            </p:nvSpPr>
            <p:spPr>
              <a:xfrm>
                <a:off x="3214413" y="1315982"/>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7" name="Rectángulo 56">
                <a:extLst>
                  <a:ext uri="{FF2B5EF4-FFF2-40B4-BE49-F238E27FC236}">
                    <a16:creationId xmlns:a16="http://schemas.microsoft.com/office/drawing/2014/main" id="{13C2B892-3A4C-4899-A9C8-13BE7C3BE7FE}"/>
                  </a:ext>
                </a:extLst>
              </p:cNvPr>
              <p:cNvSpPr/>
              <p:nvPr/>
            </p:nvSpPr>
            <p:spPr>
              <a:xfrm>
                <a:off x="3214413" y="1422859"/>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Rectángulo 57">
                <a:extLst>
                  <a:ext uri="{FF2B5EF4-FFF2-40B4-BE49-F238E27FC236}">
                    <a16:creationId xmlns:a16="http://schemas.microsoft.com/office/drawing/2014/main" id="{56789BE2-7D1B-4B1F-81A0-F97505AF3B2F}"/>
                  </a:ext>
                </a:extLst>
              </p:cNvPr>
              <p:cNvSpPr/>
              <p:nvPr/>
            </p:nvSpPr>
            <p:spPr>
              <a:xfrm>
                <a:off x="3214413" y="1529736"/>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9" name="Rectángulo 58">
                <a:extLst>
                  <a:ext uri="{FF2B5EF4-FFF2-40B4-BE49-F238E27FC236}">
                    <a16:creationId xmlns:a16="http://schemas.microsoft.com/office/drawing/2014/main" id="{2ABD0CDB-780C-4340-869D-07464044C78D}"/>
                  </a:ext>
                </a:extLst>
              </p:cNvPr>
              <p:cNvSpPr/>
              <p:nvPr/>
            </p:nvSpPr>
            <p:spPr>
              <a:xfrm>
                <a:off x="3214413" y="1636613"/>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Rectángulo 59">
                <a:extLst>
                  <a:ext uri="{FF2B5EF4-FFF2-40B4-BE49-F238E27FC236}">
                    <a16:creationId xmlns:a16="http://schemas.microsoft.com/office/drawing/2014/main" id="{12C3C09B-10C7-46AA-9F79-DECCCCDC4B0A}"/>
                  </a:ext>
                </a:extLst>
              </p:cNvPr>
              <p:cNvSpPr/>
              <p:nvPr/>
            </p:nvSpPr>
            <p:spPr>
              <a:xfrm>
                <a:off x="3214413" y="1743490"/>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1" name="Rectángulo 60">
                <a:extLst>
                  <a:ext uri="{FF2B5EF4-FFF2-40B4-BE49-F238E27FC236}">
                    <a16:creationId xmlns:a16="http://schemas.microsoft.com/office/drawing/2014/main" id="{D0878EE1-42FB-449B-A7FA-219FEE83A646}"/>
                  </a:ext>
                </a:extLst>
              </p:cNvPr>
              <p:cNvSpPr/>
              <p:nvPr/>
            </p:nvSpPr>
            <p:spPr>
              <a:xfrm>
                <a:off x="3214413" y="1850367"/>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62" name="Grupo 61">
              <a:extLst>
                <a:ext uri="{FF2B5EF4-FFF2-40B4-BE49-F238E27FC236}">
                  <a16:creationId xmlns:a16="http://schemas.microsoft.com/office/drawing/2014/main" id="{8E7C2B54-13C5-4A53-BCDE-412DE5BB6591}"/>
                </a:ext>
              </a:extLst>
            </p:cNvPr>
            <p:cNvGrpSpPr/>
            <p:nvPr/>
          </p:nvGrpSpPr>
          <p:grpSpPr>
            <a:xfrm>
              <a:off x="4577450" y="1469968"/>
              <a:ext cx="840828" cy="641262"/>
              <a:chOff x="3214413" y="1315982"/>
              <a:chExt cx="840828" cy="641262"/>
            </a:xfrm>
          </p:grpSpPr>
          <p:sp>
            <p:nvSpPr>
              <p:cNvPr id="63" name="Rectángulo 62">
                <a:extLst>
                  <a:ext uri="{FF2B5EF4-FFF2-40B4-BE49-F238E27FC236}">
                    <a16:creationId xmlns:a16="http://schemas.microsoft.com/office/drawing/2014/main" id="{B0DF2BCB-98B2-4009-9223-963491AC93DC}"/>
                  </a:ext>
                </a:extLst>
              </p:cNvPr>
              <p:cNvSpPr/>
              <p:nvPr/>
            </p:nvSpPr>
            <p:spPr>
              <a:xfrm>
                <a:off x="3214413" y="1315982"/>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4" name="Rectángulo 63">
                <a:extLst>
                  <a:ext uri="{FF2B5EF4-FFF2-40B4-BE49-F238E27FC236}">
                    <a16:creationId xmlns:a16="http://schemas.microsoft.com/office/drawing/2014/main" id="{A2DE87C5-E9EF-4E20-8ECE-FF78802080FA}"/>
                  </a:ext>
                </a:extLst>
              </p:cNvPr>
              <p:cNvSpPr/>
              <p:nvPr/>
            </p:nvSpPr>
            <p:spPr>
              <a:xfrm>
                <a:off x="3214413" y="1422859"/>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5" name="Rectángulo 64">
                <a:extLst>
                  <a:ext uri="{FF2B5EF4-FFF2-40B4-BE49-F238E27FC236}">
                    <a16:creationId xmlns:a16="http://schemas.microsoft.com/office/drawing/2014/main" id="{E3F06F95-8533-4BC2-994A-D7BCC6212FF4}"/>
                  </a:ext>
                </a:extLst>
              </p:cNvPr>
              <p:cNvSpPr/>
              <p:nvPr/>
            </p:nvSpPr>
            <p:spPr>
              <a:xfrm>
                <a:off x="3214413" y="1529736"/>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 name="Rectángulo 65">
                <a:extLst>
                  <a:ext uri="{FF2B5EF4-FFF2-40B4-BE49-F238E27FC236}">
                    <a16:creationId xmlns:a16="http://schemas.microsoft.com/office/drawing/2014/main" id="{0ECEBFA5-FAEF-49A2-B847-DE8AE3CACDB9}"/>
                  </a:ext>
                </a:extLst>
              </p:cNvPr>
              <p:cNvSpPr/>
              <p:nvPr/>
            </p:nvSpPr>
            <p:spPr>
              <a:xfrm>
                <a:off x="3214413" y="1636613"/>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Rectángulo 66">
                <a:extLst>
                  <a:ext uri="{FF2B5EF4-FFF2-40B4-BE49-F238E27FC236}">
                    <a16:creationId xmlns:a16="http://schemas.microsoft.com/office/drawing/2014/main" id="{759EDF1B-FD79-402F-996D-8950816DD8F1}"/>
                  </a:ext>
                </a:extLst>
              </p:cNvPr>
              <p:cNvSpPr/>
              <p:nvPr/>
            </p:nvSpPr>
            <p:spPr>
              <a:xfrm>
                <a:off x="3214413" y="1743490"/>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Rectángulo 67">
                <a:extLst>
                  <a:ext uri="{FF2B5EF4-FFF2-40B4-BE49-F238E27FC236}">
                    <a16:creationId xmlns:a16="http://schemas.microsoft.com/office/drawing/2014/main" id="{F78565D6-E380-4C9C-AB51-A541E76F2708}"/>
                  </a:ext>
                </a:extLst>
              </p:cNvPr>
              <p:cNvSpPr/>
              <p:nvPr/>
            </p:nvSpPr>
            <p:spPr>
              <a:xfrm>
                <a:off x="3214413" y="1850367"/>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sp>
        <p:nvSpPr>
          <p:cNvPr id="69" name="CuadroTexto 68">
            <a:extLst>
              <a:ext uri="{FF2B5EF4-FFF2-40B4-BE49-F238E27FC236}">
                <a16:creationId xmlns:a16="http://schemas.microsoft.com/office/drawing/2014/main" id="{A6895AA9-F626-476E-8A1B-8D4DE3DD00EE}"/>
              </a:ext>
            </a:extLst>
          </p:cNvPr>
          <p:cNvSpPr txBox="1"/>
          <p:nvPr/>
        </p:nvSpPr>
        <p:spPr>
          <a:xfrm>
            <a:off x="5685731" y="875265"/>
            <a:ext cx="537327" cy="300082"/>
          </a:xfrm>
          <a:prstGeom prst="rect">
            <a:avLst/>
          </a:prstGeom>
          <a:noFill/>
        </p:spPr>
        <p:txBody>
          <a:bodyPr wrap="none" rtlCol="0">
            <a:spAutoFit/>
          </a:bodyPr>
          <a:lstStyle/>
          <a:p>
            <a:r>
              <a:rPr lang="es-ES" b="1" dirty="0"/>
              <a:t>RAM</a:t>
            </a:r>
          </a:p>
        </p:txBody>
      </p:sp>
      <p:sp>
        <p:nvSpPr>
          <p:cNvPr id="72" name="Rectángulo 71">
            <a:extLst>
              <a:ext uri="{FF2B5EF4-FFF2-40B4-BE49-F238E27FC236}">
                <a16:creationId xmlns:a16="http://schemas.microsoft.com/office/drawing/2014/main" id="{580E8572-BF7B-4CF2-83F2-5E72D0648D3D}"/>
              </a:ext>
            </a:extLst>
          </p:cNvPr>
          <p:cNvSpPr/>
          <p:nvPr/>
        </p:nvSpPr>
        <p:spPr>
          <a:xfrm>
            <a:off x="5348096" y="1153843"/>
            <a:ext cx="45719" cy="14124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3" name="CuadroTexto 72">
            <a:extLst>
              <a:ext uri="{FF2B5EF4-FFF2-40B4-BE49-F238E27FC236}">
                <a16:creationId xmlns:a16="http://schemas.microsoft.com/office/drawing/2014/main" id="{1F8B7B70-C2BF-47D9-90B4-C8D636DF6145}"/>
              </a:ext>
            </a:extLst>
          </p:cNvPr>
          <p:cNvSpPr txBox="1"/>
          <p:nvPr/>
        </p:nvSpPr>
        <p:spPr>
          <a:xfrm>
            <a:off x="4444579" y="830252"/>
            <a:ext cx="1447029" cy="300082"/>
          </a:xfrm>
          <a:prstGeom prst="rect">
            <a:avLst/>
          </a:prstGeom>
          <a:noFill/>
        </p:spPr>
        <p:txBody>
          <a:bodyPr wrap="square" rtlCol="0">
            <a:spAutoFit/>
          </a:bodyPr>
          <a:lstStyle/>
          <a:p>
            <a:r>
              <a:rPr lang="es-ES" b="1" dirty="0"/>
              <a:t>buses memoria</a:t>
            </a:r>
          </a:p>
        </p:txBody>
      </p:sp>
      <p:sp>
        <p:nvSpPr>
          <p:cNvPr id="75" name="Flecha: a la izquierda y derecha 74">
            <a:extLst>
              <a:ext uri="{FF2B5EF4-FFF2-40B4-BE49-F238E27FC236}">
                <a16:creationId xmlns:a16="http://schemas.microsoft.com/office/drawing/2014/main" id="{6642F478-936E-4E8E-B428-1AC309844C1D}"/>
              </a:ext>
            </a:extLst>
          </p:cNvPr>
          <p:cNvSpPr/>
          <p:nvPr/>
        </p:nvSpPr>
        <p:spPr>
          <a:xfrm>
            <a:off x="5074188" y="1539699"/>
            <a:ext cx="273908" cy="194564"/>
          </a:xfrm>
          <a:prstGeom prst="leftRightArrow">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7" name="Flecha: a la izquierda y derecha 76">
            <a:extLst>
              <a:ext uri="{FF2B5EF4-FFF2-40B4-BE49-F238E27FC236}">
                <a16:creationId xmlns:a16="http://schemas.microsoft.com/office/drawing/2014/main" id="{E8176BE4-77F2-451F-8ED6-2F50C115A998}"/>
              </a:ext>
            </a:extLst>
          </p:cNvPr>
          <p:cNvSpPr/>
          <p:nvPr/>
        </p:nvSpPr>
        <p:spPr>
          <a:xfrm>
            <a:off x="5403133" y="1906514"/>
            <a:ext cx="273908" cy="194564"/>
          </a:xfrm>
          <a:prstGeom prst="leftRightArrow">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9" name="Rectángulo 78">
            <a:extLst>
              <a:ext uri="{FF2B5EF4-FFF2-40B4-BE49-F238E27FC236}">
                <a16:creationId xmlns:a16="http://schemas.microsoft.com/office/drawing/2014/main" id="{CFE82B7B-426E-4571-949E-3C15FCCE1CDE}"/>
              </a:ext>
            </a:extLst>
          </p:cNvPr>
          <p:cNvSpPr/>
          <p:nvPr/>
        </p:nvSpPr>
        <p:spPr>
          <a:xfrm>
            <a:off x="6686059" y="1934432"/>
            <a:ext cx="377615" cy="645143"/>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0" name="CuadroTexto 79">
            <a:extLst>
              <a:ext uri="{FF2B5EF4-FFF2-40B4-BE49-F238E27FC236}">
                <a16:creationId xmlns:a16="http://schemas.microsoft.com/office/drawing/2014/main" id="{3B4716FA-D14B-4A52-85F7-75B2423E16C0}"/>
              </a:ext>
            </a:extLst>
          </p:cNvPr>
          <p:cNvSpPr txBox="1"/>
          <p:nvPr/>
        </p:nvSpPr>
        <p:spPr>
          <a:xfrm>
            <a:off x="6596953" y="1681199"/>
            <a:ext cx="511679" cy="300082"/>
          </a:xfrm>
          <a:prstGeom prst="rect">
            <a:avLst/>
          </a:prstGeom>
          <a:noFill/>
        </p:spPr>
        <p:txBody>
          <a:bodyPr wrap="none" rtlCol="0">
            <a:spAutoFit/>
          </a:bodyPr>
          <a:lstStyle/>
          <a:p>
            <a:r>
              <a:rPr lang="es-ES" b="1" dirty="0"/>
              <a:t>HDD</a:t>
            </a:r>
          </a:p>
        </p:txBody>
      </p:sp>
      <p:sp>
        <p:nvSpPr>
          <p:cNvPr id="82" name="Rectángulo 81">
            <a:extLst>
              <a:ext uri="{FF2B5EF4-FFF2-40B4-BE49-F238E27FC236}">
                <a16:creationId xmlns:a16="http://schemas.microsoft.com/office/drawing/2014/main" id="{2AD629BC-626A-44AA-A9F5-165E922481AD}"/>
              </a:ext>
            </a:extLst>
          </p:cNvPr>
          <p:cNvSpPr/>
          <p:nvPr/>
        </p:nvSpPr>
        <p:spPr>
          <a:xfrm>
            <a:off x="7326494" y="1934432"/>
            <a:ext cx="377615" cy="645143"/>
          </a:xfrm>
          <a:prstGeom prst="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4" name="CuadroTexto 83">
            <a:extLst>
              <a:ext uri="{FF2B5EF4-FFF2-40B4-BE49-F238E27FC236}">
                <a16:creationId xmlns:a16="http://schemas.microsoft.com/office/drawing/2014/main" id="{3AE03FA7-D902-4E75-BB77-2BBE9D60B42D}"/>
              </a:ext>
            </a:extLst>
          </p:cNvPr>
          <p:cNvSpPr txBox="1"/>
          <p:nvPr/>
        </p:nvSpPr>
        <p:spPr>
          <a:xfrm>
            <a:off x="7237388" y="1681199"/>
            <a:ext cx="484428" cy="300082"/>
          </a:xfrm>
          <a:prstGeom prst="rect">
            <a:avLst/>
          </a:prstGeom>
          <a:noFill/>
        </p:spPr>
        <p:txBody>
          <a:bodyPr wrap="none" rtlCol="0">
            <a:spAutoFit/>
          </a:bodyPr>
          <a:lstStyle/>
          <a:p>
            <a:r>
              <a:rPr lang="es-ES" b="1" dirty="0"/>
              <a:t>SDD</a:t>
            </a:r>
          </a:p>
        </p:txBody>
      </p:sp>
      <p:sp>
        <p:nvSpPr>
          <p:cNvPr id="86" name="Rectángulo 85">
            <a:extLst>
              <a:ext uri="{FF2B5EF4-FFF2-40B4-BE49-F238E27FC236}">
                <a16:creationId xmlns:a16="http://schemas.microsoft.com/office/drawing/2014/main" id="{F5C36FE6-181E-485F-A1A0-DE3A5A809767}"/>
              </a:ext>
            </a:extLst>
          </p:cNvPr>
          <p:cNvSpPr/>
          <p:nvPr/>
        </p:nvSpPr>
        <p:spPr>
          <a:xfrm rot="16200000" flipH="1">
            <a:off x="5735910" y="911231"/>
            <a:ext cx="45719" cy="39811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88" name="Flecha: a la izquierda y derecha 87">
            <a:extLst>
              <a:ext uri="{FF2B5EF4-FFF2-40B4-BE49-F238E27FC236}">
                <a16:creationId xmlns:a16="http://schemas.microsoft.com/office/drawing/2014/main" id="{1F1E2C66-8E24-4571-A378-AE7B1BB03FD6}"/>
              </a:ext>
            </a:extLst>
          </p:cNvPr>
          <p:cNvSpPr/>
          <p:nvPr/>
        </p:nvSpPr>
        <p:spPr>
          <a:xfrm rot="5400000">
            <a:off x="4265538" y="2614630"/>
            <a:ext cx="273908" cy="194564"/>
          </a:xfrm>
          <a:prstGeom prst="leftRightArrow">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0" name="Flecha: a la izquierda y derecha 89">
            <a:extLst>
              <a:ext uri="{FF2B5EF4-FFF2-40B4-BE49-F238E27FC236}">
                <a16:creationId xmlns:a16="http://schemas.microsoft.com/office/drawing/2014/main" id="{955EFC11-DB41-4084-B3B9-0896A108AE76}"/>
              </a:ext>
            </a:extLst>
          </p:cNvPr>
          <p:cNvSpPr/>
          <p:nvPr/>
        </p:nvSpPr>
        <p:spPr>
          <a:xfrm rot="5400000">
            <a:off x="6737912" y="2623555"/>
            <a:ext cx="273908" cy="194564"/>
          </a:xfrm>
          <a:prstGeom prst="leftRightArrow">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2" name="Flecha: a la izquierda y derecha 91">
            <a:extLst>
              <a:ext uri="{FF2B5EF4-FFF2-40B4-BE49-F238E27FC236}">
                <a16:creationId xmlns:a16="http://schemas.microsoft.com/office/drawing/2014/main" id="{95EBDCF7-BEF6-4908-9FBF-AC567D7FCC8E}"/>
              </a:ext>
            </a:extLst>
          </p:cNvPr>
          <p:cNvSpPr/>
          <p:nvPr/>
        </p:nvSpPr>
        <p:spPr>
          <a:xfrm rot="5400000">
            <a:off x="7401900" y="2623555"/>
            <a:ext cx="273908" cy="194564"/>
          </a:xfrm>
          <a:prstGeom prst="leftRightArrow">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 name="CuadroTexto 93">
            <a:extLst>
              <a:ext uri="{FF2B5EF4-FFF2-40B4-BE49-F238E27FC236}">
                <a16:creationId xmlns:a16="http://schemas.microsoft.com/office/drawing/2014/main" id="{4DB62D83-F2AB-40F8-948F-E8FADDB6CAC0}"/>
              </a:ext>
            </a:extLst>
          </p:cNvPr>
          <p:cNvSpPr txBox="1"/>
          <p:nvPr/>
        </p:nvSpPr>
        <p:spPr>
          <a:xfrm>
            <a:off x="4878334" y="2939204"/>
            <a:ext cx="1447029" cy="300082"/>
          </a:xfrm>
          <a:prstGeom prst="rect">
            <a:avLst/>
          </a:prstGeom>
          <a:noFill/>
        </p:spPr>
        <p:txBody>
          <a:bodyPr wrap="square" rtlCol="0">
            <a:spAutoFit/>
          </a:bodyPr>
          <a:lstStyle/>
          <a:p>
            <a:r>
              <a:rPr lang="es-ES" b="1" dirty="0"/>
              <a:t>buses E/S</a:t>
            </a:r>
          </a:p>
        </p:txBody>
      </p:sp>
      <p:sp>
        <p:nvSpPr>
          <p:cNvPr id="96" name="CuadroTexto 95">
            <a:extLst>
              <a:ext uri="{FF2B5EF4-FFF2-40B4-BE49-F238E27FC236}">
                <a16:creationId xmlns:a16="http://schemas.microsoft.com/office/drawing/2014/main" id="{EAECD493-DD56-4458-BA53-A1E629559A17}"/>
              </a:ext>
            </a:extLst>
          </p:cNvPr>
          <p:cNvSpPr txBox="1"/>
          <p:nvPr/>
        </p:nvSpPr>
        <p:spPr>
          <a:xfrm>
            <a:off x="1315068" y="711150"/>
            <a:ext cx="2907126" cy="507831"/>
          </a:xfrm>
          <a:prstGeom prst="rect">
            <a:avLst/>
          </a:prstGeom>
          <a:noFill/>
        </p:spPr>
        <p:txBody>
          <a:bodyPr wrap="square" rtlCol="0">
            <a:spAutoFit/>
          </a:bodyPr>
          <a:lstStyle/>
          <a:p>
            <a:r>
              <a:rPr lang="es-ES" b="1" dirty="0">
                <a:solidFill>
                  <a:schemeClr val="accent6"/>
                </a:solidFill>
                <a:latin typeface="Ink Free" panose="03080402000500000000" pitchFamily="66" charset="0"/>
              </a:rPr>
              <a:t>Hacemos “creer” a la CPU que habla directamente con la RAM</a:t>
            </a:r>
          </a:p>
        </p:txBody>
      </p:sp>
      <p:cxnSp>
        <p:nvCxnSpPr>
          <p:cNvPr id="99" name="Conector recto de flecha 98">
            <a:extLst>
              <a:ext uri="{FF2B5EF4-FFF2-40B4-BE49-F238E27FC236}">
                <a16:creationId xmlns:a16="http://schemas.microsoft.com/office/drawing/2014/main" id="{39E34F4D-5B5F-40CA-AB17-D03FF0F040AD}"/>
              </a:ext>
            </a:extLst>
          </p:cNvPr>
          <p:cNvCxnSpPr>
            <a:endCxn id="38" idx="2"/>
          </p:cNvCxnSpPr>
          <p:nvPr/>
        </p:nvCxnSpPr>
        <p:spPr>
          <a:xfrm>
            <a:off x="3345949" y="1130334"/>
            <a:ext cx="542218" cy="527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3683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2" name="CuadroTexto 1">
            <a:extLst>
              <a:ext uri="{FF2B5EF4-FFF2-40B4-BE49-F238E27FC236}">
                <a16:creationId xmlns:a16="http://schemas.microsoft.com/office/drawing/2014/main" id="{63768F55-0274-4396-B762-A526975ECC4F}"/>
              </a:ext>
            </a:extLst>
          </p:cNvPr>
          <p:cNvSpPr txBox="1"/>
          <p:nvPr/>
        </p:nvSpPr>
        <p:spPr>
          <a:xfrm>
            <a:off x="1776414" y="983973"/>
            <a:ext cx="6840812" cy="1962076"/>
          </a:xfrm>
          <a:prstGeom prst="rect">
            <a:avLst/>
          </a:prstGeom>
          <a:noFill/>
        </p:spPr>
        <p:txBody>
          <a:bodyPr wrap="square" rtlCol="0">
            <a:spAutoFit/>
          </a:bodyPr>
          <a:lstStyle/>
          <a:p>
            <a:r>
              <a:rPr lang="es-ES" dirty="0"/>
              <a:t>La memoria caché es una memoria muy pequeña y muy rápida que reside en el mismo sustrato de silicio que la CPU, aunque no forma parte de ella. En la arquitectura de </a:t>
            </a:r>
            <a:r>
              <a:rPr lang="es-ES" dirty="0" err="1"/>
              <a:t>von</a:t>
            </a:r>
            <a:r>
              <a:rPr lang="es-ES" dirty="0"/>
              <a:t> Neumann la CPU se relaciona directamente con la memoria usando los buses de direcciones, datos y control. Cuando la caché está presente, “engaña” a la CPU, capturando las señales de esos buses y dialogando con la CPU como si fuese la memoria convencional.</a:t>
            </a:r>
          </a:p>
          <a:p>
            <a:endParaRPr lang="es-ES" dirty="0"/>
          </a:p>
          <a:p>
            <a:r>
              <a:rPr lang="es-ES" dirty="0"/>
              <a:t>Por otra parte se conecta a la RAM. Mientras que la CPU lee y escribe “palabras” de la RAM, la memoria caché intercambia “bloques” con la RAM, conjuntos de  8, 16, 32… bytes, cuyo tamaño coincide con el de la “línea” o unidad en la que se organiza internamente la caché.</a:t>
            </a:r>
          </a:p>
        </p:txBody>
      </p:sp>
      <p:sp>
        <p:nvSpPr>
          <p:cNvPr id="8" name="Rectángulo 7">
            <a:extLst>
              <a:ext uri="{FF2B5EF4-FFF2-40B4-BE49-F238E27FC236}">
                <a16:creationId xmlns:a16="http://schemas.microsoft.com/office/drawing/2014/main" id="{42D7AFF9-6FF2-4D42-9E72-1A1CBE112BB9}"/>
              </a:ext>
            </a:extLst>
          </p:cNvPr>
          <p:cNvSpPr/>
          <p:nvPr/>
        </p:nvSpPr>
        <p:spPr>
          <a:xfrm>
            <a:off x="2613456" y="3488716"/>
            <a:ext cx="1022647" cy="1003691"/>
          </a:xfrm>
          <a:prstGeom prst="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71" name="Grupo 70">
            <a:extLst>
              <a:ext uri="{FF2B5EF4-FFF2-40B4-BE49-F238E27FC236}">
                <a16:creationId xmlns:a16="http://schemas.microsoft.com/office/drawing/2014/main" id="{69A76D5E-874D-43D9-AACB-4EE0B79C705B}"/>
              </a:ext>
            </a:extLst>
          </p:cNvPr>
          <p:cNvGrpSpPr/>
          <p:nvPr/>
        </p:nvGrpSpPr>
        <p:grpSpPr>
          <a:xfrm>
            <a:off x="4572000" y="3568229"/>
            <a:ext cx="931626" cy="834806"/>
            <a:chOff x="3214413" y="1315982"/>
            <a:chExt cx="840828" cy="641262"/>
          </a:xfrm>
        </p:grpSpPr>
        <p:sp>
          <p:nvSpPr>
            <p:cNvPr id="74" name="Rectángulo 73">
              <a:extLst>
                <a:ext uri="{FF2B5EF4-FFF2-40B4-BE49-F238E27FC236}">
                  <a16:creationId xmlns:a16="http://schemas.microsoft.com/office/drawing/2014/main" id="{D2661F7F-78AC-4983-8816-33C9184D4EFE}"/>
                </a:ext>
              </a:extLst>
            </p:cNvPr>
            <p:cNvSpPr/>
            <p:nvPr/>
          </p:nvSpPr>
          <p:spPr>
            <a:xfrm>
              <a:off x="3214413" y="1315982"/>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Rectángulo 75">
              <a:extLst>
                <a:ext uri="{FF2B5EF4-FFF2-40B4-BE49-F238E27FC236}">
                  <a16:creationId xmlns:a16="http://schemas.microsoft.com/office/drawing/2014/main" id="{281D740A-3D90-4FE5-8979-82C1D4086EC1}"/>
                </a:ext>
              </a:extLst>
            </p:cNvPr>
            <p:cNvSpPr/>
            <p:nvPr/>
          </p:nvSpPr>
          <p:spPr>
            <a:xfrm>
              <a:off x="3214413" y="1422859"/>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8" name="Rectángulo 77">
              <a:extLst>
                <a:ext uri="{FF2B5EF4-FFF2-40B4-BE49-F238E27FC236}">
                  <a16:creationId xmlns:a16="http://schemas.microsoft.com/office/drawing/2014/main" id="{E71F109A-25B9-4751-90E0-50E869346343}"/>
                </a:ext>
              </a:extLst>
            </p:cNvPr>
            <p:cNvSpPr/>
            <p:nvPr/>
          </p:nvSpPr>
          <p:spPr>
            <a:xfrm>
              <a:off x="3214413" y="1529736"/>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1" name="Rectángulo 80">
              <a:extLst>
                <a:ext uri="{FF2B5EF4-FFF2-40B4-BE49-F238E27FC236}">
                  <a16:creationId xmlns:a16="http://schemas.microsoft.com/office/drawing/2014/main" id="{77375E6D-2A23-4661-B7DA-74F13E15D6BC}"/>
                </a:ext>
              </a:extLst>
            </p:cNvPr>
            <p:cNvSpPr/>
            <p:nvPr/>
          </p:nvSpPr>
          <p:spPr>
            <a:xfrm>
              <a:off x="3214413" y="1636613"/>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3" name="Rectángulo 82">
              <a:extLst>
                <a:ext uri="{FF2B5EF4-FFF2-40B4-BE49-F238E27FC236}">
                  <a16:creationId xmlns:a16="http://schemas.microsoft.com/office/drawing/2014/main" id="{CEE8628B-0535-4DDC-A970-5AE11B1B0D84}"/>
                </a:ext>
              </a:extLst>
            </p:cNvPr>
            <p:cNvSpPr/>
            <p:nvPr/>
          </p:nvSpPr>
          <p:spPr>
            <a:xfrm>
              <a:off x="3214413" y="1743490"/>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5" name="Rectángulo 84">
              <a:extLst>
                <a:ext uri="{FF2B5EF4-FFF2-40B4-BE49-F238E27FC236}">
                  <a16:creationId xmlns:a16="http://schemas.microsoft.com/office/drawing/2014/main" id="{1F9522B4-19DA-4B35-93FB-63873D489FA1}"/>
                </a:ext>
              </a:extLst>
            </p:cNvPr>
            <p:cNvSpPr/>
            <p:nvPr/>
          </p:nvSpPr>
          <p:spPr>
            <a:xfrm>
              <a:off x="3214413" y="1850367"/>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87" name="Grupo 86">
            <a:extLst>
              <a:ext uri="{FF2B5EF4-FFF2-40B4-BE49-F238E27FC236}">
                <a16:creationId xmlns:a16="http://schemas.microsoft.com/office/drawing/2014/main" id="{9546157B-19D7-4902-87BB-8EA1A7DD3AA8}"/>
              </a:ext>
            </a:extLst>
          </p:cNvPr>
          <p:cNvGrpSpPr/>
          <p:nvPr/>
        </p:nvGrpSpPr>
        <p:grpSpPr>
          <a:xfrm>
            <a:off x="6469340" y="3242262"/>
            <a:ext cx="561108" cy="1486740"/>
            <a:chOff x="4577450" y="832518"/>
            <a:chExt cx="840828" cy="1916900"/>
          </a:xfrm>
        </p:grpSpPr>
        <p:grpSp>
          <p:nvGrpSpPr>
            <p:cNvPr id="89" name="Grupo 88">
              <a:extLst>
                <a:ext uri="{FF2B5EF4-FFF2-40B4-BE49-F238E27FC236}">
                  <a16:creationId xmlns:a16="http://schemas.microsoft.com/office/drawing/2014/main" id="{FEF99E5B-04BC-4F9E-8C03-29F20B86C4C2}"/>
                </a:ext>
              </a:extLst>
            </p:cNvPr>
            <p:cNvGrpSpPr/>
            <p:nvPr/>
          </p:nvGrpSpPr>
          <p:grpSpPr>
            <a:xfrm>
              <a:off x="4577450" y="832518"/>
              <a:ext cx="840828" cy="641262"/>
              <a:chOff x="3214413" y="1315982"/>
              <a:chExt cx="840828" cy="641262"/>
            </a:xfrm>
          </p:grpSpPr>
          <p:sp>
            <p:nvSpPr>
              <p:cNvPr id="107" name="Rectángulo 106">
                <a:extLst>
                  <a:ext uri="{FF2B5EF4-FFF2-40B4-BE49-F238E27FC236}">
                    <a16:creationId xmlns:a16="http://schemas.microsoft.com/office/drawing/2014/main" id="{5DF9A0A4-2D93-4A57-B082-8809F2A38369}"/>
                  </a:ext>
                </a:extLst>
              </p:cNvPr>
              <p:cNvSpPr/>
              <p:nvPr/>
            </p:nvSpPr>
            <p:spPr>
              <a:xfrm>
                <a:off x="3214413" y="1315982"/>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 name="Rectángulo 107">
                <a:extLst>
                  <a:ext uri="{FF2B5EF4-FFF2-40B4-BE49-F238E27FC236}">
                    <a16:creationId xmlns:a16="http://schemas.microsoft.com/office/drawing/2014/main" id="{C44174B9-4DBC-41B3-B027-97E7D7C15360}"/>
                  </a:ext>
                </a:extLst>
              </p:cNvPr>
              <p:cNvSpPr/>
              <p:nvPr/>
            </p:nvSpPr>
            <p:spPr>
              <a:xfrm>
                <a:off x="3214413" y="1422859"/>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9" name="Rectángulo 108">
                <a:extLst>
                  <a:ext uri="{FF2B5EF4-FFF2-40B4-BE49-F238E27FC236}">
                    <a16:creationId xmlns:a16="http://schemas.microsoft.com/office/drawing/2014/main" id="{C8204DFC-922F-44E0-A5D4-0C3650DF555F}"/>
                  </a:ext>
                </a:extLst>
              </p:cNvPr>
              <p:cNvSpPr/>
              <p:nvPr/>
            </p:nvSpPr>
            <p:spPr>
              <a:xfrm>
                <a:off x="3214413" y="1529736"/>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 name="Rectángulo 109">
                <a:extLst>
                  <a:ext uri="{FF2B5EF4-FFF2-40B4-BE49-F238E27FC236}">
                    <a16:creationId xmlns:a16="http://schemas.microsoft.com/office/drawing/2014/main" id="{2C528300-C506-416B-BC66-D0B89D37D230}"/>
                  </a:ext>
                </a:extLst>
              </p:cNvPr>
              <p:cNvSpPr/>
              <p:nvPr/>
            </p:nvSpPr>
            <p:spPr>
              <a:xfrm>
                <a:off x="3214413" y="1636613"/>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1" name="Rectángulo 110">
                <a:extLst>
                  <a:ext uri="{FF2B5EF4-FFF2-40B4-BE49-F238E27FC236}">
                    <a16:creationId xmlns:a16="http://schemas.microsoft.com/office/drawing/2014/main" id="{C5548F02-2A05-4E0C-BDB4-828CF74DAA64}"/>
                  </a:ext>
                </a:extLst>
              </p:cNvPr>
              <p:cNvSpPr/>
              <p:nvPr/>
            </p:nvSpPr>
            <p:spPr>
              <a:xfrm>
                <a:off x="3214413" y="1743490"/>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2" name="Rectángulo 111">
                <a:extLst>
                  <a:ext uri="{FF2B5EF4-FFF2-40B4-BE49-F238E27FC236}">
                    <a16:creationId xmlns:a16="http://schemas.microsoft.com/office/drawing/2014/main" id="{06835D11-54A7-4522-8431-89ACDD899C21}"/>
                  </a:ext>
                </a:extLst>
              </p:cNvPr>
              <p:cNvSpPr/>
              <p:nvPr/>
            </p:nvSpPr>
            <p:spPr>
              <a:xfrm>
                <a:off x="3214413" y="1850367"/>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91" name="Grupo 90">
              <a:extLst>
                <a:ext uri="{FF2B5EF4-FFF2-40B4-BE49-F238E27FC236}">
                  <a16:creationId xmlns:a16="http://schemas.microsoft.com/office/drawing/2014/main" id="{54B7C8FB-834F-49E6-8202-19CF523F9858}"/>
                </a:ext>
              </a:extLst>
            </p:cNvPr>
            <p:cNvGrpSpPr/>
            <p:nvPr/>
          </p:nvGrpSpPr>
          <p:grpSpPr>
            <a:xfrm>
              <a:off x="4577450" y="2108156"/>
              <a:ext cx="840828" cy="641262"/>
              <a:chOff x="3214413" y="1315982"/>
              <a:chExt cx="840828" cy="641262"/>
            </a:xfrm>
          </p:grpSpPr>
          <p:sp>
            <p:nvSpPr>
              <p:cNvPr id="101" name="Rectángulo 100">
                <a:extLst>
                  <a:ext uri="{FF2B5EF4-FFF2-40B4-BE49-F238E27FC236}">
                    <a16:creationId xmlns:a16="http://schemas.microsoft.com/office/drawing/2014/main" id="{2348F7B9-CD31-41E9-86BB-3ACFB40C65FF}"/>
                  </a:ext>
                </a:extLst>
              </p:cNvPr>
              <p:cNvSpPr/>
              <p:nvPr/>
            </p:nvSpPr>
            <p:spPr>
              <a:xfrm>
                <a:off x="3214413" y="1315982"/>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2" name="Rectángulo 101">
                <a:extLst>
                  <a:ext uri="{FF2B5EF4-FFF2-40B4-BE49-F238E27FC236}">
                    <a16:creationId xmlns:a16="http://schemas.microsoft.com/office/drawing/2014/main" id="{7837E701-C835-4C9E-822E-8E9311AEFEF0}"/>
                  </a:ext>
                </a:extLst>
              </p:cNvPr>
              <p:cNvSpPr/>
              <p:nvPr/>
            </p:nvSpPr>
            <p:spPr>
              <a:xfrm>
                <a:off x="3214413" y="1422859"/>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 name="Rectángulo 102">
                <a:extLst>
                  <a:ext uri="{FF2B5EF4-FFF2-40B4-BE49-F238E27FC236}">
                    <a16:creationId xmlns:a16="http://schemas.microsoft.com/office/drawing/2014/main" id="{F9597E46-5022-4C92-82CE-E373A11B95CC}"/>
                  </a:ext>
                </a:extLst>
              </p:cNvPr>
              <p:cNvSpPr/>
              <p:nvPr/>
            </p:nvSpPr>
            <p:spPr>
              <a:xfrm>
                <a:off x="3214413" y="1529736"/>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 name="Rectángulo 103">
                <a:extLst>
                  <a:ext uri="{FF2B5EF4-FFF2-40B4-BE49-F238E27FC236}">
                    <a16:creationId xmlns:a16="http://schemas.microsoft.com/office/drawing/2014/main" id="{CA58C4C9-53F0-4A05-9614-1FC897C408C4}"/>
                  </a:ext>
                </a:extLst>
              </p:cNvPr>
              <p:cNvSpPr/>
              <p:nvPr/>
            </p:nvSpPr>
            <p:spPr>
              <a:xfrm>
                <a:off x="3214413" y="1636613"/>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5" name="Rectángulo 104">
                <a:extLst>
                  <a:ext uri="{FF2B5EF4-FFF2-40B4-BE49-F238E27FC236}">
                    <a16:creationId xmlns:a16="http://schemas.microsoft.com/office/drawing/2014/main" id="{B557BD04-AAAB-414B-A0C6-74B2D8D54009}"/>
                  </a:ext>
                </a:extLst>
              </p:cNvPr>
              <p:cNvSpPr/>
              <p:nvPr/>
            </p:nvSpPr>
            <p:spPr>
              <a:xfrm>
                <a:off x="3214413" y="1743490"/>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 name="Rectángulo 105">
                <a:extLst>
                  <a:ext uri="{FF2B5EF4-FFF2-40B4-BE49-F238E27FC236}">
                    <a16:creationId xmlns:a16="http://schemas.microsoft.com/office/drawing/2014/main" id="{51BB12DA-409D-4950-AB08-963C9E60B6DB}"/>
                  </a:ext>
                </a:extLst>
              </p:cNvPr>
              <p:cNvSpPr/>
              <p:nvPr/>
            </p:nvSpPr>
            <p:spPr>
              <a:xfrm>
                <a:off x="3214413" y="1850367"/>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93" name="Grupo 92">
              <a:extLst>
                <a:ext uri="{FF2B5EF4-FFF2-40B4-BE49-F238E27FC236}">
                  <a16:creationId xmlns:a16="http://schemas.microsoft.com/office/drawing/2014/main" id="{A6EC9DEE-01EE-478F-AE73-78A9AA75047C}"/>
                </a:ext>
              </a:extLst>
            </p:cNvPr>
            <p:cNvGrpSpPr/>
            <p:nvPr/>
          </p:nvGrpSpPr>
          <p:grpSpPr>
            <a:xfrm>
              <a:off x="4577450" y="1469968"/>
              <a:ext cx="840828" cy="641262"/>
              <a:chOff x="3214413" y="1315982"/>
              <a:chExt cx="840828" cy="641262"/>
            </a:xfrm>
          </p:grpSpPr>
          <p:sp>
            <p:nvSpPr>
              <p:cNvPr id="95" name="Rectángulo 94">
                <a:extLst>
                  <a:ext uri="{FF2B5EF4-FFF2-40B4-BE49-F238E27FC236}">
                    <a16:creationId xmlns:a16="http://schemas.microsoft.com/office/drawing/2014/main" id="{B17E9EA6-BFDF-4231-82FF-D4DBB41FFA9E}"/>
                  </a:ext>
                </a:extLst>
              </p:cNvPr>
              <p:cNvSpPr/>
              <p:nvPr/>
            </p:nvSpPr>
            <p:spPr>
              <a:xfrm>
                <a:off x="3214413" y="1315982"/>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6" name="Rectángulo 95">
                <a:extLst>
                  <a:ext uri="{FF2B5EF4-FFF2-40B4-BE49-F238E27FC236}">
                    <a16:creationId xmlns:a16="http://schemas.microsoft.com/office/drawing/2014/main" id="{B61B54A0-B7DE-4B4E-80AA-C4347AAEF380}"/>
                  </a:ext>
                </a:extLst>
              </p:cNvPr>
              <p:cNvSpPr/>
              <p:nvPr/>
            </p:nvSpPr>
            <p:spPr>
              <a:xfrm>
                <a:off x="3214413" y="1422859"/>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7" name="Rectángulo 96">
                <a:extLst>
                  <a:ext uri="{FF2B5EF4-FFF2-40B4-BE49-F238E27FC236}">
                    <a16:creationId xmlns:a16="http://schemas.microsoft.com/office/drawing/2014/main" id="{B9953C7C-3347-4720-93B4-EA6465178B8A}"/>
                  </a:ext>
                </a:extLst>
              </p:cNvPr>
              <p:cNvSpPr/>
              <p:nvPr/>
            </p:nvSpPr>
            <p:spPr>
              <a:xfrm>
                <a:off x="3214413" y="1529736"/>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8" name="Rectángulo 97">
                <a:extLst>
                  <a:ext uri="{FF2B5EF4-FFF2-40B4-BE49-F238E27FC236}">
                    <a16:creationId xmlns:a16="http://schemas.microsoft.com/office/drawing/2014/main" id="{D5E3B130-42E1-4F9F-ACA9-2D50A0FA83B1}"/>
                  </a:ext>
                </a:extLst>
              </p:cNvPr>
              <p:cNvSpPr/>
              <p:nvPr/>
            </p:nvSpPr>
            <p:spPr>
              <a:xfrm>
                <a:off x="3214413" y="1636613"/>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9" name="Rectángulo 98">
                <a:extLst>
                  <a:ext uri="{FF2B5EF4-FFF2-40B4-BE49-F238E27FC236}">
                    <a16:creationId xmlns:a16="http://schemas.microsoft.com/office/drawing/2014/main" id="{3CED3DEA-7662-4F49-AC68-387BA3B5DD72}"/>
                  </a:ext>
                </a:extLst>
              </p:cNvPr>
              <p:cNvSpPr/>
              <p:nvPr/>
            </p:nvSpPr>
            <p:spPr>
              <a:xfrm>
                <a:off x="3214413" y="1743490"/>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0" name="Rectángulo 99">
                <a:extLst>
                  <a:ext uri="{FF2B5EF4-FFF2-40B4-BE49-F238E27FC236}">
                    <a16:creationId xmlns:a16="http://schemas.microsoft.com/office/drawing/2014/main" id="{8E08D9CF-29F5-4A53-849C-511B01BA6848}"/>
                  </a:ext>
                </a:extLst>
              </p:cNvPr>
              <p:cNvSpPr/>
              <p:nvPr/>
            </p:nvSpPr>
            <p:spPr>
              <a:xfrm>
                <a:off x="3214413" y="1850367"/>
                <a:ext cx="840828" cy="106877"/>
              </a:xfrm>
              <a:prstGeom prst="rect">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sp>
        <p:nvSpPr>
          <p:cNvPr id="12" name="CuadroTexto 11">
            <a:extLst>
              <a:ext uri="{FF2B5EF4-FFF2-40B4-BE49-F238E27FC236}">
                <a16:creationId xmlns:a16="http://schemas.microsoft.com/office/drawing/2014/main" id="{02C347E1-B023-4077-9BD4-A80D0143B1AF}"/>
              </a:ext>
            </a:extLst>
          </p:cNvPr>
          <p:cNvSpPr txBox="1"/>
          <p:nvPr/>
        </p:nvSpPr>
        <p:spPr>
          <a:xfrm>
            <a:off x="2674710" y="3188634"/>
            <a:ext cx="478016" cy="300082"/>
          </a:xfrm>
          <a:prstGeom prst="rect">
            <a:avLst/>
          </a:prstGeom>
          <a:noFill/>
        </p:spPr>
        <p:txBody>
          <a:bodyPr wrap="none" rtlCol="0">
            <a:spAutoFit/>
          </a:bodyPr>
          <a:lstStyle/>
          <a:p>
            <a:r>
              <a:rPr lang="es-ES" b="1" dirty="0"/>
              <a:t>CPU</a:t>
            </a:r>
          </a:p>
        </p:txBody>
      </p:sp>
      <p:sp>
        <p:nvSpPr>
          <p:cNvPr id="14" name="CuadroTexto 13">
            <a:extLst>
              <a:ext uri="{FF2B5EF4-FFF2-40B4-BE49-F238E27FC236}">
                <a16:creationId xmlns:a16="http://schemas.microsoft.com/office/drawing/2014/main" id="{94A05A13-2086-49D3-978B-EFDDC28F4133}"/>
              </a:ext>
            </a:extLst>
          </p:cNvPr>
          <p:cNvSpPr txBox="1"/>
          <p:nvPr/>
        </p:nvSpPr>
        <p:spPr>
          <a:xfrm>
            <a:off x="4512122" y="3271887"/>
            <a:ext cx="612668" cy="300082"/>
          </a:xfrm>
          <a:prstGeom prst="rect">
            <a:avLst/>
          </a:prstGeom>
          <a:noFill/>
        </p:spPr>
        <p:txBody>
          <a:bodyPr wrap="none" rtlCol="0">
            <a:spAutoFit/>
          </a:bodyPr>
          <a:lstStyle/>
          <a:p>
            <a:r>
              <a:rPr lang="es-ES" b="1" dirty="0"/>
              <a:t>Caché</a:t>
            </a:r>
          </a:p>
        </p:txBody>
      </p:sp>
      <p:sp>
        <p:nvSpPr>
          <p:cNvPr id="16" name="CuadroTexto 15">
            <a:extLst>
              <a:ext uri="{FF2B5EF4-FFF2-40B4-BE49-F238E27FC236}">
                <a16:creationId xmlns:a16="http://schemas.microsoft.com/office/drawing/2014/main" id="{13092D7E-CD79-4E5E-9BA6-E9BD854F18A9}"/>
              </a:ext>
            </a:extLst>
          </p:cNvPr>
          <p:cNvSpPr txBox="1"/>
          <p:nvPr/>
        </p:nvSpPr>
        <p:spPr>
          <a:xfrm>
            <a:off x="6469340" y="2950880"/>
            <a:ext cx="537327" cy="300082"/>
          </a:xfrm>
          <a:prstGeom prst="rect">
            <a:avLst/>
          </a:prstGeom>
          <a:noFill/>
        </p:spPr>
        <p:txBody>
          <a:bodyPr wrap="none" rtlCol="0">
            <a:spAutoFit/>
          </a:bodyPr>
          <a:lstStyle/>
          <a:p>
            <a:r>
              <a:rPr lang="es-ES" b="1" dirty="0"/>
              <a:t>RAM</a:t>
            </a:r>
          </a:p>
        </p:txBody>
      </p:sp>
      <p:cxnSp>
        <p:nvCxnSpPr>
          <p:cNvPr id="22" name="Conector recto de flecha 21">
            <a:extLst>
              <a:ext uri="{FF2B5EF4-FFF2-40B4-BE49-F238E27FC236}">
                <a16:creationId xmlns:a16="http://schemas.microsoft.com/office/drawing/2014/main" id="{9F4ED889-3905-4275-962E-B8FAD42CFC50}"/>
              </a:ext>
            </a:extLst>
          </p:cNvPr>
          <p:cNvCxnSpPr>
            <a:cxnSpLocks/>
          </p:cNvCxnSpPr>
          <p:nvPr/>
        </p:nvCxnSpPr>
        <p:spPr>
          <a:xfrm>
            <a:off x="3617034" y="3736665"/>
            <a:ext cx="965715"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6" name="Conector recto de flecha 115">
            <a:extLst>
              <a:ext uri="{FF2B5EF4-FFF2-40B4-BE49-F238E27FC236}">
                <a16:creationId xmlns:a16="http://schemas.microsoft.com/office/drawing/2014/main" id="{1C5872BD-5D3F-411F-B3EA-5CD536A23023}"/>
              </a:ext>
            </a:extLst>
          </p:cNvPr>
          <p:cNvCxnSpPr>
            <a:cxnSpLocks/>
          </p:cNvCxnSpPr>
          <p:nvPr/>
        </p:nvCxnSpPr>
        <p:spPr>
          <a:xfrm>
            <a:off x="5503626" y="3689410"/>
            <a:ext cx="965715"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7" name="Conector recto de flecha 116">
            <a:extLst>
              <a:ext uri="{FF2B5EF4-FFF2-40B4-BE49-F238E27FC236}">
                <a16:creationId xmlns:a16="http://schemas.microsoft.com/office/drawing/2014/main" id="{C39F3562-A86E-4B86-A029-234900A1A87A}"/>
              </a:ext>
            </a:extLst>
          </p:cNvPr>
          <p:cNvCxnSpPr>
            <a:cxnSpLocks/>
          </p:cNvCxnSpPr>
          <p:nvPr/>
        </p:nvCxnSpPr>
        <p:spPr>
          <a:xfrm>
            <a:off x="3636103" y="4267704"/>
            <a:ext cx="965715" cy="0"/>
          </a:xfrm>
          <a:prstGeom prst="straightConnector1">
            <a:avLst/>
          </a:prstGeom>
          <a:ln w="381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8" name="Conector recto de flecha 117">
            <a:extLst>
              <a:ext uri="{FF2B5EF4-FFF2-40B4-BE49-F238E27FC236}">
                <a16:creationId xmlns:a16="http://schemas.microsoft.com/office/drawing/2014/main" id="{6DF8D725-4D4D-4787-B41D-CEDF7B6E7B6B}"/>
              </a:ext>
            </a:extLst>
          </p:cNvPr>
          <p:cNvCxnSpPr>
            <a:cxnSpLocks/>
          </p:cNvCxnSpPr>
          <p:nvPr/>
        </p:nvCxnSpPr>
        <p:spPr>
          <a:xfrm>
            <a:off x="5503625" y="4314535"/>
            <a:ext cx="965715" cy="0"/>
          </a:xfrm>
          <a:prstGeom prst="straightConnector1">
            <a:avLst/>
          </a:prstGeom>
          <a:ln w="38100">
            <a:solidFill>
              <a:schemeClr val="accent6">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6ACCF862-B10C-40D3-9542-30E6D9C6E318}"/>
              </a:ext>
            </a:extLst>
          </p:cNvPr>
          <p:cNvSpPr txBox="1"/>
          <p:nvPr/>
        </p:nvSpPr>
        <p:spPr>
          <a:xfrm>
            <a:off x="4797233" y="4192325"/>
            <a:ext cx="526106" cy="300082"/>
          </a:xfrm>
          <a:prstGeom prst="rect">
            <a:avLst/>
          </a:prstGeom>
          <a:noFill/>
        </p:spPr>
        <p:txBody>
          <a:bodyPr wrap="none" rtlCol="0">
            <a:spAutoFit/>
          </a:bodyPr>
          <a:lstStyle/>
          <a:p>
            <a:r>
              <a:rPr lang="es-ES" dirty="0" err="1"/>
              <a:t>linea</a:t>
            </a:r>
            <a:endParaRPr lang="es-ES" dirty="0"/>
          </a:p>
        </p:txBody>
      </p:sp>
      <p:sp>
        <p:nvSpPr>
          <p:cNvPr id="27" name="Rectángulo 26">
            <a:extLst>
              <a:ext uri="{FF2B5EF4-FFF2-40B4-BE49-F238E27FC236}">
                <a16:creationId xmlns:a16="http://schemas.microsoft.com/office/drawing/2014/main" id="{4BCA25A4-1A94-48F7-AC7A-40B197C23A3C}"/>
              </a:ext>
            </a:extLst>
          </p:cNvPr>
          <p:cNvSpPr/>
          <p:nvPr/>
        </p:nvSpPr>
        <p:spPr>
          <a:xfrm>
            <a:off x="6469340" y="4403893"/>
            <a:ext cx="746469" cy="328069"/>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uadroTexto 27">
            <a:extLst>
              <a:ext uri="{FF2B5EF4-FFF2-40B4-BE49-F238E27FC236}">
                <a16:creationId xmlns:a16="http://schemas.microsoft.com/office/drawing/2014/main" id="{6249EF51-951A-417C-9C52-70ACB78C034C}"/>
              </a:ext>
            </a:extLst>
          </p:cNvPr>
          <p:cNvSpPr txBox="1"/>
          <p:nvPr/>
        </p:nvSpPr>
        <p:spPr>
          <a:xfrm>
            <a:off x="7181957" y="4422214"/>
            <a:ext cx="679994" cy="300082"/>
          </a:xfrm>
          <a:prstGeom prst="rect">
            <a:avLst/>
          </a:prstGeom>
          <a:noFill/>
        </p:spPr>
        <p:txBody>
          <a:bodyPr wrap="none" rtlCol="0">
            <a:spAutoFit/>
          </a:bodyPr>
          <a:lstStyle/>
          <a:p>
            <a:r>
              <a:rPr lang="es-ES" dirty="0"/>
              <a:t>Bloque</a:t>
            </a:r>
          </a:p>
        </p:txBody>
      </p:sp>
      <p:sp>
        <p:nvSpPr>
          <p:cNvPr id="29" name="CuadroTexto 28">
            <a:extLst>
              <a:ext uri="{FF2B5EF4-FFF2-40B4-BE49-F238E27FC236}">
                <a16:creationId xmlns:a16="http://schemas.microsoft.com/office/drawing/2014/main" id="{D667ABB9-5664-4A15-A2BE-A69D66003449}"/>
              </a:ext>
            </a:extLst>
          </p:cNvPr>
          <p:cNvSpPr txBox="1"/>
          <p:nvPr/>
        </p:nvSpPr>
        <p:spPr>
          <a:xfrm>
            <a:off x="3780319" y="3436583"/>
            <a:ext cx="527709" cy="300082"/>
          </a:xfrm>
          <a:prstGeom prst="rect">
            <a:avLst/>
          </a:prstGeom>
          <a:noFill/>
        </p:spPr>
        <p:txBody>
          <a:bodyPr wrap="none" rtlCol="0">
            <a:spAutoFit/>
          </a:bodyPr>
          <a:lstStyle/>
          <a:p>
            <a:r>
              <a:rPr lang="es-ES" dirty="0" err="1"/>
              <a:t>Addr</a:t>
            </a:r>
            <a:endParaRPr lang="es-ES" dirty="0"/>
          </a:p>
        </p:txBody>
      </p:sp>
      <p:sp>
        <p:nvSpPr>
          <p:cNvPr id="30" name="CuadroTexto 29">
            <a:extLst>
              <a:ext uri="{FF2B5EF4-FFF2-40B4-BE49-F238E27FC236}">
                <a16:creationId xmlns:a16="http://schemas.microsoft.com/office/drawing/2014/main" id="{DC6B4563-EF45-48AF-9F09-C9C92888C719}"/>
              </a:ext>
            </a:extLst>
          </p:cNvPr>
          <p:cNvSpPr txBox="1"/>
          <p:nvPr/>
        </p:nvSpPr>
        <p:spPr>
          <a:xfrm>
            <a:off x="5667424" y="3338675"/>
            <a:ext cx="527709" cy="300082"/>
          </a:xfrm>
          <a:prstGeom prst="rect">
            <a:avLst/>
          </a:prstGeom>
          <a:noFill/>
        </p:spPr>
        <p:txBody>
          <a:bodyPr wrap="none" rtlCol="0">
            <a:spAutoFit/>
          </a:bodyPr>
          <a:lstStyle/>
          <a:p>
            <a:r>
              <a:rPr lang="es-ES" dirty="0" err="1"/>
              <a:t>Addr</a:t>
            </a:r>
            <a:endParaRPr lang="es-ES" dirty="0"/>
          </a:p>
        </p:txBody>
      </p:sp>
      <p:sp>
        <p:nvSpPr>
          <p:cNvPr id="31" name="CuadroTexto 30">
            <a:extLst>
              <a:ext uri="{FF2B5EF4-FFF2-40B4-BE49-F238E27FC236}">
                <a16:creationId xmlns:a16="http://schemas.microsoft.com/office/drawing/2014/main" id="{FE1282F1-AD35-4ECE-BAEA-543116370191}"/>
              </a:ext>
            </a:extLst>
          </p:cNvPr>
          <p:cNvSpPr txBox="1"/>
          <p:nvPr/>
        </p:nvSpPr>
        <p:spPr>
          <a:xfrm>
            <a:off x="3780319" y="4287760"/>
            <a:ext cx="714939" cy="300082"/>
          </a:xfrm>
          <a:prstGeom prst="rect">
            <a:avLst/>
          </a:prstGeom>
          <a:noFill/>
        </p:spPr>
        <p:txBody>
          <a:bodyPr wrap="none" rtlCol="0">
            <a:spAutoFit/>
          </a:bodyPr>
          <a:lstStyle/>
          <a:p>
            <a:r>
              <a:rPr lang="es-ES" dirty="0"/>
              <a:t>palabra</a:t>
            </a:r>
          </a:p>
        </p:txBody>
      </p:sp>
      <p:sp>
        <p:nvSpPr>
          <p:cNvPr id="32" name="CuadroTexto 31">
            <a:extLst>
              <a:ext uri="{FF2B5EF4-FFF2-40B4-BE49-F238E27FC236}">
                <a16:creationId xmlns:a16="http://schemas.microsoft.com/office/drawing/2014/main" id="{6DD3D2A0-C738-4BA5-8AC0-863CA799D0C9}"/>
              </a:ext>
            </a:extLst>
          </p:cNvPr>
          <p:cNvSpPr txBox="1"/>
          <p:nvPr/>
        </p:nvSpPr>
        <p:spPr>
          <a:xfrm>
            <a:off x="5613565" y="4324140"/>
            <a:ext cx="526106" cy="300082"/>
          </a:xfrm>
          <a:prstGeom prst="rect">
            <a:avLst/>
          </a:prstGeom>
          <a:noFill/>
        </p:spPr>
        <p:txBody>
          <a:bodyPr wrap="none" rtlCol="0">
            <a:spAutoFit/>
          </a:bodyPr>
          <a:lstStyle/>
          <a:p>
            <a:r>
              <a:rPr lang="es-ES" dirty="0"/>
              <a:t>línea</a:t>
            </a:r>
          </a:p>
        </p:txBody>
      </p:sp>
    </p:spTree>
    <p:extLst>
      <p:ext uri="{BB962C8B-B14F-4D97-AF65-F5344CB8AC3E}">
        <p14:creationId xmlns:p14="http://schemas.microsoft.com/office/powerpoint/2010/main" val="4124432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2" name="CuadroTexto 1">
            <a:extLst>
              <a:ext uri="{FF2B5EF4-FFF2-40B4-BE49-F238E27FC236}">
                <a16:creationId xmlns:a16="http://schemas.microsoft.com/office/drawing/2014/main" id="{63768F55-0274-4396-B762-A526975ECC4F}"/>
              </a:ext>
            </a:extLst>
          </p:cNvPr>
          <p:cNvSpPr txBox="1"/>
          <p:nvPr/>
        </p:nvSpPr>
        <p:spPr>
          <a:xfrm>
            <a:off x="1776414" y="983973"/>
            <a:ext cx="6840812" cy="1338828"/>
          </a:xfrm>
          <a:prstGeom prst="rect">
            <a:avLst/>
          </a:prstGeom>
          <a:noFill/>
        </p:spPr>
        <p:txBody>
          <a:bodyPr wrap="square" rtlCol="0">
            <a:spAutoFit/>
          </a:bodyPr>
          <a:lstStyle/>
          <a:p>
            <a:pPr algn="just"/>
            <a:r>
              <a:rPr lang="es-ES" dirty="0"/>
              <a:t>El acceso a la RAM es muy lento en comparación con la velocidad del procesador. La idea es colocar una memoria muy rápida oculta (</a:t>
            </a:r>
            <a:r>
              <a:rPr lang="es-ES" i="1" dirty="0"/>
              <a:t>caché</a:t>
            </a:r>
            <a:r>
              <a:rPr lang="es-ES" dirty="0"/>
              <a:t> en francés) entre la CPU y la RAM. Si la mayor parte del tiempo los datos o el código están en esa memoria, aumentaremos sensiblemente la capacidad de proceso. Cuando el dato está en la caché se registra un acierto (“hit”) mientras que si no lo está se produce un fallo (“miss”).</a:t>
            </a:r>
          </a:p>
          <a:p>
            <a:pPr algn="just"/>
            <a:endParaRPr lang="es-ES" dirty="0"/>
          </a:p>
        </p:txBody>
      </p:sp>
      <p:sp>
        <p:nvSpPr>
          <p:cNvPr id="6" name="Rectángulo 5">
            <a:extLst>
              <a:ext uri="{FF2B5EF4-FFF2-40B4-BE49-F238E27FC236}">
                <a16:creationId xmlns:a16="http://schemas.microsoft.com/office/drawing/2014/main" id="{19F61A58-9879-4E6B-9A31-CE67A54FB48D}"/>
              </a:ext>
            </a:extLst>
          </p:cNvPr>
          <p:cNvSpPr/>
          <p:nvPr/>
        </p:nvSpPr>
        <p:spPr>
          <a:xfrm>
            <a:off x="1776414" y="2206958"/>
            <a:ext cx="6840812" cy="273823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200" b="1" dirty="0">
                <a:solidFill>
                  <a:schemeClr val="tx1"/>
                </a:solidFill>
                <a:latin typeface="Lucida Sans Typewriter" panose="020B0509030504030204" pitchFamily="49" charset="0"/>
              </a:rPr>
              <a:t>Supongamos que tenemos una caché con un tiempo de acceso de 2ns y una RAM con tiempo de acceso de 50ns. Si la tasa de acierto es de un 90%, ¿cuál es el tiempo efectivo de acceso a memoria?</a:t>
            </a:r>
          </a:p>
          <a:p>
            <a:endParaRPr lang="es-ES" sz="1200" dirty="0">
              <a:solidFill>
                <a:schemeClr val="tx1"/>
              </a:solidFill>
              <a:latin typeface="Lucida Sans Typewriter" panose="020B0509030504030204" pitchFamily="49" charset="0"/>
            </a:endParaRPr>
          </a:p>
          <a:p>
            <a:r>
              <a:rPr lang="es-ES" sz="1200" dirty="0">
                <a:solidFill>
                  <a:schemeClr val="tx1"/>
                </a:solidFill>
                <a:latin typeface="Lucida Sans Typewriter" panose="020B0509030504030204" pitchFamily="49" charset="0"/>
              </a:rPr>
              <a:t>Es un problema clásico de probabilidad, el tiempo efectivo es el valor medio:</a:t>
            </a:r>
          </a:p>
          <a:p>
            <a:endParaRPr lang="es-ES" sz="1200" dirty="0">
              <a:solidFill>
                <a:schemeClr val="tx1"/>
              </a:solidFill>
              <a:latin typeface="Lucida Sans Typewriter" panose="020B0509030504030204" pitchFamily="49" charset="0"/>
            </a:endParaRPr>
          </a:p>
          <a:p>
            <a:r>
              <a:rPr lang="es-ES" sz="1200" dirty="0" err="1">
                <a:solidFill>
                  <a:schemeClr val="tx1"/>
                </a:solidFill>
                <a:latin typeface="Lucida Sans Typewriter" panose="020B0509030504030204" pitchFamily="49" charset="0"/>
              </a:rPr>
              <a:t>t</a:t>
            </a:r>
            <a:r>
              <a:rPr lang="es-ES" sz="1200" baseline="-25000" dirty="0" err="1">
                <a:solidFill>
                  <a:schemeClr val="tx1"/>
                </a:solidFill>
                <a:latin typeface="Lucida Sans Typewriter" panose="020B0509030504030204" pitchFamily="49" charset="0"/>
              </a:rPr>
              <a:t>ef</a:t>
            </a:r>
            <a:r>
              <a:rPr lang="es-ES" sz="1200" dirty="0">
                <a:solidFill>
                  <a:schemeClr val="tx1"/>
                </a:solidFill>
                <a:latin typeface="Lucida Sans Typewriter" panose="020B0509030504030204" pitchFamily="49" charset="0"/>
              </a:rPr>
              <a:t> = </a:t>
            </a:r>
            <a:r>
              <a:rPr lang="es-ES" sz="1200" dirty="0" err="1">
                <a:solidFill>
                  <a:schemeClr val="tx1"/>
                </a:solidFill>
                <a:latin typeface="Lucida Sans Typewriter" panose="020B0509030504030204" pitchFamily="49" charset="0"/>
              </a:rPr>
              <a:t>t</a:t>
            </a:r>
            <a:r>
              <a:rPr lang="es-ES" sz="1200" baseline="-25000" dirty="0" err="1">
                <a:solidFill>
                  <a:schemeClr val="tx1"/>
                </a:solidFill>
                <a:latin typeface="Lucida Sans Typewriter" panose="020B0509030504030204" pitchFamily="49" charset="0"/>
              </a:rPr>
              <a:t>hit</a:t>
            </a:r>
            <a:r>
              <a:rPr lang="es-ES" sz="1200" dirty="0">
                <a:solidFill>
                  <a:schemeClr val="tx1"/>
                </a:solidFill>
                <a:latin typeface="Lucida Sans Typewriter" panose="020B0509030504030204" pitchFamily="49" charset="0"/>
              </a:rPr>
              <a:t> x P(hit) + </a:t>
            </a:r>
            <a:r>
              <a:rPr lang="es-ES" sz="1200" dirty="0" err="1">
                <a:solidFill>
                  <a:schemeClr val="tx1"/>
                </a:solidFill>
                <a:latin typeface="Lucida Sans Typewriter" panose="020B0509030504030204" pitchFamily="49" charset="0"/>
              </a:rPr>
              <a:t>t</a:t>
            </a:r>
            <a:r>
              <a:rPr lang="es-ES" sz="1200" baseline="-25000" dirty="0" err="1">
                <a:solidFill>
                  <a:schemeClr val="tx1"/>
                </a:solidFill>
                <a:latin typeface="Lucida Sans Typewriter" panose="020B0509030504030204" pitchFamily="49" charset="0"/>
              </a:rPr>
              <a:t>miss</a:t>
            </a:r>
            <a:r>
              <a:rPr lang="es-ES" sz="1200" dirty="0">
                <a:solidFill>
                  <a:schemeClr val="tx1"/>
                </a:solidFill>
                <a:latin typeface="Lucida Sans Typewriter" panose="020B0509030504030204" pitchFamily="49" charset="0"/>
              </a:rPr>
              <a:t> x P(miss) = </a:t>
            </a:r>
            <a:r>
              <a:rPr lang="es-ES" sz="1200" dirty="0" err="1">
                <a:solidFill>
                  <a:schemeClr val="tx1"/>
                </a:solidFill>
                <a:latin typeface="Lucida Sans Typewriter" panose="020B0509030504030204" pitchFamily="49" charset="0"/>
              </a:rPr>
              <a:t>t</a:t>
            </a:r>
            <a:r>
              <a:rPr lang="es-ES" sz="1200" baseline="-25000" dirty="0" err="1">
                <a:solidFill>
                  <a:schemeClr val="tx1"/>
                </a:solidFill>
                <a:latin typeface="Lucida Sans Typewriter" panose="020B0509030504030204" pitchFamily="49" charset="0"/>
              </a:rPr>
              <a:t>hit</a:t>
            </a:r>
            <a:r>
              <a:rPr lang="es-ES" sz="1200" dirty="0">
                <a:solidFill>
                  <a:schemeClr val="tx1"/>
                </a:solidFill>
                <a:latin typeface="Lucida Sans Typewriter" panose="020B0509030504030204" pitchFamily="49" charset="0"/>
              </a:rPr>
              <a:t> x P(hit) + </a:t>
            </a:r>
            <a:r>
              <a:rPr lang="es-ES" sz="1200" dirty="0" err="1">
                <a:solidFill>
                  <a:schemeClr val="tx1"/>
                </a:solidFill>
                <a:latin typeface="Lucida Sans Typewriter" panose="020B0509030504030204" pitchFamily="49" charset="0"/>
              </a:rPr>
              <a:t>t</a:t>
            </a:r>
            <a:r>
              <a:rPr lang="es-ES" sz="1200" baseline="-25000" dirty="0" err="1">
                <a:solidFill>
                  <a:schemeClr val="tx1"/>
                </a:solidFill>
                <a:latin typeface="Lucida Sans Typewriter" panose="020B0509030504030204" pitchFamily="49" charset="0"/>
              </a:rPr>
              <a:t>miss</a:t>
            </a:r>
            <a:r>
              <a:rPr lang="es-ES" sz="1200" dirty="0">
                <a:solidFill>
                  <a:schemeClr val="tx1"/>
                </a:solidFill>
                <a:latin typeface="Lucida Sans Typewriter" panose="020B0509030504030204" pitchFamily="49" charset="0"/>
              </a:rPr>
              <a:t> x (1-P(hit)) </a:t>
            </a:r>
          </a:p>
          <a:p>
            <a:endParaRPr lang="es-ES" sz="1200" dirty="0">
              <a:solidFill>
                <a:schemeClr val="tx1"/>
              </a:solidFill>
              <a:latin typeface="Lucida Sans Typewriter" panose="020B0509030504030204" pitchFamily="49" charset="0"/>
            </a:endParaRPr>
          </a:p>
          <a:p>
            <a:r>
              <a:rPr lang="es-ES" sz="1200" dirty="0">
                <a:solidFill>
                  <a:schemeClr val="tx1"/>
                </a:solidFill>
                <a:latin typeface="Lucida Sans Typewriter" panose="020B0509030504030204" pitchFamily="49" charset="0"/>
              </a:rPr>
              <a:t>El tiempo de tratamiento de fallo se iguala al de acceso a la memoria RAM suponiendo que la circuitería de la caché es muy rápida</a:t>
            </a:r>
          </a:p>
          <a:p>
            <a:endParaRPr lang="es-ES" sz="1200" dirty="0">
              <a:solidFill>
                <a:schemeClr val="tx1"/>
              </a:solidFill>
              <a:latin typeface="Lucida Sans Typewriter" panose="020B0509030504030204" pitchFamily="49" charset="0"/>
            </a:endParaRPr>
          </a:p>
          <a:p>
            <a:r>
              <a:rPr lang="es-ES" sz="1200" dirty="0" err="1">
                <a:solidFill>
                  <a:schemeClr val="tx1"/>
                </a:solidFill>
                <a:latin typeface="Lucida Sans Typewriter" panose="020B0509030504030204" pitchFamily="49" charset="0"/>
              </a:rPr>
              <a:t>t</a:t>
            </a:r>
            <a:r>
              <a:rPr lang="es-ES" sz="1200" baseline="-25000" dirty="0" err="1">
                <a:solidFill>
                  <a:schemeClr val="tx1"/>
                </a:solidFill>
                <a:latin typeface="Lucida Sans Typewriter" panose="020B0509030504030204" pitchFamily="49" charset="0"/>
              </a:rPr>
              <a:t>ef</a:t>
            </a:r>
            <a:r>
              <a:rPr lang="es-ES" sz="1200" dirty="0">
                <a:solidFill>
                  <a:schemeClr val="tx1"/>
                </a:solidFill>
                <a:latin typeface="Lucida Sans Typewriter" panose="020B0509030504030204" pitchFamily="49" charset="0"/>
              </a:rPr>
              <a:t> = 2 x 0.9 + 50 x 0.1 = 6.8 </a:t>
            </a:r>
            <a:r>
              <a:rPr lang="es-ES" sz="1200" dirty="0" err="1">
                <a:solidFill>
                  <a:schemeClr val="tx1"/>
                </a:solidFill>
                <a:latin typeface="Lucida Sans Typewriter" panose="020B0509030504030204" pitchFamily="49" charset="0"/>
              </a:rPr>
              <a:t>ns</a:t>
            </a:r>
            <a:endParaRPr lang="es-ES" sz="1200" dirty="0">
              <a:solidFill>
                <a:schemeClr val="tx1"/>
              </a:solidFill>
              <a:latin typeface="Lucida Sans Typewriter" panose="020B0509030504030204" pitchFamily="49" charset="0"/>
            </a:endParaRPr>
          </a:p>
          <a:p>
            <a:endParaRPr lang="es-ES" dirty="0"/>
          </a:p>
        </p:txBody>
      </p:sp>
    </p:spTree>
    <p:extLst>
      <p:ext uri="{BB962C8B-B14F-4D97-AF65-F5344CB8AC3E}">
        <p14:creationId xmlns:p14="http://schemas.microsoft.com/office/powerpoint/2010/main" val="1883435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2" name="CuadroTexto 1">
            <a:extLst>
              <a:ext uri="{FF2B5EF4-FFF2-40B4-BE49-F238E27FC236}">
                <a16:creationId xmlns:a16="http://schemas.microsoft.com/office/drawing/2014/main" id="{63768F55-0274-4396-B762-A526975ECC4F}"/>
              </a:ext>
            </a:extLst>
          </p:cNvPr>
          <p:cNvSpPr txBox="1"/>
          <p:nvPr/>
        </p:nvSpPr>
        <p:spPr>
          <a:xfrm>
            <a:off x="1776414" y="983973"/>
            <a:ext cx="6840812" cy="1131079"/>
          </a:xfrm>
          <a:prstGeom prst="rect">
            <a:avLst/>
          </a:prstGeom>
          <a:noFill/>
        </p:spPr>
        <p:txBody>
          <a:bodyPr wrap="square" rtlCol="0">
            <a:spAutoFit/>
          </a:bodyPr>
          <a:lstStyle/>
          <a:p>
            <a:pPr algn="just"/>
            <a:r>
              <a:rPr lang="es-ES" dirty="0"/>
              <a:t>La realidad es más compleja porque la transferencia entre caché y RAM es en bloques. Supongamos que los bloques son de 4 palabras, en ese caso el tiempo de tratamiento de fallo subiría a 200 </a:t>
            </a:r>
            <a:r>
              <a:rPr lang="es-ES" dirty="0" err="1"/>
              <a:t>ns</a:t>
            </a:r>
            <a:r>
              <a:rPr lang="es-ES" dirty="0"/>
              <a:t> y el tiempo eficaz de acceso a la memoria pasaría a ser de 21,8 </a:t>
            </a:r>
            <a:r>
              <a:rPr lang="es-ES" dirty="0" err="1"/>
              <a:t>ns</a:t>
            </a:r>
            <a:r>
              <a:rPr lang="es-ES" dirty="0"/>
              <a:t>. Aunque vemos un significativo aumento de tiempo, el acceso a caché sigue siendo inferior al tiempo de acceso a RAM.</a:t>
            </a:r>
          </a:p>
        </p:txBody>
      </p:sp>
      <p:sp>
        <p:nvSpPr>
          <p:cNvPr id="8" name="CuadroTexto 7">
            <a:extLst>
              <a:ext uri="{FF2B5EF4-FFF2-40B4-BE49-F238E27FC236}">
                <a16:creationId xmlns:a16="http://schemas.microsoft.com/office/drawing/2014/main" id="{AC18A6C2-9D14-4544-B9E8-529DFCBF0526}"/>
              </a:ext>
            </a:extLst>
          </p:cNvPr>
          <p:cNvSpPr txBox="1"/>
          <p:nvPr/>
        </p:nvSpPr>
        <p:spPr>
          <a:xfrm>
            <a:off x="1776414" y="2178651"/>
            <a:ext cx="2407960" cy="2585323"/>
          </a:xfrm>
          <a:prstGeom prst="rect">
            <a:avLst/>
          </a:prstGeom>
          <a:noFill/>
        </p:spPr>
        <p:txBody>
          <a:bodyPr wrap="square" rtlCol="0">
            <a:spAutoFit/>
          </a:bodyPr>
          <a:lstStyle/>
          <a:p>
            <a:pPr algn="just"/>
            <a:r>
              <a:rPr lang="es-ES" dirty="0"/>
              <a:t>La caché se organiza en “líneas” o conjuntos de palabras que se transfieren desde o hacia la RAM de una vez. El tamaño de la “línea” es igual al tamaño en bytes de lo que llama “bloque” en memoria. Esto se cumple siempre. Adicionalmente cada entrada de la caché tiene un campo llamado “etiqueta” y una serie de bits de control. </a:t>
            </a:r>
          </a:p>
          <a:p>
            <a:pPr algn="just"/>
            <a:r>
              <a:rPr lang="es-ES" dirty="0"/>
              <a:t> </a:t>
            </a:r>
          </a:p>
        </p:txBody>
      </p:sp>
      <p:grpSp>
        <p:nvGrpSpPr>
          <p:cNvPr id="72" name="Grupo 71">
            <a:extLst>
              <a:ext uri="{FF2B5EF4-FFF2-40B4-BE49-F238E27FC236}">
                <a16:creationId xmlns:a16="http://schemas.microsoft.com/office/drawing/2014/main" id="{5070FFD1-8466-4060-9FFE-A62110F29825}"/>
              </a:ext>
            </a:extLst>
          </p:cNvPr>
          <p:cNvGrpSpPr/>
          <p:nvPr/>
        </p:nvGrpSpPr>
        <p:grpSpPr>
          <a:xfrm>
            <a:off x="4892012" y="2764507"/>
            <a:ext cx="2222751" cy="136663"/>
            <a:chOff x="4892012" y="2764507"/>
            <a:chExt cx="2222751" cy="136663"/>
          </a:xfrm>
        </p:grpSpPr>
        <p:sp>
          <p:nvSpPr>
            <p:cNvPr id="13" name="Rectángulo 12">
              <a:extLst>
                <a:ext uri="{FF2B5EF4-FFF2-40B4-BE49-F238E27FC236}">
                  <a16:creationId xmlns:a16="http://schemas.microsoft.com/office/drawing/2014/main" id="{C0814A90-50E3-4C3A-93D5-D5AB924FB6CA}"/>
                </a:ext>
              </a:extLst>
            </p:cNvPr>
            <p:cNvSpPr/>
            <p:nvPr/>
          </p:nvSpPr>
          <p:spPr>
            <a:xfrm>
              <a:off x="6005195"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7" name="Rectángulo 16">
              <a:extLst>
                <a:ext uri="{FF2B5EF4-FFF2-40B4-BE49-F238E27FC236}">
                  <a16:creationId xmlns:a16="http://schemas.microsoft.com/office/drawing/2014/main" id="{06BA88F3-0F99-4D3F-B98C-22563CC774F6}"/>
                </a:ext>
              </a:extLst>
            </p:cNvPr>
            <p:cNvSpPr/>
            <p:nvPr/>
          </p:nvSpPr>
          <p:spPr>
            <a:xfrm>
              <a:off x="6343126"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21" name="Rectángulo 20">
              <a:extLst>
                <a:ext uri="{FF2B5EF4-FFF2-40B4-BE49-F238E27FC236}">
                  <a16:creationId xmlns:a16="http://schemas.microsoft.com/office/drawing/2014/main" id="{FE121645-5B8D-4DEE-AFB3-10D12D0F1744}"/>
                </a:ext>
              </a:extLst>
            </p:cNvPr>
            <p:cNvSpPr/>
            <p:nvPr/>
          </p:nvSpPr>
          <p:spPr>
            <a:xfrm>
              <a:off x="5667264"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23" name="Rectángulo 22">
              <a:extLst>
                <a:ext uri="{FF2B5EF4-FFF2-40B4-BE49-F238E27FC236}">
                  <a16:creationId xmlns:a16="http://schemas.microsoft.com/office/drawing/2014/main" id="{F8494E50-ABA8-484A-A290-A3C794927F61}"/>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9" name="Rectángulo 18">
              <a:extLst>
                <a:ext uri="{FF2B5EF4-FFF2-40B4-BE49-F238E27FC236}">
                  <a16:creationId xmlns:a16="http://schemas.microsoft.com/office/drawing/2014/main" id="{83E8EEF6-410B-4E05-8CDB-4BCA07D73F3B}"/>
                </a:ext>
              </a:extLst>
            </p:cNvPr>
            <p:cNvSpPr/>
            <p:nvPr/>
          </p:nvSpPr>
          <p:spPr>
            <a:xfrm>
              <a:off x="5329333"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25" name="Rectángulo 24">
              <a:extLst>
                <a:ext uri="{FF2B5EF4-FFF2-40B4-BE49-F238E27FC236}">
                  <a16:creationId xmlns:a16="http://schemas.microsoft.com/office/drawing/2014/main" id="{EFE71A6D-6547-4789-BF6E-5D52363B357E}"/>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27" name="Rectángulo 26">
              <a:extLst>
                <a:ext uri="{FF2B5EF4-FFF2-40B4-BE49-F238E27FC236}">
                  <a16:creationId xmlns:a16="http://schemas.microsoft.com/office/drawing/2014/main" id="{5B812621-89A3-486B-BF9E-5314101D6633}"/>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29" name="Rectángulo 28">
              <a:extLst>
                <a:ext uri="{FF2B5EF4-FFF2-40B4-BE49-F238E27FC236}">
                  <a16:creationId xmlns:a16="http://schemas.microsoft.com/office/drawing/2014/main" id="{52E95075-BCF8-4EAE-826D-294C0113C242}"/>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sp>
        <p:nvSpPr>
          <p:cNvPr id="58" name="CuadroTexto 57">
            <a:extLst>
              <a:ext uri="{FF2B5EF4-FFF2-40B4-BE49-F238E27FC236}">
                <a16:creationId xmlns:a16="http://schemas.microsoft.com/office/drawing/2014/main" id="{14EE4C7F-ABD9-4063-8D93-15CA5C6B3861}"/>
              </a:ext>
            </a:extLst>
          </p:cNvPr>
          <p:cNvSpPr txBox="1"/>
          <p:nvPr/>
        </p:nvSpPr>
        <p:spPr>
          <a:xfrm>
            <a:off x="4224869" y="2483189"/>
            <a:ext cx="631904" cy="261610"/>
          </a:xfrm>
          <a:prstGeom prst="rect">
            <a:avLst/>
          </a:prstGeom>
          <a:noFill/>
        </p:spPr>
        <p:txBody>
          <a:bodyPr wrap="none" rtlCol="0">
            <a:spAutoFit/>
          </a:bodyPr>
          <a:lstStyle/>
          <a:p>
            <a:r>
              <a:rPr lang="es-ES" sz="1100" dirty="0"/>
              <a:t>Entrada</a:t>
            </a:r>
          </a:p>
        </p:txBody>
      </p:sp>
      <p:sp>
        <p:nvSpPr>
          <p:cNvPr id="60" name="CuadroTexto 59">
            <a:extLst>
              <a:ext uri="{FF2B5EF4-FFF2-40B4-BE49-F238E27FC236}">
                <a16:creationId xmlns:a16="http://schemas.microsoft.com/office/drawing/2014/main" id="{0A44EF1A-4FBA-445C-8444-3864A456FA4E}"/>
              </a:ext>
            </a:extLst>
          </p:cNvPr>
          <p:cNvSpPr txBox="1"/>
          <p:nvPr/>
        </p:nvSpPr>
        <p:spPr>
          <a:xfrm>
            <a:off x="4770107" y="2488414"/>
            <a:ext cx="663964" cy="261610"/>
          </a:xfrm>
          <a:prstGeom prst="rect">
            <a:avLst/>
          </a:prstGeom>
          <a:noFill/>
        </p:spPr>
        <p:txBody>
          <a:bodyPr wrap="none" rtlCol="0">
            <a:spAutoFit/>
          </a:bodyPr>
          <a:lstStyle/>
          <a:p>
            <a:r>
              <a:rPr lang="es-ES" sz="1100" dirty="0"/>
              <a:t>Etiqueta</a:t>
            </a:r>
          </a:p>
        </p:txBody>
      </p:sp>
      <p:sp>
        <p:nvSpPr>
          <p:cNvPr id="62" name="CuadroTexto 61">
            <a:extLst>
              <a:ext uri="{FF2B5EF4-FFF2-40B4-BE49-F238E27FC236}">
                <a16:creationId xmlns:a16="http://schemas.microsoft.com/office/drawing/2014/main" id="{316444A0-FC0A-4E51-A969-0301A3E55F17}"/>
              </a:ext>
            </a:extLst>
          </p:cNvPr>
          <p:cNvSpPr txBox="1"/>
          <p:nvPr/>
        </p:nvSpPr>
        <p:spPr>
          <a:xfrm>
            <a:off x="5667264" y="2501541"/>
            <a:ext cx="787395" cy="261610"/>
          </a:xfrm>
          <a:prstGeom prst="rect">
            <a:avLst/>
          </a:prstGeom>
          <a:noFill/>
        </p:spPr>
        <p:txBody>
          <a:bodyPr wrap="none" rtlCol="0">
            <a:spAutoFit/>
          </a:bodyPr>
          <a:lstStyle/>
          <a:p>
            <a:r>
              <a:rPr lang="es-ES" sz="1100" dirty="0"/>
              <a:t>Línea (4 B)</a:t>
            </a:r>
          </a:p>
        </p:txBody>
      </p:sp>
      <p:sp>
        <p:nvSpPr>
          <p:cNvPr id="64" name="CuadroTexto 63">
            <a:extLst>
              <a:ext uri="{FF2B5EF4-FFF2-40B4-BE49-F238E27FC236}">
                <a16:creationId xmlns:a16="http://schemas.microsoft.com/office/drawing/2014/main" id="{FCAB49A6-4A72-4714-A506-381CD0A3F8BD}"/>
              </a:ext>
            </a:extLst>
          </p:cNvPr>
          <p:cNvSpPr txBox="1"/>
          <p:nvPr/>
        </p:nvSpPr>
        <p:spPr>
          <a:xfrm>
            <a:off x="6549927" y="2339608"/>
            <a:ext cx="625492" cy="430887"/>
          </a:xfrm>
          <a:prstGeom prst="rect">
            <a:avLst/>
          </a:prstGeom>
          <a:noFill/>
        </p:spPr>
        <p:txBody>
          <a:bodyPr wrap="none" rtlCol="0">
            <a:spAutoFit/>
          </a:bodyPr>
          <a:lstStyle/>
          <a:p>
            <a:r>
              <a:rPr lang="es-ES" sz="1100" dirty="0"/>
              <a:t>Bits de</a:t>
            </a:r>
            <a:br>
              <a:rPr lang="es-ES" sz="1100" dirty="0"/>
            </a:br>
            <a:r>
              <a:rPr lang="es-ES" sz="1100" dirty="0"/>
              <a:t> control</a:t>
            </a:r>
          </a:p>
        </p:txBody>
      </p:sp>
      <p:sp>
        <p:nvSpPr>
          <p:cNvPr id="65" name="CuadroTexto 64">
            <a:extLst>
              <a:ext uri="{FF2B5EF4-FFF2-40B4-BE49-F238E27FC236}">
                <a16:creationId xmlns:a16="http://schemas.microsoft.com/office/drawing/2014/main" id="{4CE17F8F-18B1-46B3-9327-09ADCB44DB28}"/>
              </a:ext>
            </a:extLst>
          </p:cNvPr>
          <p:cNvSpPr txBox="1"/>
          <p:nvPr/>
        </p:nvSpPr>
        <p:spPr>
          <a:xfrm>
            <a:off x="4574329" y="2682797"/>
            <a:ext cx="272832" cy="300082"/>
          </a:xfrm>
          <a:prstGeom prst="rect">
            <a:avLst/>
          </a:prstGeom>
          <a:noFill/>
        </p:spPr>
        <p:txBody>
          <a:bodyPr wrap="none" rtlCol="0">
            <a:spAutoFit/>
          </a:bodyPr>
          <a:lstStyle/>
          <a:p>
            <a:r>
              <a:rPr lang="es-ES" dirty="0">
                <a:solidFill>
                  <a:schemeClr val="bg1">
                    <a:lumMod val="50000"/>
                  </a:schemeClr>
                </a:solidFill>
              </a:rPr>
              <a:t>0</a:t>
            </a:r>
          </a:p>
        </p:txBody>
      </p:sp>
      <p:sp>
        <p:nvSpPr>
          <p:cNvPr id="67" name="CuadroTexto 66">
            <a:extLst>
              <a:ext uri="{FF2B5EF4-FFF2-40B4-BE49-F238E27FC236}">
                <a16:creationId xmlns:a16="http://schemas.microsoft.com/office/drawing/2014/main" id="{401BFCAC-2D7F-4476-BA3F-343AAA67709F}"/>
              </a:ext>
            </a:extLst>
          </p:cNvPr>
          <p:cNvSpPr txBox="1"/>
          <p:nvPr/>
        </p:nvSpPr>
        <p:spPr>
          <a:xfrm>
            <a:off x="4580648" y="2914140"/>
            <a:ext cx="272832" cy="300082"/>
          </a:xfrm>
          <a:prstGeom prst="rect">
            <a:avLst/>
          </a:prstGeom>
          <a:noFill/>
        </p:spPr>
        <p:txBody>
          <a:bodyPr wrap="none" rtlCol="0">
            <a:spAutoFit/>
          </a:bodyPr>
          <a:lstStyle/>
          <a:p>
            <a:r>
              <a:rPr lang="es-ES" dirty="0">
                <a:solidFill>
                  <a:schemeClr val="bg1">
                    <a:lumMod val="50000"/>
                  </a:schemeClr>
                </a:solidFill>
              </a:rPr>
              <a:t>1</a:t>
            </a:r>
          </a:p>
        </p:txBody>
      </p:sp>
      <p:sp>
        <p:nvSpPr>
          <p:cNvPr id="69" name="CuadroTexto 68">
            <a:extLst>
              <a:ext uri="{FF2B5EF4-FFF2-40B4-BE49-F238E27FC236}">
                <a16:creationId xmlns:a16="http://schemas.microsoft.com/office/drawing/2014/main" id="{66D36BB4-BB6F-4D07-ADD2-9419C0E492FF}"/>
              </a:ext>
            </a:extLst>
          </p:cNvPr>
          <p:cNvSpPr txBox="1"/>
          <p:nvPr/>
        </p:nvSpPr>
        <p:spPr>
          <a:xfrm>
            <a:off x="4583941" y="3135169"/>
            <a:ext cx="272832" cy="300082"/>
          </a:xfrm>
          <a:prstGeom prst="rect">
            <a:avLst/>
          </a:prstGeom>
          <a:noFill/>
        </p:spPr>
        <p:txBody>
          <a:bodyPr wrap="none" rtlCol="0">
            <a:spAutoFit/>
          </a:bodyPr>
          <a:lstStyle/>
          <a:p>
            <a:r>
              <a:rPr lang="es-ES" dirty="0">
                <a:solidFill>
                  <a:schemeClr val="bg1">
                    <a:lumMod val="50000"/>
                  </a:schemeClr>
                </a:solidFill>
              </a:rPr>
              <a:t>2</a:t>
            </a:r>
          </a:p>
        </p:txBody>
      </p:sp>
      <p:sp>
        <p:nvSpPr>
          <p:cNvPr id="71" name="CuadroTexto 70">
            <a:extLst>
              <a:ext uri="{FF2B5EF4-FFF2-40B4-BE49-F238E27FC236}">
                <a16:creationId xmlns:a16="http://schemas.microsoft.com/office/drawing/2014/main" id="{BBC0EAE0-F374-4D57-A5EF-0F92C9CC865C}"/>
              </a:ext>
            </a:extLst>
          </p:cNvPr>
          <p:cNvSpPr txBox="1"/>
          <p:nvPr/>
        </p:nvSpPr>
        <p:spPr>
          <a:xfrm>
            <a:off x="4485500" y="3582359"/>
            <a:ext cx="463588" cy="300082"/>
          </a:xfrm>
          <a:prstGeom prst="rect">
            <a:avLst/>
          </a:prstGeom>
          <a:noFill/>
        </p:spPr>
        <p:txBody>
          <a:bodyPr wrap="none" rtlCol="0">
            <a:spAutoFit/>
          </a:bodyPr>
          <a:lstStyle/>
          <a:p>
            <a:r>
              <a:rPr lang="es-ES" dirty="0">
                <a:solidFill>
                  <a:schemeClr val="bg1">
                    <a:lumMod val="50000"/>
                  </a:schemeClr>
                </a:solidFill>
              </a:rPr>
              <a:t>m-1</a:t>
            </a:r>
          </a:p>
        </p:txBody>
      </p:sp>
      <p:grpSp>
        <p:nvGrpSpPr>
          <p:cNvPr id="73" name="Grupo 72">
            <a:extLst>
              <a:ext uri="{FF2B5EF4-FFF2-40B4-BE49-F238E27FC236}">
                <a16:creationId xmlns:a16="http://schemas.microsoft.com/office/drawing/2014/main" id="{3E26DB44-6DBB-40B8-9730-4E42DE41DE92}"/>
              </a:ext>
            </a:extLst>
          </p:cNvPr>
          <p:cNvGrpSpPr/>
          <p:nvPr/>
        </p:nvGrpSpPr>
        <p:grpSpPr>
          <a:xfrm>
            <a:off x="4892012" y="2989586"/>
            <a:ext cx="2222751" cy="136663"/>
            <a:chOff x="4892012" y="2764507"/>
            <a:chExt cx="2222751" cy="136663"/>
          </a:xfrm>
        </p:grpSpPr>
        <p:sp>
          <p:nvSpPr>
            <p:cNvPr id="74" name="Rectángulo 73">
              <a:extLst>
                <a:ext uri="{FF2B5EF4-FFF2-40B4-BE49-F238E27FC236}">
                  <a16:creationId xmlns:a16="http://schemas.microsoft.com/office/drawing/2014/main" id="{B4F1D997-AF30-464A-9F56-958AB0B8B63F}"/>
                </a:ext>
              </a:extLst>
            </p:cNvPr>
            <p:cNvSpPr/>
            <p:nvPr/>
          </p:nvSpPr>
          <p:spPr>
            <a:xfrm>
              <a:off x="6005195"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75" name="Rectángulo 74">
              <a:extLst>
                <a:ext uri="{FF2B5EF4-FFF2-40B4-BE49-F238E27FC236}">
                  <a16:creationId xmlns:a16="http://schemas.microsoft.com/office/drawing/2014/main" id="{CCC5B43D-981C-42B4-80E5-F959239E12D3}"/>
                </a:ext>
              </a:extLst>
            </p:cNvPr>
            <p:cNvSpPr/>
            <p:nvPr/>
          </p:nvSpPr>
          <p:spPr>
            <a:xfrm>
              <a:off x="6343126"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76" name="Rectángulo 75">
              <a:extLst>
                <a:ext uri="{FF2B5EF4-FFF2-40B4-BE49-F238E27FC236}">
                  <a16:creationId xmlns:a16="http://schemas.microsoft.com/office/drawing/2014/main" id="{0DF7763D-1A41-4A3F-9FAF-EE356B24C5DE}"/>
                </a:ext>
              </a:extLst>
            </p:cNvPr>
            <p:cNvSpPr/>
            <p:nvPr/>
          </p:nvSpPr>
          <p:spPr>
            <a:xfrm>
              <a:off x="5667264"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77" name="Rectángulo 76">
              <a:extLst>
                <a:ext uri="{FF2B5EF4-FFF2-40B4-BE49-F238E27FC236}">
                  <a16:creationId xmlns:a16="http://schemas.microsoft.com/office/drawing/2014/main" id="{1D21235B-6F10-465A-A0D9-4B02D59C0119}"/>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78" name="Rectángulo 77">
              <a:extLst>
                <a:ext uri="{FF2B5EF4-FFF2-40B4-BE49-F238E27FC236}">
                  <a16:creationId xmlns:a16="http://schemas.microsoft.com/office/drawing/2014/main" id="{EB85F41D-EF37-4770-8FAA-0746E844037E}"/>
                </a:ext>
              </a:extLst>
            </p:cNvPr>
            <p:cNvSpPr/>
            <p:nvPr/>
          </p:nvSpPr>
          <p:spPr>
            <a:xfrm>
              <a:off x="5329333"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79" name="Rectángulo 78">
              <a:extLst>
                <a:ext uri="{FF2B5EF4-FFF2-40B4-BE49-F238E27FC236}">
                  <a16:creationId xmlns:a16="http://schemas.microsoft.com/office/drawing/2014/main" id="{1841C162-F767-4A7C-A619-7260C81AFE3D}"/>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80" name="Rectángulo 79">
              <a:extLst>
                <a:ext uri="{FF2B5EF4-FFF2-40B4-BE49-F238E27FC236}">
                  <a16:creationId xmlns:a16="http://schemas.microsoft.com/office/drawing/2014/main" id="{7DAD9592-3EE7-4F94-8335-886CB2180932}"/>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81" name="Rectángulo 80">
              <a:extLst>
                <a:ext uri="{FF2B5EF4-FFF2-40B4-BE49-F238E27FC236}">
                  <a16:creationId xmlns:a16="http://schemas.microsoft.com/office/drawing/2014/main" id="{D8F7AF7B-5937-460A-88F0-152574C716B8}"/>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grpSp>
        <p:nvGrpSpPr>
          <p:cNvPr id="91" name="Grupo 90">
            <a:extLst>
              <a:ext uri="{FF2B5EF4-FFF2-40B4-BE49-F238E27FC236}">
                <a16:creationId xmlns:a16="http://schemas.microsoft.com/office/drawing/2014/main" id="{4A603904-A94D-42E0-A9CA-331AC447A7A0}"/>
              </a:ext>
            </a:extLst>
          </p:cNvPr>
          <p:cNvGrpSpPr/>
          <p:nvPr/>
        </p:nvGrpSpPr>
        <p:grpSpPr>
          <a:xfrm>
            <a:off x="4892012" y="3226983"/>
            <a:ext cx="2222751" cy="136663"/>
            <a:chOff x="4892012" y="2764507"/>
            <a:chExt cx="2222751" cy="136663"/>
          </a:xfrm>
        </p:grpSpPr>
        <p:sp>
          <p:nvSpPr>
            <p:cNvPr id="92" name="Rectángulo 91">
              <a:extLst>
                <a:ext uri="{FF2B5EF4-FFF2-40B4-BE49-F238E27FC236}">
                  <a16:creationId xmlns:a16="http://schemas.microsoft.com/office/drawing/2014/main" id="{91BDACD1-6710-48AD-8D56-6C2E8B5C2BF7}"/>
                </a:ext>
              </a:extLst>
            </p:cNvPr>
            <p:cNvSpPr/>
            <p:nvPr/>
          </p:nvSpPr>
          <p:spPr>
            <a:xfrm>
              <a:off x="6005195" y="2764507"/>
              <a:ext cx="337931" cy="136663"/>
            </a:xfrm>
            <a:prstGeom prst="rect">
              <a:avLst/>
            </a:prstGeom>
            <a:solidFill>
              <a:schemeClr val="accent4">
                <a:lumMod val="60000"/>
                <a:lumOff val="4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3" name="Rectángulo 92">
              <a:extLst>
                <a:ext uri="{FF2B5EF4-FFF2-40B4-BE49-F238E27FC236}">
                  <a16:creationId xmlns:a16="http://schemas.microsoft.com/office/drawing/2014/main" id="{FF32B4BD-0031-4B94-B699-DB9697C96C20}"/>
                </a:ext>
              </a:extLst>
            </p:cNvPr>
            <p:cNvSpPr/>
            <p:nvPr/>
          </p:nvSpPr>
          <p:spPr>
            <a:xfrm>
              <a:off x="6343126" y="2764507"/>
              <a:ext cx="337931" cy="136663"/>
            </a:xfrm>
            <a:prstGeom prst="rect">
              <a:avLst/>
            </a:prstGeom>
            <a:solidFill>
              <a:schemeClr val="accent4">
                <a:lumMod val="60000"/>
                <a:lumOff val="4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4" name="Rectángulo 93">
              <a:extLst>
                <a:ext uri="{FF2B5EF4-FFF2-40B4-BE49-F238E27FC236}">
                  <a16:creationId xmlns:a16="http://schemas.microsoft.com/office/drawing/2014/main" id="{CDBB83D3-A16D-46AA-B360-501F594B0100}"/>
                </a:ext>
              </a:extLst>
            </p:cNvPr>
            <p:cNvSpPr/>
            <p:nvPr/>
          </p:nvSpPr>
          <p:spPr>
            <a:xfrm>
              <a:off x="5667264" y="2764507"/>
              <a:ext cx="337931" cy="136663"/>
            </a:xfrm>
            <a:prstGeom prst="rect">
              <a:avLst/>
            </a:prstGeom>
            <a:solidFill>
              <a:schemeClr val="accent4">
                <a:lumMod val="60000"/>
                <a:lumOff val="4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5" name="Rectángulo 94">
              <a:extLst>
                <a:ext uri="{FF2B5EF4-FFF2-40B4-BE49-F238E27FC236}">
                  <a16:creationId xmlns:a16="http://schemas.microsoft.com/office/drawing/2014/main" id="{7BC7557D-2573-4080-B366-9A70D626343A}"/>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6" name="Rectángulo 95">
              <a:extLst>
                <a:ext uri="{FF2B5EF4-FFF2-40B4-BE49-F238E27FC236}">
                  <a16:creationId xmlns:a16="http://schemas.microsoft.com/office/drawing/2014/main" id="{A38E5E12-50B3-4928-A638-B1B7C1DD022B}"/>
                </a:ext>
              </a:extLst>
            </p:cNvPr>
            <p:cNvSpPr/>
            <p:nvPr/>
          </p:nvSpPr>
          <p:spPr>
            <a:xfrm>
              <a:off x="5329333" y="2764507"/>
              <a:ext cx="337931" cy="136663"/>
            </a:xfrm>
            <a:prstGeom prst="rect">
              <a:avLst/>
            </a:prstGeom>
            <a:solidFill>
              <a:schemeClr val="accent4">
                <a:lumMod val="60000"/>
                <a:lumOff val="4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7" name="Rectángulo 96">
              <a:extLst>
                <a:ext uri="{FF2B5EF4-FFF2-40B4-BE49-F238E27FC236}">
                  <a16:creationId xmlns:a16="http://schemas.microsoft.com/office/drawing/2014/main" id="{11385EF7-F8CC-46EE-88D5-CD6F104DCA43}"/>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8" name="Rectángulo 97">
              <a:extLst>
                <a:ext uri="{FF2B5EF4-FFF2-40B4-BE49-F238E27FC236}">
                  <a16:creationId xmlns:a16="http://schemas.microsoft.com/office/drawing/2014/main" id="{2E13345C-00C4-4A26-A783-5BAB60547295}"/>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9" name="Rectángulo 98">
              <a:extLst>
                <a:ext uri="{FF2B5EF4-FFF2-40B4-BE49-F238E27FC236}">
                  <a16:creationId xmlns:a16="http://schemas.microsoft.com/office/drawing/2014/main" id="{E6424AAB-988B-4DA6-B239-EA19E6EAB0DD}"/>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grpSp>
        <p:nvGrpSpPr>
          <p:cNvPr id="100" name="Grupo 99">
            <a:extLst>
              <a:ext uri="{FF2B5EF4-FFF2-40B4-BE49-F238E27FC236}">
                <a16:creationId xmlns:a16="http://schemas.microsoft.com/office/drawing/2014/main" id="{514E9221-59F6-4225-BE85-77E1018A7EFB}"/>
              </a:ext>
            </a:extLst>
          </p:cNvPr>
          <p:cNvGrpSpPr/>
          <p:nvPr/>
        </p:nvGrpSpPr>
        <p:grpSpPr>
          <a:xfrm>
            <a:off x="4893819" y="3683093"/>
            <a:ext cx="2222751" cy="136663"/>
            <a:chOff x="4892012" y="2764507"/>
            <a:chExt cx="2222751" cy="136663"/>
          </a:xfrm>
        </p:grpSpPr>
        <p:sp>
          <p:nvSpPr>
            <p:cNvPr id="101" name="Rectángulo 100">
              <a:extLst>
                <a:ext uri="{FF2B5EF4-FFF2-40B4-BE49-F238E27FC236}">
                  <a16:creationId xmlns:a16="http://schemas.microsoft.com/office/drawing/2014/main" id="{2BB33B89-C84A-42E6-A002-CC538454FCB7}"/>
                </a:ext>
              </a:extLst>
            </p:cNvPr>
            <p:cNvSpPr/>
            <p:nvPr/>
          </p:nvSpPr>
          <p:spPr>
            <a:xfrm>
              <a:off x="6005195"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2" name="Rectángulo 101">
              <a:extLst>
                <a:ext uri="{FF2B5EF4-FFF2-40B4-BE49-F238E27FC236}">
                  <a16:creationId xmlns:a16="http://schemas.microsoft.com/office/drawing/2014/main" id="{F91B4DBA-C829-4972-A169-8C1240F3008A}"/>
                </a:ext>
              </a:extLst>
            </p:cNvPr>
            <p:cNvSpPr/>
            <p:nvPr/>
          </p:nvSpPr>
          <p:spPr>
            <a:xfrm>
              <a:off x="6343126"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3" name="Rectángulo 102">
              <a:extLst>
                <a:ext uri="{FF2B5EF4-FFF2-40B4-BE49-F238E27FC236}">
                  <a16:creationId xmlns:a16="http://schemas.microsoft.com/office/drawing/2014/main" id="{AB71AABD-7C89-4E65-932F-DC2D02CA74CB}"/>
                </a:ext>
              </a:extLst>
            </p:cNvPr>
            <p:cNvSpPr/>
            <p:nvPr/>
          </p:nvSpPr>
          <p:spPr>
            <a:xfrm>
              <a:off x="5667264"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4" name="Rectángulo 103">
              <a:extLst>
                <a:ext uri="{FF2B5EF4-FFF2-40B4-BE49-F238E27FC236}">
                  <a16:creationId xmlns:a16="http://schemas.microsoft.com/office/drawing/2014/main" id="{887B6C54-485F-4190-82DB-E07477C4E498}"/>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5" name="Rectángulo 104">
              <a:extLst>
                <a:ext uri="{FF2B5EF4-FFF2-40B4-BE49-F238E27FC236}">
                  <a16:creationId xmlns:a16="http://schemas.microsoft.com/office/drawing/2014/main" id="{6FBC7B36-BBB3-45A2-B269-E8DC9DACA370}"/>
                </a:ext>
              </a:extLst>
            </p:cNvPr>
            <p:cNvSpPr/>
            <p:nvPr/>
          </p:nvSpPr>
          <p:spPr>
            <a:xfrm>
              <a:off x="5329333"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6" name="Rectángulo 105">
              <a:extLst>
                <a:ext uri="{FF2B5EF4-FFF2-40B4-BE49-F238E27FC236}">
                  <a16:creationId xmlns:a16="http://schemas.microsoft.com/office/drawing/2014/main" id="{BADC9B16-2B53-46E4-A51F-C5F4F1E4B999}"/>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7" name="Rectángulo 106">
              <a:extLst>
                <a:ext uri="{FF2B5EF4-FFF2-40B4-BE49-F238E27FC236}">
                  <a16:creationId xmlns:a16="http://schemas.microsoft.com/office/drawing/2014/main" id="{D7FA9761-1F1C-4BC6-87CD-9930900698BB}"/>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8" name="Rectángulo 107">
              <a:extLst>
                <a:ext uri="{FF2B5EF4-FFF2-40B4-BE49-F238E27FC236}">
                  <a16:creationId xmlns:a16="http://schemas.microsoft.com/office/drawing/2014/main" id="{8142236D-5618-4FB5-A657-CEFC13EC1A7C}"/>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sp>
        <p:nvSpPr>
          <p:cNvPr id="109" name="CuadroTexto 108">
            <a:extLst>
              <a:ext uri="{FF2B5EF4-FFF2-40B4-BE49-F238E27FC236}">
                <a16:creationId xmlns:a16="http://schemas.microsoft.com/office/drawing/2014/main" id="{FF83897C-43F1-4AE0-BD4E-3ADB5A5920AC}"/>
              </a:ext>
            </a:extLst>
          </p:cNvPr>
          <p:cNvSpPr txBox="1"/>
          <p:nvPr/>
        </p:nvSpPr>
        <p:spPr>
          <a:xfrm>
            <a:off x="5590162" y="4169923"/>
            <a:ext cx="612668" cy="300082"/>
          </a:xfrm>
          <a:prstGeom prst="rect">
            <a:avLst/>
          </a:prstGeom>
          <a:noFill/>
        </p:spPr>
        <p:txBody>
          <a:bodyPr wrap="none" rtlCol="0">
            <a:spAutoFit/>
          </a:bodyPr>
          <a:lstStyle/>
          <a:p>
            <a:r>
              <a:rPr lang="es-ES" dirty="0"/>
              <a:t>Caché</a:t>
            </a:r>
          </a:p>
        </p:txBody>
      </p:sp>
      <p:grpSp>
        <p:nvGrpSpPr>
          <p:cNvPr id="119" name="Grupo 118">
            <a:extLst>
              <a:ext uri="{FF2B5EF4-FFF2-40B4-BE49-F238E27FC236}">
                <a16:creationId xmlns:a16="http://schemas.microsoft.com/office/drawing/2014/main" id="{04E90710-E986-475A-A605-495A88CACBB5}"/>
              </a:ext>
            </a:extLst>
          </p:cNvPr>
          <p:cNvGrpSpPr/>
          <p:nvPr/>
        </p:nvGrpSpPr>
        <p:grpSpPr>
          <a:xfrm>
            <a:off x="7819494" y="2501541"/>
            <a:ext cx="675862" cy="136663"/>
            <a:chOff x="7556967" y="2164941"/>
            <a:chExt cx="675862" cy="136663"/>
          </a:xfrm>
        </p:grpSpPr>
        <p:sp>
          <p:nvSpPr>
            <p:cNvPr id="113" name="Rectángulo 112">
              <a:extLst>
                <a:ext uri="{FF2B5EF4-FFF2-40B4-BE49-F238E27FC236}">
                  <a16:creationId xmlns:a16="http://schemas.microsoft.com/office/drawing/2014/main" id="{3306EAE4-2AB4-437D-9CEC-0449370097FC}"/>
                </a:ext>
              </a:extLst>
            </p:cNvPr>
            <p:cNvSpPr/>
            <p:nvPr/>
          </p:nvSpPr>
          <p:spPr>
            <a:xfrm>
              <a:off x="7894898"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5" name="Rectángulo 114">
              <a:extLst>
                <a:ext uri="{FF2B5EF4-FFF2-40B4-BE49-F238E27FC236}">
                  <a16:creationId xmlns:a16="http://schemas.microsoft.com/office/drawing/2014/main" id="{AA62A19C-5762-453E-AEF6-FE2F33DEC7AA}"/>
                </a:ext>
              </a:extLst>
            </p:cNvPr>
            <p:cNvSpPr/>
            <p:nvPr/>
          </p:nvSpPr>
          <p:spPr>
            <a:xfrm>
              <a:off x="7556967"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120" name="Grupo 119">
            <a:extLst>
              <a:ext uri="{FF2B5EF4-FFF2-40B4-BE49-F238E27FC236}">
                <a16:creationId xmlns:a16="http://schemas.microsoft.com/office/drawing/2014/main" id="{8B3B5DC6-F3A9-43DE-B748-E3357A78C6C4}"/>
              </a:ext>
            </a:extLst>
          </p:cNvPr>
          <p:cNvGrpSpPr/>
          <p:nvPr/>
        </p:nvGrpSpPr>
        <p:grpSpPr>
          <a:xfrm>
            <a:off x="7819494" y="2639716"/>
            <a:ext cx="675862" cy="136663"/>
            <a:chOff x="7556967" y="2164941"/>
            <a:chExt cx="675862" cy="136663"/>
          </a:xfrm>
        </p:grpSpPr>
        <p:sp>
          <p:nvSpPr>
            <p:cNvPr id="121" name="Rectángulo 120">
              <a:extLst>
                <a:ext uri="{FF2B5EF4-FFF2-40B4-BE49-F238E27FC236}">
                  <a16:creationId xmlns:a16="http://schemas.microsoft.com/office/drawing/2014/main" id="{110DFDB1-124D-4E76-B475-BB3E4CC958B2}"/>
                </a:ext>
              </a:extLst>
            </p:cNvPr>
            <p:cNvSpPr/>
            <p:nvPr/>
          </p:nvSpPr>
          <p:spPr>
            <a:xfrm>
              <a:off x="7894898"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2" name="Rectángulo 121">
              <a:extLst>
                <a:ext uri="{FF2B5EF4-FFF2-40B4-BE49-F238E27FC236}">
                  <a16:creationId xmlns:a16="http://schemas.microsoft.com/office/drawing/2014/main" id="{562E528D-A985-43E2-A3A4-3781751E7B1F}"/>
                </a:ext>
              </a:extLst>
            </p:cNvPr>
            <p:cNvSpPr/>
            <p:nvPr/>
          </p:nvSpPr>
          <p:spPr>
            <a:xfrm>
              <a:off x="7556967"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123" name="Grupo 122">
            <a:extLst>
              <a:ext uri="{FF2B5EF4-FFF2-40B4-BE49-F238E27FC236}">
                <a16:creationId xmlns:a16="http://schemas.microsoft.com/office/drawing/2014/main" id="{6BF6788F-3AE2-4E09-B09F-A3AA8B42A9C5}"/>
              </a:ext>
            </a:extLst>
          </p:cNvPr>
          <p:cNvGrpSpPr/>
          <p:nvPr/>
        </p:nvGrpSpPr>
        <p:grpSpPr>
          <a:xfrm>
            <a:off x="7819494" y="2776379"/>
            <a:ext cx="675862" cy="136663"/>
            <a:chOff x="7556967" y="2164941"/>
            <a:chExt cx="675862" cy="136663"/>
          </a:xfrm>
          <a:solidFill>
            <a:schemeClr val="accent4">
              <a:lumMod val="60000"/>
              <a:lumOff val="40000"/>
            </a:schemeClr>
          </a:solidFill>
        </p:grpSpPr>
        <p:sp>
          <p:nvSpPr>
            <p:cNvPr id="124" name="Rectángulo 123">
              <a:extLst>
                <a:ext uri="{FF2B5EF4-FFF2-40B4-BE49-F238E27FC236}">
                  <a16:creationId xmlns:a16="http://schemas.microsoft.com/office/drawing/2014/main" id="{ECC45116-603F-4882-B70F-D63C7DC8377B}"/>
                </a:ext>
              </a:extLst>
            </p:cNvPr>
            <p:cNvSpPr/>
            <p:nvPr/>
          </p:nvSpPr>
          <p:spPr>
            <a:xfrm>
              <a:off x="7894898" y="2164941"/>
              <a:ext cx="337931" cy="136663"/>
            </a:xfrm>
            <a:prstGeom prst="rect">
              <a:avLst/>
            </a:prstGeom>
            <a:grp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5" name="Rectángulo 124">
              <a:extLst>
                <a:ext uri="{FF2B5EF4-FFF2-40B4-BE49-F238E27FC236}">
                  <a16:creationId xmlns:a16="http://schemas.microsoft.com/office/drawing/2014/main" id="{37828727-0B21-4965-A654-9AD624E6ADEF}"/>
                </a:ext>
              </a:extLst>
            </p:cNvPr>
            <p:cNvSpPr/>
            <p:nvPr/>
          </p:nvSpPr>
          <p:spPr>
            <a:xfrm>
              <a:off x="7556967" y="2164941"/>
              <a:ext cx="337931" cy="136663"/>
            </a:xfrm>
            <a:prstGeom prst="rect">
              <a:avLst/>
            </a:prstGeom>
            <a:grp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126" name="Grupo 125">
            <a:extLst>
              <a:ext uri="{FF2B5EF4-FFF2-40B4-BE49-F238E27FC236}">
                <a16:creationId xmlns:a16="http://schemas.microsoft.com/office/drawing/2014/main" id="{D72428BD-C8C0-4553-A946-65AA22C80BCC}"/>
              </a:ext>
            </a:extLst>
          </p:cNvPr>
          <p:cNvGrpSpPr/>
          <p:nvPr/>
        </p:nvGrpSpPr>
        <p:grpSpPr>
          <a:xfrm>
            <a:off x="7819494" y="2913042"/>
            <a:ext cx="675862" cy="136663"/>
            <a:chOff x="7556967" y="2164941"/>
            <a:chExt cx="675862" cy="136663"/>
          </a:xfrm>
          <a:solidFill>
            <a:schemeClr val="accent4">
              <a:lumMod val="60000"/>
              <a:lumOff val="40000"/>
            </a:schemeClr>
          </a:solidFill>
        </p:grpSpPr>
        <p:sp>
          <p:nvSpPr>
            <p:cNvPr id="127" name="Rectángulo 126">
              <a:extLst>
                <a:ext uri="{FF2B5EF4-FFF2-40B4-BE49-F238E27FC236}">
                  <a16:creationId xmlns:a16="http://schemas.microsoft.com/office/drawing/2014/main" id="{8A2D4FFA-3510-4AB9-B404-9B4BB53E7F85}"/>
                </a:ext>
              </a:extLst>
            </p:cNvPr>
            <p:cNvSpPr/>
            <p:nvPr/>
          </p:nvSpPr>
          <p:spPr>
            <a:xfrm>
              <a:off x="7894898" y="2164941"/>
              <a:ext cx="337931" cy="136663"/>
            </a:xfrm>
            <a:prstGeom prst="rect">
              <a:avLst/>
            </a:prstGeom>
            <a:grp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8" name="Rectángulo 127">
              <a:extLst>
                <a:ext uri="{FF2B5EF4-FFF2-40B4-BE49-F238E27FC236}">
                  <a16:creationId xmlns:a16="http://schemas.microsoft.com/office/drawing/2014/main" id="{6F7EBF62-E953-4016-9EC4-FFD1C3DC38B6}"/>
                </a:ext>
              </a:extLst>
            </p:cNvPr>
            <p:cNvSpPr/>
            <p:nvPr/>
          </p:nvSpPr>
          <p:spPr>
            <a:xfrm>
              <a:off x="7556967" y="2164941"/>
              <a:ext cx="337931" cy="136663"/>
            </a:xfrm>
            <a:prstGeom prst="rect">
              <a:avLst/>
            </a:prstGeom>
            <a:grp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129" name="Grupo 128">
            <a:extLst>
              <a:ext uri="{FF2B5EF4-FFF2-40B4-BE49-F238E27FC236}">
                <a16:creationId xmlns:a16="http://schemas.microsoft.com/office/drawing/2014/main" id="{00577D0B-A4F9-45CF-AF4F-9FAB2793A58C}"/>
              </a:ext>
            </a:extLst>
          </p:cNvPr>
          <p:cNvGrpSpPr/>
          <p:nvPr/>
        </p:nvGrpSpPr>
        <p:grpSpPr>
          <a:xfrm>
            <a:off x="7819494" y="3049705"/>
            <a:ext cx="675862" cy="136663"/>
            <a:chOff x="7556967" y="2164941"/>
            <a:chExt cx="675862" cy="136663"/>
          </a:xfrm>
        </p:grpSpPr>
        <p:sp>
          <p:nvSpPr>
            <p:cNvPr id="130" name="Rectángulo 129">
              <a:extLst>
                <a:ext uri="{FF2B5EF4-FFF2-40B4-BE49-F238E27FC236}">
                  <a16:creationId xmlns:a16="http://schemas.microsoft.com/office/drawing/2014/main" id="{C9AE413E-A1DE-4C74-A8D1-1F9A82115925}"/>
                </a:ext>
              </a:extLst>
            </p:cNvPr>
            <p:cNvSpPr/>
            <p:nvPr/>
          </p:nvSpPr>
          <p:spPr>
            <a:xfrm>
              <a:off x="7894898"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1" name="Rectángulo 130">
              <a:extLst>
                <a:ext uri="{FF2B5EF4-FFF2-40B4-BE49-F238E27FC236}">
                  <a16:creationId xmlns:a16="http://schemas.microsoft.com/office/drawing/2014/main" id="{6E482884-0A36-4EDB-8B24-8AA1EE6A0FF1}"/>
                </a:ext>
              </a:extLst>
            </p:cNvPr>
            <p:cNvSpPr/>
            <p:nvPr/>
          </p:nvSpPr>
          <p:spPr>
            <a:xfrm>
              <a:off x="7556967"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132" name="Grupo 131">
            <a:extLst>
              <a:ext uri="{FF2B5EF4-FFF2-40B4-BE49-F238E27FC236}">
                <a16:creationId xmlns:a16="http://schemas.microsoft.com/office/drawing/2014/main" id="{8BA9FECF-8364-439D-BFE9-AF6AA9FB75F8}"/>
              </a:ext>
            </a:extLst>
          </p:cNvPr>
          <p:cNvGrpSpPr/>
          <p:nvPr/>
        </p:nvGrpSpPr>
        <p:grpSpPr>
          <a:xfrm>
            <a:off x="7819494" y="3471769"/>
            <a:ext cx="675862" cy="136663"/>
            <a:chOff x="7556967" y="2164941"/>
            <a:chExt cx="675862" cy="136663"/>
          </a:xfrm>
        </p:grpSpPr>
        <p:sp>
          <p:nvSpPr>
            <p:cNvPr id="133" name="Rectángulo 132">
              <a:extLst>
                <a:ext uri="{FF2B5EF4-FFF2-40B4-BE49-F238E27FC236}">
                  <a16:creationId xmlns:a16="http://schemas.microsoft.com/office/drawing/2014/main" id="{C8C3554C-0419-4B85-9399-CD5509AC5926}"/>
                </a:ext>
              </a:extLst>
            </p:cNvPr>
            <p:cNvSpPr/>
            <p:nvPr/>
          </p:nvSpPr>
          <p:spPr>
            <a:xfrm>
              <a:off x="7894898"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4" name="Rectángulo 133">
              <a:extLst>
                <a:ext uri="{FF2B5EF4-FFF2-40B4-BE49-F238E27FC236}">
                  <a16:creationId xmlns:a16="http://schemas.microsoft.com/office/drawing/2014/main" id="{0726C9EF-BF6A-4D53-B98C-0AA2D731E4BB}"/>
                </a:ext>
              </a:extLst>
            </p:cNvPr>
            <p:cNvSpPr/>
            <p:nvPr/>
          </p:nvSpPr>
          <p:spPr>
            <a:xfrm>
              <a:off x="7556967"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135" name="Grupo 134">
            <a:extLst>
              <a:ext uri="{FF2B5EF4-FFF2-40B4-BE49-F238E27FC236}">
                <a16:creationId xmlns:a16="http://schemas.microsoft.com/office/drawing/2014/main" id="{FA5AFF33-E549-4979-A9B3-99C9819EBB5F}"/>
              </a:ext>
            </a:extLst>
          </p:cNvPr>
          <p:cNvGrpSpPr/>
          <p:nvPr/>
        </p:nvGrpSpPr>
        <p:grpSpPr>
          <a:xfrm>
            <a:off x="7819494" y="3613699"/>
            <a:ext cx="675862" cy="136663"/>
            <a:chOff x="7556967" y="2164941"/>
            <a:chExt cx="675862" cy="136663"/>
          </a:xfrm>
        </p:grpSpPr>
        <p:sp>
          <p:nvSpPr>
            <p:cNvPr id="136" name="Rectángulo 135">
              <a:extLst>
                <a:ext uri="{FF2B5EF4-FFF2-40B4-BE49-F238E27FC236}">
                  <a16:creationId xmlns:a16="http://schemas.microsoft.com/office/drawing/2014/main" id="{1A3A44FA-A337-461A-B8EA-BB2270C509B0}"/>
                </a:ext>
              </a:extLst>
            </p:cNvPr>
            <p:cNvSpPr/>
            <p:nvPr/>
          </p:nvSpPr>
          <p:spPr>
            <a:xfrm>
              <a:off x="7894898"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7" name="Rectángulo 136">
              <a:extLst>
                <a:ext uri="{FF2B5EF4-FFF2-40B4-BE49-F238E27FC236}">
                  <a16:creationId xmlns:a16="http://schemas.microsoft.com/office/drawing/2014/main" id="{267D5776-8527-40C6-8665-C378491D5A3E}"/>
                </a:ext>
              </a:extLst>
            </p:cNvPr>
            <p:cNvSpPr/>
            <p:nvPr/>
          </p:nvSpPr>
          <p:spPr>
            <a:xfrm>
              <a:off x="7556967"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138" name="Grupo 137">
            <a:extLst>
              <a:ext uri="{FF2B5EF4-FFF2-40B4-BE49-F238E27FC236}">
                <a16:creationId xmlns:a16="http://schemas.microsoft.com/office/drawing/2014/main" id="{35E7A441-C616-4229-AF75-84282FAE1E4B}"/>
              </a:ext>
            </a:extLst>
          </p:cNvPr>
          <p:cNvGrpSpPr/>
          <p:nvPr/>
        </p:nvGrpSpPr>
        <p:grpSpPr>
          <a:xfrm>
            <a:off x="7819494" y="3750685"/>
            <a:ext cx="675862" cy="136663"/>
            <a:chOff x="7556967" y="2164941"/>
            <a:chExt cx="675862" cy="136663"/>
          </a:xfrm>
        </p:grpSpPr>
        <p:sp>
          <p:nvSpPr>
            <p:cNvPr id="139" name="Rectángulo 138">
              <a:extLst>
                <a:ext uri="{FF2B5EF4-FFF2-40B4-BE49-F238E27FC236}">
                  <a16:creationId xmlns:a16="http://schemas.microsoft.com/office/drawing/2014/main" id="{09556129-493B-4D4D-85AC-BCB5F0C48140}"/>
                </a:ext>
              </a:extLst>
            </p:cNvPr>
            <p:cNvSpPr/>
            <p:nvPr/>
          </p:nvSpPr>
          <p:spPr>
            <a:xfrm>
              <a:off x="7894898"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40" name="Rectángulo 139">
              <a:extLst>
                <a:ext uri="{FF2B5EF4-FFF2-40B4-BE49-F238E27FC236}">
                  <a16:creationId xmlns:a16="http://schemas.microsoft.com/office/drawing/2014/main" id="{92A81629-F719-4F04-8337-E81E17F18725}"/>
                </a:ext>
              </a:extLst>
            </p:cNvPr>
            <p:cNvSpPr/>
            <p:nvPr/>
          </p:nvSpPr>
          <p:spPr>
            <a:xfrm>
              <a:off x="7556967" y="2164941"/>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142" name="CuadroTexto 141">
            <a:extLst>
              <a:ext uri="{FF2B5EF4-FFF2-40B4-BE49-F238E27FC236}">
                <a16:creationId xmlns:a16="http://schemas.microsoft.com/office/drawing/2014/main" id="{B54E81A2-087C-4A8D-B591-44C82A610C9F}"/>
              </a:ext>
            </a:extLst>
          </p:cNvPr>
          <p:cNvSpPr txBox="1"/>
          <p:nvPr/>
        </p:nvSpPr>
        <p:spPr>
          <a:xfrm>
            <a:off x="7319054" y="4159527"/>
            <a:ext cx="1676741" cy="300082"/>
          </a:xfrm>
          <a:prstGeom prst="rect">
            <a:avLst/>
          </a:prstGeom>
          <a:noFill/>
        </p:spPr>
        <p:txBody>
          <a:bodyPr wrap="none" rtlCol="0">
            <a:spAutoFit/>
          </a:bodyPr>
          <a:lstStyle/>
          <a:p>
            <a:r>
              <a:rPr lang="es-ES" dirty="0"/>
              <a:t>RAM (palabra de 2 B)</a:t>
            </a:r>
          </a:p>
        </p:txBody>
      </p:sp>
      <p:sp>
        <p:nvSpPr>
          <p:cNvPr id="143" name="CuadroTexto 142">
            <a:extLst>
              <a:ext uri="{FF2B5EF4-FFF2-40B4-BE49-F238E27FC236}">
                <a16:creationId xmlns:a16="http://schemas.microsoft.com/office/drawing/2014/main" id="{D447BE50-A75C-4821-9082-E2C9BEA1B84F}"/>
              </a:ext>
            </a:extLst>
          </p:cNvPr>
          <p:cNvSpPr txBox="1"/>
          <p:nvPr/>
        </p:nvSpPr>
        <p:spPr>
          <a:xfrm>
            <a:off x="7846282" y="2994023"/>
            <a:ext cx="622286" cy="523220"/>
          </a:xfrm>
          <a:prstGeom prst="rect">
            <a:avLst/>
          </a:prstGeom>
          <a:noFill/>
        </p:spPr>
        <p:txBody>
          <a:bodyPr wrap="none" rtlCol="0">
            <a:spAutoFit/>
          </a:bodyPr>
          <a:lstStyle/>
          <a:p>
            <a:r>
              <a:rPr lang="es-ES" sz="2800" dirty="0"/>
              <a:t>. . .</a:t>
            </a:r>
          </a:p>
        </p:txBody>
      </p:sp>
      <p:sp>
        <p:nvSpPr>
          <p:cNvPr id="146" name="CuadroTexto 145">
            <a:extLst>
              <a:ext uri="{FF2B5EF4-FFF2-40B4-BE49-F238E27FC236}">
                <a16:creationId xmlns:a16="http://schemas.microsoft.com/office/drawing/2014/main" id="{014604B6-5606-4A0F-AFDA-7334A8EBF5C9}"/>
              </a:ext>
            </a:extLst>
          </p:cNvPr>
          <p:cNvSpPr txBox="1"/>
          <p:nvPr/>
        </p:nvSpPr>
        <p:spPr>
          <a:xfrm>
            <a:off x="8478219" y="2791320"/>
            <a:ext cx="585417" cy="430887"/>
          </a:xfrm>
          <a:prstGeom prst="rect">
            <a:avLst/>
          </a:prstGeom>
          <a:noFill/>
        </p:spPr>
        <p:txBody>
          <a:bodyPr wrap="none" rtlCol="0">
            <a:spAutoFit/>
          </a:bodyPr>
          <a:lstStyle/>
          <a:p>
            <a:r>
              <a:rPr lang="es-ES" sz="1100" dirty="0"/>
              <a:t>Bloque</a:t>
            </a:r>
          </a:p>
          <a:p>
            <a:pPr algn="ctr"/>
            <a:r>
              <a:rPr lang="es-ES" sz="1100" dirty="0"/>
              <a:t>(4 B)</a:t>
            </a:r>
          </a:p>
        </p:txBody>
      </p:sp>
      <p:sp>
        <p:nvSpPr>
          <p:cNvPr id="151" name="Forma libre: forma 150">
            <a:extLst>
              <a:ext uri="{FF2B5EF4-FFF2-40B4-BE49-F238E27FC236}">
                <a16:creationId xmlns:a16="http://schemas.microsoft.com/office/drawing/2014/main" id="{53E7344D-F13F-4D42-9E3C-5D2991DCF1ED}"/>
              </a:ext>
            </a:extLst>
          </p:cNvPr>
          <p:cNvSpPr/>
          <p:nvPr/>
        </p:nvSpPr>
        <p:spPr>
          <a:xfrm>
            <a:off x="6160562" y="2960691"/>
            <a:ext cx="1632144" cy="686928"/>
          </a:xfrm>
          <a:custGeom>
            <a:avLst/>
            <a:gdLst>
              <a:gd name="connsiteX0" fmla="*/ 0 w 1744494"/>
              <a:gd name="connsiteY0" fmla="*/ 317770 h 494262"/>
              <a:gd name="connsiteX1" fmla="*/ 1154349 w 1744494"/>
              <a:gd name="connsiteY1" fmla="*/ 492868 h 494262"/>
              <a:gd name="connsiteX2" fmla="*/ 1569396 w 1744494"/>
              <a:gd name="connsiteY2" fmla="*/ 233464 h 494262"/>
              <a:gd name="connsiteX3" fmla="*/ 1744494 w 1744494"/>
              <a:gd name="connsiteY3" fmla="*/ 0 h 494262"/>
            </a:gdLst>
            <a:ahLst/>
            <a:cxnLst>
              <a:cxn ang="0">
                <a:pos x="connsiteX0" y="connsiteY0"/>
              </a:cxn>
              <a:cxn ang="0">
                <a:pos x="connsiteX1" y="connsiteY1"/>
              </a:cxn>
              <a:cxn ang="0">
                <a:pos x="connsiteX2" y="connsiteY2"/>
              </a:cxn>
              <a:cxn ang="0">
                <a:pos x="connsiteX3" y="connsiteY3"/>
              </a:cxn>
            </a:cxnLst>
            <a:rect l="l" t="t" r="r" b="b"/>
            <a:pathLst>
              <a:path w="1744494" h="494262">
                <a:moveTo>
                  <a:pt x="0" y="317770"/>
                </a:moveTo>
                <a:cubicBezTo>
                  <a:pt x="446391" y="412344"/>
                  <a:pt x="892783" y="506919"/>
                  <a:pt x="1154349" y="492868"/>
                </a:cubicBezTo>
                <a:cubicBezTo>
                  <a:pt x="1415915" y="478817"/>
                  <a:pt x="1471039" y="315609"/>
                  <a:pt x="1569396" y="233464"/>
                </a:cubicBezTo>
                <a:cubicBezTo>
                  <a:pt x="1667753" y="151319"/>
                  <a:pt x="1714230" y="43234"/>
                  <a:pt x="1744494" y="0"/>
                </a:cubicBezTo>
              </a:path>
            </a:pathLst>
          </a:custGeom>
          <a:noFill/>
          <a:ln>
            <a:solidFill>
              <a:schemeClr val="accent5"/>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108349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3" name="Rectángulo 2">
            <a:extLst>
              <a:ext uri="{FF2B5EF4-FFF2-40B4-BE49-F238E27FC236}">
                <a16:creationId xmlns:a16="http://schemas.microsoft.com/office/drawing/2014/main" id="{23EC068E-5C4D-45D6-8EE3-C26BEF212EAF}"/>
              </a:ext>
            </a:extLst>
          </p:cNvPr>
          <p:cNvSpPr/>
          <p:nvPr/>
        </p:nvSpPr>
        <p:spPr>
          <a:xfrm>
            <a:off x="1776414" y="839976"/>
            <a:ext cx="6840812" cy="407492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ES" sz="1200" b="1" dirty="0">
                <a:solidFill>
                  <a:schemeClr val="tx1"/>
                </a:solidFill>
                <a:latin typeface="Lucida Sans Typewriter" panose="020B0509030504030204" pitchFamily="49" charset="0"/>
              </a:rPr>
              <a:t>EJEMPLO</a:t>
            </a:r>
          </a:p>
          <a:p>
            <a:pPr algn="just"/>
            <a:endParaRPr lang="es-ES" sz="1200" b="1" dirty="0">
              <a:solidFill>
                <a:schemeClr val="tx1"/>
              </a:solidFill>
              <a:latin typeface="Lucida Sans Typewriter" panose="020B0509030504030204" pitchFamily="49" charset="0"/>
            </a:endParaRPr>
          </a:p>
          <a:p>
            <a:pPr algn="just"/>
            <a:r>
              <a:rPr lang="es-ES" sz="1200" b="1" dirty="0">
                <a:solidFill>
                  <a:schemeClr val="tx1"/>
                </a:solidFill>
                <a:latin typeface="Lucida Sans Typewriter" panose="020B0509030504030204" pitchFamily="49" charset="0"/>
              </a:rPr>
              <a:t>Una CPU tiene bus de direcciones de 16 bits, una memoria caché de 32 entradas y un tamaño de línea de 4 bytes. ¿Cuál es el tamaño del bloque? ¿Cuál es la memoria RAM máxima posible? ¿cuántos bloques alberga la memoria RAM suponiendo que se ha instalado el máximo posible?.</a:t>
            </a:r>
          </a:p>
          <a:p>
            <a:endParaRPr lang="es-ES" sz="1200" dirty="0">
              <a:solidFill>
                <a:schemeClr val="tx1"/>
              </a:solidFill>
              <a:latin typeface="Lucida Sans Typewriter" panose="020B0509030504030204" pitchFamily="49" charset="0"/>
            </a:endParaRPr>
          </a:p>
          <a:p>
            <a:r>
              <a:rPr lang="es-ES" sz="1200" dirty="0">
                <a:solidFill>
                  <a:schemeClr val="tx1"/>
                </a:solidFill>
                <a:latin typeface="Lucida Sans Typewriter" panose="020B0509030504030204" pitchFamily="49" charset="0"/>
              </a:rPr>
              <a:t>La primera pregunta es trivial porque el enunciado indica que el tamaño de línea es de 4 bytes, por tanto el tamaño de bloque es también de 4 bytes.</a:t>
            </a:r>
          </a:p>
          <a:p>
            <a:endParaRPr lang="es-ES" sz="1200" dirty="0">
              <a:solidFill>
                <a:schemeClr val="tx1"/>
              </a:solidFill>
              <a:latin typeface="Lucida Sans Typewriter" panose="020B0509030504030204" pitchFamily="49" charset="0"/>
            </a:endParaRPr>
          </a:p>
          <a:p>
            <a:r>
              <a:rPr lang="es-ES" sz="1200" dirty="0">
                <a:solidFill>
                  <a:schemeClr val="tx1"/>
                </a:solidFill>
                <a:latin typeface="Lucida Sans Typewriter" panose="020B0509030504030204" pitchFamily="49" charset="0"/>
              </a:rPr>
              <a:t>La memoria física máxima posible la determina el número de bits del bus de direcciones. Con 16 bits podemos direccionar 2</a:t>
            </a:r>
            <a:r>
              <a:rPr lang="es-ES" sz="1200" baseline="30000" dirty="0">
                <a:solidFill>
                  <a:schemeClr val="tx1"/>
                </a:solidFill>
                <a:latin typeface="Lucida Sans Typewriter" panose="020B0509030504030204" pitchFamily="49" charset="0"/>
              </a:rPr>
              <a:t>16</a:t>
            </a:r>
            <a:r>
              <a:rPr lang="es-ES" sz="1200" dirty="0">
                <a:solidFill>
                  <a:schemeClr val="tx1"/>
                </a:solidFill>
                <a:latin typeface="Lucida Sans Typewriter" panose="020B0509030504030204" pitchFamily="49" charset="0"/>
              </a:rPr>
              <a:t> bytes (recuerda que la unidad mínima de lectura/escritura en la RAM es el byte). </a:t>
            </a:r>
          </a:p>
          <a:p>
            <a:endParaRPr lang="es-ES" sz="1200" dirty="0">
              <a:solidFill>
                <a:schemeClr val="tx1"/>
              </a:solidFill>
              <a:latin typeface="Lucida Sans Typewriter" panose="020B0509030504030204" pitchFamily="49" charset="0"/>
            </a:endParaRPr>
          </a:p>
          <a:p>
            <a:r>
              <a:rPr lang="es-ES" sz="1200" dirty="0">
                <a:solidFill>
                  <a:schemeClr val="tx1"/>
                </a:solidFill>
                <a:latin typeface="Lucida Sans Typewriter" panose="020B0509030504030204" pitchFamily="49" charset="0"/>
              </a:rPr>
              <a:t>2</a:t>
            </a:r>
            <a:r>
              <a:rPr lang="es-ES" sz="1200" baseline="30000" dirty="0">
                <a:solidFill>
                  <a:schemeClr val="tx1"/>
                </a:solidFill>
                <a:latin typeface="Lucida Sans Typewriter" panose="020B0509030504030204" pitchFamily="49" charset="0"/>
              </a:rPr>
              <a:t>16</a:t>
            </a:r>
            <a:r>
              <a:rPr lang="es-ES" sz="1200" dirty="0">
                <a:solidFill>
                  <a:schemeClr val="tx1"/>
                </a:solidFill>
                <a:latin typeface="Lucida Sans Typewriter" panose="020B0509030504030204" pitchFamily="49" charset="0"/>
              </a:rPr>
              <a:t> = 2</a:t>
            </a:r>
            <a:r>
              <a:rPr lang="es-ES" sz="1200" baseline="30000" dirty="0">
                <a:solidFill>
                  <a:schemeClr val="tx1"/>
                </a:solidFill>
                <a:latin typeface="Lucida Sans Typewriter" panose="020B0509030504030204" pitchFamily="49" charset="0"/>
              </a:rPr>
              <a:t>6</a:t>
            </a:r>
            <a:r>
              <a:rPr lang="es-ES" sz="1200" dirty="0">
                <a:solidFill>
                  <a:schemeClr val="tx1"/>
                </a:solidFill>
                <a:latin typeface="Lucida Sans Typewriter" panose="020B0509030504030204" pitchFamily="49" charset="0"/>
              </a:rPr>
              <a:t> x 2</a:t>
            </a:r>
            <a:r>
              <a:rPr lang="es-ES" sz="1200" baseline="30000" dirty="0">
                <a:solidFill>
                  <a:schemeClr val="tx1"/>
                </a:solidFill>
                <a:latin typeface="Lucida Sans Typewriter" panose="020B0509030504030204" pitchFamily="49" charset="0"/>
              </a:rPr>
              <a:t>10</a:t>
            </a:r>
            <a:r>
              <a:rPr lang="es-ES" sz="1200" dirty="0">
                <a:solidFill>
                  <a:schemeClr val="tx1"/>
                </a:solidFill>
                <a:latin typeface="Lucida Sans Typewriter" panose="020B0509030504030204" pitchFamily="49" charset="0"/>
              </a:rPr>
              <a:t> = 64 kB (la memoria máxima típica del </a:t>
            </a:r>
            <a:r>
              <a:rPr lang="es-ES" sz="1200" dirty="0" err="1">
                <a:solidFill>
                  <a:schemeClr val="tx1"/>
                </a:solidFill>
                <a:latin typeface="Lucida Sans Typewriter" panose="020B0509030504030204" pitchFamily="49" charset="0"/>
              </a:rPr>
              <a:t>Spectrum</a:t>
            </a:r>
            <a:r>
              <a:rPr lang="es-ES" sz="1200" dirty="0">
                <a:solidFill>
                  <a:schemeClr val="tx1"/>
                </a:solidFill>
                <a:latin typeface="Lucida Sans Typewriter" panose="020B0509030504030204" pitchFamily="49" charset="0"/>
              </a:rPr>
              <a:t>)</a:t>
            </a:r>
          </a:p>
          <a:p>
            <a:endParaRPr lang="es-ES" sz="1200" dirty="0">
              <a:solidFill>
                <a:schemeClr val="tx1"/>
              </a:solidFill>
              <a:latin typeface="Lucida Sans Typewriter" panose="020B0509030504030204" pitchFamily="49" charset="0"/>
            </a:endParaRPr>
          </a:p>
          <a:p>
            <a:r>
              <a:rPr lang="es-ES" sz="1200" dirty="0">
                <a:solidFill>
                  <a:schemeClr val="tx1"/>
                </a:solidFill>
                <a:latin typeface="Lucida Sans Typewriter" panose="020B0509030504030204" pitchFamily="49" charset="0"/>
              </a:rPr>
              <a:t>Como cada bloque tiene 4 bytes, el número de bloques de esa memoria es 2</a:t>
            </a:r>
            <a:r>
              <a:rPr lang="es-ES" sz="1200" baseline="30000" dirty="0">
                <a:solidFill>
                  <a:schemeClr val="tx1"/>
                </a:solidFill>
                <a:latin typeface="Lucida Sans Typewriter" panose="020B0509030504030204" pitchFamily="49" charset="0"/>
              </a:rPr>
              <a:t>16</a:t>
            </a:r>
            <a:r>
              <a:rPr lang="es-ES" sz="1200" dirty="0">
                <a:solidFill>
                  <a:schemeClr val="tx1"/>
                </a:solidFill>
                <a:latin typeface="Lucida Sans Typewriter" panose="020B0509030504030204" pitchFamily="49" charset="0"/>
              </a:rPr>
              <a:t>/2</a:t>
            </a:r>
            <a:r>
              <a:rPr lang="es-ES" sz="1200" baseline="30000" dirty="0">
                <a:solidFill>
                  <a:schemeClr val="tx1"/>
                </a:solidFill>
                <a:latin typeface="Lucida Sans Typewriter" panose="020B0509030504030204" pitchFamily="49" charset="0"/>
              </a:rPr>
              <a:t>2</a:t>
            </a:r>
            <a:r>
              <a:rPr lang="es-ES" sz="1200" dirty="0">
                <a:solidFill>
                  <a:schemeClr val="tx1"/>
                </a:solidFill>
                <a:latin typeface="Lucida Sans Typewriter" panose="020B0509030504030204" pitchFamily="49" charset="0"/>
              </a:rPr>
              <a:t> = 2</a:t>
            </a:r>
            <a:r>
              <a:rPr lang="es-ES" sz="1200" baseline="30000" dirty="0">
                <a:solidFill>
                  <a:schemeClr val="tx1"/>
                </a:solidFill>
                <a:latin typeface="Lucida Sans Typewriter" panose="020B0509030504030204" pitchFamily="49" charset="0"/>
              </a:rPr>
              <a:t>14</a:t>
            </a:r>
            <a:r>
              <a:rPr lang="es-ES" sz="1200" dirty="0">
                <a:solidFill>
                  <a:schemeClr val="tx1"/>
                </a:solidFill>
                <a:latin typeface="Lucida Sans Typewriter" panose="020B0509030504030204" pitchFamily="49" charset="0"/>
              </a:rPr>
              <a:t> bloques (exactamente 16384 bloques pero puedes dejarlo en potencia de 2 en el examen)</a:t>
            </a:r>
          </a:p>
          <a:p>
            <a:endParaRPr lang="es-ES" sz="1200" dirty="0">
              <a:solidFill>
                <a:schemeClr val="tx1"/>
              </a:solidFill>
              <a:latin typeface="Lucida Sans Typewriter" panose="020B0509030504030204" pitchFamily="49" charset="0"/>
            </a:endParaRPr>
          </a:p>
          <a:p>
            <a:r>
              <a:rPr lang="es-ES" sz="1200" dirty="0">
                <a:solidFill>
                  <a:schemeClr val="tx1"/>
                </a:solidFill>
                <a:latin typeface="Lucida Sans Typewriter" panose="020B0509030504030204" pitchFamily="49" charset="0"/>
              </a:rPr>
              <a:t>El dato del número de entradas de la caché es irrelevante</a:t>
            </a:r>
            <a:endParaRPr lang="es-ES" dirty="0"/>
          </a:p>
        </p:txBody>
      </p:sp>
    </p:spTree>
    <p:extLst>
      <p:ext uri="{BB962C8B-B14F-4D97-AF65-F5344CB8AC3E}">
        <p14:creationId xmlns:p14="http://schemas.microsoft.com/office/powerpoint/2010/main" val="2442260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2" name="CuadroTexto 1">
            <a:extLst>
              <a:ext uri="{FF2B5EF4-FFF2-40B4-BE49-F238E27FC236}">
                <a16:creationId xmlns:a16="http://schemas.microsoft.com/office/drawing/2014/main" id="{63768F55-0274-4396-B762-A526975ECC4F}"/>
              </a:ext>
            </a:extLst>
          </p:cNvPr>
          <p:cNvSpPr txBox="1"/>
          <p:nvPr/>
        </p:nvSpPr>
        <p:spPr>
          <a:xfrm>
            <a:off x="1776414" y="893915"/>
            <a:ext cx="6840812" cy="923330"/>
          </a:xfrm>
          <a:prstGeom prst="rect">
            <a:avLst/>
          </a:prstGeom>
          <a:noFill/>
        </p:spPr>
        <p:txBody>
          <a:bodyPr wrap="square" rtlCol="0">
            <a:spAutoFit/>
          </a:bodyPr>
          <a:lstStyle/>
          <a:p>
            <a:pPr algn="just"/>
            <a:r>
              <a:rPr lang="es-ES" dirty="0"/>
              <a:t>Como el número de entradas de la caché es mucho menor que el de bloques de la memoria, es necesario establecer un mecanismo de correspondencia que permita saber qué bloques están cargados y en qué entrada. Hay tres modos: correspondencia directa, correspondencia asociativa y correspondencia asociativa por conjuntos.</a:t>
            </a:r>
          </a:p>
        </p:txBody>
      </p:sp>
      <p:sp>
        <p:nvSpPr>
          <p:cNvPr id="3" name="CuadroTexto 2">
            <a:extLst>
              <a:ext uri="{FF2B5EF4-FFF2-40B4-BE49-F238E27FC236}">
                <a16:creationId xmlns:a16="http://schemas.microsoft.com/office/drawing/2014/main" id="{EDC2B7CE-0CC7-4786-9118-E84701C9AE0F}"/>
              </a:ext>
            </a:extLst>
          </p:cNvPr>
          <p:cNvSpPr txBox="1"/>
          <p:nvPr/>
        </p:nvSpPr>
        <p:spPr>
          <a:xfrm>
            <a:off x="1776414" y="1857061"/>
            <a:ext cx="6840812" cy="3208571"/>
          </a:xfrm>
          <a:prstGeom prst="rect">
            <a:avLst/>
          </a:prstGeom>
          <a:noFill/>
        </p:spPr>
        <p:txBody>
          <a:bodyPr wrap="square" rtlCol="0">
            <a:spAutoFit/>
          </a:bodyPr>
          <a:lstStyle/>
          <a:p>
            <a:pPr algn="just"/>
            <a:r>
              <a:rPr lang="es-ES" b="1" u="sng" dirty="0"/>
              <a:t>Método de correspondencia directa</a:t>
            </a:r>
          </a:p>
          <a:p>
            <a:pPr algn="just"/>
            <a:endParaRPr lang="es-ES" dirty="0"/>
          </a:p>
          <a:p>
            <a:pPr algn="just"/>
            <a:r>
              <a:rPr lang="es-ES" dirty="0"/>
              <a:t>Es el más simple, cada bloque solo puede instanciarse en una entrada determinada de la caché. Permite construir cachés con circuitería muy sencilla. Supongamos que la caché tiene k entradas/líneas, siempre potencia de dos y que la memoria tiene m bloques (m &gt;&gt; k).</a:t>
            </a:r>
          </a:p>
          <a:p>
            <a:pPr algn="just"/>
            <a:endParaRPr lang="es-ES" dirty="0"/>
          </a:p>
          <a:p>
            <a:pPr algn="just"/>
            <a:r>
              <a:rPr lang="es-ES" dirty="0"/>
              <a:t>El bloque j de memoria RAM se instancia en la entrada </a:t>
            </a:r>
            <a:r>
              <a:rPr lang="es-ES" sz="1200" dirty="0">
                <a:latin typeface="Lucida Sans Typewriter" panose="020B0509030504030204" pitchFamily="49" charset="0"/>
              </a:rPr>
              <a:t>j mod k</a:t>
            </a:r>
            <a:r>
              <a:rPr lang="es-ES" dirty="0"/>
              <a:t>. </a:t>
            </a:r>
          </a:p>
          <a:p>
            <a:pPr algn="just"/>
            <a:endParaRPr lang="es-ES" dirty="0"/>
          </a:p>
          <a:p>
            <a:pPr algn="just"/>
            <a:r>
              <a:rPr lang="es-ES" dirty="0"/>
              <a:t>Tenemos una RAM de 32 kB y una caché de 32 líneas. El tamaño de la línea son 4 B. ¿En qué entrada se instancia el bloque 2004?</a:t>
            </a:r>
          </a:p>
          <a:p>
            <a:pPr algn="just"/>
            <a:endParaRPr lang="es-ES" dirty="0"/>
          </a:p>
          <a:p>
            <a:pPr algn="just"/>
            <a:r>
              <a:rPr lang="es-ES" dirty="0"/>
              <a:t>Solución = 2004 mod 32 = 20. </a:t>
            </a:r>
          </a:p>
          <a:p>
            <a:pPr algn="just"/>
            <a:endParaRPr lang="es-ES" dirty="0"/>
          </a:p>
          <a:p>
            <a:pPr algn="just"/>
            <a:r>
              <a:rPr lang="es-ES" dirty="0"/>
              <a:t>Es la misma línea en la que se cargarían el bloque 20 o el 84. ¿Cómo sabe la caché qué bloque es el que tiene cargado?.</a:t>
            </a:r>
          </a:p>
        </p:txBody>
      </p:sp>
    </p:spTree>
    <p:extLst>
      <p:ext uri="{BB962C8B-B14F-4D97-AF65-F5344CB8AC3E}">
        <p14:creationId xmlns:p14="http://schemas.microsoft.com/office/powerpoint/2010/main" val="2775085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3" name="CuadroTexto 2">
            <a:extLst>
              <a:ext uri="{FF2B5EF4-FFF2-40B4-BE49-F238E27FC236}">
                <a16:creationId xmlns:a16="http://schemas.microsoft.com/office/drawing/2014/main" id="{EDC2B7CE-0CC7-4786-9118-E84701C9AE0F}"/>
              </a:ext>
            </a:extLst>
          </p:cNvPr>
          <p:cNvSpPr txBox="1"/>
          <p:nvPr/>
        </p:nvSpPr>
        <p:spPr>
          <a:xfrm>
            <a:off x="1776414" y="967464"/>
            <a:ext cx="6840812" cy="1546577"/>
          </a:xfrm>
          <a:prstGeom prst="rect">
            <a:avLst/>
          </a:prstGeom>
          <a:noFill/>
        </p:spPr>
        <p:txBody>
          <a:bodyPr wrap="square" rtlCol="0">
            <a:spAutoFit/>
          </a:bodyPr>
          <a:lstStyle/>
          <a:p>
            <a:pPr algn="just"/>
            <a:r>
              <a:rPr lang="es-ES" b="1" u="sng" dirty="0"/>
              <a:t>Método de correspondencia directa (continuación)</a:t>
            </a:r>
          </a:p>
          <a:p>
            <a:pPr algn="just"/>
            <a:endParaRPr lang="es-ES" dirty="0"/>
          </a:p>
          <a:p>
            <a:pPr algn="just"/>
            <a:r>
              <a:rPr lang="es-ES" dirty="0"/>
              <a:t>El campo Etiqueta (“</a:t>
            </a:r>
            <a:r>
              <a:rPr lang="es-ES" dirty="0" err="1"/>
              <a:t>label</a:t>
            </a:r>
            <a:r>
              <a:rPr lang="es-ES" dirty="0"/>
              <a:t>”) es el que permite saber a la caché qué bloque tiene cargado. Para la correspondencia directa, el campo etiqueta del bloque j se obtiene como el cociente de esa cifra entre el número de entradas. Para nuestro ejemplo: Etiqueta = 2004 </a:t>
            </a:r>
            <a:r>
              <a:rPr lang="es-ES" dirty="0" err="1"/>
              <a:t>div</a:t>
            </a:r>
            <a:r>
              <a:rPr lang="es-ES" dirty="0"/>
              <a:t> 32 = 62</a:t>
            </a:r>
          </a:p>
          <a:p>
            <a:pPr algn="just"/>
            <a:r>
              <a:rPr lang="es-ES" dirty="0"/>
              <a:t>Para una misma línea, el número de etiquetas es el número de bloques total entre el número de entradas de la caché.</a:t>
            </a:r>
          </a:p>
        </p:txBody>
      </p:sp>
      <p:sp>
        <p:nvSpPr>
          <p:cNvPr id="6" name="CuadroTexto 5">
            <a:extLst>
              <a:ext uri="{FF2B5EF4-FFF2-40B4-BE49-F238E27FC236}">
                <a16:creationId xmlns:a16="http://schemas.microsoft.com/office/drawing/2014/main" id="{FCC33FA2-E741-46DC-A816-B5591E193F4F}"/>
              </a:ext>
            </a:extLst>
          </p:cNvPr>
          <p:cNvSpPr txBox="1"/>
          <p:nvPr/>
        </p:nvSpPr>
        <p:spPr>
          <a:xfrm>
            <a:off x="1776414" y="2621170"/>
            <a:ext cx="6840812" cy="507831"/>
          </a:xfrm>
          <a:prstGeom prst="rect">
            <a:avLst/>
          </a:prstGeom>
          <a:noFill/>
        </p:spPr>
        <p:txBody>
          <a:bodyPr wrap="square" rtlCol="0">
            <a:spAutoFit/>
          </a:bodyPr>
          <a:lstStyle/>
          <a:p>
            <a:pPr algn="just"/>
            <a:r>
              <a:rPr lang="es-ES" dirty="0"/>
              <a:t>Para este método de correspondencia existe una relación sencilla entre la dirección de memoria, el número de entrada en la caché y la etiqueta.</a:t>
            </a:r>
          </a:p>
        </p:txBody>
      </p:sp>
      <p:sp>
        <p:nvSpPr>
          <p:cNvPr id="14" name="CuadroTexto 13">
            <a:extLst>
              <a:ext uri="{FF2B5EF4-FFF2-40B4-BE49-F238E27FC236}">
                <a16:creationId xmlns:a16="http://schemas.microsoft.com/office/drawing/2014/main" id="{E75AF0FC-B665-4B59-A932-C727D4B77AD3}"/>
              </a:ext>
            </a:extLst>
          </p:cNvPr>
          <p:cNvSpPr txBox="1"/>
          <p:nvPr/>
        </p:nvSpPr>
        <p:spPr>
          <a:xfrm>
            <a:off x="7398496" y="3314575"/>
            <a:ext cx="272832" cy="300082"/>
          </a:xfrm>
          <a:prstGeom prst="rect">
            <a:avLst/>
          </a:prstGeom>
          <a:noFill/>
        </p:spPr>
        <p:txBody>
          <a:bodyPr wrap="none" rtlCol="0">
            <a:spAutoFit/>
          </a:bodyPr>
          <a:lstStyle/>
          <a:p>
            <a:r>
              <a:rPr lang="es-ES" dirty="0"/>
              <a:t>0</a:t>
            </a:r>
          </a:p>
        </p:txBody>
      </p:sp>
      <p:sp>
        <p:nvSpPr>
          <p:cNvPr id="16" name="CuadroTexto 15">
            <a:extLst>
              <a:ext uri="{FF2B5EF4-FFF2-40B4-BE49-F238E27FC236}">
                <a16:creationId xmlns:a16="http://schemas.microsoft.com/office/drawing/2014/main" id="{BE24FB2E-33BF-4436-821C-32B2FA086B9E}"/>
              </a:ext>
            </a:extLst>
          </p:cNvPr>
          <p:cNvSpPr txBox="1"/>
          <p:nvPr/>
        </p:nvSpPr>
        <p:spPr>
          <a:xfrm>
            <a:off x="7077712" y="3314575"/>
            <a:ext cx="272832" cy="300082"/>
          </a:xfrm>
          <a:prstGeom prst="rect">
            <a:avLst/>
          </a:prstGeom>
          <a:noFill/>
        </p:spPr>
        <p:txBody>
          <a:bodyPr wrap="none" rtlCol="0">
            <a:spAutoFit/>
          </a:bodyPr>
          <a:lstStyle/>
          <a:p>
            <a:r>
              <a:rPr lang="es-ES" dirty="0"/>
              <a:t>1</a:t>
            </a:r>
          </a:p>
        </p:txBody>
      </p:sp>
      <p:sp>
        <p:nvSpPr>
          <p:cNvPr id="11" name="Rectángulo 10">
            <a:extLst>
              <a:ext uri="{FF2B5EF4-FFF2-40B4-BE49-F238E27FC236}">
                <a16:creationId xmlns:a16="http://schemas.microsoft.com/office/drawing/2014/main" id="{A809DF95-318E-4FE5-9532-EDA7B50D9926}"/>
              </a:ext>
            </a:extLst>
          </p:cNvPr>
          <p:cNvSpPr/>
          <p:nvPr/>
        </p:nvSpPr>
        <p:spPr>
          <a:xfrm>
            <a:off x="7070964" y="3614657"/>
            <a:ext cx="304800" cy="378691"/>
          </a:xfrm>
          <a:prstGeom prst="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 name="Rectángulo 12">
            <a:extLst>
              <a:ext uri="{FF2B5EF4-FFF2-40B4-BE49-F238E27FC236}">
                <a16:creationId xmlns:a16="http://schemas.microsoft.com/office/drawing/2014/main" id="{4C8CB940-546E-4014-987A-D81634E611A6}"/>
              </a:ext>
            </a:extLst>
          </p:cNvPr>
          <p:cNvSpPr/>
          <p:nvPr/>
        </p:nvSpPr>
        <p:spPr>
          <a:xfrm>
            <a:off x="7375764" y="3614657"/>
            <a:ext cx="304800" cy="378691"/>
          </a:xfrm>
          <a:prstGeom prst="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8" name="Rectángulo 17">
            <a:extLst>
              <a:ext uri="{FF2B5EF4-FFF2-40B4-BE49-F238E27FC236}">
                <a16:creationId xmlns:a16="http://schemas.microsoft.com/office/drawing/2014/main" id="{6EA11F68-6E06-44AC-A865-6B5C550A36A7}"/>
              </a:ext>
            </a:extLst>
          </p:cNvPr>
          <p:cNvSpPr/>
          <p:nvPr/>
        </p:nvSpPr>
        <p:spPr>
          <a:xfrm>
            <a:off x="6767408" y="3614657"/>
            <a:ext cx="304800" cy="378691"/>
          </a:xfrm>
          <a:prstGeom prst="rect">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0" name="Rectángulo 19">
            <a:extLst>
              <a:ext uri="{FF2B5EF4-FFF2-40B4-BE49-F238E27FC236}">
                <a16:creationId xmlns:a16="http://schemas.microsoft.com/office/drawing/2014/main" id="{9BAA0752-7531-49CD-B435-63D6FC7A9C85}"/>
              </a:ext>
            </a:extLst>
          </p:cNvPr>
          <p:cNvSpPr/>
          <p:nvPr/>
        </p:nvSpPr>
        <p:spPr>
          <a:xfrm>
            <a:off x="6457104" y="3614657"/>
            <a:ext cx="304800" cy="378691"/>
          </a:xfrm>
          <a:prstGeom prst="rect">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4" name="CuadroTexto 23">
            <a:extLst>
              <a:ext uri="{FF2B5EF4-FFF2-40B4-BE49-F238E27FC236}">
                <a16:creationId xmlns:a16="http://schemas.microsoft.com/office/drawing/2014/main" id="{ABEEF93B-8D5B-4691-BD2B-0EFC108A07AF}"/>
              </a:ext>
            </a:extLst>
          </p:cNvPr>
          <p:cNvSpPr txBox="1"/>
          <p:nvPr/>
        </p:nvSpPr>
        <p:spPr>
          <a:xfrm>
            <a:off x="6780904" y="3314575"/>
            <a:ext cx="272832" cy="300082"/>
          </a:xfrm>
          <a:prstGeom prst="rect">
            <a:avLst/>
          </a:prstGeom>
          <a:noFill/>
        </p:spPr>
        <p:txBody>
          <a:bodyPr wrap="none" rtlCol="0">
            <a:spAutoFit/>
          </a:bodyPr>
          <a:lstStyle/>
          <a:p>
            <a:r>
              <a:rPr lang="es-ES" dirty="0"/>
              <a:t>2</a:t>
            </a:r>
          </a:p>
        </p:txBody>
      </p:sp>
      <p:sp>
        <p:nvSpPr>
          <p:cNvPr id="26" name="CuadroTexto 25">
            <a:extLst>
              <a:ext uri="{FF2B5EF4-FFF2-40B4-BE49-F238E27FC236}">
                <a16:creationId xmlns:a16="http://schemas.microsoft.com/office/drawing/2014/main" id="{19202341-BC96-4DF5-BEF4-1907E32FDB62}"/>
              </a:ext>
            </a:extLst>
          </p:cNvPr>
          <p:cNvSpPr txBox="1"/>
          <p:nvPr/>
        </p:nvSpPr>
        <p:spPr>
          <a:xfrm>
            <a:off x="6481610" y="3314575"/>
            <a:ext cx="272832" cy="300082"/>
          </a:xfrm>
          <a:prstGeom prst="rect">
            <a:avLst/>
          </a:prstGeom>
          <a:noFill/>
        </p:spPr>
        <p:txBody>
          <a:bodyPr wrap="none" rtlCol="0">
            <a:spAutoFit/>
          </a:bodyPr>
          <a:lstStyle/>
          <a:p>
            <a:r>
              <a:rPr lang="es-ES" dirty="0"/>
              <a:t>3</a:t>
            </a:r>
          </a:p>
        </p:txBody>
      </p:sp>
      <p:sp>
        <p:nvSpPr>
          <p:cNvPr id="39" name="Rectángulo 38">
            <a:extLst>
              <a:ext uri="{FF2B5EF4-FFF2-40B4-BE49-F238E27FC236}">
                <a16:creationId xmlns:a16="http://schemas.microsoft.com/office/drawing/2014/main" id="{843CE374-35EE-4AA1-A32D-E127B9FEB7B6}"/>
              </a:ext>
            </a:extLst>
          </p:cNvPr>
          <p:cNvSpPr/>
          <p:nvPr/>
        </p:nvSpPr>
        <p:spPr>
          <a:xfrm>
            <a:off x="5845638" y="3614657"/>
            <a:ext cx="304800" cy="378691"/>
          </a:xfrm>
          <a:prstGeom prst="rect">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0" name="Rectángulo 39">
            <a:extLst>
              <a:ext uri="{FF2B5EF4-FFF2-40B4-BE49-F238E27FC236}">
                <a16:creationId xmlns:a16="http://schemas.microsoft.com/office/drawing/2014/main" id="{405088F9-EB93-4262-AB3A-FCF11A80AAE5}"/>
              </a:ext>
            </a:extLst>
          </p:cNvPr>
          <p:cNvSpPr/>
          <p:nvPr/>
        </p:nvSpPr>
        <p:spPr>
          <a:xfrm>
            <a:off x="6150438" y="3614657"/>
            <a:ext cx="304800" cy="378691"/>
          </a:xfrm>
          <a:prstGeom prst="rect">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1" name="Rectángulo 40">
            <a:extLst>
              <a:ext uri="{FF2B5EF4-FFF2-40B4-BE49-F238E27FC236}">
                <a16:creationId xmlns:a16="http://schemas.microsoft.com/office/drawing/2014/main" id="{A1A21AD1-2309-4F59-99AC-3FD15FBCE5CC}"/>
              </a:ext>
            </a:extLst>
          </p:cNvPr>
          <p:cNvSpPr/>
          <p:nvPr/>
        </p:nvSpPr>
        <p:spPr>
          <a:xfrm>
            <a:off x="5542082" y="3614657"/>
            <a:ext cx="304800" cy="378691"/>
          </a:xfrm>
          <a:prstGeom prst="rect">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2" name="Rectángulo 41">
            <a:extLst>
              <a:ext uri="{FF2B5EF4-FFF2-40B4-BE49-F238E27FC236}">
                <a16:creationId xmlns:a16="http://schemas.microsoft.com/office/drawing/2014/main" id="{830ACC82-FB7A-413C-A825-D14C50183D3D}"/>
              </a:ext>
            </a:extLst>
          </p:cNvPr>
          <p:cNvSpPr/>
          <p:nvPr/>
        </p:nvSpPr>
        <p:spPr>
          <a:xfrm>
            <a:off x="5231778" y="3614657"/>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43" name="Grupo 42">
            <a:extLst>
              <a:ext uri="{FF2B5EF4-FFF2-40B4-BE49-F238E27FC236}">
                <a16:creationId xmlns:a16="http://schemas.microsoft.com/office/drawing/2014/main" id="{0DE86A29-831C-4E3D-B85B-95C15FCA6619}"/>
              </a:ext>
            </a:extLst>
          </p:cNvPr>
          <p:cNvGrpSpPr/>
          <p:nvPr/>
        </p:nvGrpSpPr>
        <p:grpSpPr>
          <a:xfrm>
            <a:off x="4006452" y="3614656"/>
            <a:ext cx="1223460" cy="378691"/>
            <a:chOff x="5602213" y="3530001"/>
            <a:chExt cx="1223460" cy="378691"/>
          </a:xfrm>
          <a:solidFill>
            <a:schemeClr val="accent6">
              <a:lumMod val="40000"/>
              <a:lumOff val="60000"/>
            </a:schemeClr>
          </a:solidFill>
        </p:grpSpPr>
        <p:sp>
          <p:nvSpPr>
            <p:cNvPr id="44" name="Rectángulo 43">
              <a:extLst>
                <a:ext uri="{FF2B5EF4-FFF2-40B4-BE49-F238E27FC236}">
                  <a16:creationId xmlns:a16="http://schemas.microsoft.com/office/drawing/2014/main" id="{17A67846-0F32-4FE3-9820-7CA85F5C3DB7}"/>
                </a:ext>
              </a:extLst>
            </p:cNvPr>
            <p:cNvSpPr/>
            <p:nvPr/>
          </p:nvSpPr>
          <p:spPr>
            <a:xfrm>
              <a:off x="621607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5" name="Rectángulo 44">
              <a:extLst>
                <a:ext uri="{FF2B5EF4-FFF2-40B4-BE49-F238E27FC236}">
                  <a16:creationId xmlns:a16="http://schemas.microsoft.com/office/drawing/2014/main" id="{57564994-4493-41A3-9C0B-E84CD6C1B8FD}"/>
                </a:ext>
              </a:extLst>
            </p:cNvPr>
            <p:cNvSpPr/>
            <p:nvPr/>
          </p:nvSpPr>
          <p:spPr>
            <a:xfrm>
              <a:off x="652087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6" name="Rectángulo 45">
              <a:extLst>
                <a:ext uri="{FF2B5EF4-FFF2-40B4-BE49-F238E27FC236}">
                  <a16:creationId xmlns:a16="http://schemas.microsoft.com/office/drawing/2014/main" id="{E2BE1701-1369-4E1F-A4DB-72BEEBC8F7E9}"/>
                </a:ext>
              </a:extLst>
            </p:cNvPr>
            <p:cNvSpPr/>
            <p:nvPr/>
          </p:nvSpPr>
          <p:spPr>
            <a:xfrm>
              <a:off x="5912517"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7" name="Rectángulo 46">
              <a:extLst>
                <a:ext uri="{FF2B5EF4-FFF2-40B4-BE49-F238E27FC236}">
                  <a16:creationId xmlns:a16="http://schemas.microsoft.com/office/drawing/2014/main" id="{01796F77-4C6D-438F-83EE-C4C472DD45C5}"/>
                </a:ext>
              </a:extLst>
            </p:cNvPr>
            <p:cNvSpPr/>
            <p:nvPr/>
          </p:nvSpPr>
          <p:spPr>
            <a:xfrm>
              <a:off x="560221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54" name="CuadroTexto 53">
            <a:extLst>
              <a:ext uri="{FF2B5EF4-FFF2-40B4-BE49-F238E27FC236}">
                <a16:creationId xmlns:a16="http://schemas.microsoft.com/office/drawing/2014/main" id="{7B589AC5-DA7C-4C94-8243-7C9BC9D2F9EF}"/>
              </a:ext>
            </a:extLst>
          </p:cNvPr>
          <p:cNvSpPr txBox="1"/>
          <p:nvPr/>
        </p:nvSpPr>
        <p:spPr>
          <a:xfrm>
            <a:off x="6168599" y="3314573"/>
            <a:ext cx="272832" cy="300082"/>
          </a:xfrm>
          <a:prstGeom prst="rect">
            <a:avLst/>
          </a:prstGeom>
          <a:noFill/>
        </p:spPr>
        <p:txBody>
          <a:bodyPr wrap="none" rtlCol="0">
            <a:spAutoFit/>
          </a:bodyPr>
          <a:lstStyle/>
          <a:p>
            <a:r>
              <a:rPr lang="es-ES" dirty="0"/>
              <a:t>4</a:t>
            </a:r>
          </a:p>
        </p:txBody>
      </p:sp>
      <p:sp>
        <p:nvSpPr>
          <p:cNvPr id="56" name="CuadroTexto 55">
            <a:extLst>
              <a:ext uri="{FF2B5EF4-FFF2-40B4-BE49-F238E27FC236}">
                <a16:creationId xmlns:a16="http://schemas.microsoft.com/office/drawing/2014/main" id="{1E8EDB28-58A9-4AE3-8DAA-F9BD469AF789}"/>
              </a:ext>
            </a:extLst>
          </p:cNvPr>
          <p:cNvSpPr txBox="1"/>
          <p:nvPr/>
        </p:nvSpPr>
        <p:spPr>
          <a:xfrm>
            <a:off x="5847815" y="3314573"/>
            <a:ext cx="272832" cy="300082"/>
          </a:xfrm>
          <a:prstGeom prst="rect">
            <a:avLst/>
          </a:prstGeom>
          <a:noFill/>
        </p:spPr>
        <p:txBody>
          <a:bodyPr wrap="none" rtlCol="0">
            <a:spAutoFit/>
          </a:bodyPr>
          <a:lstStyle/>
          <a:p>
            <a:r>
              <a:rPr lang="es-ES" dirty="0"/>
              <a:t>5</a:t>
            </a:r>
          </a:p>
        </p:txBody>
      </p:sp>
      <p:sp>
        <p:nvSpPr>
          <p:cNvPr id="58" name="CuadroTexto 57">
            <a:extLst>
              <a:ext uri="{FF2B5EF4-FFF2-40B4-BE49-F238E27FC236}">
                <a16:creationId xmlns:a16="http://schemas.microsoft.com/office/drawing/2014/main" id="{A7370D93-E774-41A0-B030-53C7AA1722F6}"/>
              </a:ext>
            </a:extLst>
          </p:cNvPr>
          <p:cNvSpPr txBox="1"/>
          <p:nvPr/>
        </p:nvSpPr>
        <p:spPr>
          <a:xfrm>
            <a:off x="5551007" y="3314573"/>
            <a:ext cx="272832" cy="300082"/>
          </a:xfrm>
          <a:prstGeom prst="rect">
            <a:avLst/>
          </a:prstGeom>
          <a:noFill/>
        </p:spPr>
        <p:txBody>
          <a:bodyPr wrap="none" rtlCol="0">
            <a:spAutoFit/>
          </a:bodyPr>
          <a:lstStyle/>
          <a:p>
            <a:r>
              <a:rPr lang="es-ES" dirty="0"/>
              <a:t>6</a:t>
            </a:r>
          </a:p>
        </p:txBody>
      </p:sp>
      <p:sp>
        <p:nvSpPr>
          <p:cNvPr id="60" name="CuadroTexto 59">
            <a:extLst>
              <a:ext uri="{FF2B5EF4-FFF2-40B4-BE49-F238E27FC236}">
                <a16:creationId xmlns:a16="http://schemas.microsoft.com/office/drawing/2014/main" id="{764A0E7A-8897-4AE7-A7E2-EF5A3DC6EB8E}"/>
              </a:ext>
            </a:extLst>
          </p:cNvPr>
          <p:cNvSpPr txBox="1"/>
          <p:nvPr/>
        </p:nvSpPr>
        <p:spPr>
          <a:xfrm>
            <a:off x="5251713" y="3314573"/>
            <a:ext cx="272832" cy="300082"/>
          </a:xfrm>
          <a:prstGeom prst="rect">
            <a:avLst/>
          </a:prstGeom>
          <a:noFill/>
        </p:spPr>
        <p:txBody>
          <a:bodyPr wrap="none" rtlCol="0">
            <a:spAutoFit/>
          </a:bodyPr>
          <a:lstStyle/>
          <a:p>
            <a:r>
              <a:rPr lang="es-ES" dirty="0"/>
              <a:t>7</a:t>
            </a:r>
          </a:p>
        </p:txBody>
      </p:sp>
      <p:sp>
        <p:nvSpPr>
          <p:cNvPr id="62" name="CuadroTexto 61">
            <a:extLst>
              <a:ext uri="{FF2B5EF4-FFF2-40B4-BE49-F238E27FC236}">
                <a16:creationId xmlns:a16="http://schemas.microsoft.com/office/drawing/2014/main" id="{105BD8B7-8C02-441B-8DB8-AD9ECB978749}"/>
              </a:ext>
            </a:extLst>
          </p:cNvPr>
          <p:cNvSpPr txBox="1"/>
          <p:nvPr/>
        </p:nvSpPr>
        <p:spPr>
          <a:xfrm>
            <a:off x="4918767" y="3314573"/>
            <a:ext cx="272832" cy="300082"/>
          </a:xfrm>
          <a:prstGeom prst="rect">
            <a:avLst/>
          </a:prstGeom>
          <a:noFill/>
        </p:spPr>
        <p:txBody>
          <a:bodyPr wrap="none" rtlCol="0">
            <a:spAutoFit/>
          </a:bodyPr>
          <a:lstStyle/>
          <a:p>
            <a:r>
              <a:rPr lang="es-ES" dirty="0"/>
              <a:t>8</a:t>
            </a:r>
          </a:p>
        </p:txBody>
      </p:sp>
      <p:sp>
        <p:nvSpPr>
          <p:cNvPr id="64" name="CuadroTexto 63">
            <a:extLst>
              <a:ext uri="{FF2B5EF4-FFF2-40B4-BE49-F238E27FC236}">
                <a16:creationId xmlns:a16="http://schemas.microsoft.com/office/drawing/2014/main" id="{DCCE956C-B882-4698-82FE-49C261F34CF7}"/>
              </a:ext>
            </a:extLst>
          </p:cNvPr>
          <p:cNvSpPr txBox="1"/>
          <p:nvPr/>
        </p:nvSpPr>
        <p:spPr>
          <a:xfrm>
            <a:off x="4597983" y="3314573"/>
            <a:ext cx="272832" cy="300082"/>
          </a:xfrm>
          <a:prstGeom prst="rect">
            <a:avLst/>
          </a:prstGeom>
          <a:noFill/>
        </p:spPr>
        <p:txBody>
          <a:bodyPr wrap="none" rtlCol="0">
            <a:spAutoFit/>
          </a:bodyPr>
          <a:lstStyle/>
          <a:p>
            <a:r>
              <a:rPr lang="es-ES" dirty="0"/>
              <a:t>9</a:t>
            </a:r>
          </a:p>
        </p:txBody>
      </p:sp>
      <p:sp>
        <p:nvSpPr>
          <p:cNvPr id="66" name="CuadroTexto 65">
            <a:extLst>
              <a:ext uri="{FF2B5EF4-FFF2-40B4-BE49-F238E27FC236}">
                <a16:creationId xmlns:a16="http://schemas.microsoft.com/office/drawing/2014/main" id="{006C691B-E9BF-4BA5-9545-18E06BE535A6}"/>
              </a:ext>
            </a:extLst>
          </p:cNvPr>
          <p:cNvSpPr txBox="1"/>
          <p:nvPr/>
        </p:nvSpPr>
        <p:spPr>
          <a:xfrm>
            <a:off x="4301175" y="3314573"/>
            <a:ext cx="284052" cy="300082"/>
          </a:xfrm>
          <a:prstGeom prst="rect">
            <a:avLst/>
          </a:prstGeom>
          <a:noFill/>
        </p:spPr>
        <p:txBody>
          <a:bodyPr wrap="none" rtlCol="0">
            <a:spAutoFit/>
          </a:bodyPr>
          <a:lstStyle/>
          <a:p>
            <a:r>
              <a:rPr lang="es-ES" dirty="0"/>
              <a:t>A</a:t>
            </a:r>
          </a:p>
        </p:txBody>
      </p:sp>
      <p:sp>
        <p:nvSpPr>
          <p:cNvPr id="68" name="CuadroTexto 67">
            <a:extLst>
              <a:ext uri="{FF2B5EF4-FFF2-40B4-BE49-F238E27FC236}">
                <a16:creationId xmlns:a16="http://schemas.microsoft.com/office/drawing/2014/main" id="{E48968E4-4058-4366-85BD-D292AA50E26D}"/>
              </a:ext>
            </a:extLst>
          </p:cNvPr>
          <p:cNvSpPr txBox="1"/>
          <p:nvPr/>
        </p:nvSpPr>
        <p:spPr>
          <a:xfrm>
            <a:off x="4001881" y="3314573"/>
            <a:ext cx="279244" cy="300082"/>
          </a:xfrm>
          <a:prstGeom prst="rect">
            <a:avLst/>
          </a:prstGeom>
          <a:noFill/>
        </p:spPr>
        <p:txBody>
          <a:bodyPr wrap="none" rtlCol="0">
            <a:spAutoFit/>
          </a:bodyPr>
          <a:lstStyle/>
          <a:p>
            <a:r>
              <a:rPr lang="es-ES" dirty="0"/>
              <a:t>B</a:t>
            </a:r>
          </a:p>
        </p:txBody>
      </p:sp>
      <p:sp>
        <p:nvSpPr>
          <p:cNvPr id="70" name="CuadroTexto 69">
            <a:extLst>
              <a:ext uri="{FF2B5EF4-FFF2-40B4-BE49-F238E27FC236}">
                <a16:creationId xmlns:a16="http://schemas.microsoft.com/office/drawing/2014/main" id="{83E8F37E-3A2E-473C-BAB8-EF88AC5C9937}"/>
              </a:ext>
            </a:extLst>
          </p:cNvPr>
          <p:cNvSpPr txBox="1"/>
          <p:nvPr/>
        </p:nvSpPr>
        <p:spPr>
          <a:xfrm>
            <a:off x="3691045" y="3308657"/>
            <a:ext cx="277640" cy="300082"/>
          </a:xfrm>
          <a:prstGeom prst="rect">
            <a:avLst/>
          </a:prstGeom>
          <a:noFill/>
        </p:spPr>
        <p:txBody>
          <a:bodyPr wrap="none" rtlCol="0">
            <a:spAutoFit/>
          </a:bodyPr>
          <a:lstStyle/>
          <a:p>
            <a:r>
              <a:rPr lang="es-ES" dirty="0"/>
              <a:t>C</a:t>
            </a:r>
          </a:p>
        </p:txBody>
      </p:sp>
      <p:sp>
        <p:nvSpPr>
          <p:cNvPr id="72" name="CuadroTexto 71">
            <a:extLst>
              <a:ext uri="{FF2B5EF4-FFF2-40B4-BE49-F238E27FC236}">
                <a16:creationId xmlns:a16="http://schemas.microsoft.com/office/drawing/2014/main" id="{57F7D8A6-D885-49BC-AB93-5D087A67D691}"/>
              </a:ext>
            </a:extLst>
          </p:cNvPr>
          <p:cNvSpPr txBox="1"/>
          <p:nvPr/>
        </p:nvSpPr>
        <p:spPr>
          <a:xfrm>
            <a:off x="3370261" y="3308657"/>
            <a:ext cx="290464" cy="300082"/>
          </a:xfrm>
          <a:prstGeom prst="rect">
            <a:avLst/>
          </a:prstGeom>
          <a:noFill/>
        </p:spPr>
        <p:txBody>
          <a:bodyPr wrap="none" rtlCol="0">
            <a:spAutoFit/>
          </a:bodyPr>
          <a:lstStyle/>
          <a:p>
            <a:r>
              <a:rPr lang="es-ES" dirty="0"/>
              <a:t>D</a:t>
            </a:r>
          </a:p>
        </p:txBody>
      </p:sp>
      <p:sp>
        <p:nvSpPr>
          <p:cNvPr id="74" name="CuadroTexto 73">
            <a:extLst>
              <a:ext uri="{FF2B5EF4-FFF2-40B4-BE49-F238E27FC236}">
                <a16:creationId xmlns:a16="http://schemas.microsoft.com/office/drawing/2014/main" id="{5077A287-9CF5-4EBF-865C-509085B7688B}"/>
              </a:ext>
            </a:extLst>
          </p:cNvPr>
          <p:cNvSpPr txBox="1"/>
          <p:nvPr/>
        </p:nvSpPr>
        <p:spPr>
          <a:xfrm>
            <a:off x="3073453" y="3308657"/>
            <a:ext cx="272832" cy="300082"/>
          </a:xfrm>
          <a:prstGeom prst="rect">
            <a:avLst/>
          </a:prstGeom>
          <a:noFill/>
        </p:spPr>
        <p:txBody>
          <a:bodyPr wrap="none" rtlCol="0">
            <a:spAutoFit/>
          </a:bodyPr>
          <a:lstStyle/>
          <a:p>
            <a:r>
              <a:rPr lang="es-ES" dirty="0"/>
              <a:t>E</a:t>
            </a:r>
          </a:p>
        </p:txBody>
      </p:sp>
      <p:sp>
        <p:nvSpPr>
          <p:cNvPr id="77" name="CuadroTexto 76">
            <a:extLst>
              <a:ext uri="{FF2B5EF4-FFF2-40B4-BE49-F238E27FC236}">
                <a16:creationId xmlns:a16="http://schemas.microsoft.com/office/drawing/2014/main" id="{E3849FC1-779A-4A93-9657-E3121AF07722}"/>
              </a:ext>
            </a:extLst>
          </p:cNvPr>
          <p:cNvSpPr txBox="1"/>
          <p:nvPr/>
        </p:nvSpPr>
        <p:spPr>
          <a:xfrm>
            <a:off x="2620629" y="3296398"/>
            <a:ext cx="377026" cy="300082"/>
          </a:xfrm>
          <a:prstGeom prst="rect">
            <a:avLst/>
          </a:prstGeom>
          <a:noFill/>
        </p:spPr>
        <p:txBody>
          <a:bodyPr wrap="square" rtlCol="0">
            <a:spAutoFit/>
          </a:bodyPr>
          <a:lstStyle/>
          <a:p>
            <a:r>
              <a:rPr lang="es-ES" dirty="0"/>
              <a:t>Bit</a:t>
            </a:r>
          </a:p>
        </p:txBody>
      </p:sp>
      <p:cxnSp>
        <p:nvCxnSpPr>
          <p:cNvPr id="80" name="Conector recto 79">
            <a:extLst>
              <a:ext uri="{FF2B5EF4-FFF2-40B4-BE49-F238E27FC236}">
                <a16:creationId xmlns:a16="http://schemas.microsoft.com/office/drawing/2014/main" id="{FF022453-2575-481A-BADA-F3DE8E0761BA}"/>
              </a:ext>
            </a:extLst>
          </p:cNvPr>
          <p:cNvCxnSpPr>
            <a:cxnSpLocks/>
          </p:cNvCxnSpPr>
          <p:nvPr/>
        </p:nvCxnSpPr>
        <p:spPr>
          <a:xfrm>
            <a:off x="7085877" y="4160745"/>
            <a:ext cx="593616" cy="0"/>
          </a:xfrm>
          <a:prstGeom prst="line">
            <a:avLst/>
          </a:prstGeom>
        </p:spPr>
        <p:style>
          <a:lnRef idx="1">
            <a:schemeClr val="accent1"/>
          </a:lnRef>
          <a:fillRef idx="0">
            <a:schemeClr val="accent1"/>
          </a:fillRef>
          <a:effectRef idx="0">
            <a:schemeClr val="accent1"/>
          </a:effectRef>
          <a:fontRef idx="minor">
            <a:schemeClr val="tx1"/>
          </a:fontRef>
        </p:style>
      </p:cxnSp>
      <p:sp>
        <p:nvSpPr>
          <p:cNvPr id="82" name="CuadroTexto 81">
            <a:extLst>
              <a:ext uri="{FF2B5EF4-FFF2-40B4-BE49-F238E27FC236}">
                <a16:creationId xmlns:a16="http://schemas.microsoft.com/office/drawing/2014/main" id="{11692FD6-48A0-489C-AEA0-200792C2094D}"/>
              </a:ext>
            </a:extLst>
          </p:cNvPr>
          <p:cNvSpPr txBox="1"/>
          <p:nvPr/>
        </p:nvSpPr>
        <p:spPr>
          <a:xfrm>
            <a:off x="6916249" y="4132564"/>
            <a:ext cx="1835979" cy="646331"/>
          </a:xfrm>
          <a:prstGeom prst="rect">
            <a:avLst/>
          </a:prstGeom>
          <a:noFill/>
        </p:spPr>
        <p:txBody>
          <a:bodyPr wrap="square" rtlCol="0">
            <a:spAutoFit/>
          </a:bodyPr>
          <a:lstStyle/>
          <a:p>
            <a:pPr algn="r"/>
            <a:r>
              <a:rPr lang="es-ES" sz="1200" dirty="0" err="1"/>
              <a:t>nº</a:t>
            </a:r>
            <a:r>
              <a:rPr lang="es-ES" sz="1200" dirty="0"/>
              <a:t> de palabra (byte) dentro de la línea</a:t>
            </a:r>
          </a:p>
          <a:p>
            <a:pPr algn="r"/>
            <a:r>
              <a:rPr lang="es-ES" sz="1200" dirty="0"/>
              <a:t>2 bits (2</a:t>
            </a:r>
            <a:r>
              <a:rPr lang="es-ES" sz="1200" baseline="30000" dirty="0"/>
              <a:t>2</a:t>
            </a:r>
            <a:r>
              <a:rPr lang="es-ES" sz="1200" dirty="0"/>
              <a:t> = 4 byte)</a:t>
            </a:r>
          </a:p>
        </p:txBody>
      </p:sp>
      <p:cxnSp>
        <p:nvCxnSpPr>
          <p:cNvPr id="83" name="Conector recto 82">
            <a:extLst>
              <a:ext uri="{FF2B5EF4-FFF2-40B4-BE49-F238E27FC236}">
                <a16:creationId xmlns:a16="http://schemas.microsoft.com/office/drawing/2014/main" id="{1011B4B9-5021-45AF-87A4-670656A02EFD}"/>
              </a:ext>
            </a:extLst>
          </p:cNvPr>
          <p:cNvCxnSpPr>
            <a:cxnSpLocks/>
          </p:cNvCxnSpPr>
          <p:nvPr/>
        </p:nvCxnSpPr>
        <p:spPr>
          <a:xfrm>
            <a:off x="5540700" y="4160745"/>
            <a:ext cx="1524219" cy="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Conector recto 84">
            <a:extLst>
              <a:ext uri="{FF2B5EF4-FFF2-40B4-BE49-F238E27FC236}">
                <a16:creationId xmlns:a16="http://schemas.microsoft.com/office/drawing/2014/main" id="{EBC716CA-619F-4841-8C80-AA04F2FA7315}"/>
              </a:ext>
            </a:extLst>
          </p:cNvPr>
          <p:cNvCxnSpPr>
            <a:cxnSpLocks/>
          </p:cNvCxnSpPr>
          <p:nvPr/>
        </p:nvCxnSpPr>
        <p:spPr>
          <a:xfrm>
            <a:off x="3073453" y="4140141"/>
            <a:ext cx="2452818" cy="2984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88" name="CuadroTexto 87">
            <a:extLst>
              <a:ext uri="{FF2B5EF4-FFF2-40B4-BE49-F238E27FC236}">
                <a16:creationId xmlns:a16="http://schemas.microsoft.com/office/drawing/2014/main" id="{5895E29B-CAFA-4DAA-980A-20056D4CA79D}"/>
              </a:ext>
            </a:extLst>
          </p:cNvPr>
          <p:cNvSpPr txBox="1"/>
          <p:nvPr/>
        </p:nvSpPr>
        <p:spPr>
          <a:xfrm>
            <a:off x="5314662" y="4153902"/>
            <a:ext cx="1835979" cy="461665"/>
          </a:xfrm>
          <a:prstGeom prst="rect">
            <a:avLst/>
          </a:prstGeom>
          <a:noFill/>
        </p:spPr>
        <p:txBody>
          <a:bodyPr wrap="square" rtlCol="0">
            <a:spAutoFit/>
          </a:bodyPr>
          <a:lstStyle/>
          <a:p>
            <a:pPr algn="ctr"/>
            <a:r>
              <a:rPr lang="es-ES" sz="1200" dirty="0" err="1"/>
              <a:t>nº</a:t>
            </a:r>
            <a:r>
              <a:rPr lang="es-ES" sz="1200" dirty="0"/>
              <a:t> de línea</a:t>
            </a:r>
          </a:p>
          <a:p>
            <a:pPr algn="r"/>
            <a:r>
              <a:rPr lang="es-ES" sz="1200" dirty="0"/>
              <a:t>5 bits (2</a:t>
            </a:r>
            <a:r>
              <a:rPr lang="es-ES" sz="1200" baseline="30000" dirty="0"/>
              <a:t>5</a:t>
            </a:r>
            <a:r>
              <a:rPr lang="es-ES" sz="1200" dirty="0"/>
              <a:t> =  32 líneas)</a:t>
            </a:r>
          </a:p>
        </p:txBody>
      </p:sp>
      <p:sp>
        <p:nvSpPr>
          <p:cNvPr id="90" name="CuadroTexto 89">
            <a:extLst>
              <a:ext uri="{FF2B5EF4-FFF2-40B4-BE49-F238E27FC236}">
                <a16:creationId xmlns:a16="http://schemas.microsoft.com/office/drawing/2014/main" id="{854459E0-1791-4AD1-BAEF-D41D1BFDA765}"/>
              </a:ext>
            </a:extLst>
          </p:cNvPr>
          <p:cNvSpPr txBox="1"/>
          <p:nvPr/>
        </p:nvSpPr>
        <p:spPr>
          <a:xfrm>
            <a:off x="3167406" y="4171898"/>
            <a:ext cx="1835979" cy="461665"/>
          </a:xfrm>
          <a:prstGeom prst="rect">
            <a:avLst/>
          </a:prstGeom>
          <a:noFill/>
        </p:spPr>
        <p:txBody>
          <a:bodyPr wrap="square" rtlCol="0">
            <a:spAutoFit/>
          </a:bodyPr>
          <a:lstStyle/>
          <a:p>
            <a:pPr algn="ctr"/>
            <a:r>
              <a:rPr lang="es-ES" sz="1200" dirty="0"/>
              <a:t>Etiqueta</a:t>
            </a:r>
          </a:p>
          <a:p>
            <a:pPr algn="r"/>
            <a:r>
              <a:rPr lang="es-ES" sz="1200" dirty="0"/>
              <a:t>8 bits (2</a:t>
            </a:r>
            <a:r>
              <a:rPr lang="es-ES" sz="1200" baseline="30000" dirty="0"/>
              <a:t>8</a:t>
            </a:r>
            <a:r>
              <a:rPr lang="es-ES" sz="1200" dirty="0"/>
              <a:t> = 256 etiquetas)</a:t>
            </a:r>
          </a:p>
        </p:txBody>
      </p:sp>
      <p:cxnSp>
        <p:nvCxnSpPr>
          <p:cNvPr id="91" name="Conector recto 90">
            <a:extLst>
              <a:ext uri="{FF2B5EF4-FFF2-40B4-BE49-F238E27FC236}">
                <a16:creationId xmlns:a16="http://schemas.microsoft.com/office/drawing/2014/main" id="{73253C7F-5838-4AC4-9065-71C864AD1B3A}"/>
              </a:ext>
            </a:extLst>
          </p:cNvPr>
          <p:cNvCxnSpPr>
            <a:cxnSpLocks/>
          </p:cNvCxnSpPr>
          <p:nvPr/>
        </p:nvCxnSpPr>
        <p:spPr>
          <a:xfrm>
            <a:off x="3073453" y="4692613"/>
            <a:ext cx="392001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4" name="CuadroTexto 93">
            <a:extLst>
              <a:ext uri="{FF2B5EF4-FFF2-40B4-BE49-F238E27FC236}">
                <a16:creationId xmlns:a16="http://schemas.microsoft.com/office/drawing/2014/main" id="{942BF4D4-E876-4CC7-B8E5-29D85BF6DC44}"/>
              </a:ext>
            </a:extLst>
          </p:cNvPr>
          <p:cNvSpPr txBox="1"/>
          <p:nvPr/>
        </p:nvSpPr>
        <p:spPr>
          <a:xfrm>
            <a:off x="4162059" y="4687841"/>
            <a:ext cx="1835979" cy="276999"/>
          </a:xfrm>
          <a:prstGeom prst="rect">
            <a:avLst/>
          </a:prstGeom>
          <a:noFill/>
        </p:spPr>
        <p:txBody>
          <a:bodyPr wrap="square" rtlCol="0">
            <a:spAutoFit/>
          </a:bodyPr>
          <a:lstStyle/>
          <a:p>
            <a:pPr algn="ctr"/>
            <a:r>
              <a:rPr lang="es-ES" sz="1200" dirty="0" err="1"/>
              <a:t>nº</a:t>
            </a:r>
            <a:r>
              <a:rPr lang="es-ES" sz="1200" dirty="0"/>
              <a:t> de bloque (2</a:t>
            </a:r>
            <a:r>
              <a:rPr lang="es-ES" sz="1200" baseline="30000" dirty="0"/>
              <a:t>13</a:t>
            </a:r>
            <a:r>
              <a:rPr lang="es-ES" sz="1200" dirty="0"/>
              <a:t> bloques)</a:t>
            </a:r>
          </a:p>
        </p:txBody>
      </p:sp>
      <p:pic>
        <p:nvPicPr>
          <p:cNvPr id="5" name="Imagen 4">
            <a:extLst>
              <a:ext uri="{FF2B5EF4-FFF2-40B4-BE49-F238E27FC236}">
                <a16:creationId xmlns:a16="http://schemas.microsoft.com/office/drawing/2014/main" id="{2AF01F6A-C1D9-A6B4-C7EF-B15E0B7AF5BD}"/>
              </a:ext>
            </a:extLst>
          </p:cNvPr>
          <p:cNvPicPr>
            <a:picLocks noChangeAspect="1"/>
          </p:cNvPicPr>
          <p:nvPr/>
        </p:nvPicPr>
        <p:blipFill>
          <a:blip r:embed="rId3"/>
          <a:stretch>
            <a:fillRect/>
          </a:stretch>
        </p:blipFill>
        <p:spPr>
          <a:xfrm>
            <a:off x="3045607" y="3565903"/>
            <a:ext cx="997719" cy="487258"/>
          </a:xfrm>
          <a:prstGeom prst="rect">
            <a:avLst/>
          </a:prstGeom>
        </p:spPr>
      </p:pic>
    </p:spTree>
    <p:extLst>
      <p:ext uri="{BB962C8B-B14F-4D97-AF65-F5344CB8AC3E}">
        <p14:creationId xmlns:p14="http://schemas.microsoft.com/office/powerpoint/2010/main" val="133205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5" y="993026"/>
            <a:ext cx="4576232" cy="300082"/>
          </a:xfrm>
          <a:prstGeom prst="rect">
            <a:avLst/>
          </a:prstGeom>
          <a:noFill/>
        </p:spPr>
        <p:txBody>
          <a:bodyPr wrap="square">
            <a:spAutoFit/>
          </a:bodyPr>
          <a:lstStyle/>
          <a:p>
            <a:pPr algn="just"/>
            <a:r>
              <a:rPr lang="es-ES" b="1" u="sng" dirty="0"/>
              <a:t>Método de correspondencia directa (continuación)</a:t>
            </a:r>
          </a:p>
        </p:txBody>
      </p:sp>
      <p:pic>
        <p:nvPicPr>
          <p:cNvPr id="6" name="Imagen 5">
            <a:extLst>
              <a:ext uri="{FF2B5EF4-FFF2-40B4-BE49-F238E27FC236}">
                <a16:creationId xmlns:a16="http://schemas.microsoft.com/office/drawing/2014/main" id="{C55B1C73-D5A3-D127-A057-0DE594ACDA62}"/>
              </a:ext>
            </a:extLst>
          </p:cNvPr>
          <p:cNvPicPr>
            <a:picLocks noChangeAspect="1"/>
          </p:cNvPicPr>
          <p:nvPr/>
        </p:nvPicPr>
        <p:blipFill>
          <a:blip r:embed="rId3"/>
          <a:stretch>
            <a:fillRect/>
          </a:stretch>
        </p:blipFill>
        <p:spPr>
          <a:xfrm>
            <a:off x="1339362" y="2047098"/>
            <a:ext cx="4218090" cy="1589210"/>
          </a:xfrm>
          <a:prstGeom prst="rect">
            <a:avLst/>
          </a:prstGeom>
        </p:spPr>
      </p:pic>
      <p:sp>
        <p:nvSpPr>
          <p:cNvPr id="10" name="CuadroTexto 9">
            <a:extLst>
              <a:ext uri="{FF2B5EF4-FFF2-40B4-BE49-F238E27FC236}">
                <a16:creationId xmlns:a16="http://schemas.microsoft.com/office/drawing/2014/main" id="{0874AF6D-F127-C4DD-C369-623EE9D54846}"/>
              </a:ext>
            </a:extLst>
          </p:cNvPr>
          <p:cNvSpPr txBox="1"/>
          <p:nvPr/>
        </p:nvSpPr>
        <p:spPr>
          <a:xfrm>
            <a:off x="5018469" y="1423987"/>
            <a:ext cx="3913856" cy="4039567"/>
          </a:xfrm>
          <a:prstGeom prst="rect">
            <a:avLst/>
          </a:prstGeom>
          <a:noFill/>
        </p:spPr>
        <p:txBody>
          <a:bodyPr wrap="square" rtlCol="0">
            <a:spAutoFit/>
          </a:bodyPr>
          <a:lstStyle/>
          <a:p>
            <a:pPr algn="just"/>
            <a:r>
              <a:rPr lang="es-ES" dirty="0"/>
              <a:t>Tamaño del bloque 4 Bytes= 2</a:t>
            </a:r>
            <a:r>
              <a:rPr lang="es-ES" baseline="30000" dirty="0"/>
              <a:t>2 </a:t>
            </a:r>
            <a:r>
              <a:rPr lang="es-ES" dirty="0"/>
              <a:t>=&gt; w=2</a:t>
            </a:r>
          </a:p>
          <a:p>
            <a:pPr algn="just"/>
            <a:endParaRPr lang="es-ES" dirty="0"/>
          </a:p>
          <a:p>
            <a:pPr algn="just"/>
            <a:r>
              <a:rPr lang="es-ES" dirty="0"/>
              <a:t>Tamaño </a:t>
            </a:r>
            <a:r>
              <a:rPr lang="es-ES" dirty="0" err="1"/>
              <a:t>Mp</a:t>
            </a:r>
            <a:r>
              <a:rPr lang="es-ES" dirty="0"/>
              <a:t>= 32 KB = 2</a:t>
            </a:r>
            <a:r>
              <a:rPr lang="es-ES" baseline="30000" dirty="0"/>
              <a:t>15</a:t>
            </a:r>
            <a:r>
              <a:rPr lang="es-ES" dirty="0"/>
              <a:t> Bytes</a:t>
            </a:r>
          </a:p>
          <a:p>
            <a:pPr algn="just"/>
            <a:r>
              <a:rPr lang="es-ES" dirty="0"/>
              <a:t>Si cada bloque es de 4 Bytes tengo 2</a:t>
            </a:r>
            <a:r>
              <a:rPr lang="es-ES" baseline="30000" dirty="0"/>
              <a:t>15 </a:t>
            </a:r>
            <a:r>
              <a:rPr lang="es-ES" dirty="0"/>
              <a:t>/</a:t>
            </a:r>
            <a:r>
              <a:rPr lang="es-ES" baseline="30000" dirty="0"/>
              <a:t> </a:t>
            </a:r>
            <a:r>
              <a:rPr lang="es-ES" dirty="0"/>
              <a:t>2</a:t>
            </a:r>
            <a:r>
              <a:rPr lang="es-ES" baseline="30000" dirty="0"/>
              <a:t>2 = </a:t>
            </a:r>
            <a:r>
              <a:rPr lang="es-ES" dirty="0"/>
              <a:t>2</a:t>
            </a:r>
            <a:r>
              <a:rPr lang="es-ES" baseline="30000" dirty="0"/>
              <a:t>13 </a:t>
            </a:r>
            <a:r>
              <a:rPr lang="es-ES" dirty="0"/>
              <a:t>Bloques en la RAM. s=13</a:t>
            </a:r>
          </a:p>
          <a:p>
            <a:pPr algn="just"/>
            <a:endParaRPr lang="es-ES" dirty="0"/>
          </a:p>
          <a:p>
            <a:pPr algn="just"/>
            <a:endParaRPr lang="es-ES" dirty="0"/>
          </a:p>
          <a:p>
            <a:pPr algn="just"/>
            <a:r>
              <a:rPr lang="es-ES" dirty="0"/>
              <a:t>Tamaño Caché = 32 x 4= 2</a:t>
            </a:r>
            <a:r>
              <a:rPr lang="es-ES" baseline="30000" dirty="0"/>
              <a:t>7 </a:t>
            </a:r>
            <a:r>
              <a:rPr lang="es-ES" dirty="0"/>
              <a:t>Bytes</a:t>
            </a:r>
          </a:p>
          <a:p>
            <a:pPr algn="just"/>
            <a:r>
              <a:rPr lang="es-ES" dirty="0"/>
              <a:t>Numero de marcos (líneas)= Tamaño cache/ Tamaño del bloque</a:t>
            </a:r>
          </a:p>
          <a:p>
            <a:pPr algn="just"/>
            <a:r>
              <a:rPr lang="es-ES" dirty="0"/>
              <a:t>numero de marcos (líneas) =2</a:t>
            </a:r>
            <a:r>
              <a:rPr lang="es-ES" baseline="30000" dirty="0"/>
              <a:t>7</a:t>
            </a:r>
            <a:r>
              <a:rPr lang="es-ES" dirty="0"/>
              <a:t>/</a:t>
            </a:r>
            <a:r>
              <a:rPr lang="es-ES" baseline="30000" dirty="0"/>
              <a:t> </a:t>
            </a:r>
            <a:r>
              <a:rPr lang="es-ES" dirty="0"/>
              <a:t>2</a:t>
            </a:r>
            <a:r>
              <a:rPr lang="es-ES" baseline="30000" dirty="0"/>
              <a:t>2 = </a:t>
            </a:r>
            <a:r>
              <a:rPr lang="es-ES" dirty="0"/>
              <a:t>2</a:t>
            </a:r>
            <a:r>
              <a:rPr lang="es-ES" baseline="30000" dirty="0"/>
              <a:t>5</a:t>
            </a:r>
          </a:p>
          <a:p>
            <a:pPr algn="just"/>
            <a:r>
              <a:rPr lang="es-ES" dirty="0"/>
              <a:t>Luego r=5</a:t>
            </a:r>
          </a:p>
          <a:p>
            <a:pPr algn="just"/>
            <a:endParaRPr lang="es-ES" dirty="0"/>
          </a:p>
          <a:p>
            <a:pPr algn="just"/>
            <a:r>
              <a:rPr lang="es-ES" dirty="0"/>
              <a:t>Etiqueta= s-r= 13 -5 = 8</a:t>
            </a:r>
          </a:p>
          <a:p>
            <a:pPr algn="just"/>
            <a:endParaRPr lang="es-ES" dirty="0"/>
          </a:p>
          <a:p>
            <a:pPr algn="just"/>
            <a:endParaRPr lang="es-ES" dirty="0"/>
          </a:p>
          <a:p>
            <a:pPr algn="just"/>
            <a:endParaRPr lang="es-ES" dirty="0"/>
          </a:p>
          <a:p>
            <a:pPr algn="just"/>
            <a:endParaRPr lang="es-ES" dirty="0"/>
          </a:p>
          <a:p>
            <a:pPr algn="just"/>
            <a:endParaRPr lang="es-ES" dirty="0"/>
          </a:p>
        </p:txBody>
      </p:sp>
    </p:spTree>
    <p:extLst>
      <p:ext uri="{BB962C8B-B14F-4D97-AF65-F5344CB8AC3E}">
        <p14:creationId xmlns:p14="http://schemas.microsoft.com/office/powerpoint/2010/main" val="954458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4" y="993026"/>
            <a:ext cx="6092355" cy="300082"/>
          </a:xfrm>
          <a:prstGeom prst="rect">
            <a:avLst/>
          </a:prstGeom>
          <a:noFill/>
        </p:spPr>
        <p:txBody>
          <a:bodyPr wrap="square">
            <a:spAutoFit/>
          </a:bodyPr>
          <a:lstStyle/>
          <a:p>
            <a:pPr algn="just"/>
            <a:r>
              <a:rPr lang="es-ES" b="1" u="sng" dirty="0"/>
              <a:t>Método de correspondencia directa (continuación) Otro ejemplo</a:t>
            </a:r>
          </a:p>
        </p:txBody>
      </p:sp>
      <p:pic>
        <p:nvPicPr>
          <p:cNvPr id="6" name="Imagen 5">
            <a:extLst>
              <a:ext uri="{FF2B5EF4-FFF2-40B4-BE49-F238E27FC236}">
                <a16:creationId xmlns:a16="http://schemas.microsoft.com/office/drawing/2014/main" id="{C55B1C73-D5A3-D127-A057-0DE594ACDA62}"/>
              </a:ext>
            </a:extLst>
          </p:cNvPr>
          <p:cNvPicPr>
            <a:picLocks noChangeAspect="1"/>
          </p:cNvPicPr>
          <p:nvPr/>
        </p:nvPicPr>
        <p:blipFill>
          <a:blip r:embed="rId3"/>
          <a:stretch>
            <a:fillRect/>
          </a:stretch>
        </p:blipFill>
        <p:spPr>
          <a:xfrm>
            <a:off x="1371601" y="1293108"/>
            <a:ext cx="4218090" cy="1589210"/>
          </a:xfrm>
          <a:prstGeom prst="rect">
            <a:avLst/>
          </a:prstGeom>
        </p:spPr>
      </p:pic>
      <p:sp>
        <p:nvSpPr>
          <p:cNvPr id="10" name="CuadroTexto 9">
            <a:extLst>
              <a:ext uri="{FF2B5EF4-FFF2-40B4-BE49-F238E27FC236}">
                <a16:creationId xmlns:a16="http://schemas.microsoft.com/office/drawing/2014/main" id="{0874AF6D-F127-C4DD-C369-623EE9D54846}"/>
              </a:ext>
            </a:extLst>
          </p:cNvPr>
          <p:cNvSpPr txBox="1"/>
          <p:nvPr/>
        </p:nvSpPr>
        <p:spPr>
          <a:xfrm>
            <a:off x="5301350" y="1793182"/>
            <a:ext cx="3725419" cy="4247317"/>
          </a:xfrm>
          <a:prstGeom prst="rect">
            <a:avLst/>
          </a:prstGeom>
          <a:noFill/>
        </p:spPr>
        <p:txBody>
          <a:bodyPr wrap="square" rtlCol="0">
            <a:spAutoFit/>
          </a:bodyPr>
          <a:lstStyle/>
          <a:p>
            <a:pPr algn="just"/>
            <a:r>
              <a:rPr lang="es-ES" dirty="0"/>
              <a:t>Tamaño del bloque 4 Bytes= 2</a:t>
            </a:r>
            <a:r>
              <a:rPr lang="es-ES" baseline="30000" dirty="0"/>
              <a:t>2 </a:t>
            </a:r>
            <a:r>
              <a:rPr lang="es-ES" dirty="0"/>
              <a:t>=&gt; w=2</a:t>
            </a:r>
          </a:p>
          <a:p>
            <a:pPr algn="just"/>
            <a:endParaRPr lang="es-ES" dirty="0"/>
          </a:p>
          <a:p>
            <a:pPr algn="just"/>
            <a:r>
              <a:rPr lang="es-ES" dirty="0"/>
              <a:t>Tamaño Caché = 64KB= 2</a:t>
            </a:r>
            <a:r>
              <a:rPr lang="es-ES" baseline="30000" dirty="0"/>
              <a:t>16 </a:t>
            </a:r>
            <a:r>
              <a:rPr lang="es-ES" dirty="0"/>
              <a:t>Bytes</a:t>
            </a:r>
          </a:p>
          <a:p>
            <a:pPr algn="just"/>
            <a:r>
              <a:rPr lang="es-ES" dirty="0"/>
              <a:t>Numero de marcos (líneas)= Tamaño cache/ Tamaño del bloque</a:t>
            </a:r>
          </a:p>
          <a:p>
            <a:pPr algn="just"/>
            <a:r>
              <a:rPr lang="es-ES" dirty="0"/>
              <a:t>numero de marcos (líneas) =2</a:t>
            </a:r>
            <a:r>
              <a:rPr lang="es-ES" baseline="30000" dirty="0"/>
              <a:t>16</a:t>
            </a:r>
            <a:r>
              <a:rPr lang="es-ES" dirty="0"/>
              <a:t>/</a:t>
            </a:r>
            <a:r>
              <a:rPr lang="es-ES" baseline="30000" dirty="0"/>
              <a:t> </a:t>
            </a:r>
            <a:r>
              <a:rPr lang="es-ES" dirty="0"/>
              <a:t>2</a:t>
            </a:r>
            <a:r>
              <a:rPr lang="es-ES" baseline="30000" dirty="0"/>
              <a:t>2 = </a:t>
            </a:r>
            <a:r>
              <a:rPr lang="es-ES" dirty="0"/>
              <a:t>2</a:t>
            </a:r>
            <a:r>
              <a:rPr lang="es-ES" baseline="30000" dirty="0"/>
              <a:t>14</a:t>
            </a:r>
          </a:p>
          <a:p>
            <a:pPr algn="just"/>
            <a:r>
              <a:rPr lang="es-ES" dirty="0"/>
              <a:t>Luego r=14</a:t>
            </a:r>
          </a:p>
          <a:p>
            <a:pPr algn="just"/>
            <a:endParaRPr lang="es-ES" dirty="0"/>
          </a:p>
          <a:p>
            <a:pPr algn="just"/>
            <a:endParaRPr lang="es-ES" dirty="0"/>
          </a:p>
          <a:p>
            <a:pPr algn="just"/>
            <a:r>
              <a:rPr lang="es-ES" dirty="0"/>
              <a:t>Tamaño </a:t>
            </a:r>
            <a:r>
              <a:rPr lang="es-ES" dirty="0" err="1"/>
              <a:t>Mp</a:t>
            </a:r>
            <a:r>
              <a:rPr lang="es-ES" dirty="0"/>
              <a:t>= 16MB= 2</a:t>
            </a:r>
            <a:r>
              <a:rPr lang="es-ES" baseline="30000" dirty="0"/>
              <a:t>24</a:t>
            </a:r>
            <a:r>
              <a:rPr lang="es-ES" dirty="0"/>
              <a:t> Bytes</a:t>
            </a:r>
          </a:p>
          <a:p>
            <a:pPr algn="just"/>
            <a:r>
              <a:rPr lang="es-ES" dirty="0"/>
              <a:t>Si cada bloque es de 4 Bytes tengo 2</a:t>
            </a:r>
            <a:r>
              <a:rPr lang="es-ES" baseline="30000" dirty="0"/>
              <a:t>24</a:t>
            </a:r>
            <a:r>
              <a:rPr lang="es-ES" dirty="0"/>
              <a:t>/</a:t>
            </a:r>
            <a:r>
              <a:rPr lang="es-ES" baseline="30000" dirty="0"/>
              <a:t> </a:t>
            </a:r>
            <a:r>
              <a:rPr lang="es-ES" dirty="0"/>
              <a:t>2</a:t>
            </a:r>
            <a:r>
              <a:rPr lang="es-ES" baseline="30000" dirty="0"/>
              <a:t>2 = </a:t>
            </a:r>
            <a:r>
              <a:rPr lang="es-ES" dirty="0"/>
              <a:t>2</a:t>
            </a:r>
            <a:r>
              <a:rPr lang="es-ES" baseline="30000" dirty="0"/>
              <a:t>22 </a:t>
            </a:r>
            <a:r>
              <a:rPr lang="es-ES" dirty="0"/>
              <a:t>Bloques en la RAM. s=22</a:t>
            </a:r>
          </a:p>
          <a:p>
            <a:pPr algn="just"/>
            <a:endParaRPr lang="es-ES" dirty="0"/>
          </a:p>
          <a:p>
            <a:pPr algn="just"/>
            <a:endParaRPr lang="es-ES" dirty="0"/>
          </a:p>
          <a:p>
            <a:pPr algn="just"/>
            <a:r>
              <a:rPr lang="es-ES" dirty="0"/>
              <a:t>Etiqueta= s-r= 22-14 = 8</a:t>
            </a:r>
          </a:p>
          <a:p>
            <a:pPr algn="just"/>
            <a:endParaRPr lang="es-ES" dirty="0"/>
          </a:p>
          <a:p>
            <a:pPr algn="just"/>
            <a:endParaRPr lang="es-ES" dirty="0"/>
          </a:p>
          <a:p>
            <a:pPr algn="just"/>
            <a:endParaRPr lang="es-ES" dirty="0"/>
          </a:p>
          <a:p>
            <a:pPr algn="just"/>
            <a:endParaRPr lang="es-ES" dirty="0"/>
          </a:p>
          <a:p>
            <a:pPr algn="just"/>
            <a:endParaRPr lang="es-ES" dirty="0"/>
          </a:p>
        </p:txBody>
      </p:sp>
      <p:pic>
        <p:nvPicPr>
          <p:cNvPr id="3" name="Imagen 2">
            <a:extLst>
              <a:ext uri="{FF2B5EF4-FFF2-40B4-BE49-F238E27FC236}">
                <a16:creationId xmlns:a16="http://schemas.microsoft.com/office/drawing/2014/main" id="{DE98AC92-28A1-C8B2-182F-160D411C7B2F}"/>
              </a:ext>
            </a:extLst>
          </p:cNvPr>
          <p:cNvPicPr>
            <a:picLocks noChangeAspect="1"/>
          </p:cNvPicPr>
          <p:nvPr/>
        </p:nvPicPr>
        <p:blipFill>
          <a:blip r:embed="rId4"/>
          <a:stretch>
            <a:fillRect/>
          </a:stretch>
        </p:blipFill>
        <p:spPr>
          <a:xfrm>
            <a:off x="1724169" y="3182400"/>
            <a:ext cx="3224614" cy="1010700"/>
          </a:xfrm>
          <a:prstGeom prst="rect">
            <a:avLst/>
          </a:prstGeom>
        </p:spPr>
      </p:pic>
    </p:spTree>
    <p:extLst>
      <p:ext uri="{BB962C8B-B14F-4D97-AF65-F5344CB8AC3E}">
        <p14:creationId xmlns:p14="http://schemas.microsoft.com/office/powerpoint/2010/main" val="2903323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2" name="Rectángulo 1">
            <a:extLst>
              <a:ext uri="{FF2B5EF4-FFF2-40B4-BE49-F238E27FC236}">
                <a16:creationId xmlns:a16="http://schemas.microsoft.com/office/drawing/2014/main" id="{6E73C61E-F7E2-43F7-855B-8AF9F3A748B8}"/>
              </a:ext>
            </a:extLst>
          </p:cNvPr>
          <p:cNvSpPr/>
          <p:nvPr/>
        </p:nvSpPr>
        <p:spPr>
          <a:xfrm>
            <a:off x="1776414" y="1675630"/>
            <a:ext cx="1505527" cy="230909"/>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Etiqueta</a:t>
            </a:r>
          </a:p>
        </p:txBody>
      </p:sp>
      <p:sp>
        <p:nvSpPr>
          <p:cNvPr id="5" name="Rectángulo 4">
            <a:extLst>
              <a:ext uri="{FF2B5EF4-FFF2-40B4-BE49-F238E27FC236}">
                <a16:creationId xmlns:a16="http://schemas.microsoft.com/office/drawing/2014/main" id="{69A574DC-F7C7-41F9-9B5C-9D309C9075E2}"/>
              </a:ext>
            </a:extLst>
          </p:cNvPr>
          <p:cNvSpPr/>
          <p:nvPr/>
        </p:nvSpPr>
        <p:spPr>
          <a:xfrm>
            <a:off x="3281942" y="1675630"/>
            <a:ext cx="794328" cy="230909"/>
          </a:xfrm>
          <a:prstGeom prst="rect">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Línea</a:t>
            </a:r>
          </a:p>
        </p:txBody>
      </p:sp>
      <p:sp>
        <p:nvSpPr>
          <p:cNvPr id="7" name="Rectángulo 6">
            <a:extLst>
              <a:ext uri="{FF2B5EF4-FFF2-40B4-BE49-F238E27FC236}">
                <a16:creationId xmlns:a16="http://schemas.microsoft.com/office/drawing/2014/main" id="{A2D9AA17-950A-4D89-9C0F-40A881266BBF}"/>
              </a:ext>
            </a:extLst>
          </p:cNvPr>
          <p:cNvSpPr/>
          <p:nvPr/>
        </p:nvSpPr>
        <p:spPr>
          <a:xfrm>
            <a:off x="4076270" y="1675630"/>
            <a:ext cx="768317" cy="230909"/>
          </a:xfrm>
          <a:prstGeom prst="rect">
            <a:avLst/>
          </a:prstGeom>
          <a:solidFill>
            <a:schemeClr val="accent1">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Palabra</a:t>
            </a:r>
          </a:p>
        </p:txBody>
      </p:sp>
      <p:sp>
        <p:nvSpPr>
          <p:cNvPr id="8" name="Rectángulo: esquinas redondeadas 7">
            <a:extLst>
              <a:ext uri="{FF2B5EF4-FFF2-40B4-BE49-F238E27FC236}">
                <a16:creationId xmlns:a16="http://schemas.microsoft.com/office/drawing/2014/main" id="{472463A3-E18A-4181-88E6-84894A19B59C}"/>
              </a:ext>
            </a:extLst>
          </p:cNvPr>
          <p:cNvSpPr/>
          <p:nvPr/>
        </p:nvSpPr>
        <p:spPr>
          <a:xfrm>
            <a:off x="1841070" y="2202102"/>
            <a:ext cx="4090986" cy="2400291"/>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57" name="Grupo 56">
            <a:extLst>
              <a:ext uri="{FF2B5EF4-FFF2-40B4-BE49-F238E27FC236}">
                <a16:creationId xmlns:a16="http://schemas.microsoft.com/office/drawing/2014/main" id="{9E086DEF-3780-491D-AB24-6B6DC500E9B6}"/>
              </a:ext>
            </a:extLst>
          </p:cNvPr>
          <p:cNvGrpSpPr/>
          <p:nvPr/>
        </p:nvGrpSpPr>
        <p:grpSpPr>
          <a:xfrm>
            <a:off x="3517009" y="2921009"/>
            <a:ext cx="2222751" cy="136663"/>
            <a:chOff x="4892012" y="2764507"/>
            <a:chExt cx="2222751" cy="136663"/>
          </a:xfrm>
        </p:grpSpPr>
        <p:sp>
          <p:nvSpPr>
            <p:cNvPr id="59" name="Rectángulo 58">
              <a:extLst>
                <a:ext uri="{FF2B5EF4-FFF2-40B4-BE49-F238E27FC236}">
                  <a16:creationId xmlns:a16="http://schemas.microsoft.com/office/drawing/2014/main" id="{A664751E-94CF-424A-B314-A1DA82E97116}"/>
                </a:ext>
              </a:extLst>
            </p:cNvPr>
            <p:cNvSpPr/>
            <p:nvPr/>
          </p:nvSpPr>
          <p:spPr>
            <a:xfrm>
              <a:off x="6005195"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1" name="Rectángulo 60">
              <a:extLst>
                <a:ext uri="{FF2B5EF4-FFF2-40B4-BE49-F238E27FC236}">
                  <a16:creationId xmlns:a16="http://schemas.microsoft.com/office/drawing/2014/main" id="{F0CC403B-8C74-43FA-A49E-4AF1C7A3788C}"/>
                </a:ext>
              </a:extLst>
            </p:cNvPr>
            <p:cNvSpPr/>
            <p:nvPr/>
          </p:nvSpPr>
          <p:spPr>
            <a:xfrm>
              <a:off x="6343126"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3" name="Rectángulo 62">
              <a:extLst>
                <a:ext uri="{FF2B5EF4-FFF2-40B4-BE49-F238E27FC236}">
                  <a16:creationId xmlns:a16="http://schemas.microsoft.com/office/drawing/2014/main" id="{109317B0-5B7B-42AF-B361-8D78AD692FA0}"/>
                </a:ext>
              </a:extLst>
            </p:cNvPr>
            <p:cNvSpPr/>
            <p:nvPr/>
          </p:nvSpPr>
          <p:spPr>
            <a:xfrm>
              <a:off x="5667264"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5" name="Rectángulo 64">
              <a:extLst>
                <a:ext uri="{FF2B5EF4-FFF2-40B4-BE49-F238E27FC236}">
                  <a16:creationId xmlns:a16="http://schemas.microsoft.com/office/drawing/2014/main" id="{AFA0BA2D-0497-43F5-8936-51A901DF8D11}"/>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7" name="Rectángulo 66">
              <a:extLst>
                <a:ext uri="{FF2B5EF4-FFF2-40B4-BE49-F238E27FC236}">
                  <a16:creationId xmlns:a16="http://schemas.microsoft.com/office/drawing/2014/main" id="{A5E38441-88E0-486B-A642-4A8D6A813999}"/>
                </a:ext>
              </a:extLst>
            </p:cNvPr>
            <p:cNvSpPr/>
            <p:nvPr/>
          </p:nvSpPr>
          <p:spPr>
            <a:xfrm>
              <a:off x="5329333"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9" name="Rectángulo 68">
              <a:extLst>
                <a:ext uri="{FF2B5EF4-FFF2-40B4-BE49-F238E27FC236}">
                  <a16:creationId xmlns:a16="http://schemas.microsoft.com/office/drawing/2014/main" id="{DFF56688-2D73-4A9A-A104-A62B04111767}"/>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71" name="Rectángulo 70">
              <a:extLst>
                <a:ext uri="{FF2B5EF4-FFF2-40B4-BE49-F238E27FC236}">
                  <a16:creationId xmlns:a16="http://schemas.microsoft.com/office/drawing/2014/main" id="{649E1AFA-B9EE-4CD6-A31D-0EC5E294F5D3}"/>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73" name="Rectángulo 72">
              <a:extLst>
                <a:ext uri="{FF2B5EF4-FFF2-40B4-BE49-F238E27FC236}">
                  <a16:creationId xmlns:a16="http://schemas.microsoft.com/office/drawing/2014/main" id="{38EFE5FE-741C-45F7-AB9C-F9B64DC6EA3A}"/>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sp>
        <p:nvSpPr>
          <p:cNvPr id="78" name="CuadroTexto 77">
            <a:extLst>
              <a:ext uri="{FF2B5EF4-FFF2-40B4-BE49-F238E27FC236}">
                <a16:creationId xmlns:a16="http://schemas.microsoft.com/office/drawing/2014/main" id="{275C193B-98F3-47A3-A8A4-FE3D5DD773C1}"/>
              </a:ext>
            </a:extLst>
          </p:cNvPr>
          <p:cNvSpPr txBox="1"/>
          <p:nvPr/>
        </p:nvSpPr>
        <p:spPr>
          <a:xfrm>
            <a:off x="3395104" y="2644916"/>
            <a:ext cx="663964" cy="261610"/>
          </a:xfrm>
          <a:prstGeom prst="rect">
            <a:avLst/>
          </a:prstGeom>
          <a:noFill/>
        </p:spPr>
        <p:txBody>
          <a:bodyPr wrap="none" rtlCol="0">
            <a:spAutoFit/>
          </a:bodyPr>
          <a:lstStyle/>
          <a:p>
            <a:r>
              <a:rPr lang="es-ES" sz="1100" dirty="0"/>
              <a:t>Etiqueta</a:t>
            </a:r>
          </a:p>
        </p:txBody>
      </p:sp>
      <p:sp>
        <p:nvSpPr>
          <p:cNvPr id="79" name="CuadroTexto 78">
            <a:extLst>
              <a:ext uri="{FF2B5EF4-FFF2-40B4-BE49-F238E27FC236}">
                <a16:creationId xmlns:a16="http://schemas.microsoft.com/office/drawing/2014/main" id="{3580A0D2-C739-47A1-A025-62B36C6A58EC}"/>
              </a:ext>
            </a:extLst>
          </p:cNvPr>
          <p:cNvSpPr txBox="1"/>
          <p:nvPr/>
        </p:nvSpPr>
        <p:spPr>
          <a:xfrm>
            <a:off x="4292261" y="2658043"/>
            <a:ext cx="787395" cy="261610"/>
          </a:xfrm>
          <a:prstGeom prst="rect">
            <a:avLst/>
          </a:prstGeom>
          <a:noFill/>
        </p:spPr>
        <p:txBody>
          <a:bodyPr wrap="none" rtlCol="0">
            <a:spAutoFit/>
          </a:bodyPr>
          <a:lstStyle/>
          <a:p>
            <a:r>
              <a:rPr lang="es-ES" sz="1100" dirty="0"/>
              <a:t>Línea (4 B)</a:t>
            </a:r>
          </a:p>
        </p:txBody>
      </p:sp>
      <p:sp>
        <p:nvSpPr>
          <p:cNvPr id="81" name="CuadroTexto 80">
            <a:extLst>
              <a:ext uri="{FF2B5EF4-FFF2-40B4-BE49-F238E27FC236}">
                <a16:creationId xmlns:a16="http://schemas.microsoft.com/office/drawing/2014/main" id="{F54E173E-6440-4D6F-849D-AF256265FA81}"/>
              </a:ext>
            </a:extLst>
          </p:cNvPr>
          <p:cNvSpPr txBox="1"/>
          <p:nvPr/>
        </p:nvSpPr>
        <p:spPr>
          <a:xfrm>
            <a:off x="3199326" y="2839299"/>
            <a:ext cx="272832" cy="300082"/>
          </a:xfrm>
          <a:prstGeom prst="rect">
            <a:avLst/>
          </a:prstGeom>
          <a:noFill/>
        </p:spPr>
        <p:txBody>
          <a:bodyPr wrap="none" rtlCol="0">
            <a:spAutoFit/>
          </a:bodyPr>
          <a:lstStyle/>
          <a:p>
            <a:r>
              <a:rPr lang="es-ES" dirty="0">
                <a:solidFill>
                  <a:schemeClr val="bg1">
                    <a:lumMod val="50000"/>
                  </a:schemeClr>
                </a:solidFill>
              </a:rPr>
              <a:t>0</a:t>
            </a:r>
          </a:p>
        </p:txBody>
      </p:sp>
      <p:sp>
        <p:nvSpPr>
          <p:cNvPr id="84" name="CuadroTexto 83">
            <a:extLst>
              <a:ext uri="{FF2B5EF4-FFF2-40B4-BE49-F238E27FC236}">
                <a16:creationId xmlns:a16="http://schemas.microsoft.com/office/drawing/2014/main" id="{80702DFE-6A04-4595-B107-54FF2007F253}"/>
              </a:ext>
            </a:extLst>
          </p:cNvPr>
          <p:cNvSpPr txBox="1"/>
          <p:nvPr/>
        </p:nvSpPr>
        <p:spPr>
          <a:xfrm>
            <a:off x="3205645" y="3070642"/>
            <a:ext cx="272832" cy="300082"/>
          </a:xfrm>
          <a:prstGeom prst="rect">
            <a:avLst/>
          </a:prstGeom>
          <a:noFill/>
        </p:spPr>
        <p:txBody>
          <a:bodyPr wrap="none" rtlCol="0">
            <a:spAutoFit/>
          </a:bodyPr>
          <a:lstStyle/>
          <a:p>
            <a:r>
              <a:rPr lang="es-ES" dirty="0">
                <a:solidFill>
                  <a:schemeClr val="bg1">
                    <a:lumMod val="50000"/>
                  </a:schemeClr>
                </a:solidFill>
              </a:rPr>
              <a:t>1</a:t>
            </a:r>
          </a:p>
        </p:txBody>
      </p:sp>
      <p:sp>
        <p:nvSpPr>
          <p:cNvPr id="86" name="CuadroTexto 85">
            <a:extLst>
              <a:ext uri="{FF2B5EF4-FFF2-40B4-BE49-F238E27FC236}">
                <a16:creationId xmlns:a16="http://schemas.microsoft.com/office/drawing/2014/main" id="{4D53BF2D-AF86-4EF7-96FB-0C3FA2B6A8ED}"/>
              </a:ext>
            </a:extLst>
          </p:cNvPr>
          <p:cNvSpPr txBox="1"/>
          <p:nvPr/>
        </p:nvSpPr>
        <p:spPr>
          <a:xfrm>
            <a:off x="3208938" y="3291671"/>
            <a:ext cx="272832" cy="300082"/>
          </a:xfrm>
          <a:prstGeom prst="rect">
            <a:avLst/>
          </a:prstGeom>
          <a:noFill/>
        </p:spPr>
        <p:txBody>
          <a:bodyPr wrap="none" rtlCol="0">
            <a:spAutoFit/>
          </a:bodyPr>
          <a:lstStyle/>
          <a:p>
            <a:r>
              <a:rPr lang="es-ES" dirty="0">
                <a:solidFill>
                  <a:schemeClr val="bg1">
                    <a:lumMod val="50000"/>
                  </a:schemeClr>
                </a:solidFill>
              </a:rPr>
              <a:t>2</a:t>
            </a:r>
          </a:p>
        </p:txBody>
      </p:sp>
      <p:sp>
        <p:nvSpPr>
          <p:cNvPr id="87" name="CuadroTexto 86">
            <a:extLst>
              <a:ext uri="{FF2B5EF4-FFF2-40B4-BE49-F238E27FC236}">
                <a16:creationId xmlns:a16="http://schemas.microsoft.com/office/drawing/2014/main" id="{E66B3C57-6495-4496-AED6-647A637B3CC4}"/>
              </a:ext>
            </a:extLst>
          </p:cNvPr>
          <p:cNvSpPr txBox="1"/>
          <p:nvPr/>
        </p:nvSpPr>
        <p:spPr>
          <a:xfrm>
            <a:off x="3110497" y="3738861"/>
            <a:ext cx="463588" cy="300082"/>
          </a:xfrm>
          <a:prstGeom prst="rect">
            <a:avLst/>
          </a:prstGeom>
          <a:noFill/>
        </p:spPr>
        <p:txBody>
          <a:bodyPr wrap="none" rtlCol="0">
            <a:spAutoFit/>
          </a:bodyPr>
          <a:lstStyle/>
          <a:p>
            <a:r>
              <a:rPr lang="es-ES" dirty="0">
                <a:solidFill>
                  <a:schemeClr val="bg1">
                    <a:lumMod val="50000"/>
                  </a:schemeClr>
                </a:solidFill>
              </a:rPr>
              <a:t>m-1</a:t>
            </a:r>
          </a:p>
        </p:txBody>
      </p:sp>
      <p:grpSp>
        <p:nvGrpSpPr>
          <p:cNvPr id="89" name="Grupo 88">
            <a:extLst>
              <a:ext uri="{FF2B5EF4-FFF2-40B4-BE49-F238E27FC236}">
                <a16:creationId xmlns:a16="http://schemas.microsoft.com/office/drawing/2014/main" id="{AEEA2556-E524-44FF-B637-82D8FABFAF86}"/>
              </a:ext>
            </a:extLst>
          </p:cNvPr>
          <p:cNvGrpSpPr/>
          <p:nvPr/>
        </p:nvGrpSpPr>
        <p:grpSpPr>
          <a:xfrm>
            <a:off x="3517009" y="3146088"/>
            <a:ext cx="2222751" cy="136663"/>
            <a:chOff x="4892012" y="2764507"/>
            <a:chExt cx="2222751" cy="136663"/>
          </a:xfrm>
        </p:grpSpPr>
        <p:sp>
          <p:nvSpPr>
            <p:cNvPr id="91" name="Rectángulo 90">
              <a:extLst>
                <a:ext uri="{FF2B5EF4-FFF2-40B4-BE49-F238E27FC236}">
                  <a16:creationId xmlns:a16="http://schemas.microsoft.com/office/drawing/2014/main" id="{825B6719-6369-4F11-A4C3-43974EAB589E}"/>
                </a:ext>
              </a:extLst>
            </p:cNvPr>
            <p:cNvSpPr/>
            <p:nvPr/>
          </p:nvSpPr>
          <p:spPr>
            <a:xfrm>
              <a:off x="6005195"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2" name="Rectángulo 91">
              <a:extLst>
                <a:ext uri="{FF2B5EF4-FFF2-40B4-BE49-F238E27FC236}">
                  <a16:creationId xmlns:a16="http://schemas.microsoft.com/office/drawing/2014/main" id="{2EAA3CDA-BA3E-4B50-B16D-F70484A62054}"/>
                </a:ext>
              </a:extLst>
            </p:cNvPr>
            <p:cNvSpPr/>
            <p:nvPr/>
          </p:nvSpPr>
          <p:spPr>
            <a:xfrm>
              <a:off x="6343126"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3" name="Rectángulo 92">
              <a:extLst>
                <a:ext uri="{FF2B5EF4-FFF2-40B4-BE49-F238E27FC236}">
                  <a16:creationId xmlns:a16="http://schemas.microsoft.com/office/drawing/2014/main" id="{16B88A43-CEA2-420D-B56D-2ACE1B181829}"/>
                </a:ext>
              </a:extLst>
            </p:cNvPr>
            <p:cNvSpPr/>
            <p:nvPr/>
          </p:nvSpPr>
          <p:spPr>
            <a:xfrm>
              <a:off x="5667264"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4" name="Rectángulo 93">
              <a:extLst>
                <a:ext uri="{FF2B5EF4-FFF2-40B4-BE49-F238E27FC236}">
                  <a16:creationId xmlns:a16="http://schemas.microsoft.com/office/drawing/2014/main" id="{11E4296F-9AD0-47A1-8367-CAB9F5395BC2}"/>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5" name="Rectángulo 94">
              <a:extLst>
                <a:ext uri="{FF2B5EF4-FFF2-40B4-BE49-F238E27FC236}">
                  <a16:creationId xmlns:a16="http://schemas.microsoft.com/office/drawing/2014/main" id="{839ADCE7-A954-4DB5-973F-A17E1C551821}"/>
                </a:ext>
              </a:extLst>
            </p:cNvPr>
            <p:cNvSpPr/>
            <p:nvPr/>
          </p:nvSpPr>
          <p:spPr>
            <a:xfrm>
              <a:off x="5329333"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6" name="Rectángulo 95">
              <a:extLst>
                <a:ext uri="{FF2B5EF4-FFF2-40B4-BE49-F238E27FC236}">
                  <a16:creationId xmlns:a16="http://schemas.microsoft.com/office/drawing/2014/main" id="{B136D547-62AC-4771-9DB6-34F2E6EA7138}"/>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7" name="Rectángulo 96">
              <a:extLst>
                <a:ext uri="{FF2B5EF4-FFF2-40B4-BE49-F238E27FC236}">
                  <a16:creationId xmlns:a16="http://schemas.microsoft.com/office/drawing/2014/main" id="{EE732719-A633-4594-A422-3A6DC919E8EA}"/>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8" name="Rectángulo 97">
              <a:extLst>
                <a:ext uri="{FF2B5EF4-FFF2-40B4-BE49-F238E27FC236}">
                  <a16:creationId xmlns:a16="http://schemas.microsoft.com/office/drawing/2014/main" id="{7734CFC3-53AD-42DC-94C1-A99678D01FD3}"/>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sp>
        <p:nvSpPr>
          <p:cNvPr id="100" name="Rectángulo 99">
            <a:extLst>
              <a:ext uri="{FF2B5EF4-FFF2-40B4-BE49-F238E27FC236}">
                <a16:creationId xmlns:a16="http://schemas.microsoft.com/office/drawing/2014/main" id="{B1F3AFAA-DF36-4973-8FF1-9524AA7526E8}"/>
              </a:ext>
            </a:extLst>
          </p:cNvPr>
          <p:cNvSpPr/>
          <p:nvPr/>
        </p:nvSpPr>
        <p:spPr>
          <a:xfrm>
            <a:off x="4630192" y="3383485"/>
            <a:ext cx="337931" cy="136663"/>
          </a:xfrm>
          <a:prstGeom prst="rect">
            <a:avLst/>
          </a:prstGeom>
          <a:solidFill>
            <a:schemeClr val="accent4">
              <a:lumMod val="60000"/>
              <a:lumOff val="4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1" name="Rectángulo 100">
            <a:extLst>
              <a:ext uri="{FF2B5EF4-FFF2-40B4-BE49-F238E27FC236}">
                <a16:creationId xmlns:a16="http://schemas.microsoft.com/office/drawing/2014/main" id="{ACB7A3A7-C759-4B69-AB47-6F4A821DDA8D}"/>
              </a:ext>
            </a:extLst>
          </p:cNvPr>
          <p:cNvSpPr/>
          <p:nvPr/>
        </p:nvSpPr>
        <p:spPr>
          <a:xfrm>
            <a:off x="4968123" y="3383485"/>
            <a:ext cx="337931" cy="136663"/>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2" name="Rectángulo 101">
            <a:extLst>
              <a:ext uri="{FF2B5EF4-FFF2-40B4-BE49-F238E27FC236}">
                <a16:creationId xmlns:a16="http://schemas.microsoft.com/office/drawing/2014/main" id="{DB6712D4-D6FC-472A-B017-AB63C67BDF3B}"/>
              </a:ext>
            </a:extLst>
          </p:cNvPr>
          <p:cNvSpPr/>
          <p:nvPr/>
        </p:nvSpPr>
        <p:spPr>
          <a:xfrm>
            <a:off x="4292261" y="3383485"/>
            <a:ext cx="337931" cy="136663"/>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3" name="Rectángulo 102">
            <a:extLst>
              <a:ext uri="{FF2B5EF4-FFF2-40B4-BE49-F238E27FC236}">
                <a16:creationId xmlns:a16="http://schemas.microsoft.com/office/drawing/2014/main" id="{AF5B3CA7-AE54-4409-941A-F40D03F4C11D}"/>
              </a:ext>
            </a:extLst>
          </p:cNvPr>
          <p:cNvSpPr/>
          <p:nvPr/>
        </p:nvSpPr>
        <p:spPr>
          <a:xfrm>
            <a:off x="3517009" y="3383485"/>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4" name="Rectángulo 103">
            <a:extLst>
              <a:ext uri="{FF2B5EF4-FFF2-40B4-BE49-F238E27FC236}">
                <a16:creationId xmlns:a16="http://schemas.microsoft.com/office/drawing/2014/main" id="{65B6B7AF-3243-4CB9-925B-00A90F2D0640}"/>
              </a:ext>
            </a:extLst>
          </p:cNvPr>
          <p:cNvSpPr/>
          <p:nvPr/>
        </p:nvSpPr>
        <p:spPr>
          <a:xfrm>
            <a:off x="3954330" y="3383485"/>
            <a:ext cx="337931" cy="136663"/>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5" name="Rectángulo 104">
            <a:extLst>
              <a:ext uri="{FF2B5EF4-FFF2-40B4-BE49-F238E27FC236}">
                <a16:creationId xmlns:a16="http://schemas.microsoft.com/office/drawing/2014/main" id="{D83D805D-C93E-4213-BBB2-6CF64097807B}"/>
              </a:ext>
            </a:extLst>
          </p:cNvPr>
          <p:cNvSpPr/>
          <p:nvPr/>
        </p:nvSpPr>
        <p:spPr>
          <a:xfrm>
            <a:off x="5323220" y="3383485"/>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6" name="Rectángulo 105">
            <a:extLst>
              <a:ext uri="{FF2B5EF4-FFF2-40B4-BE49-F238E27FC236}">
                <a16:creationId xmlns:a16="http://schemas.microsoft.com/office/drawing/2014/main" id="{7C922FAD-5730-4296-B70E-B6882A562848}"/>
              </a:ext>
            </a:extLst>
          </p:cNvPr>
          <p:cNvSpPr/>
          <p:nvPr/>
        </p:nvSpPr>
        <p:spPr>
          <a:xfrm>
            <a:off x="5455139" y="3383485"/>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7" name="Rectángulo 106">
            <a:extLst>
              <a:ext uri="{FF2B5EF4-FFF2-40B4-BE49-F238E27FC236}">
                <a16:creationId xmlns:a16="http://schemas.microsoft.com/office/drawing/2014/main" id="{CC73FB25-68D3-4671-A99E-205338676344}"/>
              </a:ext>
            </a:extLst>
          </p:cNvPr>
          <p:cNvSpPr/>
          <p:nvPr/>
        </p:nvSpPr>
        <p:spPr>
          <a:xfrm>
            <a:off x="5624104" y="3383485"/>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nvGrpSpPr>
          <p:cNvPr id="108" name="Grupo 107">
            <a:extLst>
              <a:ext uri="{FF2B5EF4-FFF2-40B4-BE49-F238E27FC236}">
                <a16:creationId xmlns:a16="http://schemas.microsoft.com/office/drawing/2014/main" id="{492FAAF9-0444-4849-9D4A-5DE644EECBC2}"/>
              </a:ext>
            </a:extLst>
          </p:cNvPr>
          <p:cNvGrpSpPr/>
          <p:nvPr/>
        </p:nvGrpSpPr>
        <p:grpSpPr>
          <a:xfrm>
            <a:off x="3518816" y="3839595"/>
            <a:ext cx="2222751" cy="136663"/>
            <a:chOff x="4892012" y="2764507"/>
            <a:chExt cx="2222751" cy="136663"/>
          </a:xfrm>
        </p:grpSpPr>
        <p:sp>
          <p:nvSpPr>
            <p:cNvPr id="109" name="Rectángulo 108">
              <a:extLst>
                <a:ext uri="{FF2B5EF4-FFF2-40B4-BE49-F238E27FC236}">
                  <a16:creationId xmlns:a16="http://schemas.microsoft.com/office/drawing/2014/main" id="{354947D4-C655-4928-8201-2FF38B659DD5}"/>
                </a:ext>
              </a:extLst>
            </p:cNvPr>
            <p:cNvSpPr/>
            <p:nvPr/>
          </p:nvSpPr>
          <p:spPr>
            <a:xfrm>
              <a:off x="6005195"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0" name="Rectángulo 109">
              <a:extLst>
                <a:ext uri="{FF2B5EF4-FFF2-40B4-BE49-F238E27FC236}">
                  <a16:creationId xmlns:a16="http://schemas.microsoft.com/office/drawing/2014/main" id="{24CBA1B0-A9BB-41D5-909E-C7270F5B0D88}"/>
                </a:ext>
              </a:extLst>
            </p:cNvPr>
            <p:cNvSpPr/>
            <p:nvPr/>
          </p:nvSpPr>
          <p:spPr>
            <a:xfrm>
              <a:off x="6343126"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1" name="Rectángulo 110">
              <a:extLst>
                <a:ext uri="{FF2B5EF4-FFF2-40B4-BE49-F238E27FC236}">
                  <a16:creationId xmlns:a16="http://schemas.microsoft.com/office/drawing/2014/main" id="{E53B3DED-D83B-4262-850B-E25D2E711DF9}"/>
                </a:ext>
              </a:extLst>
            </p:cNvPr>
            <p:cNvSpPr/>
            <p:nvPr/>
          </p:nvSpPr>
          <p:spPr>
            <a:xfrm>
              <a:off x="5667264"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2" name="Rectángulo 111">
              <a:extLst>
                <a:ext uri="{FF2B5EF4-FFF2-40B4-BE49-F238E27FC236}">
                  <a16:creationId xmlns:a16="http://schemas.microsoft.com/office/drawing/2014/main" id="{CC55A234-FC77-4839-8767-35CA778CF2B4}"/>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3" name="Rectángulo 112">
              <a:extLst>
                <a:ext uri="{FF2B5EF4-FFF2-40B4-BE49-F238E27FC236}">
                  <a16:creationId xmlns:a16="http://schemas.microsoft.com/office/drawing/2014/main" id="{483CE48E-AEC7-4742-896B-3A67A577056A}"/>
                </a:ext>
              </a:extLst>
            </p:cNvPr>
            <p:cNvSpPr/>
            <p:nvPr/>
          </p:nvSpPr>
          <p:spPr>
            <a:xfrm>
              <a:off x="5329333"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4" name="Rectángulo 113">
              <a:extLst>
                <a:ext uri="{FF2B5EF4-FFF2-40B4-BE49-F238E27FC236}">
                  <a16:creationId xmlns:a16="http://schemas.microsoft.com/office/drawing/2014/main" id="{C9D93E0B-EAEC-4082-903B-7637660C5392}"/>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5" name="Rectángulo 114">
              <a:extLst>
                <a:ext uri="{FF2B5EF4-FFF2-40B4-BE49-F238E27FC236}">
                  <a16:creationId xmlns:a16="http://schemas.microsoft.com/office/drawing/2014/main" id="{41BBE793-F125-4DBE-83BD-8F87BDE1E62C}"/>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6" name="Rectángulo 115">
              <a:extLst>
                <a:ext uri="{FF2B5EF4-FFF2-40B4-BE49-F238E27FC236}">
                  <a16:creationId xmlns:a16="http://schemas.microsoft.com/office/drawing/2014/main" id="{5914C137-3D21-4EC2-ABA7-60F761186D22}"/>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sp>
        <p:nvSpPr>
          <p:cNvPr id="9" name="Rectángulo 8">
            <a:extLst>
              <a:ext uri="{FF2B5EF4-FFF2-40B4-BE49-F238E27FC236}">
                <a16:creationId xmlns:a16="http://schemas.microsoft.com/office/drawing/2014/main" id="{A43C449B-124B-4082-9D00-C3EB5807EBC4}"/>
              </a:ext>
            </a:extLst>
          </p:cNvPr>
          <p:cNvSpPr/>
          <p:nvPr/>
        </p:nvSpPr>
        <p:spPr>
          <a:xfrm>
            <a:off x="2011171" y="2491901"/>
            <a:ext cx="1076622" cy="615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Comparador</a:t>
            </a:r>
          </a:p>
        </p:txBody>
      </p:sp>
      <p:cxnSp>
        <p:nvCxnSpPr>
          <p:cNvPr id="29" name="Conector recto 28">
            <a:extLst>
              <a:ext uri="{FF2B5EF4-FFF2-40B4-BE49-F238E27FC236}">
                <a16:creationId xmlns:a16="http://schemas.microsoft.com/office/drawing/2014/main" id="{8A1AAF9B-EFC9-4CEC-B778-1F2882251A12}"/>
              </a:ext>
            </a:extLst>
          </p:cNvPr>
          <p:cNvCxnSpPr/>
          <p:nvPr/>
        </p:nvCxnSpPr>
        <p:spPr>
          <a:xfrm>
            <a:off x="2654638" y="1906539"/>
            <a:ext cx="0" cy="585362"/>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7" name="Conector recto 116">
            <a:extLst>
              <a:ext uri="{FF2B5EF4-FFF2-40B4-BE49-F238E27FC236}">
                <a16:creationId xmlns:a16="http://schemas.microsoft.com/office/drawing/2014/main" id="{E5E32BD3-A7A2-46D4-82FF-8EA222C7B86C}"/>
              </a:ext>
            </a:extLst>
          </p:cNvPr>
          <p:cNvCxnSpPr>
            <a:cxnSpLocks/>
          </p:cNvCxnSpPr>
          <p:nvPr/>
        </p:nvCxnSpPr>
        <p:spPr>
          <a:xfrm>
            <a:off x="2807038" y="2108199"/>
            <a:ext cx="0" cy="383702"/>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8" name="Conector recto 117">
            <a:extLst>
              <a:ext uri="{FF2B5EF4-FFF2-40B4-BE49-F238E27FC236}">
                <a16:creationId xmlns:a16="http://schemas.microsoft.com/office/drawing/2014/main" id="{332464F8-D0E1-498F-A48D-D8C3B024D4B0}"/>
              </a:ext>
            </a:extLst>
          </p:cNvPr>
          <p:cNvCxnSpPr>
            <a:cxnSpLocks/>
          </p:cNvCxnSpPr>
          <p:nvPr/>
        </p:nvCxnSpPr>
        <p:spPr>
          <a:xfrm flipH="1">
            <a:off x="2807038" y="2108199"/>
            <a:ext cx="719668" cy="0"/>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9" name="Conector recto 118">
            <a:extLst>
              <a:ext uri="{FF2B5EF4-FFF2-40B4-BE49-F238E27FC236}">
                <a16:creationId xmlns:a16="http://schemas.microsoft.com/office/drawing/2014/main" id="{6B375347-E545-41D1-B3AA-657DBE9D9A9C}"/>
              </a:ext>
            </a:extLst>
          </p:cNvPr>
          <p:cNvCxnSpPr>
            <a:cxnSpLocks/>
          </p:cNvCxnSpPr>
          <p:nvPr/>
        </p:nvCxnSpPr>
        <p:spPr>
          <a:xfrm>
            <a:off x="3526706" y="1916348"/>
            <a:ext cx="0" cy="191851"/>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EE166E3E-D5C6-4031-B507-5AE61EC6388B}"/>
              </a:ext>
            </a:extLst>
          </p:cNvPr>
          <p:cNvCxnSpPr>
            <a:cxnSpLocks/>
          </p:cNvCxnSpPr>
          <p:nvPr/>
        </p:nvCxnSpPr>
        <p:spPr>
          <a:xfrm flipH="1">
            <a:off x="2654638" y="3441712"/>
            <a:ext cx="91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DCF967D7-F4FB-4A31-9E36-054CFCF9134A}"/>
              </a:ext>
            </a:extLst>
          </p:cNvPr>
          <p:cNvCxnSpPr/>
          <p:nvPr/>
        </p:nvCxnSpPr>
        <p:spPr>
          <a:xfrm flipV="1">
            <a:off x="2654638" y="3107583"/>
            <a:ext cx="0" cy="334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Conector recto de flecha 119">
            <a:extLst>
              <a:ext uri="{FF2B5EF4-FFF2-40B4-BE49-F238E27FC236}">
                <a16:creationId xmlns:a16="http://schemas.microsoft.com/office/drawing/2014/main" id="{5C77D8A6-E2C0-49E5-90FB-A1B64309F286}"/>
              </a:ext>
            </a:extLst>
          </p:cNvPr>
          <p:cNvCxnSpPr>
            <a:cxnSpLocks/>
          </p:cNvCxnSpPr>
          <p:nvPr/>
        </p:nvCxnSpPr>
        <p:spPr>
          <a:xfrm>
            <a:off x="2307505" y="3107583"/>
            <a:ext cx="0" cy="12995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CuadroTexto 120">
            <a:extLst>
              <a:ext uri="{FF2B5EF4-FFF2-40B4-BE49-F238E27FC236}">
                <a16:creationId xmlns:a16="http://schemas.microsoft.com/office/drawing/2014/main" id="{F4767084-8C79-47BB-813F-EB437CA1FB09}"/>
              </a:ext>
            </a:extLst>
          </p:cNvPr>
          <p:cNvSpPr txBox="1"/>
          <p:nvPr/>
        </p:nvSpPr>
        <p:spPr>
          <a:xfrm>
            <a:off x="2492790" y="4242734"/>
            <a:ext cx="489045" cy="300082"/>
          </a:xfrm>
          <a:prstGeom prst="rect">
            <a:avLst/>
          </a:prstGeom>
          <a:noFill/>
        </p:spPr>
        <p:txBody>
          <a:bodyPr wrap="none" rtlCol="0">
            <a:spAutoFit/>
          </a:bodyPr>
          <a:lstStyle/>
          <a:p>
            <a:r>
              <a:rPr lang="es-ES" dirty="0">
                <a:solidFill>
                  <a:srgbClr val="FF0000"/>
                </a:solidFill>
              </a:rPr>
              <a:t>fallo</a:t>
            </a:r>
          </a:p>
        </p:txBody>
      </p:sp>
      <p:cxnSp>
        <p:nvCxnSpPr>
          <p:cNvPr id="123" name="Conector recto 122">
            <a:extLst>
              <a:ext uri="{FF2B5EF4-FFF2-40B4-BE49-F238E27FC236}">
                <a16:creationId xmlns:a16="http://schemas.microsoft.com/office/drawing/2014/main" id="{02C9CA61-5296-4CEE-8472-F90A2C659AB3}"/>
              </a:ext>
            </a:extLst>
          </p:cNvPr>
          <p:cNvCxnSpPr>
            <a:stCxn id="9" idx="2"/>
          </p:cNvCxnSpPr>
          <p:nvPr/>
        </p:nvCxnSpPr>
        <p:spPr>
          <a:xfrm>
            <a:off x="2549482" y="3107583"/>
            <a:ext cx="0" cy="631278"/>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Conector recto 123">
            <a:extLst>
              <a:ext uri="{FF2B5EF4-FFF2-40B4-BE49-F238E27FC236}">
                <a16:creationId xmlns:a16="http://schemas.microsoft.com/office/drawing/2014/main" id="{819F32DC-EA59-4D87-AE55-11E6D1030269}"/>
              </a:ext>
            </a:extLst>
          </p:cNvPr>
          <p:cNvCxnSpPr>
            <a:cxnSpLocks/>
          </p:cNvCxnSpPr>
          <p:nvPr/>
        </p:nvCxnSpPr>
        <p:spPr>
          <a:xfrm>
            <a:off x="2553973" y="3738861"/>
            <a:ext cx="2245184"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Conector recto de flecha 128">
            <a:extLst>
              <a:ext uri="{FF2B5EF4-FFF2-40B4-BE49-F238E27FC236}">
                <a16:creationId xmlns:a16="http://schemas.microsoft.com/office/drawing/2014/main" id="{8B758CB0-7E63-4CD9-B15F-8966CAECF517}"/>
              </a:ext>
            </a:extLst>
          </p:cNvPr>
          <p:cNvCxnSpPr>
            <a:cxnSpLocks/>
            <a:endCxn id="100" idx="2"/>
          </p:cNvCxnSpPr>
          <p:nvPr/>
        </p:nvCxnSpPr>
        <p:spPr>
          <a:xfrm flipH="1" flipV="1">
            <a:off x="4799158" y="3520148"/>
            <a:ext cx="8466" cy="218714"/>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2" name="CuadroTexto 131">
            <a:extLst>
              <a:ext uri="{FF2B5EF4-FFF2-40B4-BE49-F238E27FC236}">
                <a16:creationId xmlns:a16="http://schemas.microsoft.com/office/drawing/2014/main" id="{6E32E94D-8070-4C1C-9FF9-1CECC3A4D629}"/>
              </a:ext>
            </a:extLst>
          </p:cNvPr>
          <p:cNvSpPr txBox="1"/>
          <p:nvPr/>
        </p:nvSpPr>
        <p:spPr>
          <a:xfrm>
            <a:off x="2529177" y="3477620"/>
            <a:ext cx="676724" cy="300082"/>
          </a:xfrm>
          <a:prstGeom prst="rect">
            <a:avLst/>
          </a:prstGeom>
          <a:noFill/>
        </p:spPr>
        <p:txBody>
          <a:bodyPr wrap="none" rtlCol="0">
            <a:spAutoFit/>
          </a:bodyPr>
          <a:lstStyle/>
          <a:p>
            <a:r>
              <a:rPr lang="es-ES" dirty="0">
                <a:solidFill>
                  <a:srgbClr val="00B050"/>
                </a:solidFill>
              </a:rPr>
              <a:t>acierto</a:t>
            </a:r>
          </a:p>
        </p:txBody>
      </p:sp>
      <p:sp>
        <p:nvSpPr>
          <p:cNvPr id="134" name="CuadroTexto 133">
            <a:extLst>
              <a:ext uri="{FF2B5EF4-FFF2-40B4-BE49-F238E27FC236}">
                <a16:creationId xmlns:a16="http://schemas.microsoft.com/office/drawing/2014/main" id="{4A52B284-4278-4B2A-9158-2B65AFE22167}"/>
              </a:ext>
            </a:extLst>
          </p:cNvPr>
          <p:cNvSpPr txBox="1"/>
          <p:nvPr/>
        </p:nvSpPr>
        <p:spPr>
          <a:xfrm>
            <a:off x="6345135" y="1791260"/>
            <a:ext cx="2360355" cy="3208571"/>
          </a:xfrm>
          <a:prstGeom prst="rect">
            <a:avLst/>
          </a:prstGeom>
          <a:noFill/>
        </p:spPr>
        <p:txBody>
          <a:bodyPr wrap="square" rtlCol="0">
            <a:spAutoFit/>
          </a:bodyPr>
          <a:lstStyle/>
          <a:p>
            <a:pPr algn="just"/>
            <a:r>
              <a:rPr lang="es-ES" dirty="0"/>
              <a:t>La circuitería es muy simple. Un circuito compara el contenido del campo Etiqueta de la línea indicada en la dirección de memoria con el propio contenido de Etiqueta en dicha dirección. Si son diferentes, el bloque no está cargado, se genera un fallo y otro circuito (que no incluimos) se encarga de actualizar la línea. Si hay acierto se selecciona la palabra que indican los bits de menos peso de la dirección.</a:t>
            </a:r>
          </a:p>
        </p:txBody>
      </p:sp>
      <p:sp>
        <p:nvSpPr>
          <p:cNvPr id="136" name="CuadroTexto 135">
            <a:extLst>
              <a:ext uri="{FF2B5EF4-FFF2-40B4-BE49-F238E27FC236}">
                <a16:creationId xmlns:a16="http://schemas.microsoft.com/office/drawing/2014/main" id="{784F1142-6940-4905-B967-2A8FA4C5E6AB}"/>
              </a:ext>
            </a:extLst>
          </p:cNvPr>
          <p:cNvSpPr txBox="1"/>
          <p:nvPr/>
        </p:nvSpPr>
        <p:spPr>
          <a:xfrm>
            <a:off x="4661789" y="4257064"/>
            <a:ext cx="612668" cy="300082"/>
          </a:xfrm>
          <a:prstGeom prst="rect">
            <a:avLst/>
          </a:prstGeom>
          <a:noFill/>
        </p:spPr>
        <p:txBody>
          <a:bodyPr wrap="none" rtlCol="0">
            <a:spAutoFit/>
          </a:bodyPr>
          <a:lstStyle/>
          <a:p>
            <a:r>
              <a:rPr lang="es-ES" b="1" dirty="0"/>
              <a:t>Caché</a:t>
            </a:r>
          </a:p>
        </p:txBody>
      </p:sp>
      <p:sp>
        <p:nvSpPr>
          <p:cNvPr id="138" name="CuadroTexto 137">
            <a:extLst>
              <a:ext uri="{FF2B5EF4-FFF2-40B4-BE49-F238E27FC236}">
                <a16:creationId xmlns:a16="http://schemas.microsoft.com/office/drawing/2014/main" id="{BD5484F2-AB28-4D1F-9D39-E000ADE6B787}"/>
              </a:ext>
            </a:extLst>
          </p:cNvPr>
          <p:cNvSpPr txBox="1"/>
          <p:nvPr/>
        </p:nvSpPr>
        <p:spPr>
          <a:xfrm>
            <a:off x="1680045" y="1339276"/>
            <a:ext cx="1738874" cy="300082"/>
          </a:xfrm>
          <a:prstGeom prst="rect">
            <a:avLst/>
          </a:prstGeom>
          <a:noFill/>
        </p:spPr>
        <p:txBody>
          <a:bodyPr wrap="none" rtlCol="0">
            <a:spAutoFit/>
          </a:bodyPr>
          <a:lstStyle/>
          <a:p>
            <a:r>
              <a:rPr lang="es-ES" dirty="0"/>
              <a:t>Dirección de memoria</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5" y="993026"/>
            <a:ext cx="4576232" cy="300082"/>
          </a:xfrm>
          <a:prstGeom prst="rect">
            <a:avLst/>
          </a:prstGeom>
          <a:noFill/>
        </p:spPr>
        <p:txBody>
          <a:bodyPr wrap="square">
            <a:spAutoFit/>
          </a:bodyPr>
          <a:lstStyle/>
          <a:p>
            <a:pPr algn="just"/>
            <a:r>
              <a:rPr lang="es-ES" b="1" u="sng" dirty="0"/>
              <a:t>Método de correspondencia directa (continuación)</a:t>
            </a:r>
          </a:p>
        </p:txBody>
      </p:sp>
    </p:spTree>
    <p:extLst>
      <p:ext uri="{BB962C8B-B14F-4D97-AF65-F5344CB8AC3E}">
        <p14:creationId xmlns:p14="http://schemas.microsoft.com/office/powerpoint/2010/main" val="1255660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78A73641-25CA-4B08-8BD0-EC179858EDD2}"/>
              </a:ext>
            </a:extLst>
          </p:cNvPr>
          <p:cNvSpPr/>
          <p:nvPr/>
        </p:nvSpPr>
        <p:spPr>
          <a:xfrm>
            <a:off x="6925732" y="4174613"/>
            <a:ext cx="528559" cy="474134"/>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4FB2BA4E-302A-42C4-B456-1261F27136F2}"/>
              </a:ext>
            </a:extLst>
          </p:cNvPr>
          <p:cNvSpPr/>
          <p:nvPr/>
        </p:nvSpPr>
        <p:spPr>
          <a:xfrm>
            <a:off x="6925732" y="3217333"/>
            <a:ext cx="528559" cy="47413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5" y="993026"/>
            <a:ext cx="4576232" cy="300082"/>
          </a:xfrm>
          <a:prstGeom prst="rect">
            <a:avLst/>
          </a:prstGeom>
          <a:noFill/>
        </p:spPr>
        <p:txBody>
          <a:bodyPr wrap="square">
            <a:spAutoFit/>
          </a:bodyPr>
          <a:lstStyle/>
          <a:p>
            <a:pPr algn="just"/>
            <a:r>
              <a:rPr lang="es-ES" b="1" u="sng" dirty="0"/>
              <a:t>Método de correspondencia directa (continuación)</a:t>
            </a:r>
          </a:p>
        </p:txBody>
      </p:sp>
      <p:sp>
        <p:nvSpPr>
          <p:cNvPr id="3" name="CuadroTexto 2">
            <a:extLst>
              <a:ext uri="{FF2B5EF4-FFF2-40B4-BE49-F238E27FC236}">
                <a16:creationId xmlns:a16="http://schemas.microsoft.com/office/drawing/2014/main" id="{4FFE3FA1-3BE7-456B-A818-D4D684283BC7}"/>
              </a:ext>
            </a:extLst>
          </p:cNvPr>
          <p:cNvSpPr txBox="1"/>
          <p:nvPr/>
        </p:nvSpPr>
        <p:spPr>
          <a:xfrm>
            <a:off x="1704450" y="1575824"/>
            <a:ext cx="7025578" cy="1338828"/>
          </a:xfrm>
          <a:prstGeom prst="rect">
            <a:avLst/>
          </a:prstGeom>
          <a:noFill/>
        </p:spPr>
        <p:txBody>
          <a:bodyPr wrap="none" rtlCol="0">
            <a:spAutoFit/>
          </a:bodyPr>
          <a:lstStyle/>
          <a:p>
            <a:pPr algn="just"/>
            <a:r>
              <a:rPr lang="es-ES" dirty="0"/>
              <a:t>Inconvenientes del método:</a:t>
            </a:r>
          </a:p>
          <a:p>
            <a:pPr algn="just"/>
            <a:endParaRPr lang="es-ES" dirty="0"/>
          </a:p>
          <a:p>
            <a:pPr marL="285750" indent="-285750" algn="just">
              <a:buFont typeface="Arial" panose="020B0604020202020204" pitchFamily="34" charset="0"/>
              <a:buChar char="•"/>
            </a:pPr>
            <a:r>
              <a:rPr lang="es-ES" dirty="0"/>
              <a:t>Puede haber líneas que no se usan mientras otras se están actualizando continuamente.</a:t>
            </a:r>
          </a:p>
          <a:p>
            <a:pPr marL="285750" indent="-285750" algn="just">
              <a:buFont typeface="Arial" panose="020B0604020202020204" pitchFamily="34" charset="0"/>
              <a:buChar char="•"/>
            </a:pPr>
            <a:r>
              <a:rPr lang="es-ES" i="1" dirty="0" err="1"/>
              <a:t>Thrashing</a:t>
            </a:r>
            <a:r>
              <a:rPr lang="es-ES" dirty="0"/>
              <a:t>. Si tenemos mala suerte, un programa puede entrar en un bucle que accede a</a:t>
            </a:r>
            <a:br>
              <a:rPr lang="es-ES" dirty="0"/>
            </a:br>
            <a:r>
              <a:rPr lang="es-ES" dirty="0"/>
              <a:t>dos bloques que se instancian en la misma línea. La caché produciría fallos de forma continua</a:t>
            </a:r>
            <a:br>
              <a:rPr lang="es-ES" dirty="0"/>
            </a:br>
            <a:r>
              <a:rPr lang="es-ES" dirty="0"/>
              <a:t>degradando en gran medida el tiempo de acceso.</a:t>
            </a:r>
          </a:p>
        </p:txBody>
      </p:sp>
      <p:sp>
        <p:nvSpPr>
          <p:cNvPr id="11" name="Rectángulo 10">
            <a:extLst>
              <a:ext uri="{FF2B5EF4-FFF2-40B4-BE49-F238E27FC236}">
                <a16:creationId xmlns:a16="http://schemas.microsoft.com/office/drawing/2014/main" id="{A6A21638-E624-4B30-AA2B-B3D86EC3BE37}"/>
              </a:ext>
            </a:extLst>
          </p:cNvPr>
          <p:cNvSpPr/>
          <p:nvPr/>
        </p:nvSpPr>
        <p:spPr>
          <a:xfrm>
            <a:off x="4174066" y="3338450"/>
            <a:ext cx="626534" cy="5080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lumMod val="95000"/>
                    <a:lumOff val="5000"/>
                  </a:schemeClr>
                </a:solidFill>
              </a:rPr>
              <a:t>CPU</a:t>
            </a:r>
          </a:p>
        </p:txBody>
      </p:sp>
      <p:sp>
        <p:nvSpPr>
          <p:cNvPr id="12" name="Rectángulo 11">
            <a:extLst>
              <a:ext uri="{FF2B5EF4-FFF2-40B4-BE49-F238E27FC236}">
                <a16:creationId xmlns:a16="http://schemas.microsoft.com/office/drawing/2014/main" id="{48CB2338-BBFD-4C4D-8EE2-F0DC2C1AAB42}"/>
              </a:ext>
            </a:extLst>
          </p:cNvPr>
          <p:cNvSpPr/>
          <p:nvPr/>
        </p:nvSpPr>
        <p:spPr>
          <a:xfrm>
            <a:off x="5301349" y="3895761"/>
            <a:ext cx="1057117" cy="557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lumMod val="95000"/>
                  <a:lumOff val="5000"/>
                </a:schemeClr>
              </a:solidFill>
            </a:endParaRPr>
          </a:p>
        </p:txBody>
      </p:sp>
      <p:sp>
        <p:nvSpPr>
          <p:cNvPr id="13" name="CuadroTexto 12">
            <a:extLst>
              <a:ext uri="{FF2B5EF4-FFF2-40B4-BE49-F238E27FC236}">
                <a16:creationId xmlns:a16="http://schemas.microsoft.com/office/drawing/2014/main" id="{F65922B4-4EDC-474C-9A7E-A7BFF8062207}"/>
              </a:ext>
            </a:extLst>
          </p:cNvPr>
          <p:cNvSpPr txBox="1"/>
          <p:nvPr/>
        </p:nvSpPr>
        <p:spPr>
          <a:xfrm>
            <a:off x="5217239" y="3566322"/>
            <a:ext cx="612668" cy="300082"/>
          </a:xfrm>
          <a:prstGeom prst="rect">
            <a:avLst/>
          </a:prstGeom>
          <a:noFill/>
        </p:spPr>
        <p:txBody>
          <a:bodyPr wrap="none" rtlCol="0">
            <a:spAutoFit/>
          </a:bodyPr>
          <a:lstStyle/>
          <a:p>
            <a:r>
              <a:rPr lang="es-ES" b="1" dirty="0"/>
              <a:t>Caché</a:t>
            </a:r>
          </a:p>
        </p:txBody>
      </p:sp>
      <p:grpSp>
        <p:nvGrpSpPr>
          <p:cNvPr id="72" name="Grupo 71">
            <a:extLst>
              <a:ext uri="{FF2B5EF4-FFF2-40B4-BE49-F238E27FC236}">
                <a16:creationId xmlns:a16="http://schemas.microsoft.com/office/drawing/2014/main" id="{BDEE798D-1842-4331-BFDF-89CF1A7D0C02}"/>
              </a:ext>
            </a:extLst>
          </p:cNvPr>
          <p:cNvGrpSpPr/>
          <p:nvPr/>
        </p:nvGrpSpPr>
        <p:grpSpPr>
          <a:xfrm>
            <a:off x="5736123" y="3985226"/>
            <a:ext cx="414867" cy="352290"/>
            <a:chOff x="3214413" y="1315982"/>
            <a:chExt cx="840828" cy="641262"/>
          </a:xfrm>
        </p:grpSpPr>
        <p:sp>
          <p:nvSpPr>
            <p:cNvPr id="74" name="Rectángulo 73">
              <a:extLst>
                <a:ext uri="{FF2B5EF4-FFF2-40B4-BE49-F238E27FC236}">
                  <a16:creationId xmlns:a16="http://schemas.microsoft.com/office/drawing/2014/main" id="{C354BB08-12B8-4017-953A-B9E44CAAAEEA}"/>
                </a:ext>
              </a:extLst>
            </p:cNvPr>
            <p:cNvSpPr/>
            <p:nvPr/>
          </p:nvSpPr>
          <p:spPr>
            <a:xfrm>
              <a:off x="3214413" y="1315982"/>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5" name="Rectángulo 74">
              <a:extLst>
                <a:ext uri="{FF2B5EF4-FFF2-40B4-BE49-F238E27FC236}">
                  <a16:creationId xmlns:a16="http://schemas.microsoft.com/office/drawing/2014/main" id="{4038FA20-1167-4247-BCE6-65270FA19967}"/>
                </a:ext>
              </a:extLst>
            </p:cNvPr>
            <p:cNvSpPr/>
            <p:nvPr/>
          </p:nvSpPr>
          <p:spPr>
            <a:xfrm>
              <a:off x="3214413" y="1422859"/>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Rectángulo 75">
              <a:extLst>
                <a:ext uri="{FF2B5EF4-FFF2-40B4-BE49-F238E27FC236}">
                  <a16:creationId xmlns:a16="http://schemas.microsoft.com/office/drawing/2014/main" id="{DB724F42-E31F-4F74-822C-E9AA3559243C}"/>
                </a:ext>
              </a:extLst>
            </p:cNvPr>
            <p:cNvSpPr/>
            <p:nvPr/>
          </p:nvSpPr>
          <p:spPr>
            <a:xfrm>
              <a:off x="3214413" y="1529736"/>
              <a:ext cx="840828" cy="10687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7" name="Rectángulo 76">
              <a:extLst>
                <a:ext uri="{FF2B5EF4-FFF2-40B4-BE49-F238E27FC236}">
                  <a16:creationId xmlns:a16="http://schemas.microsoft.com/office/drawing/2014/main" id="{A9BF7DE4-0F2B-4899-812D-3B6D50FB3D9B}"/>
                </a:ext>
              </a:extLst>
            </p:cNvPr>
            <p:cNvSpPr/>
            <p:nvPr/>
          </p:nvSpPr>
          <p:spPr>
            <a:xfrm>
              <a:off x="3214413" y="1636613"/>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0" name="Rectángulo 79">
              <a:extLst>
                <a:ext uri="{FF2B5EF4-FFF2-40B4-BE49-F238E27FC236}">
                  <a16:creationId xmlns:a16="http://schemas.microsoft.com/office/drawing/2014/main" id="{DE5E73EF-3297-4FB7-B047-39204AF40865}"/>
                </a:ext>
              </a:extLst>
            </p:cNvPr>
            <p:cNvSpPr/>
            <p:nvPr/>
          </p:nvSpPr>
          <p:spPr>
            <a:xfrm>
              <a:off x="3214413" y="1743490"/>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2" name="Rectángulo 81">
              <a:extLst>
                <a:ext uri="{FF2B5EF4-FFF2-40B4-BE49-F238E27FC236}">
                  <a16:creationId xmlns:a16="http://schemas.microsoft.com/office/drawing/2014/main" id="{7B91018A-E7E4-4328-8013-22D88700AC3F}"/>
                </a:ext>
              </a:extLst>
            </p:cNvPr>
            <p:cNvSpPr/>
            <p:nvPr/>
          </p:nvSpPr>
          <p:spPr>
            <a:xfrm>
              <a:off x="3214413" y="1850367"/>
              <a:ext cx="840828" cy="1068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4" name="Flecha: a la izquierda y arriba 13">
            <a:extLst>
              <a:ext uri="{FF2B5EF4-FFF2-40B4-BE49-F238E27FC236}">
                <a16:creationId xmlns:a16="http://schemas.microsoft.com/office/drawing/2014/main" id="{08BB8ABB-8979-4062-A744-90BAD6EEE5D3}"/>
              </a:ext>
            </a:extLst>
          </p:cNvPr>
          <p:cNvSpPr/>
          <p:nvPr/>
        </p:nvSpPr>
        <p:spPr>
          <a:xfrm rot="5400000">
            <a:off x="4707192" y="3567217"/>
            <a:ext cx="311971" cy="87634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C92B8DCC-A124-40FF-A063-6B87B8A4657D}"/>
              </a:ext>
            </a:extLst>
          </p:cNvPr>
          <p:cNvSpPr/>
          <p:nvPr/>
        </p:nvSpPr>
        <p:spPr>
          <a:xfrm>
            <a:off x="6925733" y="3074495"/>
            <a:ext cx="528559" cy="17261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a:extLst>
              <a:ext uri="{FF2B5EF4-FFF2-40B4-BE49-F238E27FC236}">
                <a16:creationId xmlns:a16="http://schemas.microsoft.com/office/drawing/2014/main" id="{31052B5B-4583-4946-AC44-94A51704CE41}"/>
              </a:ext>
            </a:extLst>
          </p:cNvPr>
          <p:cNvSpPr/>
          <p:nvPr/>
        </p:nvSpPr>
        <p:spPr>
          <a:xfrm>
            <a:off x="6925732" y="3294978"/>
            <a:ext cx="528559" cy="1115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32DD34DD-6E77-400A-9B56-1A8D8A6459D2}"/>
              </a:ext>
            </a:extLst>
          </p:cNvPr>
          <p:cNvSpPr/>
          <p:nvPr/>
        </p:nvSpPr>
        <p:spPr>
          <a:xfrm>
            <a:off x="6925732" y="4272190"/>
            <a:ext cx="528559" cy="1115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BAB85695-9C84-45C9-94B4-0254F70122BE}"/>
              </a:ext>
            </a:extLst>
          </p:cNvPr>
          <p:cNvSpPr txBox="1"/>
          <p:nvPr/>
        </p:nvSpPr>
        <p:spPr>
          <a:xfrm>
            <a:off x="7432754" y="3232139"/>
            <a:ext cx="425116" cy="261610"/>
          </a:xfrm>
          <a:prstGeom prst="rect">
            <a:avLst/>
          </a:prstGeom>
          <a:noFill/>
        </p:spPr>
        <p:txBody>
          <a:bodyPr wrap="none" rtlCol="0">
            <a:spAutoFit/>
          </a:bodyPr>
          <a:lstStyle/>
          <a:p>
            <a:r>
              <a:rPr lang="es-ES" sz="1100" dirty="0"/>
              <a:t>Dir1</a:t>
            </a:r>
          </a:p>
        </p:txBody>
      </p:sp>
      <p:sp>
        <p:nvSpPr>
          <p:cNvPr id="21" name="CuadroTexto 20">
            <a:extLst>
              <a:ext uri="{FF2B5EF4-FFF2-40B4-BE49-F238E27FC236}">
                <a16:creationId xmlns:a16="http://schemas.microsoft.com/office/drawing/2014/main" id="{1FB3FA5E-3BDC-45E0-B378-7EC99428DE5B}"/>
              </a:ext>
            </a:extLst>
          </p:cNvPr>
          <p:cNvSpPr txBox="1"/>
          <p:nvPr/>
        </p:nvSpPr>
        <p:spPr>
          <a:xfrm>
            <a:off x="7459705" y="4206711"/>
            <a:ext cx="425116" cy="261610"/>
          </a:xfrm>
          <a:prstGeom prst="rect">
            <a:avLst/>
          </a:prstGeom>
          <a:noFill/>
        </p:spPr>
        <p:txBody>
          <a:bodyPr wrap="none" rtlCol="0">
            <a:spAutoFit/>
          </a:bodyPr>
          <a:lstStyle/>
          <a:p>
            <a:r>
              <a:rPr lang="es-ES" sz="1100" dirty="0"/>
              <a:t>Dir2</a:t>
            </a:r>
          </a:p>
        </p:txBody>
      </p:sp>
      <p:cxnSp>
        <p:nvCxnSpPr>
          <p:cNvPr id="23" name="Conector recto de flecha 22">
            <a:extLst>
              <a:ext uri="{FF2B5EF4-FFF2-40B4-BE49-F238E27FC236}">
                <a16:creationId xmlns:a16="http://schemas.microsoft.com/office/drawing/2014/main" id="{180ADB06-7948-4A41-B426-E21B3CBE83DC}"/>
              </a:ext>
            </a:extLst>
          </p:cNvPr>
          <p:cNvCxnSpPr>
            <a:stCxn id="16" idx="1"/>
            <a:endCxn id="76" idx="3"/>
          </p:cNvCxnSpPr>
          <p:nvPr/>
        </p:nvCxnSpPr>
        <p:spPr>
          <a:xfrm flipH="1">
            <a:off x="6150990" y="3350756"/>
            <a:ext cx="774742" cy="781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934EBF43-FF12-4680-91BA-10D53F81BD7B}"/>
              </a:ext>
            </a:extLst>
          </p:cNvPr>
          <p:cNvCxnSpPr>
            <a:stCxn id="17" idx="1"/>
            <a:endCxn id="76" idx="3"/>
          </p:cNvCxnSpPr>
          <p:nvPr/>
        </p:nvCxnSpPr>
        <p:spPr>
          <a:xfrm flipH="1" flipV="1">
            <a:off x="6150990" y="4132014"/>
            <a:ext cx="774742" cy="1959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50B3A2EE-D462-42F0-AFFE-71E382EB28E5}"/>
              </a:ext>
            </a:extLst>
          </p:cNvPr>
          <p:cNvSpPr txBox="1"/>
          <p:nvPr/>
        </p:nvSpPr>
        <p:spPr>
          <a:xfrm>
            <a:off x="7872076" y="3488659"/>
            <a:ext cx="1340432" cy="715581"/>
          </a:xfrm>
          <a:prstGeom prst="rect">
            <a:avLst/>
          </a:prstGeom>
          <a:noFill/>
        </p:spPr>
        <p:txBody>
          <a:bodyPr wrap="none" rtlCol="0">
            <a:spAutoFit/>
          </a:bodyPr>
          <a:lstStyle/>
          <a:p>
            <a:r>
              <a:rPr lang="es-ES" dirty="0"/>
              <a:t>Los dos bloques </a:t>
            </a:r>
          </a:p>
          <a:p>
            <a:r>
              <a:rPr lang="es-ES" dirty="0"/>
              <a:t>se cargan en la</a:t>
            </a:r>
          </a:p>
          <a:p>
            <a:r>
              <a:rPr lang="es-ES" dirty="0"/>
              <a:t>misma línea</a:t>
            </a:r>
          </a:p>
        </p:txBody>
      </p:sp>
      <p:sp>
        <p:nvSpPr>
          <p:cNvPr id="28" name="CuadroTexto 27">
            <a:extLst>
              <a:ext uri="{FF2B5EF4-FFF2-40B4-BE49-F238E27FC236}">
                <a16:creationId xmlns:a16="http://schemas.microsoft.com/office/drawing/2014/main" id="{F0B952EA-0077-4049-B439-827C3220E25C}"/>
              </a:ext>
            </a:extLst>
          </p:cNvPr>
          <p:cNvSpPr txBox="1"/>
          <p:nvPr/>
        </p:nvSpPr>
        <p:spPr>
          <a:xfrm>
            <a:off x="1933614" y="3338450"/>
            <a:ext cx="1723549" cy="707886"/>
          </a:xfrm>
          <a:prstGeom prst="rect">
            <a:avLst/>
          </a:prstGeom>
          <a:noFill/>
        </p:spPr>
        <p:txBody>
          <a:bodyPr wrap="none" rtlCol="0">
            <a:spAutoFit/>
          </a:bodyPr>
          <a:lstStyle/>
          <a:p>
            <a:r>
              <a:rPr lang="es-ES" sz="1000" dirty="0">
                <a:latin typeface="Lucida Sans Typewriter" panose="020B0509030504030204" pitchFamily="49" charset="0"/>
              </a:rPr>
              <a:t>Bucle   LD A, (Dir1)</a:t>
            </a:r>
          </a:p>
          <a:p>
            <a:r>
              <a:rPr lang="es-ES" sz="1000" dirty="0">
                <a:latin typeface="Lucida Sans Typewriter" panose="020B0509030504030204" pitchFamily="49" charset="0"/>
              </a:rPr>
              <a:t>        INC</a:t>
            </a:r>
          </a:p>
          <a:p>
            <a:r>
              <a:rPr lang="es-ES" sz="1000" dirty="0">
                <a:latin typeface="Lucida Sans Typewriter" panose="020B0509030504030204" pitchFamily="49" charset="0"/>
              </a:rPr>
              <a:t>        LD (Dir2),A</a:t>
            </a:r>
          </a:p>
          <a:p>
            <a:r>
              <a:rPr lang="es-ES" sz="1000" dirty="0">
                <a:latin typeface="Lucida Sans Typewriter" panose="020B0509030504030204" pitchFamily="49" charset="0"/>
              </a:rPr>
              <a:t>        JP Bucle</a:t>
            </a:r>
          </a:p>
        </p:txBody>
      </p:sp>
    </p:spTree>
    <p:extLst>
      <p:ext uri="{BB962C8B-B14F-4D97-AF65-F5344CB8AC3E}">
        <p14:creationId xmlns:p14="http://schemas.microsoft.com/office/powerpoint/2010/main" val="3691590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3" name="CuadroTexto 2">
            <a:extLst>
              <a:ext uri="{FF2B5EF4-FFF2-40B4-BE49-F238E27FC236}">
                <a16:creationId xmlns:a16="http://schemas.microsoft.com/office/drawing/2014/main" id="{EDC2B7CE-0CC7-4786-9118-E84701C9AE0F}"/>
              </a:ext>
            </a:extLst>
          </p:cNvPr>
          <p:cNvSpPr txBox="1"/>
          <p:nvPr/>
        </p:nvSpPr>
        <p:spPr>
          <a:xfrm>
            <a:off x="1776414" y="967464"/>
            <a:ext cx="6840812" cy="1962076"/>
          </a:xfrm>
          <a:prstGeom prst="rect">
            <a:avLst/>
          </a:prstGeom>
          <a:noFill/>
        </p:spPr>
        <p:txBody>
          <a:bodyPr wrap="square" rtlCol="0">
            <a:spAutoFit/>
          </a:bodyPr>
          <a:lstStyle/>
          <a:p>
            <a:pPr algn="just"/>
            <a:r>
              <a:rPr lang="es-ES" b="1" u="sng" dirty="0"/>
              <a:t>Método de correspondencia asociativa</a:t>
            </a:r>
          </a:p>
          <a:p>
            <a:pPr algn="just"/>
            <a:endParaRPr lang="es-ES" dirty="0"/>
          </a:p>
          <a:p>
            <a:pPr algn="just"/>
            <a:r>
              <a:rPr lang="es-ES" dirty="0"/>
              <a:t>En la correspondencia asociativa cualquier bloque puede instanciarse en cualquier línea de la caché, con lo que se consigue una ganancia estadística en su uso frente a la correspondencia directa. La etiqueta tiene que permitir numerar todos los bloques.</a:t>
            </a:r>
          </a:p>
          <a:p>
            <a:pPr algn="just"/>
            <a:endParaRPr lang="es-ES" dirty="0"/>
          </a:p>
          <a:p>
            <a:pPr algn="just"/>
            <a:r>
              <a:rPr lang="es-ES" dirty="0"/>
              <a:t>Para el mismo ejemplo de máquina, 32 KB de RAM, con 16 bits de direcciones, caché de 32 líneas y 4 bytes por línea, las etiquetas tienen que tener 13 bits. En este método no se sabe el número de línea de antemano porque puede ser cualquiera.</a:t>
            </a:r>
          </a:p>
        </p:txBody>
      </p:sp>
      <p:sp>
        <p:nvSpPr>
          <p:cNvPr id="7" name="CuadroTexto 6">
            <a:extLst>
              <a:ext uri="{FF2B5EF4-FFF2-40B4-BE49-F238E27FC236}">
                <a16:creationId xmlns:a16="http://schemas.microsoft.com/office/drawing/2014/main" id="{858F8A5F-1E2B-4127-8E42-EE1C3F434797}"/>
              </a:ext>
            </a:extLst>
          </p:cNvPr>
          <p:cNvSpPr txBox="1"/>
          <p:nvPr/>
        </p:nvSpPr>
        <p:spPr>
          <a:xfrm>
            <a:off x="7263494" y="3204508"/>
            <a:ext cx="272832" cy="300082"/>
          </a:xfrm>
          <a:prstGeom prst="rect">
            <a:avLst/>
          </a:prstGeom>
          <a:noFill/>
        </p:spPr>
        <p:txBody>
          <a:bodyPr wrap="none" rtlCol="0">
            <a:spAutoFit/>
          </a:bodyPr>
          <a:lstStyle/>
          <a:p>
            <a:r>
              <a:rPr lang="es-ES" dirty="0"/>
              <a:t>0</a:t>
            </a:r>
          </a:p>
        </p:txBody>
      </p:sp>
      <p:sp>
        <p:nvSpPr>
          <p:cNvPr id="8" name="CuadroTexto 7">
            <a:extLst>
              <a:ext uri="{FF2B5EF4-FFF2-40B4-BE49-F238E27FC236}">
                <a16:creationId xmlns:a16="http://schemas.microsoft.com/office/drawing/2014/main" id="{4C3FA210-E12B-424A-948E-A75168FA4B9E}"/>
              </a:ext>
            </a:extLst>
          </p:cNvPr>
          <p:cNvSpPr txBox="1"/>
          <p:nvPr/>
        </p:nvSpPr>
        <p:spPr>
          <a:xfrm>
            <a:off x="6942710" y="3204508"/>
            <a:ext cx="272832" cy="300082"/>
          </a:xfrm>
          <a:prstGeom prst="rect">
            <a:avLst/>
          </a:prstGeom>
          <a:noFill/>
        </p:spPr>
        <p:txBody>
          <a:bodyPr wrap="none" rtlCol="0">
            <a:spAutoFit/>
          </a:bodyPr>
          <a:lstStyle/>
          <a:p>
            <a:r>
              <a:rPr lang="es-ES" dirty="0"/>
              <a:t>1</a:t>
            </a:r>
          </a:p>
        </p:txBody>
      </p:sp>
      <p:sp>
        <p:nvSpPr>
          <p:cNvPr id="9" name="Rectángulo 8">
            <a:extLst>
              <a:ext uri="{FF2B5EF4-FFF2-40B4-BE49-F238E27FC236}">
                <a16:creationId xmlns:a16="http://schemas.microsoft.com/office/drawing/2014/main" id="{AEC8EB64-C5F0-4DFB-9DCE-C861385BA4B8}"/>
              </a:ext>
            </a:extLst>
          </p:cNvPr>
          <p:cNvSpPr/>
          <p:nvPr/>
        </p:nvSpPr>
        <p:spPr>
          <a:xfrm>
            <a:off x="6935962" y="3504590"/>
            <a:ext cx="304800" cy="378691"/>
          </a:xfrm>
          <a:prstGeom prst="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Rectángulo 9">
            <a:extLst>
              <a:ext uri="{FF2B5EF4-FFF2-40B4-BE49-F238E27FC236}">
                <a16:creationId xmlns:a16="http://schemas.microsoft.com/office/drawing/2014/main" id="{16C0ACFB-9D19-4F31-8E4F-E2EC3EE7A68F}"/>
              </a:ext>
            </a:extLst>
          </p:cNvPr>
          <p:cNvSpPr/>
          <p:nvPr/>
        </p:nvSpPr>
        <p:spPr>
          <a:xfrm>
            <a:off x="7240762" y="3504590"/>
            <a:ext cx="304800" cy="378691"/>
          </a:xfrm>
          <a:prstGeom prst="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Rectángulo 10">
            <a:extLst>
              <a:ext uri="{FF2B5EF4-FFF2-40B4-BE49-F238E27FC236}">
                <a16:creationId xmlns:a16="http://schemas.microsoft.com/office/drawing/2014/main" id="{7D325D55-7FDB-4523-8115-BA93BBC82C2F}"/>
              </a:ext>
            </a:extLst>
          </p:cNvPr>
          <p:cNvSpPr/>
          <p:nvPr/>
        </p:nvSpPr>
        <p:spPr>
          <a:xfrm>
            <a:off x="6632406" y="3504590"/>
            <a:ext cx="304800" cy="378691"/>
          </a:xfrm>
          <a:prstGeom prst="rect">
            <a:avLst/>
          </a:prstGeom>
          <a:solidFill>
            <a:schemeClr val="accent2">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Rectángulo 11">
            <a:extLst>
              <a:ext uri="{FF2B5EF4-FFF2-40B4-BE49-F238E27FC236}">
                <a16:creationId xmlns:a16="http://schemas.microsoft.com/office/drawing/2014/main" id="{D3C87BBB-9C50-443F-B38B-579A5C1B0464}"/>
              </a:ext>
            </a:extLst>
          </p:cNvPr>
          <p:cNvSpPr/>
          <p:nvPr/>
        </p:nvSpPr>
        <p:spPr>
          <a:xfrm>
            <a:off x="6322102" y="3504590"/>
            <a:ext cx="304800" cy="378691"/>
          </a:xfrm>
          <a:prstGeom prst="rect">
            <a:avLst/>
          </a:prstGeom>
          <a:solidFill>
            <a:schemeClr val="accent2">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 name="CuadroTexto 12">
            <a:extLst>
              <a:ext uri="{FF2B5EF4-FFF2-40B4-BE49-F238E27FC236}">
                <a16:creationId xmlns:a16="http://schemas.microsoft.com/office/drawing/2014/main" id="{05AA934D-568B-4D2D-A62C-21064566199B}"/>
              </a:ext>
            </a:extLst>
          </p:cNvPr>
          <p:cNvSpPr txBox="1"/>
          <p:nvPr/>
        </p:nvSpPr>
        <p:spPr>
          <a:xfrm>
            <a:off x="6645902" y="3204508"/>
            <a:ext cx="272832" cy="300082"/>
          </a:xfrm>
          <a:prstGeom prst="rect">
            <a:avLst/>
          </a:prstGeom>
          <a:noFill/>
        </p:spPr>
        <p:txBody>
          <a:bodyPr wrap="none" rtlCol="0">
            <a:spAutoFit/>
          </a:bodyPr>
          <a:lstStyle/>
          <a:p>
            <a:r>
              <a:rPr lang="es-ES" dirty="0"/>
              <a:t>2</a:t>
            </a:r>
          </a:p>
        </p:txBody>
      </p:sp>
      <p:sp>
        <p:nvSpPr>
          <p:cNvPr id="14" name="CuadroTexto 13">
            <a:extLst>
              <a:ext uri="{FF2B5EF4-FFF2-40B4-BE49-F238E27FC236}">
                <a16:creationId xmlns:a16="http://schemas.microsoft.com/office/drawing/2014/main" id="{0015157E-AEBA-4283-BFA7-B8E865A3D79E}"/>
              </a:ext>
            </a:extLst>
          </p:cNvPr>
          <p:cNvSpPr txBox="1"/>
          <p:nvPr/>
        </p:nvSpPr>
        <p:spPr>
          <a:xfrm>
            <a:off x="6346608" y="3204508"/>
            <a:ext cx="272832" cy="300082"/>
          </a:xfrm>
          <a:prstGeom prst="rect">
            <a:avLst/>
          </a:prstGeom>
          <a:noFill/>
        </p:spPr>
        <p:txBody>
          <a:bodyPr wrap="none" rtlCol="0">
            <a:spAutoFit/>
          </a:bodyPr>
          <a:lstStyle/>
          <a:p>
            <a:r>
              <a:rPr lang="es-ES" dirty="0"/>
              <a:t>3</a:t>
            </a:r>
          </a:p>
        </p:txBody>
      </p:sp>
      <p:sp>
        <p:nvSpPr>
          <p:cNvPr id="15" name="Rectángulo 14">
            <a:extLst>
              <a:ext uri="{FF2B5EF4-FFF2-40B4-BE49-F238E27FC236}">
                <a16:creationId xmlns:a16="http://schemas.microsoft.com/office/drawing/2014/main" id="{6C424A2D-EC38-43A1-8701-6963EAF64A82}"/>
              </a:ext>
            </a:extLst>
          </p:cNvPr>
          <p:cNvSpPr/>
          <p:nvPr/>
        </p:nvSpPr>
        <p:spPr>
          <a:xfrm>
            <a:off x="5710636" y="3504590"/>
            <a:ext cx="304800" cy="378691"/>
          </a:xfrm>
          <a:prstGeom prst="rect">
            <a:avLst/>
          </a:prstGeom>
          <a:solidFill>
            <a:schemeClr val="accent2">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6" name="Rectángulo 15">
            <a:extLst>
              <a:ext uri="{FF2B5EF4-FFF2-40B4-BE49-F238E27FC236}">
                <a16:creationId xmlns:a16="http://schemas.microsoft.com/office/drawing/2014/main" id="{377371A0-C211-445E-A9C6-2FE90126F8D9}"/>
              </a:ext>
            </a:extLst>
          </p:cNvPr>
          <p:cNvSpPr/>
          <p:nvPr/>
        </p:nvSpPr>
        <p:spPr>
          <a:xfrm>
            <a:off x="6015436" y="3504590"/>
            <a:ext cx="304800" cy="378691"/>
          </a:xfrm>
          <a:prstGeom prst="rect">
            <a:avLst/>
          </a:prstGeom>
          <a:solidFill>
            <a:schemeClr val="accent2">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7" name="Rectángulo 16">
            <a:extLst>
              <a:ext uri="{FF2B5EF4-FFF2-40B4-BE49-F238E27FC236}">
                <a16:creationId xmlns:a16="http://schemas.microsoft.com/office/drawing/2014/main" id="{5FEBE05E-B5AC-41F5-A3F8-F39DE74FF1EE}"/>
              </a:ext>
            </a:extLst>
          </p:cNvPr>
          <p:cNvSpPr/>
          <p:nvPr/>
        </p:nvSpPr>
        <p:spPr>
          <a:xfrm>
            <a:off x="5407080" y="3504590"/>
            <a:ext cx="304800" cy="378691"/>
          </a:xfrm>
          <a:prstGeom prst="rect">
            <a:avLst/>
          </a:prstGeom>
          <a:solidFill>
            <a:schemeClr val="accent2">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8" name="Rectángulo 17">
            <a:extLst>
              <a:ext uri="{FF2B5EF4-FFF2-40B4-BE49-F238E27FC236}">
                <a16:creationId xmlns:a16="http://schemas.microsoft.com/office/drawing/2014/main" id="{40262CA6-4F84-4109-8836-1F4B07BA98E1}"/>
              </a:ext>
            </a:extLst>
          </p:cNvPr>
          <p:cNvSpPr/>
          <p:nvPr/>
        </p:nvSpPr>
        <p:spPr>
          <a:xfrm>
            <a:off x="5096776" y="3504590"/>
            <a:ext cx="304800" cy="378691"/>
          </a:xfrm>
          <a:prstGeom prst="rect">
            <a:avLst/>
          </a:prstGeom>
          <a:solidFill>
            <a:schemeClr val="accent2">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19" name="Grupo 18">
            <a:extLst>
              <a:ext uri="{FF2B5EF4-FFF2-40B4-BE49-F238E27FC236}">
                <a16:creationId xmlns:a16="http://schemas.microsoft.com/office/drawing/2014/main" id="{DB3E05C4-01E8-4A42-8D2E-3E9248726D46}"/>
              </a:ext>
            </a:extLst>
          </p:cNvPr>
          <p:cNvGrpSpPr/>
          <p:nvPr/>
        </p:nvGrpSpPr>
        <p:grpSpPr>
          <a:xfrm>
            <a:off x="3871450" y="3504589"/>
            <a:ext cx="1223460" cy="378691"/>
            <a:chOff x="5602213" y="3530001"/>
            <a:chExt cx="1223460" cy="378691"/>
          </a:xfrm>
          <a:solidFill>
            <a:schemeClr val="accent2">
              <a:lumMod val="40000"/>
              <a:lumOff val="60000"/>
            </a:schemeClr>
          </a:solidFill>
        </p:grpSpPr>
        <p:sp>
          <p:nvSpPr>
            <p:cNvPr id="20" name="Rectángulo 19">
              <a:extLst>
                <a:ext uri="{FF2B5EF4-FFF2-40B4-BE49-F238E27FC236}">
                  <a16:creationId xmlns:a16="http://schemas.microsoft.com/office/drawing/2014/main" id="{AA5470F0-D202-45A9-840D-9A2087E8FABA}"/>
                </a:ext>
              </a:extLst>
            </p:cNvPr>
            <p:cNvSpPr/>
            <p:nvPr/>
          </p:nvSpPr>
          <p:spPr>
            <a:xfrm>
              <a:off x="621607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1" name="Rectángulo 20">
              <a:extLst>
                <a:ext uri="{FF2B5EF4-FFF2-40B4-BE49-F238E27FC236}">
                  <a16:creationId xmlns:a16="http://schemas.microsoft.com/office/drawing/2014/main" id="{A484391E-A45B-48DE-8C60-BA5A130AEC7A}"/>
                </a:ext>
              </a:extLst>
            </p:cNvPr>
            <p:cNvSpPr/>
            <p:nvPr/>
          </p:nvSpPr>
          <p:spPr>
            <a:xfrm>
              <a:off x="652087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2" name="Rectángulo 21">
              <a:extLst>
                <a:ext uri="{FF2B5EF4-FFF2-40B4-BE49-F238E27FC236}">
                  <a16:creationId xmlns:a16="http://schemas.microsoft.com/office/drawing/2014/main" id="{48FF340F-BD15-4BAD-99CC-2925F926A3D1}"/>
                </a:ext>
              </a:extLst>
            </p:cNvPr>
            <p:cNvSpPr/>
            <p:nvPr/>
          </p:nvSpPr>
          <p:spPr>
            <a:xfrm>
              <a:off x="5912517"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3" name="Rectángulo 22">
              <a:extLst>
                <a:ext uri="{FF2B5EF4-FFF2-40B4-BE49-F238E27FC236}">
                  <a16:creationId xmlns:a16="http://schemas.microsoft.com/office/drawing/2014/main" id="{75F6BF58-09F1-43D6-9BAF-C60BC07C4801}"/>
                </a:ext>
              </a:extLst>
            </p:cNvPr>
            <p:cNvSpPr/>
            <p:nvPr/>
          </p:nvSpPr>
          <p:spPr>
            <a:xfrm>
              <a:off x="560221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24" name="Grupo 23">
            <a:extLst>
              <a:ext uri="{FF2B5EF4-FFF2-40B4-BE49-F238E27FC236}">
                <a16:creationId xmlns:a16="http://schemas.microsoft.com/office/drawing/2014/main" id="{846E9FD0-768F-419C-8FF0-DDE40C9D8322}"/>
              </a:ext>
            </a:extLst>
          </p:cNvPr>
          <p:cNvGrpSpPr/>
          <p:nvPr/>
        </p:nvGrpSpPr>
        <p:grpSpPr>
          <a:xfrm>
            <a:off x="2966198" y="3504588"/>
            <a:ext cx="1223460" cy="378691"/>
            <a:chOff x="5602213" y="3530001"/>
            <a:chExt cx="1223460" cy="378691"/>
          </a:xfrm>
          <a:solidFill>
            <a:schemeClr val="accent2">
              <a:lumMod val="40000"/>
              <a:lumOff val="60000"/>
            </a:schemeClr>
          </a:solidFill>
        </p:grpSpPr>
        <p:sp>
          <p:nvSpPr>
            <p:cNvPr id="25" name="Rectángulo 24">
              <a:extLst>
                <a:ext uri="{FF2B5EF4-FFF2-40B4-BE49-F238E27FC236}">
                  <a16:creationId xmlns:a16="http://schemas.microsoft.com/office/drawing/2014/main" id="{53336D78-2580-476C-8F92-26AFB7E9FD8F}"/>
                </a:ext>
              </a:extLst>
            </p:cNvPr>
            <p:cNvSpPr/>
            <p:nvPr/>
          </p:nvSpPr>
          <p:spPr>
            <a:xfrm>
              <a:off x="621607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6" name="Rectángulo 25">
              <a:extLst>
                <a:ext uri="{FF2B5EF4-FFF2-40B4-BE49-F238E27FC236}">
                  <a16:creationId xmlns:a16="http://schemas.microsoft.com/office/drawing/2014/main" id="{8648A9A0-455D-4DAA-ABB3-2E37211F773F}"/>
                </a:ext>
              </a:extLst>
            </p:cNvPr>
            <p:cNvSpPr/>
            <p:nvPr/>
          </p:nvSpPr>
          <p:spPr>
            <a:xfrm>
              <a:off x="652087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7" name="Rectángulo 26">
              <a:extLst>
                <a:ext uri="{FF2B5EF4-FFF2-40B4-BE49-F238E27FC236}">
                  <a16:creationId xmlns:a16="http://schemas.microsoft.com/office/drawing/2014/main" id="{35B730A5-DCA5-4A9B-924E-0C0F9C3E5A2D}"/>
                </a:ext>
              </a:extLst>
            </p:cNvPr>
            <p:cNvSpPr/>
            <p:nvPr/>
          </p:nvSpPr>
          <p:spPr>
            <a:xfrm>
              <a:off x="5912517"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 name="Rectángulo 27">
              <a:extLst>
                <a:ext uri="{FF2B5EF4-FFF2-40B4-BE49-F238E27FC236}">
                  <a16:creationId xmlns:a16="http://schemas.microsoft.com/office/drawing/2014/main" id="{5F03FDA7-46AC-4690-B998-3C5066F67F3F}"/>
                </a:ext>
              </a:extLst>
            </p:cNvPr>
            <p:cNvSpPr/>
            <p:nvPr/>
          </p:nvSpPr>
          <p:spPr>
            <a:xfrm>
              <a:off x="560221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29" name="CuadroTexto 28">
            <a:extLst>
              <a:ext uri="{FF2B5EF4-FFF2-40B4-BE49-F238E27FC236}">
                <a16:creationId xmlns:a16="http://schemas.microsoft.com/office/drawing/2014/main" id="{4B4ED921-6EB2-4504-983C-1B36CF935EAB}"/>
              </a:ext>
            </a:extLst>
          </p:cNvPr>
          <p:cNvSpPr txBox="1"/>
          <p:nvPr/>
        </p:nvSpPr>
        <p:spPr>
          <a:xfrm>
            <a:off x="6033597" y="3204506"/>
            <a:ext cx="272832" cy="300082"/>
          </a:xfrm>
          <a:prstGeom prst="rect">
            <a:avLst/>
          </a:prstGeom>
          <a:noFill/>
        </p:spPr>
        <p:txBody>
          <a:bodyPr wrap="none" rtlCol="0">
            <a:spAutoFit/>
          </a:bodyPr>
          <a:lstStyle/>
          <a:p>
            <a:r>
              <a:rPr lang="es-ES" dirty="0"/>
              <a:t>4</a:t>
            </a:r>
          </a:p>
        </p:txBody>
      </p:sp>
      <p:sp>
        <p:nvSpPr>
          <p:cNvPr id="30" name="CuadroTexto 29">
            <a:extLst>
              <a:ext uri="{FF2B5EF4-FFF2-40B4-BE49-F238E27FC236}">
                <a16:creationId xmlns:a16="http://schemas.microsoft.com/office/drawing/2014/main" id="{D42E2CFD-AD71-4F48-BC6D-8C4A9B7DC561}"/>
              </a:ext>
            </a:extLst>
          </p:cNvPr>
          <p:cNvSpPr txBox="1"/>
          <p:nvPr/>
        </p:nvSpPr>
        <p:spPr>
          <a:xfrm>
            <a:off x="5712813" y="3204506"/>
            <a:ext cx="272832" cy="300082"/>
          </a:xfrm>
          <a:prstGeom prst="rect">
            <a:avLst/>
          </a:prstGeom>
          <a:noFill/>
        </p:spPr>
        <p:txBody>
          <a:bodyPr wrap="none" rtlCol="0">
            <a:spAutoFit/>
          </a:bodyPr>
          <a:lstStyle/>
          <a:p>
            <a:r>
              <a:rPr lang="es-ES" dirty="0"/>
              <a:t>5</a:t>
            </a:r>
          </a:p>
        </p:txBody>
      </p:sp>
      <p:sp>
        <p:nvSpPr>
          <p:cNvPr id="31" name="CuadroTexto 30">
            <a:extLst>
              <a:ext uri="{FF2B5EF4-FFF2-40B4-BE49-F238E27FC236}">
                <a16:creationId xmlns:a16="http://schemas.microsoft.com/office/drawing/2014/main" id="{3B0231BC-64DC-49A5-9E6C-8394A72B49EC}"/>
              </a:ext>
            </a:extLst>
          </p:cNvPr>
          <p:cNvSpPr txBox="1"/>
          <p:nvPr/>
        </p:nvSpPr>
        <p:spPr>
          <a:xfrm>
            <a:off x="5416005" y="3204506"/>
            <a:ext cx="272832" cy="300082"/>
          </a:xfrm>
          <a:prstGeom prst="rect">
            <a:avLst/>
          </a:prstGeom>
          <a:noFill/>
        </p:spPr>
        <p:txBody>
          <a:bodyPr wrap="none" rtlCol="0">
            <a:spAutoFit/>
          </a:bodyPr>
          <a:lstStyle/>
          <a:p>
            <a:r>
              <a:rPr lang="es-ES" dirty="0"/>
              <a:t>6</a:t>
            </a:r>
          </a:p>
        </p:txBody>
      </p:sp>
      <p:sp>
        <p:nvSpPr>
          <p:cNvPr id="32" name="CuadroTexto 31">
            <a:extLst>
              <a:ext uri="{FF2B5EF4-FFF2-40B4-BE49-F238E27FC236}">
                <a16:creationId xmlns:a16="http://schemas.microsoft.com/office/drawing/2014/main" id="{A2228557-9D0B-47FB-ADF9-AC5BFDD3CC84}"/>
              </a:ext>
            </a:extLst>
          </p:cNvPr>
          <p:cNvSpPr txBox="1"/>
          <p:nvPr/>
        </p:nvSpPr>
        <p:spPr>
          <a:xfrm>
            <a:off x="5116711" y="3204506"/>
            <a:ext cx="272832" cy="300082"/>
          </a:xfrm>
          <a:prstGeom prst="rect">
            <a:avLst/>
          </a:prstGeom>
          <a:noFill/>
        </p:spPr>
        <p:txBody>
          <a:bodyPr wrap="none" rtlCol="0">
            <a:spAutoFit/>
          </a:bodyPr>
          <a:lstStyle/>
          <a:p>
            <a:r>
              <a:rPr lang="es-ES" dirty="0"/>
              <a:t>7</a:t>
            </a:r>
          </a:p>
        </p:txBody>
      </p:sp>
      <p:sp>
        <p:nvSpPr>
          <p:cNvPr id="33" name="CuadroTexto 32">
            <a:extLst>
              <a:ext uri="{FF2B5EF4-FFF2-40B4-BE49-F238E27FC236}">
                <a16:creationId xmlns:a16="http://schemas.microsoft.com/office/drawing/2014/main" id="{23475046-643C-4B94-BDC7-92469FF13CAF}"/>
              </a:ext>
            </a:extLst>
          </p:cNvPr>
          <p:cNvSpPr txBox="1"/>
          <p:nvPr/>
        </p:nvSpPr>
        <p:spPr>
          <a:xfrm>
            <a:off x="4783765" y="3204506"/>
            <a:ext cx="272832" cy="300082"/>
          </a:xfrm>
          <a:prstGeom prst="rect">
            <a:avLst/>
          </a:prstGeom>
          <a:noFill/>
        </p:spPr>
        <p:txBody>
          <a:bodyPr wrap="none" rtlCol="0">
            <a:spAutoFit/>
          </a:bodyPr>
          <a:lstStyle/>
          <a:p>
            <a:r>
              <a:rPr lang="es-ES" dirty="0"/>
              <a:t>8</a:t>
            </a:r>
          </a:p>
        </p:txBody>
      </p:sp>
      <p:sp>
        <p:nvSpPr>
          <p:cNvPr id="34" name="CuadroTexto 33">
            <a:extLst>
              <a:ext uri="{FF2B5EF4-FFF2-40B4-BE49-F238E27FC236}">
                <a16:creationId xmlns:a16="http://schemas.microsoft.com/office/drawing/2014/main" id="{A890ECE6-DF6B-4557-ACB0-34E4D8665C51}"/>
              </a:ext>
            </a:extLst>
          </p:cNvPr>
          <p:cNvSpPr txBox="1"/>
          <p:nvPr/>
        </p:nvSpPr>
        <p:spPr>
          <a:xfrm>
            <a:off x="4462981" y="3204506"/>
            <a:ext cx="272832" cy="300082"/>
          </a:xfrm>
          <a:prstGeom prst="rect">
            <a:avLst/>
          </a:prstGeom>
          <a:noFill/>
        </p:spPr>
        <p:txBody>
          <a:bodyPr wrap="none" rtlCol="0">
            <a:spAutoFit/>
          </a:bodyPr>
          <a:lstStyle/>
          <a:p>
            <a:r>
              <a:rPr lang="es-ES" dirty="0"/>
              <a:t>9</a:t>
            </a:r>
          </a:p>
        </p:txBody>
      </p:sp>
      <p:sp>
        <p:nvSpPr>
          <p:cNvPr id="35" name="CuadroTexto 34">
            <a:extLst>
              <a:ext uri="{FF2B5EF4-FFF2-40B4-BE49-F238E27FC236}">
                <a16:creationId xmlns:a16="http://schemas.microsoft.com/office/drawing/2014/main" id="{9373B227-FFB3-4240-855D-E0DC8D04A67A}"/>
              </a:ext>
            </a:extLst>
          </p:cNvPr>
          <p:cNvSpPr txBox="1"/>
          <p:nvPr/>
        </p:nvSpPr>
        <p:spPr>
          <a:xfrm>
            <a:off x="4166173" y="3204506"/>
            <a:ext cx="284052" cy="300082"/>
          </a:xfrm>
          <a:prstGeom prst="rect">
            <a:avLst/>
          </a:prstGeom>
          <a:noFill/>
        </p:spPr>
        <p:txBody>
          <a:bodyPr wrap="none" rtlCol="0">
            <a:spAutoFit/>
          </a:bodyPr>
          <a:lstStyle/>
          <a:p>
            <a:r>
              <a:rPr lang="es-ES" dirty="0"/>
              <a:t>A</a:t>
            </a:r>
          </a:p>
        </p:txBody>
      </p:sp>
      <p:sp>
        <p:nvSpPr>
          <p:cNvPr id="36" name="CuadroTexto 35">
            <a:extLst>
              <a:ext uri="{FF2B5EF4-FFF2-40B4-BE49-F238E27FC236}">
                <a16:creationId xmlns:a16="http://schemas.microsoft.com/office/drawing/2014/main" id="{49973F99-468D-4BC1-9825-018496365B51}"/>
              </a:ext>
            </a:extLst>
          </p:cNvPr>
          <p:cNvSpPr txBox="1"/>
          <p:nvPr/>
        </p:nvSpPr>
        <p:spPr>
          <a:xfrm>
            <a:off x="3866879" y="3204506"/>
            <a:ext cx="279244" cy="300082"/>
          </a:xfrm>
          <a:prstGeom prst="rect">
            <a:avLst/>
          </a:prstGeom>
          <a:noFill/>
        </p:spPr>
        <p:txBody>
          <a:bodyPr wrap="none" rtlCol="0">
            <a:spAutoFit/>
          </a:bodyPr>
          <a:lstStyle/>
          <a:p>
            <a:r>
              <a:rPr lang="es-ES" dirty="0"/>
              <a:t>B</a:t>
            </a:r>
          </a:p>
        </p:txBody>
      </p:sp>
      <p:sp>
        <p:nvSpPr>
          <p:cNvPr id="37" name="CuadroTexto 36">
            <a:extLst>
              <a:ext uri="{FF2B5EF4-FFF2-40B4-BE49-F238E27FC236}">
                <a16:creationId xmlns:a16="http://schemas.microsoft.com/office/drawing/2014/main" id="{623FC8B4-FA22-4A7B-9C10-276E39E044BD}"/>
              </a:ext>
            </a:extLst>
          </p:cNvPr>
          <p:cNvSpPr txBox="1"/>
          <p:nvPr/>
        </p:nvSpPr>
        <p:spPr>
          <a:xfrm>
            <a:off x="3556043" y="3198590"/>
            <a:ext cx="277640" cy="300082"/>
          </a:xfrm>
          <a:prstGeom prst="rect">
            <a:avLst/>
          </a:prstGeom>
          <a:noFill/>
        </p:spPr>
        <p:txBody>
          <a:bodyPr wrap="none" rtlCol="0">
            <a:spAutoFit/>
          </a:bodyPr>
          <a:lstStyle/>
          <a:p>
            <a:r>
              <a:rPr lang="es-ES" dirty="0"/>
              <a:t>C</a:t>
            </a:r>
          </a:p>
        </p:txBody>
      </p:sp>
      <p:sp>
        <p:nvSpPr>
          <p:cNvPr id="38" name="CuadroTexto 37">
            <a:extLst>
              <a:ext uri="{FF2B5EF4-FFF2-40B4-BE49-F238E27FC236}">
                <a16:creationId xmlns:a16="http://schemas.microsoft.com/office/drawing/2014/main" id="{756F4F08-2B72-4A40-865D-56E46B549C6A}"/>
              </a:ext>
            </a:extLst>
          </p:cNvPr>
          <p:cNvSpPr txBox="1"/>
          <p:nvPr/>
        </p:nvSpPr>
        <p:spPr>
          <a:xfrm>
            <a:off x="3235259" y="3198590"/>
            <a:ext cx="290464" cy="300082"/>
          </a:xfrm>
          <a:prstGeom prst="rect">
            <a:avLst/>
          </a:prstGeom>
          <a:noFill/>
        </p:spPr>
        <p:txBody>
          <a:bodyPr wrap="none" rtlCol="0">
            <a:spAutoFit/>
          </a:bodyPr>
          <a:lstStyle/>
          <a:p>
            <a:r>
              <a:rPr lang="es-ES" dirty="0"/>
              <a:t>D</a:t>
            </a:r>
          </a:p>
        </p:txBody>
      </p:sp>
      <p:sp>
        <p:nvSpPr>
          <p:cNvPr id="39" name="CuadroTexto 38">
            <a:extLst>
              <a:ext uri="{FF2B5EF4-FFF2-40B4-BE49-F238E27FC236}">
                <a16:creationId xmlns:a16="http://schemas.microsoft.com/office/drawing/2014/main" id="{EA5BA716-CC48-4AA0-98FE-6AA818C57FDD}"/>
              </a:ext>
            </a:extLst>
          </p:cNvPr>
          <p:cNvSpPr txBox="1"/>
          <p:nvPr/>
        </p:nvSpPr>
        <p:spPr>
          <a:xfrm>
            <a:off x="2938451" y="3198590"/>
            <a:ext cx="272832" cy="300082"/>
          </a:xfrm>
          <a:prstGeom prst="rect">
            <a:avLst/>
          </a:prstGeom>
          <a:noFill/>
        </p:spPr>
        <p:txBody>
          <a:bodyPr wrap="none" rtlCol="0">
            <a:spAutoFit/>
          </a:bodyPr>
          <a:lstStyle/>
          <a:p>
            <a:r>
              <a:rPr lang="es-ES" dirty="0"/>
              <a:t>E</a:t>
            </a:r>
          </a:p>
        </p:txBody>
      </p:sp>
      <p:sp>
        <p:nvSpPr>
          <p:cNvPr id="41" name="CuadroTexto 40">
            <a:extLst>
              <a:ext uri="{FF2B5EF4-FFF2-40B4-BE49-F238E27FC236}">
                <a16:creationId xmlns:a16="http://schemas.microsoft.com/office/drawing/2014/main" id="{2DB6F583-E9C9-44A6-8E20-8609C0F99B40}"/>
              </a:ext>
            </a:extLst>
          </p:cNvPr>
          <p:cNvSpPr txBox="1"/>
          <p:nvPr/>
        </p:nvSpPr>
        <p:spPr>
          <a:xfrm>
            <a:off x="2238401" y="3198590"/>
            <a:ext cx="377026" cy="300082"/>
          </a:xfrm>
          <a:prstGeom prst="rect">
            <a:avLst/>
          </a:prstGeom>
          <a:noFill/>
        </p:spPr>
        <p:txBody>
          <a:bodyPr wrap="none" rtlCol="0">
            <a:spAutoFit/>
          </a:bodyPr>
          <a:lstStyle/>
          <a:p>
            <a:r>
              <a:rPr lang="es-ES" dirty="0"/>
              <a:t>Bit</a:t>
            </a:r>
          </a:p>
        </p:txBody>
      </p:sp>
      <p:cxnSp>
        <p:nvCxnSpPr>
          <p:cNvPr id="42" name="Conector recto 41">
            <a:extLst>
              <a:ext uri="{FF2B5EF4-FFF2-40B4-BE49-F238E27FC236}">
                <a16:creationId xmlns:a16="http://schemas.microsoft.com/office/drawing/2014/main" id="{624B6000-1798-48AB-BB6B-7D0A0B7A89A6}"/>
              </a:ext>
            </a:extLst>
          </p:cNvPr>
          <p:cNvCxnSpPr>
            <a:cxnSpLocks/>
          </p:cNvCxnSpPr>
          <p:nvPr/>
        </p:nvCxnSpPr>
        <p:spPr>
          <a:xfrm>
            <a:off x="6950875" y="4050678"/>
            <a:ext cx="593616"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CuadroTexto 42">
            <a:extLst>
              <a:ext uri="{FF2B5EF4-FFF2-40B4-BE49-F238E27FC236}">
                <a16:creationId xmlns:a16="http://schemas.microsoft.com/office/drawing/2014/main" id="{316D8F0B-9290-4433-AEB2-4107F67007BB}"/>
              </a:ext>
            </a:extLst>
          </p:cNvPr>
          <p:cNvSpPr txBox="1"/>
          <p:nvPr/>
        </p:nvSpPr>
        <p:spPr>
          <a:xfrm>
            <a:off x="6781247" y="4022497"/>
            <a:ext cx="1835979" cy="646331"/>
          </a:xfrm>
          <a:prstGeom prst="rect">
            <a:avLst/>
          </a:prstGeom>
          <a:noFill/>
        </p:spPr>
        <p:txBody>
          <a:bodyPr wrap="square" rtlCol="0">
            <a:spAutoFit/>
          </a:bodyPr>
          <a:lstStyle/>
          <a:p>
            <a:pPr algn="r"/>
            <a:r>
              <a:rPr lang="es-ES" sz="1200" dirty="0" err="1"/>
              <a:t>nº</a:t>
            </a:r>
            <a:r>
              <a:rPr lang="es-ES" sz="1200" dirty="0"/>
              <a:t> de palabra (byte) dentro de la línea</a:t>
            </a:r>
          </a:p>
          <a:p>
            <a:pPr algn="r"/>
            <a:r>
              <a:rPr lang="es-ES" sz="1200" dirty="0"/>
              <a:t>2 bits (2</a:t>
            </a:r>
            <a:r>
              <a:rPr lang="es-ES" sz="1200" baseline="30000" dirty="0"/>
              <a:t>2</a:t>
            </a:r>
            <a:r>
              <a:rPr lang="es-ES" sz="1200" dirty="0"/>
              <a:t> = 4 byte)</a:t>
            </a:r>
          </a:p>
        </p:txBody>
      </p:sp>
      <p:cxnSp>
        <p:nvCxnSpPr>
          <p:cNvPr id="48" name="Conector recto 47">
            <a:extLst>
              <a:ext uri="{FF2B5EF4-FFF2-40B4-BE49-F238E27FC236}">
                <a16:creationId xmlns:a16="http://schemas.microsoft.com/office/drawing/2014/main" id="{5A03294A-F905-48F6-B4C0-418B74FC7789}"/>
              </a:ext>
            </a:extLst>
          </p:cNvPr>
          <p:cNvCxnSpPr>
            <a:cxnSpLocks/>
          </p:cNvCxnSpPr>
          <p:nvPr/>
        </p:nvCxnSpPr>
        <p:spPr>
          <a:xfrm>
            <a:off x="2965879" y="4022495"/>
            <a:ext cx="3888234" cy="32955"/>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9" name="CuadroTexto 48">
            <a:extLst>
              <a:ext uri="{FF2B5EF4-FFF2-40B4-BE49-F238E27FC236}">
                <a16:creationId xmlns:a16="http://schemas.microsoft.com/office/drawing/2014/main" id="{7D52F69A-59D0-4144-BD27-D15DECC6A0A8}"/>
              </a:ext>
            </a:extLst>
          </p:cNvPr>
          <p:cNvSpPr txBox="1"/>
          <p:nvPr/>
        </p:nvSpPr>
        <p:spPr>
          <a:xfrm>
            <a:off x="4022705" y="4050678"/>
            <a:ext cx="1835979" cy="276999"/>
          </a:xfrm>
          <a:prstGeom prst="rect">
            <a:avLst/>
          </a:prstGeom>
          <a:noFill/>
        </p:spPr>
        <p:txBody>
          <a:bodyPr wrap="square" rtlCol="0">
            <a:spAutoFit/>
          </a:bodyPr>
          <a:lstStyle/>
          <a:p>
            <a:pPr algn="ctr"/>
            <a:r>
              <a:rPr lang="es-ES" sz="1200" dirty="0"/>
              <a:t>Etiqueta (2</a:t>
            </a:r>
            <a:r>
              <a:rPr lang="es-ES" sz="1200" baseline="30000" dirty="0"/>
              <a:t>13</a:t>
            </a:r>
            <a:r>
              <a:rPr lang="es-ES" sz="1200" dirty="0"/>
              <a:t> bloques)</a:t>
            </a:r>
          </a:p>
        </p:txBody>
      </p:sp>
      <p:pic>
        <p:nvPicPr>
          <p:cNvPr id="5" name="Imagen 4">
            <a:extLst>
              <a:ext uri="{FF2B5EF4-FFF2-40B4-BE49-F238E27FC236}">
                <a16:creationId xmlns:a16="http://schemas.microsoft.com/office/drawing/2014/main" id="{F4028862-92D0-CBF9-0313-5B2E61DA1E58}"/>
              </a:ext>
            </a:extLst>
          </p:cNvPr>
          <p:cNvPicPr>
            <a:picLocks noChangeAspect="1"/>
          </p:cNvPicPr>
          <p:nvPr/>
        </p:nvPicPr>
        <p:blipFill>
          <a:blip r:embed="rId3"/>
          <a:stretch>
            <a:fillRect/>
          </a:stretch>
        </p:blipFill>
        <p:spPr>
          <a:xfrm>
            <a:off x="5524161" y="527846"/>
            <a:ext cx="3290358" cy="707065"/>
          </a:xfrm>
          <a:prstGeom prst="rect">
            <a:avLst/>
          </a:prstGeom>
        </p:spPr>
      </p:pic>
      <p:sp>
        <p:nvSpPr>
          <p:cNvPr id="2" name="Rectángulo 1">
            <a:extLst>
              <a:ext uri="{FF2B5EF4-FFF2-40B4-BE49-F238E27FC236}">
                <a16:creationId xmlns:a16="http://schemas.microsoft.com/office/drawing/2014/main" id="{EBC9888C-597B-EC05-AA48-6698CF05140A}"/>
              </a:ext>
            </a:extLst>
          </p:cNvPr>
          <p:cNvSpPr/>
          <p:nvPr/>
        </p:nvSpPr>
        <p:spPr>
          <a:xfrm>
            <a:off x="2629141" y="3504588"/>
            <a:ext cx="304800" cy="378691"/>
          </a:xfrm>
          <a:prstGeom prst="rect">
            <a:avLst/>
          </a:prstGeom>
          <a:solidFill>
            <a:schemeClr val="bg1">
              <a:lumMod val="65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 name="CuadroTexto 5">
            <a:extLst>
              <a:ext uri="{FF2B5EF4-FFF2-40B4-BE49-F238E27FC236}">
                <a16:creationId xmlns:a16="http://schemas.microsoft.com/office/drawing/2014/main" id="{99E2EDE0-BF17-49E8-DDB7-499D37054C88}"/>
              </a:ext>
            </a:extLst>
          </p:cNvPr>
          <p:cNvSpPr txBox="1"/>
          <p:nvPr/>
        </p:nvSpPr>
        <p:spPr>
          <a:xfrm>
            <a:off x="2634316" y="3198590"/>
            <a:ext cx="272832" cy="300082"/>
          </a:xfrm>
          <a:prstGeom prst="rect">
            <a:avLst/>
          </a:prstGeom>
          <a:noFill/>
        </p:spPr>
        <p:txBody>
          <a:bodyPr wrap="none" rtlCol="0">
            <a:spAutoFit/>
          </a:bodyPr>
          <a:lstStyle/>
          <a:p>
            <a:r>
              <a:rPr lang="es-ES" dirty="0"/>
              <a:t>F</a:t>
            </a:r>
          </a:p>
        </p:txBody>
      </p:sp>
    </p:spTree>
    <p:extLst>
      <p:ext uri="{BB962C8B-B14F-4D97-AF65-F5344CB8AC3E}">
        <p14:creationId xmlns:p14="http://schemas.microsoft.com/office/powerpoint/2010/main" val="720105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472463A3-E18A-4181-88E6-84894A19B59C}"/>
              </a:ext>
            </a:extLst>
          </p:cNvPr>
          <p:cNvSpPr/>
          <p:nvPr/>
        </p:nvSpPr>
        <p:spPr>
          <a:xfrm>
            <a:off x="1798419" y="2319624"/>
            <a:ext cx="4090986" cy="2400291"/>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dirty="0">
                <a:solidFill>
                  <a:schemeClr val="tx1">
                    <a:lumMod val="95000"/>
                    <a:lumOff val="5000"/>
                  </a:schemeClr>
                </a:solidFill>
              </a:rPr>
              <a:t>V</a:t>
            </a:r>
          </a:p>
        </p:txBody>
      </p:sp>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2" name="Rectángulo 1">
            <a:extLst>
              <a:ext uri="{FF2B5EF4-FFF2-40B4-BE49-F238E27FC236}">
                <a16:creationId xmlns:a16="http://schemas.microsoft.com/office/drawing/2014/main" id="{6E73C61E-F7E2-43F7-855B-8AF9F3A748B8}"/>
              </a:ext>
            </a:extLst>
          </p:cNvPr>
          <p:cNvSpPr/>
          <p:nvPr/>
        </p:nvSpPr>
        <p:spPr>
          <a:xfrm>
            <a:off x="1776414" y="1675631"/>
            <a:ext cx="2299851" cy="230908"/>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Etiqueta [01F1H]</a:t>
            </a:r>
          </a:p>
        </p:txBody>
      </p:sp>
      <p:sp>
        <p:nvSpPr>
          <p:cNvPr id="7" name="Rectángulo 6">
            <a:extLst>
              <a:ext uri="{FF2B5EF4-FFF2-40B4-BE49-F238E27FC236}">
                <a16:creationId xmlns:a16="http://schemas.microsoft.com/office/drawing/2014/main" id="{A2D9AA17-950A-4D89-9C0F-40A881266BBF}"/>
              </a:ext>
            </a:extLst>
          </p:cNvPr>
          <p:cNvSpPr/>
          <p:nvPr/>
        </p:nvSpPr>
        <p:spPr>
          <a:xfrm>
            <a:off x="4076270" y="1675631"/>
            <a:ext cx="1062997" cy="230908"/>
          </a:xfrm>
          <a:prstGeom prst="rect">
            <a:avLst/>
          </a:prstGeom>
          <a:solidFill>
            <a:schemeClr val="accent1">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Palabra [01B]</a:t>
            </a:r>
          </a:p>
        </p:txBody>
      </p:sp>
      <p:grpSp>
        <p:nvGrpSpPr>
          <p:cNvPr id="57" name="Grupo 56">
            <a:extLst>
              <a:ext uri="{FF2B5EF4-FFF2-40B4-BE49-F238E27FC236}">
                <a16:creationId xmlns:a16="http://schemas.microsoft.com/office/drawing/2014/main" id="{9E086DEF-3780-491D-AB24-6B6DC500E9B6}"/>
              </a:ext>
            </a:extLst>
          </p:cNvPr>
          <p:cNvGrpSpPr/>
          <p:nvPr/>
        </p:nvGrpSpPr>
        <p:grpSpPr>
          <a:xfrm>
            <a:off x="3517009" y="2921009"/>
            <a:ext cx="2222751" cy="136663"/>
            <a:chOff x="4892012" y="2764507"/>
            <a:chExt cx="2222751" cy="136663"/>
          </a:xfrm>
        </p:grpSpPr>
        <p:sp>
          <p:nvSpPr>
            <p:cNvPr id="59" name="Rectángulo 58">
              <a:extLst>
                <a:ext uri="{FF2B5EF4-FFF2-40B4-BE49-F238E27FC236}">
                  <a16:creationId xmlns:a16="http://schemas.microsoft.com/office/drawing/2014/main" id="{A664751E-94CF-424A-B314-A1DA82E97116}"/>
                </a:ext>
              </a:extLst>
            </p:cNvPr>
            <p:cNvSpPr/>
            <p:nvPr/>
          </p:nvSpPr>
          <p:spPr>
            <a:xfrm>
              <a:off x="6005195"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1" name="Rectángulo 60">
              <a:extLst>
                <a:ext uri="{FF2B5EF4-FFF2-40B4-BE49-F238E27FC236}">
                  <a16:creationId xmlns:a16="http://schemas.microsoft.com/office/drawing/2014/main" id="{F0CC403B-8C74-43FA-A49E-4AF1C7A3788C}"/>
                </a:ext>
              </a:extLst>
            </p:cNvPr>
            <p:cNvSpPr/>
            <p:nvPr/>
          </p:nvSpPr>
          <p:spPr>
            <a:xfrm>
              <a:off x="6343126"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3" name="Rectángulo 62">
              <a:extLst>
                <a:ext uri="{FF2B5EF4-FFF2-40B4-BE49-F238E27FC236}">
                  <a16:creationId xmlns:a16="http://schemas.microsoft.com/office/drawing/2014/main" id="{109317B0-5B7B-42AF-B361-8D78AD692FA0}"/>
                </a:ext>
              </a:extLst>
            </p:cNvPr>
            <p:cNvSpPr/>
            <p:nvPr/>
          </p:nvSpPr>
          <p:spPr>
            <a:xfrm>
              <a:off x="5667264"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5" name="Rectángulo 64">
              <a:extLst>
                <a:ext uri="{FF2B5EF4-FFF2-40B4-BE49-F238E27FC236}">
                  <a16:creationId xmlns:a16="http://schemas.microsoft.com/office/drawing/2014/main" id="{AFA0BA2D-0497-43F5-8936-51A901DF8D11}"/>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7" name="Rectángulo 66">
              <a:extLst>
                <a:ext uri="{FF2B5EF4-FFF2-40B4-BE49-F238E27FC236}">
                  <a16:creationId xmlns:a16="http://schemas.microsoft.com/office/drawing/2014/main" id="{A5E38441-88E0-486B-A642-4A8D6A813999}"/>
                </a:ext>
              </a:extLst>
            </p:cNvPr>
            <p:cNvSpPr/>
            <p:nvPr/>
          </p:nvSpPr>
          <p:spPr>
            <a:xfrm>
              <a:off x="5329333"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69" name="Rectángulo 68">
              <a:extLst>
                <a:ext uri="{FF2B5EF4-FFF2-40B4-BE49-F238E27FC236}">
                  <a16:creationId xmlns:a16="http://schemas.microsoft.com/office/drawing/2014/main" id="{DFF56688-2D73-4A9A-A104-A62B04111767}"/>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71" name="Rectángulo 70">
              <a:extLst>
                <a:ext uri="{FF2B5EF4-FFF2-40B4-BE49-F238E27FC236}">
                  <a16:creationId xmlns:a16="http://schemas.microsoft.com/office/drawing/2014/main" id="{649E1AFA-B9EE-4CD6-A31D-0EC5E294F5D3}"/>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73" name="Rectángulo 72">
              <a:extLst>
                <a:ext uri="{FF2B5EF4-FFF2-40B4-BE49-F238E27FC236}">
                  <a16:creationId xmlns:a16="http://schemas.microsoft.com/office/drawing/2014/main" id="{38EFE5FE-741C-45F7-AB9C-F9B64DC6EA3A}"/>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sp>
        <p:nvSpPr>
          <p:cNvPr id="78" name="CuadroTexto 77">
            <a:extLst>
              <a:ext uri="{FF2B5EF4-FFF2-40B4-BE49-F238E27FC236}">
                <a16:creationId xmlns:a16="http://schemas.microsoft.com/office/drawing/2014/main" id="{275C193B-98F3-47A3-A8A4-FE3D5DD773C1}"/>
              </a:ext>
            </a:extLst>
          </p:cNvPr>
          <p:cNvSpPr txBox="1"/>
          <p:nvPr/>
        </p:nvSpPr>
        <p:spPr>
          <a:xfrm>
            <a:off x="3395104" y="2644916"/>
            <a:ext cx="663964" cy="261610"/>
          </a:xfrm>
          <a:prstGeom prst="rect">
            <a:avLst/>
          </a:prstGeom>
          <a:noFill/>
        </p:spPr>
        <p:txBody>
          <a:bodyPr wrap="none" rtlCol="0">
            <a:spAutoFit/>
          </a:bodyPr>
          <a:lstStyle/>
          <a:p>
            <a:r>
              <a:rPr lang="es-ES" sz="1100" dirty="0"/>
              <a:t>Etiqueta</a:t>
            </a:r>
          </a:p>
        </p:txBody>
      </p:sp>
      <p:sp>
        <p:nvSpPr>
          <p:cNvPr id="79" name="CuadroTexto 78">
            <a:extLst>
              <a:ext uri="{FF2B5EF4-FFF2-40B4-BE49-F238E27FC236}">
                <a16:creationId xmlns:a16="http://schemas.microsoft.com/office/drawing/2014/main" id="{3580A0D2-C739-47A1-A025-62B36C6A58EC}"/>
              </a:ext>
            </a:extLst>
          </p:cNvPr>
          <p:cNvSpPr txBox="1"/>
          <p:nvPr/>
        </p:nvSpPr>
        <p:spPr>
          <a:xfrm>
            <a:off x="4292261" y="2658043"/>
            <a:ext cx="787395" cy="261610"/>
          </a:xfrm>
          <a:prstGeom prst="rect">
            <a:avLst/>
          </a:prstGeom>
          <a:noFill/>
        </p:spPr>
        <p:txBody>
          <a:bodyPr wrap="none" rtlCol="0">
            <a:spAutoFit/>
          </a:bodyPr>
          <a:lstStyle/>
          <a:p>
            <a:r>
              <a:rPr lang="es-ES" sz="1100" dirty="0"/>
              <a:t>Línea (4 B)</a:t>
            </a:r>
          </a:p>
        </p:txBody>
      </p:sp>
      <p:grpSp>
        <p:nvGrpSpPr>
          <p:cNvPr id="89" name="Grupo 88">
            <a:extLst>
              <a:ext uri="{FF2B5EF4-FFF2-40B4-BE49-F238E27FC236}">
                <a16:creationId xmlns:a16="http://schemas.microsoft.com/office/drawing/2014/main" id="{AEEA2556-E524-44FF-B637-82D8FABFAF86}"/>
              </a:ext>
            </a:extLst>
          </p:cNvPr>
          <p:cNvGrpSpPr/>
          <p:nvPr/>
        </p:nvGrpSpPr>
        <p:grpSpPr>
          <a:xfrm>
            <a:off x="3517009" y="3146088"/>
            <a:ext cx="2222751" cy="136663"/>
            <a:chOff x="4892012" y="2764507"/>
            <a:chExt cx="2222751" cy="136663"/>
          </a:xfrm>
        </p:grpSpPr>
        <p:sp>
          <p:nvSpPr>
            <p:cNvPr id="91" name="Rectángulo 90">
              <a:extLst>
                <a:ext uri="{FF2B5EF4-FFF2-40B4-BE49-F238E27FC236}">
                  <a16:creationId xmlns:a16="http://schemas.microsoft.com/office/drawing/2014/main" id="{825B6719-6369-4F11-A4C3-43974EAB589E}"/>
                </a:ext>
              </a:extLst>
            </p:cNvPr>
            <p:cNvSpPr/>
            <p:nvPr/>
          </p:nvSpPr>
          <p:spPr>
            <a:xfrm>
              <a:off x="6005195"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2" name="Rectángulo 91">
              <a:extLst>
                <a:ext uri="{FF2B5EF4-FFF2-40B4-BE49-F238E27FC236}">
                  <a16:creationId xmlns:a16="http://schemas.microsoft.com/office/drawing/2014/main" id="{2EAA3CDA-BA3E-4B50-B16D-F70484A62054}"/>
                </a:ext>
              </a:extLst>
            </p:cNvPr>
            <p:cNvSpPr/>
            <p:nvPr/>
          </p:nvSpPr>
          <p:spPr>
            <a:xfrm>
              <a:off x="6343126"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3" name="Rectángulo 92">
              <a:extLst>
                <a:ext uri="{FF2B5EF4-FFF2-40B4-BE49-F238E27FC236}">
                  <a16:creationId xmlns:a16="http://schemas.microsoft.com/office/drawing/2014/main" id="{16B88A43-CEA2-420D-B56D-2ACE1B181829}"/>
                </a:ext>
              </a:extLst>
            </p:cNvPr>
            <p:cNvSpPr/>
            <p:nvPr/>
          </p:nvSpPr>
          <p:spPr>
            <a:xfrm>
              <a:off x="5667264"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4" name="Rectángulo 93">
              <a:extLst>
                <a:ext uri="{FF2B5EF4-FFF2-40B4-BE49-F238E27FC236}">
                  <a16:creationId xmlns:a16="http://schemas.microsoft.com/office/drawing/2014/main" id="{11E4296F-9AD0-47A1-8367-CAB9F5395BC2}"/>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5" name="Rectángulo 94">
              <a:extLst>
                <a:ext uri="{FF2B5EF4-FFF2-40B4-BE49-F238E27FC236}">
                  <a16:creationId xmlns:a16="http://schemas.microsoft.com/office/drawing/2014/main" id="{839ADCE7-A954-4DB5-973F-A17E1C551821}"/>
                </a:ext>
              </a:extLst>
            </p:cNvPr>
            <p:cNvSpPr/>
            <p:nvPr/>
          </p:nvSpPr>
          <p:spPr>
            <a:xfrm>
              <a:off x="5329333"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6" name="Rectángulo 95">
              <a:extLst>
                <a:ext uri="{FF2B5EF4-FFF2-40B4-BE49-F238E27FC236}">
                  <a16:creationId xmlns:a16="http://schemas.microsoft.com/office/drawing/2014/main" id="{B136D547-62AC-4771-9DB6-34F2E6EA7138}"/>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7" name="Rectángulo 96">
              <a:extLst>
                <a:ext uri="{FF2B5EF4-FFF2-40B4-BE49-F238E27FC236}">
                  <a16:creationId xmlns:a16="http://schemas.microsoft.com/office/drawing/2014/main" id="{EE732719-A633-4594-A422-3A6DC919E8EA}"/>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98" name="Rectángulo 97">
              <a:extLst>
                <a:ext uri="{FF2B5EF4-FFF2-40B4-BE49-F238E27FC236}">
                  <a16:creationId xmlns:a16="http://schemas.microsoft.com/office/drawing/2014/main" id="{7734CFC3-53AD-42DC-94C1-A99678D01FD3}"/>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sp>
        <p:nvSpPr>
          <p:cNvPr id="100" name="Rectángulo 99">
            <a:extLst>
              <a:ext uri="{FF2B5EF4-FFF2-40B4-BE49-F238E27FC236}">
                <a16:creationId xmlns:a16="http://schemas.microsoft.com/office/drawing/2014/main" id="{B1F3AFAA-DF36-4973-8FF1-9524AA7526E8}"/>
              </a:ext>
            </a:extLst>
          </p:cNvPr>
          <p:cNvSpPr/>
          <p:nvPr/>
        </p:nvSpPr>
        <p:spPr>
          <a:xfrm>
            <a:off x="4630192" y="3383485"/>
            <a:ext cx="337931" cy="136663"/>
          </a:xfrm>
          <a:prstGeom prst="rect">
            <a:avLst/>
          </a:prstGeom>
          <a:solidFill>
            <a:schemeClr val="accent4">
              <a:lumMod val="60000"/>
              <a:lumOff val="4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1" name="Rectángulo 100">
            <a:extLst>
              <a:ext uri="{FF2B5EF4-FFF2-40B4-BE49-F238E27FC236}">
                <a16:creationId xmlns:a16="http://schemas.microsoft.com/office/drawing/2014/main" id="{ACB7A3A7-C759-4B69-AB47-6F4A821DDA8D}"/>
              </a:ext>
            </a:extLst>
          </p:cNvPr>
          <p:cNvSpPr/>
          <p:nvPr/>
        </p:nvSpPr>
        <p:spPr>
          <a:xfrm>
            <a:off x="4968123" y="3383485"/>
            <a:ext cx="337931" cy="136663"/>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2" name="Rectángulo 101">
            <a:extLst>
              <a:ext uri="{FF2B5EF4-FFF2-40B4-BE49-F238E27FC236}">
                <a16:creationId xmlns:a16="http://schemas.microsoft.com/office/drawing/2014/main" id="{DB6712D4-D6FC-472A-B017-AB63C67BDF3B}"/>
              </a:ext>
            </a:extLst>
          </p:cNvPr>
          <p:cNvSpPr/>
          <p:nvPr/>
        </p:nvSpPr>
        <p:spPr>
          <a:xfrm>
            <a:off x="4292261" y="3383485"/>
            <a:ext cx="337931" cy="136663"/>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3" name="Rectángulo 102">
            <a:extLst>
              <a:ext uri="{FF2B5EF4-FFF2-40B4-BE49-F238E27FC236}">
                <a16:creationId xmlns:a16="http://schemas.microsoft.com/office/drawing/2014/main" id="{AF5B3CA7-AE54-4409-941A-F40D03F4C11D}"/>
              </a:ext>
            </a:extLst>
          </p:cNvPr>
          <p:cNvSpPr/>
          <p:nvPr/>
        </p:nvSpPr>
        <p:spPr>
          <a:xfrm>
            <a:off x="3517009" y="3383485"/>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4" name="Rectángulo 103">
            <a:extLst>
              <a:ext uri="{FF2B5EF4-FFF2-40B4-BE49-F238E27FC236}">
                <a16:creationId xmlns:a16="http://schemas.microsoft.com/office/drawing/2014/main" id="{65B6B7AF-3243-4CB9-925B-00A90F2D0640}"/>
              </a:ext>
            </a:extLst>
          </p:cNvPr>
          <p:cNvSpPr/>
          <p:nvPr/>
        </p:nvSpPr>
        <p:spPr>
          <a:xfrm>
            <a:off x="3954330" y="3383485"/>
            <a:ext cx="337931" cy="136663"/>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5" name="Rectángulo 104">
            <a:extLst>
              <a:ext uri="{FF2B5EF4-FFF2-40B4-BE49-F238E27FC236}">
                <a16:creationId xmlns:a16="http://schemas.microsoft.com/office/drawing/2014/main" id="{D83D805D-C93E-4213-BBB2-6CF64097807B}"/>
              </a:ext>
            </a:extLst>
          </p:cNvPr>
          <p:cNvSpPr/>
          <p:nvPr/>
        </p:nvSpPr>
        <p:spPr>
          <a:xfrm>
            <a:off x="5323220" y="3383485"/>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6" name="Rectángulo 105">
            <a:extLst>
              <a:ext uri="{FF2B5EF4-FFF2-40B4-BE49-F238E27FC236}">
                <a16:creationId xmlns:a16="http://schemas.microsoft.com/office/drawing/2014/main" id="{7C922FAD-5730-4296-B70E-B6882A562848}"/>
              </a:ext>
            </a:extLst>
          </p:cNvPr>
          <p:cNvSpPr/>
          <p:nvPr/>
        </p:nvSpPr>
        <p:spPr>
          <a:xfrm>
            <a:off x="5455139" y="3383485"/>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07" name="Rectángulo 106">
            <a:extLst>
              <a:ext uri="{FF2B5EF4-FFF2-40B4-BE49-F238E27FC236}">
                <a16:creationId xmlns:a16="http://schemas.microsoft.com/office/drawing/2014/main" id="{CC73FB25-68D3-4671-A99E-205338676344}"/>
              </a:ext>
            </a:extLst>
          </p:cNvPr>
          <p:cNvSpPr/>
          <p:nvPr/>
        </p:nvSpPr>
        <p:spPr>
          <a:xfrm>
            <a:off x="5624104" y="3383485"/>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nvGrpSpPr>
          <p:cNvPr id="108" name="Grupo 107">
            <a:extLst>
              <a:ext uri="{FF2B5EF4-FFF2-40B4-BE49-F238E27FC236}">
                <a16:creationId xmlns:a16="http://schemas.microsoft.com/office/drawing/2014/main" id="{492FAAF9-0444-4849-9D4A-5DE644EECBC2}"/>
              </a:ext>
            </a:extLst>
          </p:cNvPr>
          <p:cNvGrpSpPr/>
          <p:nvPr/>
        </p:nvGrpSpPr>
        <p:grpSpPr>
          <a:xfrm>
            <a:off x="3518816" y="3839595"/>
            <a:ext cx="2222751" cy="136663"/>
            <a:chOff x="4892012" y="2764507"/>
            <a:chExt cx="2222751" cy="136663"/>
          </a:xfrm>
        </p:grpSpPr>
        <p:sp>
          <p:nvSpPr>
            <p:cNvPr id="109" name="Rectángulo 108">
              <a:extLst>
                <a:ext uri="{FF2B5EF4-FFF2-40B4-BE49-F238E27FC236}">
                  <a16:creationId xmlns:a16="http://schemas.microsoft.com/office/drawing/2014/main" id="{354947D4-C655-4928-8201-2FF38B659DD5}"/>
                </a:ext>
              </a:extLst>
            </p:cNvPr>
            <p:cNvSpPr/>
            <p:nvPr/>
          </p:nvSpPr>
          <p:spPr>
            <a:xfrm>
              <a:off x="6005195"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0" name="Rectángulo 109">
              <a:extLst>
                <a:ext uri="{FF2B5EF4-FFF2-40B4-BE49-F238E27FC236}">
                  <a16:creationId xmlns:a16="http://schemas.microsoft.com/office/drawing/2014/main" id="{24CBA1B0-A9BB-41D5-909E-C7270F5B0D88}"/>
                </a:ext>
              </a:extLst>
            </p:cNvPr>
            <p:cNvSpPr/>
            <p:nvPr/>
          </p:nvSpPr>
          <p:spPr>
            <a:xfrm>
              <a:off x="6343126"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1" name="Rectángulo 110">
              <a:extLst>
                <a:ext uri="{FF2B5EF4-FFF2-40B4-BE49-F238E27FC236}">
                  <a16:creationId xmlns:a16="http://schemas.microsoft.com/office/drawing/2014/main" id="{E53B3DED-D83B-4262-850B-E25D2E711DF9}"/>
                </a:ext>
              </a:extLst>
            </p:cNvPr>
            <p:cNvSpPr/>
            <p:nvPr/>
          </p:nvSpPr>
          <p:spPr>
            <a:xfrm>
              <a:off x="5667264"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2" name="Rectángulo 111">
              <a:extLst>
                <a:ext uri="{FF2B5EF4-FFF2-40B4-BE49-F238E27FC236}">
                  <a16:creationId xmlns:a16="http://schemas.microsoft.com/office/drawing/2014/main" id="{CC55A234-FC77-4839-8767-35CA778CF2B4}"/>
                </a:ext>
              </a:extLst>
            </p:cNvPr>
            <p:cNvSpPr/>
            <p:nvPr/>
          </p:nvSpPr>
          <p:spPr>
            <a:xfrm>
              <a:off x="4892012" y="2764507"/>
              <a:ext cx="420155" cy="13628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3" name="Rectángulo 112">
              <a:extLst>
                <a:ext uri="{FF2B5EF4-FFF2-40B4-BE49-F238E27FC236}">
                  <a16:creationId xmlns:a16="http://schemas.microsoft.com/office/drawing/2014/main" id="{483CE48E-AEC7-4742-896B-3A67A577056A}"/>
                </a:ext>
              </a:extLst>
            </p:cNvPr>
            <p:cNvSpPr/>
            <p:nvPr/>
          </p:nvSpPr>
          <p:spPr>
            <a:xfrm>
              <a:off x="5329333" y="2764507"/>
              <a:ext cx="337931" cy="13666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4" name="Rectángulo 113">
              <a:extLst>
                <a:ext uri="{FF2B5EF4-FFF2-40B4-BE49-F238E27FC236}">
                  <a16:creationId xmlns:a16="http://schemas.microsoft.com/office/drawing/2014/main" id="{C9D93E0B-EAEC-4082-903B-7637660C5392}"/>
                </a:ext>
              </a:extLst>
            </p:cNvPr>
            <p:cNvSpPr/>
            <p:nvPr/>
          </p:nvSpPr>
          <p:spPr>
            <a:xfrm>
              <a:off x="6698223"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5" name="Rectángulo 114">
              <a:extLst>
                <a:ext uri="{FF2B5EF4-FFF2-40B4-BE49-F238E27FC236}">
                  <a16:creationId xmlns:a16="http://schemas.microsoft.com/office/drawing/2014/main" id="{41BBE793-F125-4DBE-83BD-8F87BDE1E62C}"/>
                </a:ext>
              </a:extLst>
            </p:cNvPr>
            <p:cNvSpPr/>
            <p:nvPr/>
          </p:nvSpPr>
          <p:spPr>
            <a:xfrm>
              <a:off x="6830142"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sp>
          <p:nvSpPr>
            <p:cNvPr id="116" name="Rectángulo 115">
              <a:extLst>
                <a:ext uri="{FF2B5EF4-FFF2-40B4-BE49-F238E27FC236}">
                  <a16:creationId xmlns:a16="http://schemas.microsoft.com/office/drawing/2014/main" id="{5914C137-3D21-4EC2-ABA7-60F761186D22}"/>
                </a:ext>
              </a:extLst>
            </p:cNvPr>
            <p:cNvSpPr/>
            <p:nvPr/>
          </p:nvSpPr>
          <p:spPr>
            <a:xfrm>
              <a:off x="6999107" y="2764507"/>
              <a:ext cx="115656" cy="13666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pSp>
      <p:cxnSp>
        <p:nvCxnSpPr>
          <p:cNvPr id="120" name="Conector recto de flecha 119">
            <a:extLst>
              <a:ext uri="{FF2B5EF4-FFF2-40B4-BE49-F238E27FC236}">
                <a16:creationId xmlns:a16="http://schemas.microsoft.com/office/drawing/2014/main" id="{5C77D8A6-E2C0-49E5-90FB-A1B64309F286}"/>
              </a:ext>
            </a:extLst>
          </p:cNvPr>
          <p:cNvCxnSpPr>
            <a:cxnSpLocks/>
          </p:cNvCxnSpPr>
          <p:nvPr/>
        </p:nvCxnSpPr>
        <p:spPr>
          <a:xfrm>
            <a:off x="2307505" y="4022945"/>
            <a:ext cx="0" cy="3841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CuadroTexto 120">
            <a:extLst>
              <a:ext uri="{FF2B5EF4-FFF2-40B4-BE49-F238E27FC236}">
                <a16:creationId xmlns:a16="http://schemas.microsoft.com/office/drawing/2014/main" id="{F4767084-8C79-47BB-813F-EB437CA1FB09}"/>
              </a:ext>
            </a:extLst>
          </p:cNvPr>
          <p:cNvSpPr txBox="1"/>
          <p:nvPr/>
        </p:nvSpPr>
        <p:spPr>
          <a:xfrm>
            <a:off x="2178926" y="4407105"/>
            <a:ext cx="489045" cy="300082"/>
          </a:xfrm>
          <a:prstGeom prst="rect">
            <a:avLst/>
          </a:prstGeom>
          <a:noFill/>
        </p:spPr>
        <p:txBody>
          <a:bodyPr wrap="none" rtlCol="0">
            <a:spAutoFit/>
          </a:bodyPr>
          <a:lstStyle/>
          <a:p>
            <a:r>
              <a:rPr lang="es-ES" dirty="0">
                <a:solidFill>
                  <a:srgbClr val="FF0000"/>
                </a:solidFill>
              </a:rPr>
              <a:t>fallo</a:t>
            </a:r>
          </a:p>
        </p:txBody>
      </p:sp>
      <p:cxnSp>
        <p:nvCxnSpPr>
          <p:cNvPr id="129" name="Conector recto de flecha 128">
            <a:extLst>
              <a:ext uri="{FF2B5EF4-FFF2-40B4-BE49-F238E27FC236}">
                <a16:creationId xmlns:a16="http://schemas.microsoft.com/office/drawing/2014/main" id="{8B758CB0-7E63-4CD9-B15F-8966CAECF517}"/>
              </a:ext>
            </a:extLst>
          </p:cNvPr>
          <p:cNvCxnSpPr>
            <a:cxnSpLocks/>
            <a:endCxn id="100" idx="2"/>
          </p:cNvCxnSpPr>
          <p:nvPr/>
        </p:nvCxnSpPr>
        <p:spPr>
          <a:xfrm flipH="1" flipV="1">
            <a:off x="4799158" y="3520148"/>
            <a:ext cx="8466" cy="218714"/>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4" name="CuadroTexto 133">
            <a:extLst>
              <a:ext uri="{FF2B5EF4-FFF2-40B4-BE49-F238E27FC236}">
                <a16:creationId xmlns:a16="http://schemas.microsoft.com/office/drawing/2014/main" id="{4A52B284-4278-4B2A-9158-2B65AFE22167}"/>
              </a:ext>
            </a:extLst>
          </p:cNvPr>
          <p:cNvSpPr txBox="1"/>
          <p:nvPr/>
        </p:nvSpPr>
        <p:spPr>
          <a:xfrm>
            <a:off x="6345135" y="1791260"/>
            <a:ext cx="2360355" cy="2377574"/>
          </a:xfrm>
          <a:prstGeom prst="rect">
            <a:avLst/>
          </a:prstGeom>
          <a:noFill/>
        </p:spPr>
        <p:txBody>
          <a:bodyPr wrap="square" rtlCol="0">
            <a:spAutoFit/>
          </a:bodyPr>
          <a:lstStyle/>
          <a:p>
            <a:pPr algn="just"/>
            <a:r>
              <a:rPr lang="es-ES" dirty="0"/>
              <a:t>La circuitería es mucho más compleja. La caché se comporta como una memoria asociativa. Hay un circuito que permite comparar los datos del campo Etiqueta de la dirección con todas las etiquetas instanciadas de forma simultánea y devuelve la línea que contiene el dato o fallo si el bloque no está cargado</a:t>
            </a:r>
          </a:p>
        </p:txBody>
      </p:sp>
      <p:sp>
        <p:nvSpPr>
          <p:cNvPr id="136" name="CuadroTexto 135">
            <a:extLst>
              <a:ext uri="{FF2B5EF4-FFF2-40B4-BE49-F238E27FC236}">
                <a16:creationId xmlns:a16="http://schemas.microsoft.com/office/drawing/2014/main" id="{784F1142-6940-4905-B967-2A8FA4C5E6AB}"/>
              </a:ext>
            </a:extLst>
          </p:cNvPr>
          <p:cNvSpPr txBox="1"/>
          <p:nvPr/>
        </p:nvSpPr>
        <p:spPr>
          <a:xfrm>
            <a:off x="4661789" y="4257064"/>
            <a:ext cx="612668" cy="300082"/>
          </a:xfrm>
          <a:prstGeom prst="rect">
            <a:avLst/>
          </a:prstGeom>
          <a:noFill/>
        </p:spPr>
        <p:txBody>
          <a:bodyPr wrap="none" rtlCol="0">
            <a:spAutoFit/>
          </a:bodyPr>
          <a:lstStyle/>
          <a:p>
            <a:r>
              <a:rPr lang="es-ES" b="1" dirty="0"/>
              <a:t>Caché</a:t>
            </a:r>
          </a:p>
        </p:txBody>
      </p:sp>
      <p:sp>
        <p:nvSpPr>
          <p:cNvPr id="138" name="CuadroTexto 137">
            <a:extLst>
              <a:ext uri="{FF2B5EF4-FFF2-40B4-BE49-F238E27FC236}">
                <a16:creationId xmlns:a16="http://schemas.microsoft.com/office/drawing/2014/main" id="{BD5484F2-AB28-4D1F-9D39-E000ADE6B787}"/>
              </a:ext>
            </a:extLst>
          </p:cNvPr>
          <p:cNvSpPr txBox="1"/>
          <p:nvPr/>
        </p:nvSpPr>
        <p:spPr>
          <a:xfrm>
            <a:off x="1680045" y="1339276"/>
            <a:ext cx="1738874" cy="300082"/>
          </a:xfrm>
          <a:prstGeom prst="rect">
            <a:avLst/>
          </a:prstGeom>
          <a:noFill/>
        </p:spPr>
        <p:txBody>
          <a:bodyPr wrap="none" rtlCol="0">
            <a:spAutoFit/>
          </a:bodyPr>
          <a:lstStyle/>
          <a:p>
            <a:r>
              <a:rPr lang="es-ES" dirty="0"/>
              <a:t>Dirección de memoria</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5" y="993026"/>
            <a:ext cx="4576232" cy="300082"/>
          </a:xfrm>
          <a:prstGeom prst="rect">
            <a:avLst/>
          </a:prstGeom>
          <a:noFill/>
        </p:spPr>
        <p:txBody>
          <a:bodyPr wrap="square">
            <a:spAutoFit/>
          </a:bodyPr>
          <a:lstStyle/>
          <a:p>
            <a:pPr algn="just"/>
            <a:r>
              <a:rPr lang="es-ES" b="1" u="sng" dirty="0"/>
              <a:t>Método de correspondencia asociativa (continuación)</a:t>
            </a:r>
          </a:p>
        </p:txBody>
      </p:sp>
      <p:sp>
        <p:nvSpPr>
          <p:cNvPr id="3" name="CuadroTexto 2">
            <a:extLst>
              <a:ext uri="{FF2B5EF4-FFF2-40B4-BE49-F238E27FC236}">
                <a16:creationId xmlns:a16="http://schemas.microsoft.com/office/drawing/2014/main" id="{FB298F54-3EEF-4610-B339-54675973E010}"/>
              </a:ext>
            </a:extLst>
          </p:cNvPr>
          <p:cNvSpPr txBox="1"/>
          <p:nvPr/>
        </p:nvSpPr>
        <p:spPr>
          <a:xfrm>
            <a:off x="3485674" y="3336211"/>
            <a:ext cx="482824" cy="230832"/>
          </a:xfrm>
          <a:prstGeom prst="rect">
            <a:avLst/>
          </a:prstGeom>
          <a:noFill/>
        </p:spPr>
        <p:txBody>
          <a:bodyPr wrap="none" rtlCol="0">
            <a:spAutoFit/>
          </a:bodyPr>
          <a:lstStyle/>
          <a:p>
            <a:r>
              <a:rPr lang="es-ES" sz="900" b="1" dirty="0"/>
              <a:t>01F1H</a:t>
            </a:r>
          </a:p>
        </p:txBody>
      </p:sp>
      <p:sp>
        <p:nvSpPr>
          <p:cNvPr id="6" name="CuadroTexto 5">
            <a:extLst>
              <a:ext uri="{FF2B5EF4-FFF2-40B4-BE49-F238E27FC236}">
                <a16:creationId xmlns:a16="http://schemas.microsoft.com/office/drawing/2014/main" id="{68B5197D-2078-48B5-93D3-774B0BB7819C}"/>
              </a:ext>
            </a:extLst>
          </p:cNvPr>
          <p:cNvSpPr txBox="1"/>
          <p:nvPr/>
        </p:nvSpPr>
        <p:spPr>
          <a:xfrm>
            <a:off x="3466696" y="2879540"/>
            <a:ext cx="487634" cy="230832"/>
          </a:xfrm>
          <a:prstGeom prst="rect">
            <a:avLst/>
          </a:prstGeom>
          <a:noFill/>
        </p:spPr>
        <p:txBody>
          <a:bodyPr wrap="none" rtlCol="0">
            <a:spAutoFit/>
          </a:bodyPr>
          <a:lstStyle/>
          <a:p>
            <a:r>
              <a:rPr lang="es-ES" sz="900" b="1" dirty="0"/>
              <a:t>0398H</a:t>
            </a:r>
          </a:p>
        </p:txBody>
      </p:sp>
      <p:sp>
        <p:nvSpPr>
          <p:cNvPr id="10" name="CuadroTexto 9">
            <a:extLst>
              <a:ext uri="{FF2B5EF4-FFF2-40B4-BE49-F238E27FC236}">
                <a16:creationId xmlns:a16="http://schemas.microsoft.com/office/drawing/2014/main" id="{3875EBE3-BF81-4F05-8451-D8AEED00874D}"/>
              </a:ext>
            </a:extLst>
          </p:cNvPr>
          <p:cNvSpPr txBox="1"/>
          <p:nvPr/>
        </p:nvSpPr>
        <p:spPr>
          <a:xfrm>
            <a:off x="3441591" y="3792113"/>
            <a:ext cx="570990" cy="230832"/>
          </a:xfrm>
          <a:prstGeom prst="rect">
            <a:avLst/>
          </a:prstGeom>
          <a:noFill/>
        </p:spPr>
        <p:txBody>
          <a:bodyPr wrap="none" rtlCol="0">
            <a:spAutoFit/>
          </a:bodyPr>
          <a:lstStyle/>
          <a:p>
            <a:r>
              <a:rPr lang="es-ES" sz="900" b="1" dirty="0"/>
              <a:t>02AA1H</a:t>
            </a:r>
          </a:p>
        </p:txBody>
      </p:sp>
      <p:sp>
        <p:nvSpPr>
          <p:cNvPr id="11" name="CuadroTexto 10">
            <a:extLst>
              <a:ext uri="{FF2B5EF4-FFF2-40B4-BE49-F238E27FC236}">
                <a16:creationId xmlns:a16="http://schemas.microsoft.com/office/drawing/2014/main" id="{6C14E202-7A73-4D41-B8BB-A54ADF1A16D7}"/>
              </a:ext>
            </a:extLst>
          </p:cNvPr>
          <p:cNvSpPr txBox="1"/>
          <p:nvPr/>
        </p:nvSpPr>
        <p:spPr>
          <a:xfrm>
            <a:off x="3470357" y="3092617"/>
            <a:ext cx="497252" cy="230832"/>
          </a:xfrm>
          <a:prstGeom prst="rect">
            <a:avLst/>
          </a:prstGeom>
          <a:noFill/>
        </p:spPr>
        <p:txBody>
          <a:bodyPr wrap="none" rtlCol="0">
            <a:spAutoFit/>
          </a:bodyPr>
          <a:lstStyle/>
          <a:p>
            <a:r>
              <a:rPr lang="es-ES" sz="900" b="1" dirty="0"/>
              <a:t>03FDH</a:t>
            </a:r>
          </a:p>
        </p:txBody>
      </p:sp>
      <p:sp>
        <p:nvSpPr>
          <p:cNvPr id="13" name="Rectángulo 12">
            <a:extLst>
              <a:ext uri="{FF2B5EF4-FFF2-40B4-BE49-F238E27FC236}">
                <a16:creationId xmlns:a16="http://schemas.microsoft.com/office/drawing/2014/main" id="{23CBADF8-B400-45A0-98AD-C3F065046EF6}"/>
              </a:ext>
            </a:extLst>
          </p:cNvPr>
          <p:cNvSpPr/>
          <p:nvPr/>
        </p:nvSpPr>
        <p:spPr>
          <a:xfrm>
            <a:off x="2204361" y="2705385"/>
            <a:ext cx="564670" cy="13161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80" name="CuadroTexto 79">
            <a:extLst>
              <a:ext uri="{FF2B5EF4-FFF2-40B4-BE49-F238E27FC236}">
                <a16:creationId xmlns:a16="http://schemas.microsoft.com/office/drawing/2014/main" id="{FED0B578-6627-4731-9DE5-AB7E4EA5AC8D}"/>
              </a:ext>
            </a:extLst>
          </p:cNvPr>
          <p:cNvSpPr txBox="1"/>
          <p:nvPr/>
        </p:nvSpPr>
        <p:spPr>
          <a:xfrm rot="16200000">
            <a:off x="1878362" y="3105683"/>
            <a:ext cx="1226666" cy="507831"/>
          </a:xfrm>
          <a:prstGeom prst="rect">
            <a:avLst/>
          </a:prstGeom>
          <a:noFill/>
        </p:spPr>
        <p:txBody>
          <a:bodyPr wrap="square">
            <a:spAutoFit/>
          </a:bodyPr>
          <a:lstStyle/>
          <a:p>
            <a:pPr algn="ctr"/>
            <a:r>
              <a:rPr lang="es-ES" dirty="0">
                <a:solidFill>
                  <a:schemeClr val="bg1"/>
                </a:solidFill>
              </a:rPr>
              <a:t>Comparador </a:t>
            </a:r>
          </a:p>
          <a:p>
            <a:pPr algn="ctr"/>
            <a:r>
              <a:rPr lang="es-ES" dirty="0">
                <a:solidFill>
                  <a:schemeClr val="bg1"/>
                </a:solidFill>
              </a:rPr>
              <a:t>asociativo</a:t>
            </a:r>
          </a:p>
        </p:txBody>
      </p:sp>
      <p:cxnSp>
        <p:nvCxnSpPr>
          <p:cNvPr id="21" name="Conector recto 20">
            <a:extLst>
              <a:ext uri="{FF2B5EF4-FFF2-40B4-BE49-F238E27FC236}">
                <a16:creationId xmlns:a16="http://schemas.microsoft.com/office/drawing/2014/main" id="{77C90045-F0BB-463E-BD31-4ED71FD1D996}"/>
              </a:ext>
            </a:extLst>
          </p:cNvPr>
          <p:cNvCxnSpPr>
            <a:cxnSpLocks/>
            <a:endCxn id="6" idx="1"/>
          </p:cNvCxnSpPr>
          <p:nvPr/>
        </p:nvCxnSpPr>
        <p:spPr>
          <a:xfrm>
            <a:off x="2793078" y="2989151"/>
            <a:ext cx="673618" cy="5805"/>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8" name="Conector recto 87">
            <a:extLst>
              <a:ext uri="{FF2B5EF4-FFF2-40B4-BE49-F238E27FC236}">
                <a16:creationId xmlns:a16="http://schemas.microsoft.com/office/drawing/2014/main" id="{20363216-EB58-4D86-92E3-759FD46F5984}"/>
              </a:ext>
            </a:extLst>
          </p:cNvPr>
          <p:cNvCxnSpPr>
            <a:cxnSpLocks/>
          </p:cNvCxnSpPr>
          <p:nvPr/>
        </p:nvCxnSpPr>
        <p:spPr>
          <a:xfrm>
            <a:off x="2803446" y="3215130"/>
            <a:ext cx="673618" cy="5805"/>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0" name="Conector recto 89">
            <a:extLst>
              <a:ext uri="{FF2B5EF4-FFF2-40B4-BE49-F238E27FC236}">
                <a16:creationId xmlns:a16="http://schemas.microsoft.com/office/drawing/2014/main" id="{4F4E73FB-1B2A-4191-881F-64BB6A24EA4A}"/>
              </a:ext>
            </a:extLst>
          </p:cNvPr>
          <p:cNvCxnSpPr>
            <a:cxnSpLocks/>
          </p:cNvCxnSpPr>
          <p:nvPr/>
        </p:nvCxnSpPr>
        <p:spPr>
          <a:xfrm>
            <a:off x="2788632" y="3907529"/>
            <a:ext cx="673618" cy="5805"/>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9" name="Conector recto 98">
            <a:extLst>
              <a:ext uri="{FF2B5EF4-FFF2-40B4-BE49-F238E27FC236}">
                <a16:creationId xmlns:a16="http://schemas.microsoft.com/office/drawing/2014/main" id="{B5E9B5E8-CC5F-4B7B-BA63-4FFEDB6C6A37}"/>
              </a:ext>
            </a:extLst>
          </p:cNvPr>
          <p:cNvCxnSpPr>
            <a:cxnSpLocks/>
          </p:cNvCxnSpPr>
          <p:nvPr/>
        </p:nvCxnSpPr>
        <p:spPr>
          <a:xfrm>
            <a:off x="2759059" y="3451627"/>
            <a:ext cx="740063"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122" name="Conector recto 121">
            <a:extLst>
              <a:ext uri="{FF2B5EF4-FFF2-40B4-BE49-F238E27FC236}">
                <a16:creationId xmlns:a16="http://schemas.microsoft.com/office/drawing/2014/main" id="{3ED772F0-AFA5-4439-91FA-B08B91BFC050}"/>
              </a:ext>
            </a:extLst>
          </p:cNvPr>
          <p:cNvCxnSpPr>
            <a:cxnSpLocks/>
          </p:cNvCxnSpPr>
          <p:nvPr/>
        </p:nvCxnSpPr>
        <p:spPr>
          <a:xfrm>
            <a:off x="2785294" y="3738861"/>
            <a:ext cx="2013863" cy="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Conector recto 124">
            <a:extLst>
              <a:ext uri="{FF2B5EF4-FFF2-40B4-BE49-F238E27FC236}">
                <a16:creationId xmlns:a16="http://schemas.microsoft.com/office/drawing/2014/main" id="{23FFB049-4145-4FC7-BB5F-E1610942BCE0}"/>
              </a:ext>
            </a:extLst>
          </p:cNvPr>
          <p:cNvCxnSpPr>
            <a:cxnSpLocks/>
          </p:cNvCxnSpPr>
          <p:nvPr/>
        </p:nvCxnSpPr>
        <p:spPr>
          <a:xfrm>
            <a:off x="2673424" y="2084967"/>
            <a:ext cx="0" cy="608535"/>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6" name="Conector recto 125">
            <a:extLst>
              <a:ext uri="{FF2B5EF4-FFF2-40B4-BE49-F238E27FC236}">
                <a16:creationId xmlns:a16="http://schemas.microsoft.com/office/drawing/2014/main" id="{1144C5F8-BD73-4F7A-837B-E8346D4FC72C}"/>
              </a:ext>
            </a:extLst>
          </p:cNvPr>
          <p:cNvCxnSpPr>
            <a:cxnSpLocks/>
          </p:cNvCxnSpPr>
          <p:nvPr/>
        </p:nvCxnSpPr>
        <p:spPr>
          <a:xfrm flipH="1">
            <a:off x="2667971" y="2084967"/>
            <a:ext cx="1714750" cy="0"/>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7" name="Conector recto 126">
            <a:extLst>
              <a:ext uri="{FF2B5EF4-FFF2-40B4-BE49-F238E27FC236}">
                <a16:creationId xmlns:a16="http://schemas.microsoft.com/office/drawing/2014/main" id="{D05671BE-B545-4F05-9535-9EE3542260EC}"/>
              </a:ext>
            </a:extLst>
          </p:cNvPr>
          <p:cNvCxnSpPr>
            <a:cxnSpLocks/>
          </p:cNvCxnSpPr>
          <p:nvPr/>
        </p:nvCxnSpPr>
        <p:spPr>
          <a:xfrm>
            <a:off x="4382721" y="1893116"/>
            <a:ext cx="0" cy="191851"/>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8" name="Conector recto 127">
            <a:extLst>
              <a:ext uri="{FF2B5EF4-FFF2-40B4-BE49-F238E27FC236}">
                <a16:creationId xmlns:a16="http://schemas.microsoft.com/office/drawing/2014/main" id="{A8627D64-6937-4D24-896C-DAE86C4985B2}"/>
              </a:ext>
            </a:extLst>
          </p:cNvPr>
          <p:cNvCxnSpPr>
            <a:cxnSpLocks/>
          </p:cNvCxnSpPr>
          <p:nvPr/>
        </p:nvCxnSpPr>
        <p:spPr>
          <a:xfrm>
            <a:off x="2415689" y="1893116"/>
            <a:ext cx="0" cy="812269"/>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0" name="CuadroTexto 39">
            <a:extLst>
              <a:ext uri="{FF2B5EF4-FFF2-40B4-BE49-F238E27FC236}">
                <a16:creationId xmlns:a16="http://schemas.microsoft.com/office/drawing/2014/main" id="{8E8C3143-446F-447D-8A50-C13B3D46E1AF}"/>
              </a:ext>
            </a:extLst>
          </p:cNvPr>
          <p:cNvSpPr txBox="1"/>
          <p:nvPr/>
        </p:nvSpPr>
        <p:spPr>
          <a:xfrm>
            <a:off x="2790728" y="3490119"/>
            <a:ext cx="676724" cy="300082"/>
          </a:xfrm>
          <a:prstGeom prst="rect">
            <a:avLst/>
          </a:prstGeom>
          <a:noFill/>
        </p:spPr>
        <p:txBody>
          <a:bodyPr wrap="none" rtlCol="0">
            <a:spAutoFit/>
          </a:bodyPr>
          <a:lstStyle/>
          <a:p>
            <a:r>
              <a:rPr lang="es-ES" dirty="0">
                <a:solidFill>
                  <a:srgbClr val="00B050"/>
                </a:solidFill>
              </a:rPr>
              <a:t>acierto</a:t>
            </a:r>
          </a:p>
        </p:txBody>
      </p:sp>
    </p:spTree>
    <p:extLst>
      <p:ext uri="{BB962C8B-B14F-4D97-AF65-F5344CB8AC3E}">
        <p14:creationId xmlns:p14="http://schemas.microsoft.com/office/powerpoint/2010/main" val="1042195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5" y="993026"/>
            <a:ext cx="4576232" cy="300082"/>
          </a:xfrm>
          <a:prstGeom prst="rect">
            <a:avLst/>
          </a:prstGeom>
          <a:noFill/>
        </p:spPr>
        <p:txBody>
          <a:bodyPr wrap="square">
            <a:spAutoFit/>
          </a:bodyPr>
          <a:lstStyle/>
          <a:p>
            <a:pPr algn="just"/>
            <a:r>
              <a:rPr lang="es-ES" b="1" u="sng" dirty="0"/>
              <a:t>Método de correspondencia asociativa (continuación)</a:t>
            </a:r>
          </a:p>
        </p:txBody>
      </p:sp>
      <p:sp>
        <p:nvSpPr>
          <p:cNvPr id="3" name="CuadroTexto 2">
            <a:extLst>
              <a:ext uri="{FF2B5EF4-FFF2-40B4-BE49-F238E27FC236}">
                <a16:creationId xmlns:a16="http://schemas.microsoft.com/office/drawing/2014/main" id="{4FFE3FA1-3BE7-456B-A818-D4D684283BC7}"/>
              </a:ext>
            </a:extLst>
          </p:cNvPr>
          <p:cNvSpPr txBox="1"/>
          <p:nvPr/>
        </p:nvSpPr>
        <p:spPr>
          <a:xfrm>
            <a:off x="1704449" y="1509920"/>
            <a:ext cx="6763689" cy="1338828"/>
          </a:xfrm>
          <a:prstGeom prst="rect">
            <a:avLst/>
          </a:prstGeom>
          <a:noFill/>
        </p:spPr>
        <p:txBody>
          <a:bodyPr wrap="square" rtlCol="0">
            <a:spAutoFit/>
          </a:bodyPr>
          <a:lstStyle/>
          <a:p>
            <a:r>
              <a:rPr lang="es-ES" dirty="0"/>
              <a:t>Inconvenientes del método:</a:t>
            </a:r>
          </a:p>
          <a:p>
            <a:endParaRPr lang="es-ES" dirty="0"/>
          </a:p>
          <a:p>
            <a:pPr marL="285750" indent="-285750" algn="just">
              <a:buFont typeface="Arial" panose="020B0604020202020204" pitchFamily="34" charset="0"/>
              <a:buChar char="•"/>
            </a:pPr>
            <a:r>
              <a:rPr lang="es-ES" dirty="0"/>
              <a:t>El principal es la complejidad electrónica. El comparador tiene que ser capaz de comparar los m bits de la etiqueta, para cada una de las n líneas de la caché. Esto se hace mediante circuitos combinacionales que ocupan superficie muy valiosa de la oblea del microprocesador y no escala para los tamaños actuales de memoria.</a:t>
            </a:r>
          </a:p>
        </p:txBody>
      </p:sp>
      <p:sp>
        <p:nvSpPr>
          <p:cNvPr id="2" name="CuadroTexto 1">
            <a:extLst>
              <a:ext uri="{FF2B5EF4-FFF2-40B4-BE49-F238E27FC236}">
                <a16:creationId xmlns:a16="http://schemas.microsoft.com/office/drawing/2014/main" id="{95E3662F-4D1B-4B95-B1B0-98FC5EF5C466}"/>
              </a:ext>
            </a:extLst>
          </p:cNvPr>
          <p:cNvSpPr txBox="1"/>
          <p:nvPr/>
        </p:nvSpPr>
        <p:spPr>
          <a:xfrm>
            <a:off x="1680045" y="3065561"/>
            <a:ext cx="6788093" cy="2169825"/>
          </a:xfrm>
          <a:prstGeom prst="rect">
            <a:avLst/>
          </a:prstGeom>
          <a:noFill/>
        </p:spPr>
        <p:txBody>
          <a:bodyPr wrap="square">
            <a:spAutoFit/>
          </a:bodyPr>
          <a:lstStyle/>
          <a:p>
            <a:pPr algn="just"/>
            <a:r>
              <a:rPr lang="es-ES" b="1" u="sng" dirty="0"/>
              <a:t>Método de correspondencia asociativa por conjuntos</a:t>
            </a:r>
          </a:p>
          <a:p>
            <a:pPr algn="just"/>
            <a:endParaRPr lang="es-ES" b="1" u="sng" dirty="0"/>
          </a:p>
          <a:p>
            <a:pPr algn="just"/>
            <a:r>
              <a:rPr lang="es-ES" dirty="0"/>
              <a:t>El tercer y último método combina ventajas de la correspondencia directa y de la asociativa alcanzando un rendimiento muy parecido al de esta última. Los bloques se agrupan en conjuntos de tamaño fijo (potencia de dos) y cada conjunto se instancia siempre en las mismas líneas de caché. La flexibilidad surge porque dentro de las líneas del conjunto un bloque puede instanciarse en cualquiera de ellas. Hay solo un comparador asociativo por conjunto muy simple puesto que solo tendrá que realizar las comparaciones de las líneas del conjunto seleccionado.</a:t>
            </a:r>
          </a:p>
          <a:p>
            <a:pPr algn="just"/>
            <a:endParaRPr lang="es-ES" b="1" u="sng" dirty="0"/>
          </a:p>
        </p:txBody>
      </p:sp>
    </p:spTree>
    <p:extLst>
      <p:ext uri="{BB962C8B-B14F-4D97-AF65-F5344CB8AC3E}">
        <p14:creationId xmlns:p14="http://schemas.microsoft.com/office/powerpoint/2010/main" val="1816001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3" name="CuadroTexto 2">
            <a:extLst>
              <a:ext uri="{FF2B5EF4-FFF2-40B4-BE49-F238E27FC236}">
                <a16:creationId xmlns:a16="http://schemas.microsoft.com/office/drawing/2014/main" id="{EDC2B7CE-0CC7-4786-9118-E84701C9AE0F}"/>
              </a:ext>
            </a:extLst>
          </p:cNvPr>
          <p:cNvSpPr txBox="1"/>
          <p:nvPr/>
        </p:nvSpPr>
        <p:spPr>
          <a:xfrm>
            <a:off x="1776414" y="967464"/>
            <a:ext cx="6840812" cy="2169825"/>
          </a:xfrm>
          <a:prstGeom prst="rect">
            <a:avLst/>
          </a:prstGeom>
          <a:noFill/>
        </p:spPr>
        <p:txBody>
          <a:bodyPr wrap="square" rtlCol="0">
            <a:spAutoFit/>
          </a:bodyPr>
          <a:lstStyle/>
          <a:p>
            <a:pPr algn="just"/>
            <a:r>
              <a:rPr lang="es-ES" b="1" u="sng" dirty="0"/>
              <a:t>Método de correspondencia asociativa por conjuntos (continuación)</a:t>
            </a:r>
          </a:p>
          <a:p>
            <a:pPr algn="just"/>
            <a:endParaRPr lang="es-ES" dirty="0"/>
          </a:p>
          <a:p>
            <a:pPr algn="just"/>
            <a:r>
              <a:rPr lang="es-ES" dirty="0"/>
              <a:t>Las direcciones tienen tres campos. Los bits de menor peso como siempre son la palabra dentro de la línea [es el único campo común a los tres métodos]. Los bits intermedios permiten seleccionar el conjunto de bloques. Si C es el conjunto que viene en la dirección, y </a:t>
            </a:r>
            <a:r>
              <a:rPr lang="es-ES" dirty="0" err="1"/>
              <a:t>nc</a:t>
            </a:r>
            <a:r>
              <a:rPr lang="es-ES" dirty="0"/>
              <a:t> el número de conjuntos de la caché, se mapea en C mod </a:t>
            </a:r>
            <a:r>
              <a:rPr lang="es-ES" dirty="0" err="1"/>
              <a:t>nc</a:t>
            </a:r>
            <a:r>
              <a:rPr lang="es-ES" dirty="0"/>
              <a:t>. Cada conjunto de la caché agrupa un número de líneas igual al número de bloques de un conjunto. Los de mayor peso son la etiqueta, que nos permite saber de qué bloque dentro de un conjunto se trata.</a:t>
            </a:r>
          </a:p>
          <a:p>
            <a:pPr algn="just"/>
            <a:r>
              <a:rPr lang="es-ES" dirty="0"/>
              <a:t>Para el mismo ejemplo de máquina con 16 bits de direcciones, supongamos conjuntos de 8 bloques (3 bits de dirección) y líneas de 8 bytes (3 bits). El número de conjuntos es 2</a:t>
            </a:r>
            <a:r>
              <a:rPr lang="es-ES" baseline="30000" dirty="0"/>
              <a:t>10</a:t>
            </a:r>
            <a:r>
              <a:rPr lang="es-ES" dirty="0"/>
              <a:t> (1024) </a:t>
            </a:r>
          </a:p>
        </p:txBody>
      </p:sp>
      <p:sp>
        <p:nvSpPr>
          <p:cNvPr id="7" name="CuadroTexto 6">
            <a:extLst>
              <a:ext uri="{FF2B5EF4-FFF2-40B4-BE49-F238E27FC236}">
                <a16:creationId xmlns:a16="http://schemas.microsoft.com/office/drawing/2014/main" id="{858F8A5F-1E2B-4127-8E42-EE1C3F434797}"/>
              </a:ext>
            </a:extLst>
          </p:cNvPr>
          <p:cNvSpPr txBox="1"/>
          <p:nvPr/>
        </p:nvSpPr>
        <p:spPr>
          <a:xfrm>
            <a:off x="7263494" y="3403044"/>
            <a:ext cx="272832" cy="300082"/>
          </a:xfrm>
          <a:prstGeom prst="rect">
            <a:avLst/>
          </a:prstGeom>
          <a:noFill/>
        </p:spPr>
        <p:txBody>
          <a:bodyPr wrap="none" rtlCol="0">
            <a:spAutoFit/>
          </a:bodyPr>
          <a:lstStyle/>
          <a:p>
            <a:r>
              <a:rPr lang="es-ES" dirty="0"/>
              <a:t>0</a:t>
            </a:r>
          </a:p>
        </p:txBody>
      </p:sp>
      <p:sp>
        <p:nvSpPr>
          <p:cNvPr id="8" name="CuadroTexto 7">
            <a:extLst>
              <a:ext uri="{FF2B5EF4-FFF2-40B4-BE49-F238E27FC236}">
                <a16:creationId xmlns:a16="http://schemas.microsoft.com/office/drawing/2014/main" id="{4C3FA210-E12B-424A-948E-A75168FA4B9E}"/>
              </a:ext>
            </a:extLst>
          </p:cNvPr>
          <p:cNvSpPr txBox="1"/>
          <p:nvPr/>
        </p:nvSpPr>
        <p:spPr>
          <a:xfrm>
            <a:off x="6942710" y="3403044"/>
            <a:ext cx="272832" cy="300082"/>
          </a:xfrm>
          <a:prstGeom prst="rect">
            <a:avLst/>
          </a:prstGeom>
          <a:noFill/>
        </p:spPr>
        <p:txBody>
          <a:bodyPr wrap="none" rtlCol="0">
            <a:spAutoFit/>
          </a:bodyPr>
          <a:lstStyle/>
          <a:p>
            <a:r>
              <a:rPr lang="es-ES" dirty="0"/>
              <a:t>1</a:t>
            </a:r>
          </a:p>
        </p:txBody>
      </p:sp>
      <p:sp>
        <p:nvSpPr>
          <p:cNvPr id="9" name="Rectángulo 8">
            <a:extLst>
              <a:ext uri="{FF2B5EF4-FFF2-40B4-BE49-F238E27FC236}">
                <a16:creationId xmlns:a16="http://schemas.microsoft.com/office/drawing/2014/main" id="{AEC8EB64-C5F0-4DFB-9DCE-C861385BA4B8}"/>
              </a:ext>
            </a:extLst>
          </p:cNvPr>
          <p:cNvSpPr/>
          <p:nvPr/>
        </p:nvSpPr>
        <p:spPr>
          <a:xfrm>
            <a:off x="6935962" y="3703126"/>
            <a:ext cx="304800" cy="378691"/>
          </a:xfrm>
          <a:prstGeom prst="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Rectángulo 9">
            <a:extLst>
              <a:ext uri="{FF2B5EF4-FFF2-40B4-BE49-F238E27FC236}">
                <a16:creationId xmlns:a16="http://schemas.microsoft.com/office/drawing/2014/main" id="{16C0ACFB-9D19-4F31-8E4F-E2EC3EE7A68F}"/>
              </a:ext>
            </a:extLst>
          </p:cNvPr>
          <p:cNvSpPr/>
          <p:nvPr/>
        </p:nvSpPr>
        <p:spPr>
          <a:xfrm>
            <a:off x="7240762" y="3703126"/>
            <a:ext cx="304800" cy="378691"/>
          </a:xfrm>
          <a:prstGeom prst="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Rectángulo 10">
            <a:extLst>
              <a:ext uri="{FF2B5EF4-FFF2-40B4-BE49-F238E27FC236}">
                <a16:creationId xmlns:a16="http://schemas.microsoft.com/office/drawing/2014/main" id="{7D325D55-7FDB-4523-8115-BA93BBC82C2F}"/>
              </a:ext>
            </a:extLst>
          </p:cNvPr>
          <p:cNvSpPr/>
          <p:nvPr/>
        </p:nvSpPr>
        <p:spPr>
          <a:xfrm>
            <a:off x="6632406" y="3703126"/>
            <a:ext cx="304800" cy="378691"/>
          </a:xfrm>
          <a:prstGeom prst="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Rectángulo 11">
            <a:extLst>
              <a:ext uri="{FF2B5EF4-FFF2-40B4-BE49-F238E27FC236}">
                <a16:creationId xmlns:a16="http://schemas.microsoft.com/office/drawing/2014/main" id="{D3C87BBB-9C50-443F-B38B-579A5C1B0464}"/>
              </a:ext>
            </a:extLst>
          </p:cNvPr>
          <p:cNvSpPr/>
          <p:nvPr/>
        </p:nvSpPr>
        <p:spPr>
          <a:xfrm>
            <a:off x="6322102" y="3703126"/>
            <a:ext cx="304800" cy="378691"/>
          </a:xfrm>
          <a:prstGeom prst="rect">
            <a:avLst/>
          </a:prstGeom>
          <a:solidFill>
            <a:schemeClr val="accent4">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 name="CuadroTexto 12">
            <a:extLst>
              <a:ext uri="{FF2B5EF4-FFF2-40B4-BE49-F238E27FC236}">
                <a16:creationId xmlns:a16="http://schemas.microsoft.com/office/drawing/2014/main" id="{05AA934D-568B-4D2D-A62C-21064566199B}"/>
              </a:ext>
            </a:extLst>
          </p:cNvPr>
          <p:cNvSpPr txBox="1"/>
          <p:nvPr/>
        </p:nvSpPr>
        <p:spPr>
          <a:xfrm>
            <a:off x="6645902" y="3403044"/>
            <a:ext cx="272832" cy="300082"/>
          </a:xfrm>
          <a:prstGeom prst="rect">
            <a:avLst/>
          </a:prstGeom>
          <a:noFill/>
        </p:spPr>
        <p:txBody>
          <a:bodyPr wrap="none" rtlCol="0">
            <a:spAutoFit/>
          </a:bodyPr>
          <a:lstStyle/>
          <a:p>
            <a:r>
              <a:rPr lang="es-ES" dirty="0"/>
              <a:t>2</a:t>
            </a:r>
          </a:p>
        </p:txBody>
      </p:sp>
      <p:sp>
        <p:nvSpPr>
          <p:cNvPr id="14" name="CuadroTexto 13">
            <a:extLst>
              <a:ext uri="{FF2B5EF4-FFF2-40B4-BE49-F238E27FC236}">
                <a16:creationId xmlns:a16="http://schemas.microsoft.com/office/drawing/2014/main" id="{0015157E-AEBA-4283-BFA7-B8E865A3D79E}"/>
              </a:ext>
            </a:extLst>
          </p:cNvPr>
          <p:cNvSpPr txBox="1"/>
          <p:nvPr/>
        </p:nvSpPr>
        <p:spPr>
          <a:xfrm>
            <a:off x="6346608" y="3403044"/>
            <a:ext cx="272832" cy="300082"/>
          </a:xfrm>
          <a:prstGeom prst="rect">
            <a:avLst/>
          </a:prstGeom>
          <a:noFill/>
        </p:spPr>
        <p:txBody>
          <a:bodyPr wrap="none" rtlCol="0">
            <a:spAutoFit/>
          </a:bodyPr>
          <a:lstStyle/>
          <a:p>
            <a:r>
              <a:rPr lang="es-ES" dirty="0"/>
              <a:t>3</a:t>
            </a:r>
          </a:p>
        </p:txBody>
      </p:sp>
      <p:sp>
        <p:nvSpPr>
          <p:cNvPr id="15" name="Rectángulo 14">
            <a:extLst>
              <a:ext uri="{FF2B5EF4-FFF2-40B4-BE49-F238E27FC236}">
                <a16:creationId xmlns:a16="http://schemas.microsoft.com/office/drawing/2014/main" id="{6C424A2D-EC38-43A1-8701-6963EAF64A82}"/>
              </a:ext>
            </a:extLst>
          </p:cNvPr>
          <p:cNvSpPr/>
          <p:nvPr/>
        </p:nvSpPr>
        <p:spPr>
          <a:xfrm>
            <a:off x="5710636" y="3703126"/>
            <a:ext cx="304800" cy="378691"/>
          </a:xfrm>
          <a:prstGeom prst="rect">
            <a:avLst/>
          </a:prstGeom>
          <a:solidFill>
            <a:schemeClr val="accent4">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6" name="Rectángulo 15">
            <a:extLst>
              <a:ext uri="{FF2B5EF4-FFF2-40B4-BE49-F238E27FC236}">
                <a16:creationId xmlns:a16="http://schemas.microsoft.com/office/drawing/2014/main" id="{377371A0-C211-445E-A9C6-2FE90126F8D9}"/>
              </a:ext>
            </a:extLst>
          </p:cNvPr>
          <p:cNvSpPr/>
          <p:nvPr/>
        </p:nvSpPr>
        <p:spPr>
          <a:xfrm>
            <a:off x="6015436" y="3703126"/>
            <a:ext cx="304800" cy="378691"/>
          </a:xfrm>
          <a:prstGeom prst="rect">
            <a:avLst/>
          </a:prstGeom>
          <a:solidFill>
            <a:schemeClr val="accent4">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7" name="Rectángulo 16">
            <a:extLst>
              <a:ext uri="{FF2B5EF4-FFF2-40B4-BE49-F238E27FC236}">
                <a16:creationId xmlns:a16="http://schemas.microsoft.com/office/drawing/2014/main" id="{5FEBE05E-B5AC-41F5-A3F8-F39DE74FF1EE}"/>
              </a:ext>
            </a:extLst>
          </p:cNvPr>
          <p:cNvSpPr/>
          <p:nvPr/>
        </p:nvSpPr>
        <p:spPr>
          <a:xfrm>
            <a:off x="5407080" y="3703126"/>
            <a:ext cx="304800" cy="378691"/>
          </a:xfrm>
          <a:prstGeom prst="rect">
            <a:avLst/>
          </a:prstGeom>
          <a:solidFill>
            <a:schemeClr val="accent4">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8" name="Rectángulo 17">
            <a:extLst>
              <a:ext uri="{FF2B5EF4-FFF2-40B4-BE49-F238E27FC236}">
                <a16:creationId xmlns:a16="http://schemas.microsoft.com/office/drawing/2014/main" id="{40262CA6-4F84-4109-8836-1F4B07BA98E1}"/>
              </a:ext>
            </a:extLst>
          </p:cNvPr>
          <p:cNvSpPr/>
          <p:nvPr/>
        </p:nvSpPr>
        <p:spPr>
          <a:xfrm>
            <a:off x="5096776" y="3703126"/>
            <a:ext cx="304800" cy="378691"/>
          </a:xfrm>
          <a:prstGeom prst="rect">
            <a:avLst/>
          </a:prstGeom>
          <a:solidFill>
            <a:schemeClr val="accent4">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19" name="Grupo 18">
            <a:extLst>
              <a:ext uri="{FF2B5EF4-FFF2-40B4-BE49-F238E27FC236}">
                <a16:creationId xmlns:a16="http://schemas.microsoft.com/office/drawing/2014/main" id="{DB3E05C4-01E8-4A42-8D2E-3E9248726D46}"/>
              </a:ext>
            </a:extLst>
          </p:cNvPr>
          <p:cNvGrpSpPr/>
          <p:nvPr/>
        </p:nvGrpSpPr>
        <p:grpSpPr>
          <a:xfrm>
            <a:off x="3871450" y="3703125"/>
            <a:ext cx="1223460" cy="378691"/>
            <a:chOff x="5602213" y="3530001"/>
            <a:chExt cx="1223460" cy="378691"/>
          </a:xfrm>
          <a:solidFill>
            <a:schemeClr val="accent4">
              <a:lumMod val="20000"/>
              <a:lumOff val="80000"/>
            </a:schemeClr>
          </a:solidFill>
        </p:grpSpPr>
        <p:sp>
          <p:nvSpPr>
            <p:cNvPr id="20" name="Rectángulo 19">
              <a:extLst>
                <a:ext uri="{FF2B5EF4-FFF2-40B4-BE49-F238E27FC236}">
                  <a16:creationId xmlns:a16="http://schemas.microsoft.com/office/drawing/2014/main" id="{AA5470F0-D202-45A9-840D-9A2087E8FABA}"/>
                </a:ext>
              </a:extLst>
            </p:cNvPr>
            <p:cNvSpPr/>
            <p:nvPr/>
          </p:nvSpPr>
          <p:spPr>
            <a:xfrm>
              <a:off x="621607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1" name="Rectángulo 20">
              <a:extLst>
                <a:ext uri="{FF2B5EF4-FFF2-40B4-BE49-F238E27FC236}">
                  <a16:creationId xmlns:a16="http://schemas.microsoft.com/office/drawing/2014/main" id="{A484391E-A45B-48DE-8C60-BA5A130AEC7A}"/>
                </a:ext>
              </a:extLst>
            </p:cNvPr>
            <p:cNvSpPr/>
            <p:nvPr/>
          </p:nvSpPr>
          <p:spPr>
            <a:xfrm>
              <a:off x="652087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2" name="Rectángulo 21">
              <a:extLst>
                <a:ext uri="{FF2B5EF4-FFF2-40B4-BE49-F238E27FC236}">
                  <a16:creationId xmlns:a16="http://schemas.microsoft.com/office/drawing/2014/main" id="{48FF340F-BD15-4BAD-99CC-2925F926A3D1}"/>
                </a:ext>
              </a:extLst>
            </p:cNvPr>
            <p:cNvSpPr/>
            <p:nvPr/>
          </p:nvSpPr>
          <p:spPr>
            <a:xfrm>
              <a:off x="5912517"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3" name="Rectángulo 22">
              <a:extLst>
                <a:ext uri="{FF2B5EF4-FFF2-40B4-BE49-F238E27FC236}">
                  <a16:creationId xmlns:a16="http://schemas.microsoft.com/office/drawing/2014/main" id="{75F6BF58-09F1-43D6-9BAF-C60BC07C4801}"/>
                </a:ext>
              </a:extLst>
            </p:cNvPr>
            <p:cNvSpPr/>
            <p:nvPr/>
          </p:nvSpPr>
          <p:spPr>
            <a:xfrm>
              <a:off x="5602213" y="3530001"/>
              <a:ext cx="304800" cy="378691"/>
            </a:xfrm>
            <a:prstGeom prst="rect">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
        <p:nvSpPr>
          <p:cNvPr id="25" name="Rectángulo 24">
            <a:extLst>
              <a:ext uri="{FF2B5EF4-FFF2-40B4-BE49-F238E27FC236}">
                <a16:creationId xmlns:a16="http://schemas.microsoft.com/office/drawing/2014/main" id="{53336D78-2580-476C-8F92-26AFB7E9FD8F}"/>
              </a:ext>
            </a:extLst>
          </p:cNvPr>
          <p:cNvSpPr/>
          <p:nvPr/>
        </p:nvSpPr>
        <p:spPr>
          <a:xfrm>
            <a:off x="3263094"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6" name="Rectángulo 25">
            <a:extLst>
              <a:ext uri="{FF2B5EF4-FFF2-40B4-BE49-F238E27FC236}">
                <a16:creationId xmlns:a16="http://schemas.microsoft.com/office/drawing/2014/main" id="{8648A9A0-455D-4DAA-ABB3-2E37211F773F}"/>
              </a:ext>
            </a:extLst>
          </p:cNvPr>
          <p:cNvSpPr/>
          <p:nvPr/>
        </p:nvSpPr>
        <p:spPr>
          <a:xfrm>
            <a:off x="3567894" y="3703124"/>
            <a:ext cx="304800" cy="378691"/>
          </a:xfrm>
          <a:prstGeom prst="rect">
            <a:avLst/>
          </a:prstGeom>
          <a:solidFill>
            <a:schemeClr val="accent4">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7" name="Rectángulo 26">
            <a:extLst>
              <a:ext uri="{FF2B5EF4-FFF2-40B4-BE49-F238E27FC236}">
                <a16:creationId xmlns:a16="http://schemas.microsoft.com/office/drawing/2014/main" id="{35B730A5-DCA5-4A9B-924E-0C0F9C3E5A2D}"/>
              </a:ext>
            </a:extLst>
          </p:cNvPr>
          <p:cNvSpPr/>
          <p:nvPr/>
        </p:nvSpPr>
        <p:spPr>
          <a:xfrm>
            <a:off x="2959538"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 name="Rectángulo 27">
            <a:extLst>
              <a:ext uri="{FF2B5EF4-FFF2-40B4-BE49-F238E27FC236}">
                <a16:creationId xmlns:a16="http://schemas.microsoft.com/office/drawing/2014/main" id="{5F03FDA7-46AC-4690-B998-3C5066F67F3F}"/>
              </a:ext>
            </a:extLst>
          </p:cNvPr>
          <p:cNvSpPr/>
          <p:nvPr/>
        </p:nvSpPr>
        <p:spPr>
          <a:xfrm>
            <a:off x="2649234"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9" name="CuadroTexto 28">
            <a:extLst>
              <a:ext uri="{FF2B5EF4-FFF2-40B4-BE49-F238E27FC236}">
                <a16:creationId xmlns:a16="http://schemas.microsoft.com/office/drawing/2014/main" id="{4B4ED921-6EB2-4504-983C-1B36CF935EAB}"/>
              </a:ext>
            </a:extLst>
          </p:cNvPr>
          <p:cNvSpPr txBox="1"/>
          <p:nvPr/>
        </p:nvSpPr>
        <p:spPr>
          <a:xfrm>
            <a:off x="6033597" y="3403042"/>
            <a:ext cx="272832" cy="300082"/>
          </a:xfrm>
          <a:prstGeom prst="rect">
            <a:avLst/>
          </a:prstGeom>
          <a:noFill/>
        </p:spPr>
        <p:txBody>
          <a:bodyPr wrap="none" rtlCol="0">
            <a:spAutoFit/>
          </a:bodyPr>
          <a:lstStyle/>
          <a:p>
            <a:r>
              <a:rPr lang="es-ES" dirty="0"/>
              <a:t>4</a:t>
            </a:r>
          </a:p>
        </p:txBody>
      </p:sp>
      <p:sp>
        <p:nvSpPr>
          <p:cNvPr id="30" name="CuadroTexto 29">
            <a:extLst>
              <a:ext uri="{FF2B5EF4-FFF2-40B4-BE49-F238E27FC236}">
                <a16:creationId xmlns:a16="http://schemas.microsoft.com/office/drawing/2014/main" id="{D42E2CFD-AD71-4F48-BC6D-8C4A9B7DC561}"/>
              </a:ext>
            </a:extLst>
          </p:cNvPr>
          <p:cNvSpPr txBox="1"/>
          <p:nvPr/>
        </p:nvSpPr>
        <p:spPr>
          <a:xfrm>
            <a:off x="5712813" y="3403042"/>
            <a:ext cx="272832" cy="300082"/>
          </a:xfrm>
          <a:prstGeom prst="rect">
            <a:avLst/>
          </a:prstGeom>
          <a:noFill/>
        </p:spPr>
        <p:txBody>
          <a:bodyPr wrap="none" rtlCol="0">
            <a:spAutoFit/>
          </a:bodyPr>
          <a:lstStyle/>
          <a:p>
            <a:r>
              <a:rPr lang="es-ES" dirty="0"/>
              <a:t>5</a:t>
            </a:r>
          </a:p>
        </p:txBody>
      </p:sp>
      <p:sp>
        <p:nvSpPr>
          <p:cNvPr id="31" name="CuadroTexto 30">
            <a:extLst>
              <a:ext uri="{FF2B5EF4-FFF2-40B4-BE49-F238E27FC236}">
                <a16:creationId xmlns:a16="http://schemas.microsoft.com/office/drawing/2014/main" id="{3B0231BC-64DC-49A5-9E6C-8394A72B49EC}"/>
              </a:ext>
            </a:extLst>
          </p:cNvPr>
          <p:cNvSpPr txBox="1"/>
          <p:nvPr/>
        </p:nvSpPr>
        <p:spPr>
          <a:xfrm>
            <a:off x="5416005" y="3403042"/>
            <a:ext cx="272832" cy="300082"/>
          </a:xfrm>
          <a:prstGeom prst="rect">
            <a:avLst/>
          </a:prstGeom>
          <a:noFill/>
        </p:spPr>
        <p:txBody>
          <a:bodyPr wrap="none" rtlCol="0">
            <a:spAutoFit/>
          </a:bodyPr>
          <a:lstStyle/>
          <a:p>
            <a:r>
              <a:rPr lang="es-ES" dirty="0"/>
              <a:t>6</a:t>
            </a:r>
          </a:p>
        </p:txBody>
      </p:sp>
      <p:sp>
        <p:nvSpPr>
          <p:cNvPr id="32" name="CuadroTexto 31">
            <a:extLst>
              <a:ext uri="{FF2B5EF4-FFF2-40B4-BE49-F238E27FC236}">
                <a16:creationId xmlns:a16="http://schemas.microsoft.com/office/drawing/2014/main" id="{A2228557-9D0B-47FB-ADF9-AC5BFDD3CC84}"/>
              </a:ext>
            </a:extLst>
          </p:cNvPr>
          <p:cNvSpPr txBox="1"/>
          <p:nvPr/>
        </p:nvSpPr>
        <p:spPr>
          <a:xfrm>
            <a:off x="5116711" y="3403042"/>
            <a:ext cx="272832" cy="300082"/>
          </a:xfrm>
          <a:prstGeom prst="rect">
            <a:avLst/>
          </a:prstGeom>
          <a:noFill/>
        </p:spPr>
        <p:txBody>
          <a:bodyPr wrap="none" rtlCol="0">
            <a:spAutoFit/>
          </a:bodyPr>
          <a:lstStyle/>
          <a:p>
            <a:r>
              <a:rPr lang="es-ES" dirty="0"/>
              <a:t>7</a:t>
            </a:r>
          </a:p>
        </p:txBody>
      </p:sp>
      <p:sp>
        <p:nvSpPr>
          <p:cNvPr id="33" name="CuadroTexto 32">
            <a:extLst>
              <a:ext uri="{FF2B5EF4-FFF2-40B4-BE49-F238E27FC236}">
                <a16:creationId xmlns:a16="http://schemas.microsoft.com/office/drawing/2014/main" id="{23475046-643C-4B94-BDC7-92469FF13CAF}"/>
              </a:ext>
            </a:extLst>
          </p:cNvPr>
          <p:cNvSpPr txBox="1"/>
          <p:nvPr/>
        </p:nvSpPr>
        <p:spPr>
          <a:xfrm>
            <a:off x="4783765" y="3403042"/>
            <a:ext cx="272832" cy="300082"/>
          </a:xfrm>
          <a:prstGeom prst="rect">
            <a:avLst/>
          </a:prstGeom>
          <a:noFill/>
        </p:spPr>
        <p:txBody>
          <a:bodyPr wrap="none" rtlCol="0">
            <a:spAutoFit/>
          </a:bodyPr>
          <a:lstStyle/>
          <a:p>
            <a:r>
              <a:rPr lang="es-ES" dirty="0"/>
              <a:t>8</a:t>
            </a:r>
          </a:p>
        </p:txBody>
      </p:sp>
      <p:sp>
        <p:nvSpPr>
          <p:cNvPr id="34" name="CuadroTexto 33">
            <a:extLst>
              <a:ext uri="{FF2B5EF4-FFF2-40B4-BE49-F238E27FC236}">
                <a16:creationId xmlns:a16="http://schemas.microsoft.com/office/drawing/2014/main" id="{A890ECE6-DF6B-4557-ACB0-34E4D8665C51}"/>
              </a:ext>
            </a:extLst>
          </p:cNvPr>
          <p:cNvSpPr txBox="1"/>
          <p:nvPr/>
        </p:nvSpPr>
        <p:spPr>
          <a:xfrm>
            <a:off x="4462981" y="3403042"/>
            <a:ext cx="272832" cy="300082"/>
          </a:xfrm>
          <a:prstGeom prst="rect">
            <a:avLst/>
          </a:prstGeom>
          <a:noFill/>
        </p:spPr>
        <p:txBody>
          <a:bodyPr wrap="none" rtlCol="0">
            <a:spAutoFit/>
          </a:bodyPr>
          <a:lstStyle/>
          <a:p>
            <a:r>
              <a:rPr lang="es-ES" dirty="0"/>
              <a:t>9</a:t>
            </a:r>
          </a:p>
        </p:txBody>
      </p:sp>
      <p:sp>
        <p:nvSpPr>
          <p:cNvPr id="35" name="CuadroTexto 34">
            <a:extLst>
              <a:ext uri="{FF2B5EF4-FFF2-40B4-BE49-F238E27FC236}">
                <a16:creationId xmlns:a16="http://schemas.microsoft.com/office/drawing/2014/main" id="{9373B227-FFB3-4240-855D-E0DC8D04A67A}"/>
              </a:ext>
            </a:extLst>
          </p:cNvPr>
          <p:cNvSpPr txBox="1"/>
          <p:nvPr/>
        </p:nvSpPr>
        <p:spPr>
          <a:xfrm>
            <a:off x="4166173" y="3403042"/>
            <a:ext cx="284052" cy="300082"/>
          </a:xfrm>
          <a:prstGeom prst="rect">
            <a:avLst/>
          </a:prstGeom>
          <a:noFill/>
        </p:spPr>
        <p:txBody>
          <a:bodyPr wrap="none" rtlCol="0">
            <a:spAutoFit/>
          </a:bodyPr>
          <a:lstStyle/>
          <a:p>
            <a:r>
              <a:rPr lang="es-ES" dirty="0"/>
              <a:t>A</a:t>
            </a:r>
          </a:p>
        </p:txBody>
      </p:sp>
      <p:sp>
        <p:nvSpPr>
          <p:cNvPr id="36" name="CuadroTexto 35">
            <a:extLst>
              <a:ext uri="{FF2B5EF4-FFF2-40B4-BE49-F238E27FC236}">
                <a16:creationId xmlns:a16="http://schemas.microsoft.com/office/drawing/2014/main" id="{49973F99-468D-4BC1-9825-018496365B51}"/>
              </a:ext>
            </a:extLst>
          </p:cNvPr>
          <p:cNvSpPr txBox="1"/>
          <p:nvPr/>
        </p:nvSpPr>
        <p:spPr>
          <a:xfrm>
            <a:off x="3866879" y="3403042"/>
            <a:ext cx="279244" cy="300082"/>
          </a:xfrm>
          <a:prstGeom prst="rect">
            <a:avLst/>
          </a:prstGeom>
          <a:noFill/>
        </p:spPr>
        <p:txBody>
          <a:bodyPr wrap="none" rtlCol="0">
            <a:spAutoFit/>
          </a:bodyPr>
          <a:lstStyle/>
          <a:p>
            <a:r>
              <a:rPr lang="es-ES" dirty="0"/>
              <a:t>B</a:t>
            </a:r>
          </a:p>
        </p:txBody>
      </p:sp>
      <p:sp>
        <p:nvSpPr>
          <p:cNvPr id="37" name="CuadroTexto 36">
            <a:extLst>
              <a:ext uri="{FF2B5EF4-FFF2-40B4-BE49-F238E27FC236}">
                <a16:creationId xmlns:a16="http://schemas.microsoft.com/office/drawing/2014/main" id="{623FC8B4-FA22-4A7B-9C10-276E39E044BD}"/>
              </a:ext>
            </a:extLst>
          </p:cNvPr>
          <p:cNvSpPr txBox="1"/>
          <p:nvPr/>
        </p:nvSpPr>
        <p:spPr>
          <a:xfrm>
            <a:off x="3556043" y="3397126"/>
            <a:ext cx="277640" cy="300082"/>
          </a:xfrm>
          <a:prstGeom prst="rect">
            <a:avLst/>
          </a:prstGeom>
          <a:noFill/>
        </p:spPr>
        <p:txBody>
          <a:bodyPr wrap="none" rtlCol="0">
            <a:spAutoFit/>
          </a:bodyPr>
          <a:lstStyle/>
          <a:p>
            <a:r>
              <a:rPr lang="es-ES" dirty="0"/>
              <a:t>C</a:t>
            </a:r>
          </a:p>
        </p:txBody>
      </p:sp>
      <p:sp>
        <p:nvSpPr>
          <p:cNvPr id="38" name="CuadroTexto 37">
            <a:extLst>
              <a:ext uri="{FF2B5EF4-FFF2-40B4-BE49-F238E27FC236}">
                <a16:creationId xmlns:a16="http://schemas.microsoft.com/office/drawing/2014/main" id="{756F4F08-2B72-4A40-865D-56E46B549C6A}"/>
              </a:ext>
            </a:extLst>
          </p:cNvPr>
          <p:cNvSpPr txBox="1"/>
          <p:nvPr/>
        </p:nvSpPr>
        <p:spPr>
          <a:xfrm>
            <a:off x="3235259" y="3397126"/>
            <a:ext cx="290464" cy="300082"/>
          </a:xfrm>
          <a:prstGeom prst="rect">
            <a:avLst/>
          </a:prstGeom>
          <a:noFill/>
        </p:spPr>
        <p:txBody>
          <a:bodyPr wrap="none" rtlCol="0">
            <a:spAutoFit/>
          </a:bodyPr>
          <a:lstStyle/>
          <a:p>
            <a:r>
              <a:rPr lang="es-ES" dirty="0"/>
              <a:t>D</a:t>
            </a:r>
          </a:p>
        </p:txBody>
      </p:sp>
      <p:sp>
        <p:nvSpPr>
          <p:cNvPr id="39" name="CuadroTexto 38">
            <a:extLst>
              <a:ext uri="{FF2B5EF4-FFF2-40B4-BE49-F238E27FC236}">
                <a16:creationId xmlns:a16="http://schemas.microsoft.com/office/drawing/2014/main" id="{EA5BA716-CC48-4AA0-98FE-6AA818C57FDD}"/>
              </a:ext>
            </a:extLst>
          </p:cNvPr>
          <p:cNvSpPr txBox="1"/>
          <p:nvPr/>
        </p:nvSpPr>
        <p:spPr>
          <a:xfrm>
            <a:off x="2938451" y="3397126"/>
            <a:ext cx="272832" cy="300082"/>
          </a:xfrm>
          <a:prstGeom prst="rect">
            <a:avLst/>
          </a:prstGeom>
          <a:noFill/>
        </p:spPr>
        <p:txBody>
          <a:bodyPr wrap="none" rtlCol="0">
            <a:spAutoFit/>
          </a:bodyPr>
          <a:lstStyle/>
          <a:p>
            <a:r>
              <a:rPr lang="es-ES" dirty="0"/>
              <a:t>E</a:t>
            </a:r>
          </a:p>
        </p:txBody>
      </p:sp>
      <p:sp>
        <p:nvSpPr>
          <p:cNvPr id="40" name="CuadroTexto 39">
            <a:extLst>
              <a:ext uri="{FF2B5EF4-FFF2-40B4-BE49-F238E27FC236}">
                <a16:creationId xmlns:a16="http://schemas.microsoft.com/office/drawing/2014/main" id="{B7FEDC1D-E352-469E-9AB0-7959CF02DBFB}"/>
              </a:ext>
            </a:extLst>
          </p:cNvPr>
          <p:cNvSpPr txBox="1"/>
          <p:nvPr/>
        </p:nvSpPr>
        <p:spPr>
          <a:xfrm>
            <a:off x="2639157" y="3397126"/>
            <a:ext cx="264816" cy="300082"/>
          </a:xfrm>
          <a:prstGeom prst="rect">
            <a:avLst/>
          </a:prstGeom>
          <a:noFill/>
        </p:spPr>
        <p:txBody>
          <a:bodyPr wrap="none" rtlCol="0">
            <a:spAutoFit/>
          </a:bodyPr>
          <a:lstStyle/>
          <a:p>
            <a:r>
              <a:rPr lang="es-ES" dirty="0"/>
              <a:t>F</a:t>
            </a:r>
          </a:p>
        </p:txBody>
      </p:sp>
      <p:sp>
        <p:nvSpPr>
          <p:cNvPr id="41" name="CuadroTexto 40">
            <a:extLst>
              <a:ext uri="{FF2B5EF4-FFF2-40B4-BE49-F238E27FC236}">
                <a16:creationId xmlns:a16="http://schemas.microsoft.com/office/drawing/2014/main" id="{2DB6F583-E9C9-44A6-8E20-8609C0F99B40}"/>
              </a:ext>
            </a:extLst>
          </p:cNvPr>
          <p:cNvSpPr txBox="1"/>
          <p:nvPr/>
        </p:nvSpPr>
        <p:spPr>
          <a:xfrm>
            <a:off x="1875808" y="3397126"/>
            <a:ext cx="377026" cy="300082"/>
          </a:xfrm>
          <a:prstGeom prst="rect">
            <a:avLst/>
          </a:prstGeom>
          <a:noFill/>
        </p:spPr>
        <p:txBody>
          <a:bodyPr wrap="none" rtlCol="0">
            <a:spAutoFit/>
          </a:bodyPr>
          <a:lstStyle/>
          <a:p>
            <a:r>
              <a:rPr lang="es-ES" dirty="0"/>
              <a:t>Bit</a:t>
            </a:r>
          </a:p>
        </p:txBody>
      </p:sp>
      <p:cxnSp>
        <p:nvCxnSpPr>
          <p:cNvPr id="42" name="Conector recto 41">
            <a:extLst>
              <a:ext uri="{FF2B5EF4-FFF2-40B4-BE49-F238E27FC236}">
                <a16:creationId xmlns:a16="http://schemas.microsoft.com/office/drawing/2014/main" id="{624B6000-1798-48AB-BB6B-7D0A0B7A89A6}"/>
              </a:ext>
            </a:extLst>
          </p:cNvPr>
          <p:cNvCxnSpPr>
            <a:cxnSpLocks/>
          </p:cNvCxnSpPr>
          <p:nvPr/>
        </p:nvCxnSpPr>
        <p:spPr>
          <a:xfrm>
            <a:off x="6645902" y="4287505"/>
            <a:ext cx="883676"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CuadroTexto 42">
            <a:extLst>
              <a:ext uri="{FF2B5EF4-FFF2-40B4-BE49-F238E27FC236}">
                <a16:creationId xmlns:a16="http://schemas.microsoft.com/office/drawing/2014/main" id="{316D8F0B-9290-4433-AEB2-4107F67007BB}"/>
              </a:ext>
            </a:extLst>
          </p:cNvPr>
          <p:cNvSpPr txBox="1"/>
          <p:nvPr/>
        </p:nvSpPr>
        <p:spPr>
          <a:xfrm>
            <a:off x="6474502" y="4284287"/>
            <a:ext cx="2180384" cy="646331"/>
          </a:xfrm>
          <a:prstGeom prst="rect">
            <a:avLst/>
          </a:prstGeom>
          <a:noFill/>
        </p:spPr>
        <p:txBody>
          <a:bodyPr wrap="square" rtlCol="0">
            <a:spAutoFit/>
          </a:bodyPr>
          <a:lstStyle/>
          <a:p>
            <a:pPr algn="r"/>
            <a:r>
              <a:rPr lang="es-ES" sz="1200" dirty="0" err="1"/>
              <a:t>nº</a:t>
            </a:r>
            <a:r>
              <a:rPr lang="es-ES" sz="1200" dirty="0"/>
              <a:t> de palabra (byte) dentro de la línea</a:t>
            </a:r>
          </a:p>
          <a:p>
            <a:pPr algn="r"/>
            <a:r>
              <a:rPr lang="es-ES" sz="1200" dirty="0"/>
              <a:t>3 bits (2</a:t>
            </a:r>
            <a:r>
              <a:rPr lang="es-ES" sz="1200" baseline="30000" dirty="0"/>
              <a:t>3</a:t>
            </a:r>
            <a:r>
              <a:rPr lang="es-ES" sz="1200" dirty="0"/>
              <a:t> = 8 bytes)</a:t>
            </a:r>
          </a:p>
        </p:txBody>
      </p:sp>
      <p:cxnSp>
        <p:nvCxnSpPr>
          <p:cNvPr id="48" name="Conector recto 47">
            <a:extLst>
              <a:ext uri="{FF2B5EF4-FFF2-40B4-BE49-F238E27FC236}">
                <a16:creationId xmlns:a16="http://schemas.microsoft.com/office/drawing/2014/main" id="{5A03294A-F905-48F6-B4C0-418B74FC7789}"/>
              </a:ext>
            </a:extLst>
          </p:cNvPr>
          <p:cNvCxnSpPr>
            <a:cxnSpLocks/>
          </p:cNvCxnSpPr>
          <p:nvPr/>
        </p:nvCxnSpPr>
        <p:spPr>
          <a:xfrm>
            <a:off x="2649234" y="4277444"/>
            <a:ext cx="918660"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9" name="CuadroTexto 48">
            <a:extLst>
              <a:ext uri="{FF2B5EF4-FFF2-40B4-BE49-F238E27FC236}">
                <a16:creationId xmlns:a16="http://schemas.microsoft.com/office/drawing/2014/main" id="{7D52F69A-59D0-4144-BD27-D15DECC6A0A8}"/>
              </a:ext>
            </a:extLst>
          </p:cNvPr>
          <p:cNvSpPr txBox="1"/>
          <p:nvPr/>
        </p:nvSpPr>
        <p:spPr>
          <a:xfrm>
            <a:off x="1721167" y="4288799"/>
            <a:ext cx="1835979" cy="461665"/>
          </a:xfrm>
          <a:prstGeom prst="rect">
            <a:avLst/>
          </a:prstGeom>
          <a:noFill/>
        </p:spPr>
        <p:txBody>
          <a:bodyPr wrap="square" rtlCol="0">
            <a:spAutoFit/>
          </a:bodyPr>
          <a:lstStyle/>
          <a:p>
            <a:pPr algn="r"/>
            <a:r>
              <a:rPr lang="es-ES" sz="1200" dirty="0"/>
              <a:t>Etiqueta </a:t>
            </a:r>
            <a:br>
              <a:rPr lang="es-ES" sz="1200" dirty="0"/>
            </a:br>
            <a:r>
              <a:rPr lang="es-ES" sz="1200" dirty="0"/>
              <a:t>(2</a:t>
            </a:r>
            <a:r>
              <a:rPr lang="es-ES" sz="1200" baseline="30000" dirty="0"/>
              <a:t>3</a:t>
            </a:r>
            <a:r>
              <a:rPr lang="es-ES" sz="1200" dirty="0"/>
              <a:t> bloques por conjunto)</a:t>
            </a:r>
          </a:p>
        </p:txBody>
      </p:sp>
      <p:cxnSp>
        <p:nvCxnSpPr>
          <p:cNvPr id="44" name="Conector recto 43">
            <a:extLst>
              <a:ext uri="{FF2B5EF4-FFF2-40B4-BE49-F238E27FC236}">
                <a16:creationId xmlns:a16="http://schemas.microsoft.com/office/drawing/2014/main" id="{C4AA3069-93AF-4651-ADD9-F4E57CBFEF01}"/>
              </a:ext>
            </a:extLst>
          </p:cNvPr>
          <p:cNvCxnSpPr>
            <a:cxnSpLocks/>
          </p:cNvCxnSpPr>
          <p:nvPr/>
        </p:nvCxnSpPr>
        <p:spPr>
          <a:xfrm>
            <a:off x="3575845" y="4277444"/>
            <a:ext cx="3043595" cy="6843"/>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2CA29A6D-D21A-4F11-AB6C-9CAFBDC1DDCE}"/>
              </a:ext>
            </a:extLst>
          </p:cNvPr>
          <p:cNvSpPr txBox="1"/>
          <p:nvPr/>
        </p:nvSpPr>
        <p:spPr>
          <a:xfrm>
            <a:off x="4238797" y="4288799"/>
            <a:ext cx="1835979" cy="276999"/>
          </a:xfrm>
          <a:prstGeom prst="rect">
            <a:avLst/>
          </a:prstGeom>
          <a:noFill/>
        </p:spPr>
        <p:txBody>
          <a:bodyPr wrap="square" rtlCol="0">
            <a:spAutoFit/>
          </a:bodyPr>
          <a:lstStyle/>
          <a:p>
            <a:pPr algn="r"/>
            <a:r>
              <a:rPr lang="es-ES" sz="1200" dirty="0"/>
              <a:t>Conjunto (10 bits)</a:t>
            </a:r>
          </a:p>
        </p:txBody>
      </p:sp>
    </p:spTree>
    <p:extLst>
      <p:ext uri="{BB962C8B-B14F-4D97-AF65-F5344CB8AC3E}">
        <p14:creationId xmlns:p14="http://schemas.microsoft.com/office/powerpoint/2010/main" val="1105519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3" name="CuadroTexto 2">
            <a:extLst>
              <a:ext uri="{FF2B5EF4-FFF2-40B4-BE49-F238E27FC236}">
                <a16:creationId xmlns:a16="http://schemas.microsoft.com/office/drawing/2014/main" id="{EDC2B7CE-0CC7-4786-9118-E84701C9AE0F}"/>
              </a:ext>
            </a:extLst>
          </p:cNvPr>
          <p:cNvSpPr txBox="1"/>
          <p:nvPr/>
        </p:nvSpPr>
        <p:spPr>
          <a:xfrm>
            <a:off x="1776414" y="967464"/>
            <a:ext cx="6840812" cy="507831"/>
          </a:xfrm>
          <a:prstGeom prst="rect">
            <a:avLst/>
          </a:prstGeom>
          <a:noFill/>
        </p:spPr>
        <p:txBody>
          <a:bodyPr wrap="square" rtlCol="0">
            <a:spAutoFit/>
          </a:bodyPr>
          <a:lstStyle/>
          <a:p>
            <a:pPr algn="just"/>
            <a:r>
              <a:rPr lang="es-ES" b="1" u="sng" dirty="0"/>
              <a:t>Método de correspondencia asociativa por conjuntos (continuación)</a:t>
            </a:r>
          </a:p>
          <a:p>
            <a:pPr algn="just"/>
            <a:endParaRPr lang="es-ES" dirty="0"/>
          </a:p>
        </p:txBody>
      </p:sp>
      <p:sp>
        <p:nvSpPr>
          <p:cNvPr id="7" name="CuadroTexto 6">
            <a:extLst>
              <a:ext uri="{FF2B5EF4-FFF2-40B4-BE49-F238E27FC236}">
                <a16:creationId xmlns:a16="http://schemas.microsoft.com/office/drawing/2014/main" id="{858F8A5F-1E2B-4127-8E42-EE1C3F434797}"/>
              </a:ext>
            </a:extLst>
          </p:cNvPr>
          <p:cNvSpPr txBox="1"/>
          <p:nvPr/>
        </p:nvSpPr>
        <p:spPr>
          <a:xfrm>
            <a:off x="7263494" y="3403044"/>
            <a:ext cx="272832" cy="300082"/>
          </a:xfrm>
          <a:prstGeom prst="rect">
            <a:avLst/>
          </a:prstGeom>
          <a:noFill/>
        </p:spPr>
        <p:txBody>
          <a:bodyPr wrap="none" rtlCol="0">
            <a:spAutoFit/>
          </a:bodyPr>
          <a:lstStyle/>
          <a:p>
            <a:r>
              <a:rPr lang="es-ES" dirty="0"/>
              <a:t>0</a:t>
            </a:r>
          </a:p>
        </p:txBody>
      </p:sp>
      <p:sp>
        <p:nvSpPr>
          <p:cNvPr id="8" name="CuadroTexto 7">
            <a:extLst>
              <a:ext uri="{FF2B5EF4-FFF2-40B4-BE49-F238E27FC236}">
                <a16:creationId xmlns:a16="http://schemas.microsoft.com/office/drawing/2014/main" id="{4C3FA210-E12B-424A-948E-A75168FA4B9E}"/>
              </a:ext>
            </a:extLst>
          </p:cNvPr>
          <p:cNvSpPr txBox="1"/>
          <p:nvPr/>
        </p:nvSpPr>
        <p:spPr>
          <a:xfrm>
            <a:off x="6942710" y="3403044"/>
            <a:ext cx="272832" cy="300082"/>
          </a:xfrm>
          <a:prstGeom prst="rect">
            <a:avLst/>
          </a:prstGeom>
          <a:noFill/>
        </p:spPr>
        <p:txBody>
          <a:bodyPr wrap="none" rtlCol="0">
            <a:spAutoFit/>
          </a:bodyPr>
          <a:lstStyle/>
          <a:p>
            <a:r>
              <a:rPr lang="es-ES" dirty="0"/>
              <a:t>1</a:t>
            </a:r>
          </a:p>
        </p:txBody>
      </p:sp>
      <p:sp>
        <p:nvSpPr>
          <p:cNvPr id="9" name="Rectángulo 8">
            <a:extLst>
              <a:ext uri="{FF2B5EF4-FFF2-40B4-BE49-F238E27FC236}">
                <a16:creationId xmlns:a16="http://schemas.microsoft.com/office/drawing/2014/main" id="{AEC8EB64-C5F0-4DFB-9DCE-C861385BA4B8}"/>
              </a:ext>
            </a:extLst>
          </p:cNvPr>
          <p:cNvSpPr/>
          <p:nvPr/>
        </p:nvSpPr>
        <p:spPr>
          <a:xfrm>
            <a:off x="6935962" y="3703126"/>
            <a:ext cx="304800" cy="378691"/>
          </a:xfrm>
          <a:prstGeom prst="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Rectángulo 9">
            <a:extLst>
              <a:ext uri="{FF2B5EF4-FFF2-40B4-BE49-F238E27FC236}">
                <a16:creationId xmlns:a16="http://schemas.microsoft.com/office/drawing/2014/main" id="{16C0ACFB-9D19-4F31-8E4F-E2EC3EE7A68F}"/>
              </a:ext>
            </a:extLst>
          </p:cNvPr>
          <p:cNvSpPr/>
          <p:nvPr/>
        </p:nvSpPr>
        <p:spPr>
          <a:xfrm>
            <a:off x="7240762" y="3703126"/>
            <a:ext cx="304800" cy="378691"/>
          </a:xfrm>
          <a:prstGeom prst="rect">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Rectángulo 10">
            <a:extLst>
              <a:ext uri="{FF2B5EF4-FFF2-40B4-BE49-F238E27FC236}">
                <a16:creationId xmlns:a16="http://schemas.microsoft.com/office/drawing/2014/main" id="{7D325D55-7FDB-4523-8115-BA93BBC82C2F}"/>
              </a:ext>
            </a:extLst>
          </p:cNvPr>
          <p:cNvSpPr/>
          <p:nvPr/>
        </p:nvSpPr>
        <p:spPr>
          <a:xfrm>
            <a:off x="6632406" y="3703126"/>
            <a:ext cx="304800" cy="378691"/>
          </a:xfrm>
          <a:prstGeom prst="rect">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Rectángulo 11">
            <a:extLst>
              <a:ext uri="{FF2B5EF4-FFF2-40B4-BE49-F238E27FC236}">
                <a16:creationId xmlns:a16="http://schemas.microsoft.com/office/drawing/2014/main" id="{D3C87BBB-9C50-443F-B38B-579A5C1B0464}"/>
              </a:ext>
            </a:extLst>
          </p:cNvPr>
          <p:cNvSpPr/>
          <p:nvPr/>
        </p:nvSpPr>
        <p:spPr>
          <a:xfrm>
            <a:off x="6310379" y="3703126"/>
            <a:ext cx="322961" cy="378691"/>
          </a:xfrm>
          <a:prstGeom prst="rect">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 name="CuadroTexto 12">
            <a:extLst>
              <a:ext uri="{FF2B5EF4-FFF2-40B4-BE49-F238E27FC236}">
                <a16:creationId xmlns:a16="http://schemas.microsoft.com/office/drawing/2014/main" id="{05AA934D-568B-4D2D-A62C-21064566199B}"/>
              </a:ext>
            </a:extLst>
          </p:cNvPr>
          <p:cNvSpPr txBox="1"/>
          <p:nvPr/>
        </p:nvSpPr>
        <p:spPr>
          <a:xfrm>
            <a:off x="6645902" y="3403044"/>
            <a:ext cx="272832" cy="300082"/>
          </a:xfrm>
          <a:prstGeom prst="rect">
            <a:avLst/>
          </a:prstGeom>
          <a:noFill/>
        </p:spPr>
        <p:txBody>
          <a:bodyPr wrap="none" rtlCol="0">
            <a:spAutoFit/>
          </a:bodyPr>
          <a:lstStyle/>
          <a:p>
            <a:r>
              <a:rPr lang="es-ES" dirty="0"/>
              <a:t>2</a:t>
            </a:r>
          </a:p>
        </p:txBody>
      </p:sp>
      <p:sp>
        <p:nvSpPr>
          <p:cNvPr id="14" name="CuadroTexto 13">
            <a:extLst>
              <a:ext uri="{FF2B5EF4-FFF2-40B4-BE49-F238E27FC236}">
                <a16:creationId xmlns:a16="http://schemas.microsoft.com/office/drawing/2014/main" id="{0015157E-AEBA-4283-BFA7-B8E865A3D79E}"/>
              </a:ext>
            </a:extLst>
          </p:cNvPr>
          <p:cNvSpPr txBox="1"/>
          <p:nvPr/>
        </p:nvSpPr>
        <p:spPr>
          <a:xfrm>
            <a:off x="6346608" y="3403044"/>
            <a:ext cx="272832" cy="300082"/>
          </a:xfrm>
          <a:prstGeom prst="rect">
            <a:avLst/>
          </a:prstGeom>
          <a:noFill/>
        </p:spPr>
        <p:txBody>
          <a:bodyPr wrap="none" rtlCol="0">
            <a:spAutoFit/>
          </a:bodyPr>
          <a:lstStyle/>
          <a:p>
            <a:r>
              <a:rPr lang="es-ES" dirty="0"/>
              <a:t>3</a:t>
            </a:r>
          </a:p>
        </p:txBody>
      </p:sp>
      <p:sp>
        <p:nvSpPr>
          <p:cNvPr id="25" name="Rectángulo 24">
            <a:extLst>
              <a:ext uri="{FF2B5EF4-FFF2-40B4-BE49-F238E27FC236}">
                <a16:creationId xmlns:a16="http://schemas.microsoft.com/office/drawing/2014/main" id="{53336D78-2580-476C-8F92-26AFB7E9FD8F}"/>
              </a:ext>
            </a:extLst>
          </p:cNvPr>
          <p:cNvSpPr/>
          <p:nvPr/>
        </p:nvSpPr>
        <p:spPr>
          <a:xfrm>
            <a:off x="3263094"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6" name="Rectángulo 25">
            <a:extLst>
              <a:ext uri="{FF2B5EF4-FFF2-40B4-BE49-F238E27FC236}">
                <a16:creationId xmlns:a16="http://schemas.microsoft.com/office/drawing/2014/main" id="{8648A9A0-455D-4DAA-ABB3-2E37211F773F}"/>
              </a:ext>
            </a:extLst>
          </p:cNvPr>
          <p:cNvSpPr/>
          <p:nvPr/>
        </p:nvSpPr>
        <p:spPr>
          <a:xfrm>
            <a:off x="3567894"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accent6">
                  <a:lumMod val="60000"/>
                  <a:lumOff val="40000"/>
                </a:schemeClr>
              </a:solidFill>
            </a:endParaRPr>
          </a:p>
        </p:txBody>
      </p:sp>
      <p:sp>
        <p:nvSpPr>
          <p:cNvPr id="27" name="Rectángulo 26">
            <a:extLst>
              <a:ext uri="{FF2B5EF4-FFF2-40B4-BE49-F238E27FC236}">
                <a16:creationId xmlns:a16="http://schemas.microsoft.com/office/drawing/2014/main" id="{35B730A5-DCA5-4A9B-924E-0C0F9C3E5A2D}"/>
              </a:ext>
            </a:extLst>
          </p:cNvPr>
          <p:cNvSpPr/>
          <p:nvPr/>
        </p:nvSpPr>
        <p:spPr>
          <a:xfrm>
            <a:off x="2959538"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9" name="CuadroTexto 28">
            <a:extLst>
              <a:ext uri="{FF2B5EF4-FFF2-40B4-BE49-F238E27FC236}">
                <a16:creationId xmlns:a16="http://schemas.microsoft.com/office/drawing/2014/main" id="{4B4ED921-6EB2-4504-983C-1B36CF935EAB}"/>
              </a:ext>
            </a:extLst>
          </p:cNvPr>
          <p:cNvSpPr txBox="1"/>
          <p:nvPr/>
        </p:nvSpPr>
        <p:spPr>
          <a:xfrm>
            <a:off x="6033597" y="3403042"/>
            <a:ext cx="272832" cy="300082"/>
          </a:xfrm>
          <a:prstGeom prst="rect">
            <a:avLst/>
          </a:prstGeom>
          <a:noFill/>
        </p:spPr>
        <p:txBody>
          <a:bodyPr wrap="none" rtlCol="0">
            <a:spAutoFit/>
          </a:bodyPr>
          <a:lstStyle/>
          <a:p>
            <a:r>
              <a:rPr lang="es-ES" dirty="0"/>
              <a:t>4</a:t>
            </a:r>
          </a:p>
        </p:txBody>
      </p:sp>
      <p:sp>
        <p:nvSpPr>
          <p:cNvPr id="30" name="CuadroTexto 29">
            <a:extLst>
              <a:ext uri="{FF2B5EF4-FFF2-40B4-BE49-F238E27FC236}">
                <a16:creationId xmlns:a16="http://schemas.microsoft.com/office/drawing/2014/main" id="{D42E2CFD-AD71-4F48-BC6D-8C4A9B7DC561}"/>
              </a:ext>
            </a:extLst>
          </p:cNvPr>
          <p:cNvSpPr txBox="1"/>
          <p:nvPr/>
        </p:nvSpPr>
        <p:spPr>
          <a:xfrm>
            <a:off x="5712813" y="3403042"/>
            <a:ext cx="272832" cy="300082"/>
          </a:xfrm>
          <a:prstGeom prst="rect">
            <a:avLst/>
          </a:prstGeom>
          <a:noFill/>
        </p:spPr>
        <p:txBody>
          <a:bodyPr wrap="none" rtlCol="0">
            <a:spAutoFit/>
          </a:bodyPr>
          <a:lstStyle/>
          <a:p>
            <a:r>
              <a:rPr lang="es-ES" dirty="0"/>
              <a:t>5</a:t>
            </a:r>
          </a:p>
        </p:txBody>
      </p:sp>
      <p:sp>
        <p:nvSpPr>
          <p:cNvPr id="31" name="CuadroTexto 30">
            <a:extLst>
              <a:ext uri="{FF2B5EF4-FFF2-40B4-BE49-F238E27FC236}">
                <a16:creationId xmlns:a16="http://schemas.microsoft.com/office/drawing/2014/main" id="{3B0231BC-64DC-49A5-9E6C-8394A72B49EC}"/>
              </a:ext>
            </a:extLst>
          </p:cNvPr>
          <p:cNvSpPr txBox="1"/>
          <p:nvPr/>
        </p:nvSpPr>
        <p:spPr>
          <a:xfrm>
            <a:off x="5416005" y="3403042"/>
            <a:ext cx="272832" cy="300082"/>
          </a:xfrm>
          <a:prstGeom prst="rect">
            <a:avLst/>
          </a:prstGeom>
          <a:noFill/>
        </p:spPr>
        <p:txBody>
          <a:bodyPr wrap="none" rtlCol="0">
            <a:spAutoFit/>
          </a:bodyPr>
          <a:lstStyle/>
          <a:p>
            <a:r>
              <a:rPr lang="es-ES" dirty="0"/>
              <a:t>6</a:t>
            </a:r>
          </a:p>
        </p:txBody>
      </p:sp>
      <p:sp>
        <p:nvSpPr>
          <p:cNvPr id="32" name="CuadroTexto 31">
            <a:extLst>
              <a:ext uri="{FF2B5EF4-FFF2-40B4-BE49-F238E27FC236}">
                <a16:creationId xmlns:a16="http://schemas.microsoft.com/office/drawing/2014/main" id="{A2228557-9D0B-47FB-ADF9-AC5BFDD3CC84}"/>
              </a:ext>
            </a:extLst>
          </p:cNvPr>
          <p:cNvSpPr txBox="1"/>
          <p:nvPr/>
        </p:nvSpPr>
        <p:spPr>
          <a:xfrm>
            <a:off x="5116711" y="3403042"/>
            <a:ext cx="272832" cy="300082"/>
          </a:xfrm>
          <a:prstGeom prst="rect">
            <a:avLst/>
          </a:prstGeom>
          <a:noFill/>
        </p:spPr>
        <p:txBody>
          <a:bodyPr wrap="none" rtlCol="0">
            <a:spAutoFit/>
          </a:bodyPr>
          <a:lstStyle/>
          <a:p>
            <a:r>
              <a:rPr lang="es-ES" dirty="0"/>
              <a:t>7</a:t>
            </a:r>
          </a:p>
        </p:txBody>
      </p:sp>
      <p:sp>
        <p:nvSpPr>
          <p:cNvPr id="33" name="CuadroTexto 32">
            <a:extLst>
              <a:ext uri="{FF2B5EF4-FFF2-40B4-BE49-F238E27FC236}">
                <a16:creationId xmlns:a16="http://schemas.microsoft.com/office/drawing/2014/main" id="{23475046-643C-4B94-BDC7-92469FF13CAF}"/>
              </a:ext>
            </a:extLst>
          </p:cNvPr>
          <p:cNvSpPr txBox="1"/>
          <p:nvPr/>
        </p:nvSpPr>
        <p:spPr>
          <a:xfrm>
            <a:off x="4783765" y="3403042"/>
            <a:ext cx="272832" cy="300082"/>
          </a:xfrm>
          <a:prstGeom prst="rect">
            <a:avLst/>
          </a:prstGeom>
          <a:noFill/>
        </p:spPr>
        <p:txBody>
          <a:bodyPr wrap="none" rtlCol="0">
            <a:spAutoFit/>
          </a:bodyPr>
          <a:lstStyle/>
          <a:p>
            <a:r>
              <a:rPr lang="es-ES" dirty="0"/>
              <a:t>8</a:t>
            </a:r>
          </a:p>
        </p:txBody>
      </p:sp>
      <p:sp>
        <p:nvSpPr>
          <p:cNvPr id="34" name="CuadroTexto 33">
            <a:extLst>
              <a:ext uri="{FF2B5EF4-FFF2-40B4-BE49-F238E27FC236}">
                <a16:creationId xmlns:a16="http://schemas.microsoft.com/office/drawing/2014/main" id="{A890ECE6-DF6B-4557-ACB0-34E4D8665C51}"/>
              </a:ext>
            </a:extLst>
          </p:cNvPr>
          <p:cNvSpPr txBox="1"/>
          <p:nvPr/>
        </p:nvSpPr>
        <p:spPr>
          <a:xfrm>
            <a:off x="4462981" y="3403042"/>
            <a:ext cx="272832" cy="300082"/>
          </a:xfrm>
          <a:prstGeom prst="rect">
            <a:avLst/>
          </a:prstGeom>
          <a:noFill/>
        </p:spPr>
        <p:txBody>
          <a:bodyPr wrap="none" rtlCol="0">
            <a:spAutoFit/>
          </a:bodyPr>
          <a:lstStyle/>
          <a:p>
            <a:r>
              <a:rPr lang="es-ES" dirty="0"/>
              <a:t>9</a:t>
            </a:r>
          </a:p>
        </p:txBody>
      </p:sp>
      <p:sp>
        <p:nvSpPr>
          <p:cNvPr id="35" name="CuadroTexto 34">
            <a:extLst>
              <a:ext uri="{FF2B5EF4-FFF2-40B4-BE49-F238E27FC236}">
                <a16:creationId xmlns:a16="http://schemas.microsoft.com/office/drawing/2014/main" id="{9373B227-FFB3-4240-855D-E0DC8D04A67A}"/>
              </a:ext>
            </a:extLst>
          </p:cNvPr>
          <p:cNvSpPr txBox="1"/>
          <p:nvPr/>
        </p:nvSpPr>
        <p:spPr>
          <a:xfrm>
            <a:off x="4166173" y="3403042"/>
            <a:ext cx="284052" cy="300082"/>
          </a:xfrm>
          <a:prstGeom prst="rect">
            <a:avLst/>
          </a:prstGeom>
          <a:noFill/>
        </p:spPr>
        <p:txBody>
          <a:bodyPr wrap="none" rtlCol="0">
            <a:spAutoFit/>
          </a:bodyPr>
          <a:lstStyle/>
          <a:p>
            <a:r>
              <a:rPr lang="es-ES" dirty="0"/>
              <a:t>A</a:t>
            </a:r>
          </a:p>
        </p:txBody>
      </p:sp>
      <p:sp>
        <p:nvSpPr>
          <p:cNvPr id="36" name="CuadroTexto 35">
            <a:extLst>
              <a:ext uri="{FF2B5EF4-FFF2-40B4-BE49-F238E27FC236}">
                <a16:creationId xmlns:a16="http://schemas.microsoft.com/office/drawing/2014/main" id="{49973F99-468D-4BC1-9825-018496365B51}"/>
              </a:ext>
            </a:extLst>
          </p:cNvPr>
          <p:cNvSpPr txBox="1"/>
          <p:nvPr/>
        </p:nvSpPr>
        <p:spPr>
          <a:xfrm>
            <a:off x="3866879" y="3403042"/>
            <a:ext cx="279244" cy="300082"/>
          </a:xfrm>
          <a:prstGeom prst="rect">
            <a:avLst/>
          </a:prstGeom>
          <a:noFill/>
        </p:spPr>
        <p:txBody>
          <a:bodyPr wrap="none" rtlCol="0">
            <a:spAutoFit/>
          </a:bodyPr>
          <a:lstStyle/>
          <a:p>
            <a:r>
              <a:rPr lang="es-ES" dirty="0"/>
              <a:t>B</a:t>
            </a:r>
          </a:p>
        </p:txBody>
      </p:sp>
      <p:sp>
        <p:nvSpPr>
          <p:cNvPr id="37" name="CuadroTexto 36">
            <a:extLst>
              <a:ext uri="{FF2B5EF4-FFF2-40B4-BE49-F238E27FC236}">
                <a16:creationId xmlns:a16="http://schemas.microsoft.com/office/drawing/2014/main" id="{623FC8B4-FA22-4A7B-9C10-276E39E044BD}"/>
              </a:ext>
            </a:extLst>
          </p:cNvPr>
          <p:cNvSpPr txBox="1"/>
          <p:nvPr/>
        </p:nvSpPr>
        <p:spPr>
          <a:xfrm>
            <a:off x="3556043" y="3397126"/>
            <a:ext cx="277640" cy="300082"/>
          </a:xfrm>
          <a:prstGeom prst="rect">
            <a:avLst/>
          </a:prstGeom>
          <a:noFill/>
        </p:spPr>
        <p:txBody>
          <a:bodyPr wrap="none" rtlCol="0">
            <a:spAutoFit/>
          </a:bodyPr>
          <a:lstStyle/>
          <a:p>
            <a:r>
              <a:rPr lang="es-ES" dirty="0"/>
              <a:t>C</a:t>
            </a:r>
          </a:p>
        </p:txBody>
      </p:sp>
      <p:sp>
        <p:nvSpPr>
          <p:cNvPr id="38" name="CuadroTexto 37">
            <a:extLst>
              <a:ext uri="{FF2B5EF4-FFF2-40B4-BE49-F238E27FC236}">
                <a16:creationId xmlns:a16="http://schemas.microsoft.com/office/drawing/2014/main" id="{756F4F08-2B72-4A40-865D-56E46B549C6A}"/>
              </a:ext>
            </a:extLst>
          </p:cNvPr>
          <p:cNvSpPr txBox="1"/>
          <p:nvPr/>
        </p:nvSpPr>
        <p:spPr>
          <a:xfrm>
            <a:off x="3235259" y="3397126"/>
            <a:ext cx="290464" cy="300082"/>
          </a:xfrm>
          <a:prstGeom prst="rect">
            <a:avLst/>
          </a:prstGeom>
          <a:noFill/>
        </p:spPr>
        <p:txBody>
          <a:bodyPr wrap="none" rtlCol="0">
            <a:spAutoFit/>
          </a:bodyPr>
          <a:lstStyle/>
          <a:p>
            <a:r>
              <a:rPr lang="es-ES" dirty="0"/>
              <a:t>D</a:t>
            </a:r>
          </a:p>
        </p:txBody>
      </p:sp>
      <p:sp>
        <p:nvSpPr>
          <p:cNvPr id="39" name="CuadroTexto 38">
            <a:extLst>
              <a:ext uri="{FF2B5EF4-FFF2-40B4-BE49-F238E27FC236}">
                <a16:creationId xmlns:a16="http://schemas.microsoft.com/office/drawing/2014/main" id="{EA5BA716-CC48-4AA0-98FE-6AA818C57FDD}"/>
              </a:ext>
            </a:extLst>
          </p:cNvPr>
          <p:cNvSpPr txBox="1"/>
          <p:nvPr/>
        </p:nvSpPr>
        <p:spPr>
          <a:xfrm>
            <a:off x="2938451" y="3397126"/>
            <a:ext cx="272832" cy="300082"/>
          </a:xfrm>
          <a:prstGeom prst="rect">
            <a:avLst/>
          </a:prstGeom>
          <a:noFill/>
        </p:spPr>
        <p:txBody>
          <a:bodyPr wrap="none" rtlCol="0">
            <a:spAutoFit/>
          </a:bodyPr>
          <a:lstStyle/>
          <a:p>
            <a:r>
              <a:rPr lang="es-ES" dirty="0"/>
              <a:t>E</a:t>
            </a:r>
          </a:p>
        </p:txBody>
      </p:sp>
      <p:sp>
        <p:nvSpPr>
          <p:cNvPr id="41" name="CuadroTexto 40">
            <a:extLst>
              <a:ext uri="{FF2B5EF4-FFF2-40B4-BE49-F238E27FC236}">
                <a16:creationId xmlns:a16="http://schemas.microsoft.com/office/drawing/2014/main" id="{2DB6F583-E9C9-44A6-8E20-8609C0F99B40}"/>
              </a:ext>
            </a:extLst>
          </p:cNvPr>
          <p:cNvSpPr txBox="1"/>
          <p:nvPr/>
        </p:nvSpPr>
        <p:spPr>
          <a:xfrm>
            <a:off x="1875808" y="3397126"/>
            <a:ext cx="377026" cy="300082"/>
          </a:xfrm>
          <a:prstGeom prst="rect">
            <a:avLst/>
          </a:prstGeom>
          <a:noFill/>
        </p:spPr>
        <p:txBody>
          <a:bodyPr wrap="none" rtlCol="0">
            <a:spAutoFit/>
          </a:bodyPr>
          <a:lstStyle/>
          <a:p>
            <a:r>
              <a:rPr lang="es-ES" dirty="0"/>
              <a:t>Bit</a:t>
            </a:r>
          </a:p>
        </p:txBody>
      </p:sp>
      <p:cxnSp>
        <p:nvCxnSpPr>
          <p:cNvPr id="42" name="Conector recto 41">
            <a:extLst>
              <a:ext uri="{FF2B5EF4-FFF2-40B4-BE49-F238E27FC236}">
                <a16:creationId xmlns:a16="http://schemas.microsoft.com/office/drawing/2014/main" id="{624B6000-1798-48AB-BB6B-7D0A0B7A89A6}"/>
              </a:ext>
            </a:extLst>
          </p:cNvPr>
          <p:cNvCxnSpPr>
            <a:cxnSpLocks/>
          </p:cNvCxnSpPr>
          <p:nvPr/>
        </p:nvCxnSpPr>
        <p:spPr>
          <a:xfrm>
            <a:off x="6982132" y="4274303"/>
            <a:ext cx="517259"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CuadroTexto 42">
            <a:extLst>
              <a:ext uri="{FF2B5EF4-FFF2-40B4-BE49-F238E27FC236}">
                <a16:creationId xmlns:a16="http://schemas.microsoft.com/office/drawing/2014/main" id="{316D8F0B-9290-4433-AEB2-4107F67007BB}"/>
              </a:ext>
            </a:extLst>
          </p:cNvPr>
          <p:cNvSpPr txBox="1"/>
          <p:nvPr/>
        </p:nvSpPr>
        <p:spPr>
          <a:xfrm>
            <a:off x="6782318" y="4425819"/>
            <a:ext cx="2180384" cy="646331"/>
          </a:xfrm>
          <a:prstGeom prst="rect">
            <a:avLst/>
          </a:prstGeom>
          <a:noFill/>
        </p:spPr>
        <p:txBody>
          <a:bodyPr wrap="square" rtlCol="0">
            <a:spAutoFit/>
          </a:bodyPr>
          <a:lstStyle/>
          <a:p>
            <a:pPr algn="r"/>
            <a:r>
              <a:rPr lang="es-ES" sz="1200" dirty="0" err="1"/>
              <a:t>nº</a:t>
            </a:r>
            <a:r>
              <a:rPr lang="es-ES" sz="1200" dirty="0"/>
              <a:t> de palabra (byte) dentro de la línea</a:t>
            </a:r>
          </a:p>
          <a:p>
            <a:pPr algn="r"/>
            <a:r>
              <a:rPr lang="es-ES" sz="1200" dirty="0"/>
              <a:t>2 bits (2</a:t>
            </a:r>
            <a:r>
              <a:rPr lang="es-ES" sz="1200" baseline="30000" dirty="0"/>
              <a:t>2</a:t>
            </a:r>
            <a:r>
              <a:rPr lang="es-ES" sz="1200" dirty="0"/>
              <a:t> = 4 bytes)</a:t>
            </a:r>
          </a:p>
        </p:txBody>
      </p:sp>
      <p:cxnSp>
        <p:nvCxnSpPr>
          <p:cNvPr id="48" name="Conector recto 47">
            <a:extLst>
              <a:ext uri="{FF2B5EF4-FFF2-40B4-BE49-F238E27FC236}">
                <a16:creationId xmlns:a16="http://schemas.microsoft.com/office/drawing/2014/main" id="{5A03294A-F905-48F6-B4C0-418B74FC7789}"/>
              </a:ext>
            </a:extLst>
          </p:cNvPr>
          <p:cNvCxnSpPr>
            <a:cxnSpLocks/>
          </p:cNvCxnSpPr>
          <p:nvPr/>
        </p:nvCxnSpPr>
        <p:spPr>
          <a:xfrm>
            <a:off x="2938451" y="4274303"/>
            <a:ext cx="304719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9" name="CuadroTexto 48">
            <a:extLst>
              <a:ext uri="{FF2B5EF4-FFF2-40B4-BE49-F238E27FC236}">
                <a16:creationId xmlns:a16="http://schemas.microsoft.com/office/drawing/2014/main" id="{7D52F69A-59D0-4144-BD27-D15DECC6A0A8}"/>
              </a:ext>
            </a:extLst>
          </p:cNvPr>
          <p:cNvSpPr txBox="1"/>
          <p:nvPr/>
        </p:nvSpPr>
        <p:spPr>
          <a:xfrm>
            <a:off x="1182765" y="4313037"/>
            <a:ext cx="4871953" cy="830997"/>
          </a:xfrm>
          <a:prstGeom prst="rect">
            <a:avLst/>
          </a:prstGeom>
          <a:noFill/>
        </p:spPr>
        <p:txBody>
          <a:bodyPr wrap="square" rtlCol="0">
            <a:spAutoFit/>
          </a:bodyPr>
          <a:lstStyle/>
          <a:p>
            <a:pPr algn="r"/>
            <a:r>
              <a:rPr lang="es-ES" sz="1200" dirty="0"/>
              <a:t>Etiqueta 10 bits </a:t>
            </a:r>
            <a:br>
              <a:rPr lang="es-ES" sz="1200" dirty="0"/>
            </a:br>
            <a:r>
              <a:rPr lang="es-ES" sz="1200" dirty="0"/>
              <a:t>2</a:t>
            </a:r>
            <a:r>
              <a:rPr lang="es-ES" sz="1200" baseline="30000" dirty="0"/>
              <a:t>15 </a:t>
            </a:r>
            <a:r>
              <a:rPr lang="es-ES" sz="1200" dirty="0"/>
              <a:t>Bloques</a:t>
            </a:r>
          </a:p>
          <a:p>
            <a:pPr algn="r"/>
            <a:r>
              <a:rPr lang="es-ES" sz="1200" dirty="0"/>
              <a:t>Pero como leo 2 palabras 2</a:t>
            </a:r>
            <a:r>
              <a:rPr lang="es-ES" sz="1200" baseline="30000" dirty="0"/>
              <a:t>13</a:t>
            </a:r>
          </a:p>
          <a:p>
            <a:pPr algn="r"/>
            <a:r>
              <a:rPr lang="es-ES" sz="1200" dirty="0"/>
              <a:t>3 bits los codifico con el grupo, luego necesito 10 bits más en la etiqueta </a:t>
            </a:r>
          </a:p>
        </p:txBody>
      </p:sp>
      <p:cxnSp>
        <p:nvCxnSpPr>
          <p:cNvPr id="44" name="Conector recto 43">
            <a:extLst>
              <a:ext uri="{FF2B5EF4-FFF2-40B4-BE49-F238E27FC236}">
                <a16:creationId xmlns:a16="http://schemas.microsoft.com/office/drawing/2014/main" id="{C4AA3069-93AF-4651-ADD9-F4E57CBFEF01}"/>
              </a:ext>
            </a:extLst>
          </p:cNvPr>
          <p:cNvCxnSpPr>
            <a:cxnSpLocks/>
          </p:cNvCxnSpPr>
          <p:nvPr/>
        </p:nvCxnSpPr>
        <p:spPr>
          <a:xfrm>
            <a:off x="6015436" y="4274303"/>
            <a:ext cx="903298" cy="0"/>
          </a:xfrm>
          <a:prstGeom prst="line">
            <a:avLst/>
          </a:prstGeom>
          <a:ln>
            <a:solidFill>
              <a:srgbClr val="ED7D31"/>
            </a:solidFill>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2CA29A6D-D21A-4F11-AB6C-9CAFBDC1DDCE}"/>
              </a:ext>
            </a:extLst>
          </p:cNvPr>
          <p:cNvSpPr txBox="1"/>
          <p:nvPr/>
        </p:nvSpPr>
        <p:spPr>
          <a:xfrm>
            <a:off x="5056597" y="4364367"/>
            <a:ext cx="1835979" cy="461665"/>
          </a:xfrm>
          <a:prstGeom prst="rect">
            <a:avLst/>
          </a:prstGeom>
          <a:noFill/>
        </p:spPr>
        <p:txBody>
          <a:bodyPr wrap="square" rtlCol="0">
            <a:spAutoFit/>
          </a:bodyPr>
          <a:lstStyle/>
          <a:p>
            <a:pPr algn="r"/>
            <a:r>
              <a:rPr lang="es-ES" sz="1200" dirty="0"/>
              <a:t>Conjunto </a:t>
            </a:r>
          </a:p>
          <a:p>
            <a:pPr algn="r"/>
            <a:r>
              <a:rPr lang="es-ES" sz="1200" dirty="0"/>
              <a:t>(3 bits)</a:t>
            </a:r>
          </a:p>
        </p:txBody>
      </p:sp>
      <p:pic>
        <p:nvPicPr>
          <p:cNvPr id="5" name="Imagen 4">
            <a:extLst>
              <a:ext uri="{FF2B5EF4-FFF2-40B4-BE49-F238E27FC236}">
                <a16:creationId xmlns:a16="http://schemas.microsoft.com/office/drawing/2014/main" id="{11D4E0F1-08CE-6045-3027-5519BFC566DF}"/>
              </a:ext>
            </a:extLst>
          </p:cNvPr>
          <p:cNvPicPr>
            <a:picLocks noChangeAspect="1"/>
          </p:cNvPicPr>
          <p:nvPr/>
        </p:nvPicPr>
        <p:blipFill>
          <a:blip r:embed="rId3"/>
          <a:stretch>
            <a:fillRect/>
          </a:stretch>
        </p:blipFill>
        <p:spPr>
          <a:xfrm>
            <a:off x="1729340" y="1435654"/>
            <a:ext cx="3429000" cy="1314450"/>
          </a:xfrm>
          <a:prstGeom prst="rect">
            <a:avLst/>
          </a:prstGeom>
        </p:spPr>
      </p:pic>
      <p:sp>
        <p:nvSpPr>
          <p:cNvPr id="24" name="CuadroTexto 23">
            <a:extLst>
              <a:ext uri="{FF2B5EF4-FFF2-40B4-BE49-F238E27FC236}">
                <a16:creationId xmlns:a16="http://schemas.microsoft.com/office/drawing/2014/main" id="{493C4A79-350F-74AF-580F-92FB4AAA27D8}"/>
              </a:ext>
            </a:extLst>
          </p:cNvPr>
          <p:cNvSpPr txBox="1"/>
          <p:nvPr/>
        </p:nvSpPr>
        <p:spPr>
          <a:xfrm>
            <a:off x="5068225" y="1382964"/>
            <a:ext cx="3888188" cy="2169825"/>
          </a:xfrm>
          <a:prstGeom prst="rect">
            <a:avLst/>
          </a:prstGeom>
          <a:noFill/>
        </p:spPr>
        <p:txBody>
          <a:bodyPr wrap="square">
            <a:spAutoFit/>
          </a:bodyPr>
          <a:lstStyle/>
          <a:p>
            <a:pPr algn="just"/>
            <a:r>
              <a:rPr lang="es-ES" dirty="0"/>
              <a:t>Tamaño del bloque 4 Bytes= 2</a:t>
            </a:r>
            <a:r>
              <a:rPr lang="es-ES" baseline="30000" dirty="0"/>
              <a:t>2 </a:t>
            </a:r>
            <a:r>
              <a:rPr lang="es-ES" dirty="0"/>
              <a:t>=&gt; w=2</a:t>
            </a:r>
          </a:p>
          <a:p>
            <a:pPr algn="just"/>
            <a:endParaRPr lang="es-ES" dirty="0"/>
          </a:p>
          <a:p>
            <a:pPr algn="just"/>
            <a:r>
              <a:rPr lang="es-ES" dirty="0"/>
              <a:t>Bus 16 bits =&gt; Tamaño </a:t>
            </a:r>
            <a:r>
              <a:rPr lang="es-ES" dirty="0" err="1"/>
              <a:t>Mp</a:t>
            </a:r>
            <a:r>
              <a:rPr lang="es-ES" dirty="0"/>
              <a:t>= 32 KB = 2</a:t>
            </a:r>
            <a:r>
              <a:rPr lang="es-ES" baseline="30000" dirty="0"/>
              <a:t>15</a:t>
            </a:r>
            <a:r>
              <a:rPr lang="es-ES" dirty="0"/>
              <a:t> Bytes</a:t>
            </a:r>
          </a:p>
          <a:p>
            <a:pPr algn="just"/>
            <a:r>
              <a:rPr lang="es-ES" dirty="0"/>
              <a:t>Si cada bloque es de 4 Bytes tengo 2</a:t>
            </a:r>
            <a:r>
              <a:rPr lang="es-ES" baseline="30000" dirty="0"/>
              <a:t>15 </a:t>
            </a:r>
            <a:r>
              <a:rPr lang="es-ES" dirty="0"/>
              <a:t>/</a:t>
            </a:r>
            <a:r>
              <a:rPr lang="es-ES" baseline="30000" dirty="0"/>
              <a:t> </a:t>
            </a:r>
            <a:r>
              <a:rPr lang="es-ES" dirty="0"/>
              <a:t>2</a:t>
            </a:r>
            <a:r>
              <a:rPr lang="es-ES" baseline="30000" dirty="0"/>
              <a:t>2 = </a:t>
            </a:r>
            <a:r>
              <a:rPr lang="es-ES" dirty="0"/>
              <a:t>2</a:t>
            </a:r>
            <a:r>
              <a:rPr lang="es-ES" baseline="30000" dirty="0"/>
              <a:t>13 </a:t>
            </a:r>
            <a:r>
              <a:rPr lang="es-ES" dirty="0"/>
              <a:t>Bloques en la RAM. =&gt; s=13</a:t>
            </a:r>
          </a:p>
          <a:p>
            <a:pPr algn="just"/>
            <a:endParaRPr lang="es-ES" dirty="0"/>
          </a:p>
          <a:p>
            <a:pPr algn="just"/>
            <a:r>
              <a:rPr lang="es-ES" dirty="0"/>
              <a:t>32 líneas que dividiré en 8 grupos</a:t>
            </a:r>
          </a:p>
          <a:p>
            <a:pPr algn="just"/>
            <a:r>
              <a:rPr lang="es-ES" dirty="0"/>
              <a:t>V= 2</a:t>
            </a:r>
            <a:r>
              <a:rPr lang="es-ES" baseline="30000" dirty="0"/>
              <a:t>d </a:t>
            </a:r>
            <a:r>
              <a:rPr lang="es-ES" dirty="0"/>
              <a:t>=&gt; 8= 2</a:t>
            </a:r>
            <a:r>
              <a:rPr lang="es-ES" baseline="30000" dirty="0"/>
              <a:t>d  </a:t>
            </a:r>
            <a:r>
              <a:rPr lang="es-ES" dirty="0"/>
              <a:t>=&gt; d=3 Con 3 bits represento los 8 grupos</a:t>
            </a:r>
          </a:p>
          <a:p>
            <a:pPr algn="just"/>
            <a:endParaRPr lang="es-ES" dirty="0"/>
          </a:p>
        </p:txBody>
      </p:sp>
      <p:sp>
        <p:nvSpPr>
          <p:cNvPr id="51" name="Rectángulo 50">
            <a:extLst>
              <a:ext uri="{FF2B5EF4-FFF2-40B4-BE49-F238E27FC236}">
                <a16:creationId xmlns:a16="http://schemas.microsoft.com/office/drawing/2014/main" id="{1A060B90-C79C-F205-9D3C-3925903ECA4F}"/>
              </a:ext>
            </a:extLst>
          </p:cNvPr>
          <p:cNvSpPr/>
          <p:nvPr/>
        </p:nvSpPr>
        <p:spPr>
          <a:xfrm>
            <a:off x="3872910"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2" name="Rectángulo 51">
            <a:extLst>
              <a:ext uri="{FF2B5EF4-FFF2-40B4-BE49-F238E27FC236}">
                <a16:creationId xmlns:a16="http://schemas.microsoft.com/office/drawing/2014/main" id="{D10EC29F-4E65-86F7-1105-820971584C0D}"/>
              </a:ext>
            </a:extLst>
          </p:cNvPr>
          <p:cNvSpPr/>
          <p:nvPr/>
        </p:nvSpPr>
        <p:spPr>
          <a:xfrm>
            <a:off x="4176471"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3" name="Rectángulo 52">
            <a:extLst>
              <a:ext uri="{FF2B5EF4-FFF2-40B4-BE49-F238E27FC236}">
                <a16:creationId xmlns:a16="http://schemas.microsoft.com/office/drawing/2014/main" id="{CAA3C7C5-5072-E39D-CC25-0368B3FCC350}"/>
              </a:ext>
            </a:extLst>
          </p:cNvPr>
          <p:cNvSpPr/>
          <p:nvPr/>
        </p:nvSpPr>
        <p:spPr>
          <a:xfrm>
            <a:off x="4469977"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4" name="Rectángulo 53">
            <a:extLst>
              <a:ext uri="{FF2B5EF4-FFF2-40B4-BE49-F238E27FC236}">
                <a16:creationId xmlns:a16="http://schemas.microsoft.com/office/drawing/2014/main" id="{0026E81B-CB89-341C-41DF-3351152C063F}"/>
              </a:ext>
            </a:extLst>
          </p:cNvPr>
          <p:cNvSpPr/>
          <p:nvPr/>
        </p:nvSpPr>
        <p:spPr>
          <a:xfrm>
            <a:off x="4775811"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5" name="Rectángulo 54">
            <a:extLst>
              <a:ext uri="{FF2B5EF4-FFF2-40B4-BE49-F238E27FC236}">
                <a16:creationId xmlns:a16="http://schemas.microsoft.com/office/drawing/2014/main" id="{3FAD52F4-3C9C-4836-101F-701BADEE51C0}"/>
              </a:ext>
            </a:extLst>
          </p:cNvPr>
          <p:cNvSpPr/>
          <p:nvPr/>
        </p:nvSpPr>
        <p:spPr>
          <a:xfrm>
            <a:off x="5080573"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6" name="Rectángulo 55">
            <a:extLst>
              <a:ext uri="{FF2B5EF4-FFF2-40B4-BE49-F238E27FC236}">
                <a16:creationId xmlns:a16="http://schemas.microsoft.com/office/drawing/2014/main" id="{E70EE753-0805-CE65-F12C-9C0CC18D0A39}"/>
              </a:ext>
            </a:extLst>
          </p:cNvPr>
          <p:cNvSpPr/>
          <p:nvPr/>
        </p:nvSpPr>
        <p:spPr>
          <a:xfrm>
            <a:off x="5373340"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7" name="Rectángulo 56">
            <a:extLst>
              <a:ext uri="{FF2B5EF4-FFF2-40B4-BE49-F238E27FC236}">
                <a16:creationId xmlns:a16="http://schemas.microsoft.com/office/drawing/2014/main" id="{FA1A76A8-33A5-C199-2065-7ADE302F64F1}"/>
              </a:ext>
            </a:extLst>
          </p:cNvPr>
          <p:cNvSpPr/>
          <p:nvPr/>
        </p:nvSpPr>
        <p:spPr>
          <a:xfrm>
            <a:off x="5664413" y="3703124"/>
            <a:ext cx="304800" cy="378691"/>
          </a:xfrm>
          <a:prstGeom prst="rect">
            <a:avLst/>
          </a:prstGeom>
          <a:solidFill>
            <a:schemeClr val="accent6">
              <a:lumMod val="40000"/>
              <a:lumOff val="6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8" name="Rectángulo 57">
            <a:extLst>
              <a:ext uri="{FF2B5EF4-FFF2-40B4-BE49-F238E27FC236}">
                <a16:creationId xmlns:a16="http://schemas.microsoft.com/office/drawing/2014/main" id="{93F28224-DEC6-0833-3A1B-4FD614FBE978}"/>
              </a:ext>
            </a:extLst>
          </p:cNvPr>
          <p:cNvSpPr/>
          <p:nvPr/>
        </p:nvSpPr>
        <p:spPr>
          <a:xfrm>
            <a:off x="6031272" y="3703123"/>
            <a:ext cx="304800" cy="378691"/>
          </a:xfrm>
          <a:prstGeom prst="rect">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2895329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472463A3-E18A-4181-88E6-84894A19B59C}"/>
              </a:ext>
            </a:extLst>
          </p:cNvPr>
          <p:cNvSpPr/>
          <p:nvPr/>
        </p:nvSpPr>
        <p:spPr>
          <a:xfrm>
            <a:off x="1587006" y="2123705"/>
            <a:ext cx="3943510" cy="2931168"/>
          </a:xfrm>
          <a:prstGeom prst="round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00" dirty="0">
              <a:solidFill>
                <a:schemeClr val="tx1">
                  <a:lumMod val="95000"/>
                  <a:lumOff val="5000"/>
                </a:schemeClr>
              </a:solidFill>
            </a:endParaRPr>
          </a:p>
        </p:txBody>
      </p:sp>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134" name="CuadroTexto 133">
            <a:extLst>
              <a:ext uri="{FF2B5EF4-FFF2-40B4-BE49-F238E27FC236}">
                <a16:creationId xmlns:a16="http://schemas.microsoft.com/office/drawing/2014/main" id="{4A52B284-4278-4B2A-9158-2B65AFE22167}"/>
              </a:ext>
            </a:extLst>
          </p:cNvPr>
          <p:cNvSpPr txBox="1"/>
          <p:nvPr/>
        </p:nvSpPr>
        <p:spPr>
          <a:xfrm>
            <a:off x="5930014" y="1364434"/>
            <a:ext cx="2895062" cy="3416320"/>
          </a:xfrm>
          <a:prstGeom prst="rect">
            <a:avLst/>
          </a:prstGeom>
          <a:noFill/>
        </p:spPr>
        <p:txBody>
          <a:bodyPr wrap="square" rtlCol="0">
            <a:spAutoFit/>
          </a:bodyPr>
          <a:lstStyle/>
          <a:p>
            <a:pPr algn="just"/>
            <a:r>
              <a:rPr lang="es-ES" dirty="0"/>
              <a:t>En este ejemplo de máquina de 16 bits, la caché tiene 32 líneas de 8 bytes [3 bits] cada una y los conjuntos son de 4 bloques [la etiqueta tiene 2 bits].</a:t>
            </a:r>
          </a:p>
          <a:p>
            <a:pPr algn="just"/>
            <a:endParaRPr lang="es-ES" dirty="0"/>
          </a:p>
          <a:p>
            <a:pPr algn="just"/>
            <a:r>
              <a:rPr lang="es-ES" dirty="0"/>
              <a:t>El número de conjunto tiene por tanto 11 bits. Con este número un primer selector escoge el conjunto de líneas de la caché haciendo módulo con el número de conjuntos en caché. Estas etiquetas se presentan a la entrada del pequeño comparador asociativo que localiza la línea en que se ha instanciado y dentro de ella, extrae el dato indicado por el campo palabra.</a:t>
            </a:r>
          </a:p>
          <a:p>
            <a:pPr algn="just"/>
            <a:endParaRPr lang="es-ES" dirty="0"/>
          </a:p>
        </p:txBody>
      </p:sp>
      <p:sp>
        <p:nvSpPr>
          <p:cNvPr id="136" name="CuadroTexto 135">
            <a:extLst>
              <a:ext uri="{FF2B5EF4-FFF2-40B4-BE49-F238E27FC236}">
                <a16:creationId xmlns:a16="http://schemas.microsoft.com/office/drawing/2014/main" id="{784F1142-6940-4905-B967-2A8FA4C5E6AB}"/>
              </a:ext>
            </a:extLst>
          </p:cNvPr>
          <p:cNvSpPr txBox="1"/>
          <p:nvPr/>
        </p:nvSpPr>
        <p:spPr>
          <a:xfrm>
            <a:off x="1942146" y="4748952"/>
            <a:ext cx="612668" cy="300082"/>
          </a:xfrm>
          <a:prstGeom prst="rect">
            <a:avLst/>
          </a:prstGeom>
          <a:noFill/>
        </p:spPr>
        <p:txBody>
          <a:bodyPr wrap="none" rtlCol="0">
            <a:spAutoFit/>
          </a:bodyPr>
          <a:lstStyle/>
          <a:p>
            <a:r>
              <a:rPr lang="es-ES" b="1" dirty="0"/>
              <a:t>Caché</a:t>
            </a:r>
          </a:p>
        </p:txBody>
      </p:sp>
      <p:sp>
        <p:nvSpPr>
          <p:cNvPr id="138" name="CuadroTexto 137">
            <a:extLst>
              <a:ext uri="{FF2B5EF4-FFF2-40B4-BE49-F238E27FC236}">
                <a16:creationId xmlns:a16="http://schemas.microsoft.com/office/drawing/2014/main" id="{BD5484F2-AB28-4D1F-9D39-E000ADE6B787}"/>
              </a:ext>
            </a:extLst>
          </p:cNvPr>
          <p:cNvSpPr txBox="1"/>
          <p:nvPr/>
        </p:nvSpPr>
        <p:spPr>
          <a:xfrm>
            <a:off x="1365388" y="1348201"/>
            <a:ext cx="942117" cy="300082"/>
          </a:xfrm>
          <a:prstGeom prst="rect">
            <a:avLst/>
          </a:prstGeom>
          <a:noFill/>
        </p:spPr>
        <p:txBody>
          <a:bodyPr wrap="none" rtlCol="0">
            <a:spAutoFit/>
          </a:bodyPr>
          <a:lstStyle/>
          <a:p>
            <a:r>
              <a:rPr lang="es-ES" dirty="0" err="1"/>
              <a:t>Etq</a:t>
            </a:r>
            <a:r>
              <a:rPr lang="es-ES" dirty="0"/>
              <a:t> (2 bits)</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5" y="993026"/>
            <a:ext cx="5713214" cy="300082"/>
          </a:xfrm>
          <a:prstGeom prst="rect">
            <a:avLst/>
          </a:prstGeom>
          <a:noFill/>
        </p:spPr>
        <p:txBody>
          <a:bodyPr wrap="square">
            <a:spAutoFit/>
          </a:bodyPr>
          <a:lstStyle/>
          <a:p>
            <a:pPr algn="just"/>
            <a:r>
              <a:rPr lang="es-ES" b="1" u="sng" dirty="0"/>
              <a:t>Método de correspondencia asociativa por conjuntos (continuación)</a:t>
            </a:r>
          </a:p>
        </p:txBody>
      </p:sp>
      <p:sp>
        <p:nvSpPr>
          <p:cNvPr id="5" name="Rectángulo 4">
            <a:extLst>
              <a:ext uri="{FF2B5EF4-FFF2-40B4-BE49-F238E27FC236}">
                <a16:creationId xmlns:a16="http://schemas.microsoft.com/office/drawing/2014/main" id="{8ACCCA46-5E00-4526-B677-02A3EAFAB1C3}"/>
              </a:ext>
            </a:extLst>
          </p:cNvPr>
          <p:cNvSpPr/>
          <p:nvPr/>
        </p:nvSpPr>
        <p:spPr>
          <a:xfrm>
            <a:off x="1776415" y="1675630"/>
            <a:ext cx="402512" cy="258408"/>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a:t>
            </a:r>
          </a:p>
        </p:txBody>
      </p:sp>
      <p:sp>
        <p:nvSpPr>
          <p:cNvPr id="9" name="Rectángulo 8">
            <a:extLst>
              <a:ext uri="{FF2B5EF4-FFF2-40B4-BE49-F238E27FC236}">
                <a16:creationId xmlns:a16="http://schemas.microsoft.com/office/drawing/2014/main" id="{78BD83A6-8673-4946-850E-30D715671B18}"/>
              </a:ext>
            </a:extLst>
          </p:cNvPr>
          <p:cNvSpPr/>
          <p:nvPr/>
        </p:nvSpPr>
        <p:spPr>
          <a:xfrm>
            <a:off x="2178926" y="1675631"/>
            <a:ext cx="1897344" cy="258408"/>
          </a:xfrm>
          <a:prstGeom prst="rect">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34</a:t>
            </a:r>
          </a:p>
        </p:txBody>
      </p:sp>
      <p:sp>
        <p:nvSpPr>
          <p:cNvPr id="12" name="Rectángulo 11">
            <a:extLst>
              <a:ext uri="{FF2B5EF4-FFF2-40B4-BE49-F238E27FC236}">
                <a16:creationId xmlns:a16="http://schemas.microsoft.com/office/drawing/2014/main" id="{72844B30-AF95-46D6-832E-A491F44C5A0B}"/>
              </a:ext>
            </a:extLst>
          </p:cNvPr>
          <p:cNvSpPr/>
          <p:nvPr/>
        </p:nvSpPr>
        <p:spPr>
          <a:xfrm>
            <a:off x="4076270" y="1675630"/>
            <a:ext cx="768317" cy="258407"/>
          </a:xfrm>
          <a:prstGeom prst="rect">
            <a:avLst/>
          </a:prstGeom>
          <a:solidFill>
            <a:schemeClr val="accent1">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5</a:t>
            </a:r>
          </a:p>
        </p:txBody>
      </p:sp>
      <p:sp>
        <p:nvSpPr>
          <p:cNvPr id="14" name="CuadroTexto 13">
            <a:extLst>
              <a:ext uri="{FF2B5EF4-FFF2-40B4-BE49-F238E27FC236}">
                <a16:creationId xmlns:a16="http://schemas.microsoft.com/office/drawing/2014/main" id="{9785C971-9E1D-4660-A034-E50720B76BAD}"/>
              </a:ext>
            </a:extLst>
          </p:cNvPr>
          <p:cNvSpPr txBox="1"/>
          <p:nvPr/>
        </p:nvSpPr>
        <p:spPr>
          <a:xfrm>
            <a:off x="2308656" y="1348201"/>
            <a:ext cx="1446165" cy="300082"/>
          </a:xfrm>
          <a:prstGeom prst="rect">
            <a:avLst/>
          </a:prstGeom>
          <a:noFill/>
        </p:spPr>
        <p:txBody>
          <a:bodyPr wrap="none" rtlCol="0">
            <a:spAutoFit/>
          </a:bodyPr>
          <a:lstStyle/>
          <a:p>
            <a:r>
              <a:rPr lang="es-ES" dirty="0"/>
              <a:t>Conjunto (11 bits)</a:t>
            </a:r>
          </a:p>
        </p:txBody>
      </p:sp>
      <p:sp>
        <p:nvSpPr>
          <p:cNvPr id="15" name="CuadroTexto 14">
            <a:extLst>
              <a:ext uri="{FF2B5EF4-FFF2-40B4-BE49-F238E27FC236}">
                <a16:creationId xmlns:a16="http://schemas.microsoft.com/office/drawing/2014/main" id="{35756B5E-2A0C-4FFD-AC89-7492026C1AD3}"/>
              </a:ext>
            </a:extLst>
          </p:cNvPr>
          <p:cNvSpPr txBox="1"/>
          <p:nvPr/>
        </p:nvSpPr>
        <p:spPr>
          <a:xfrm>
            <a:off x="4059068" y="1346579"/>
            <a:ext cx="1237005" cy="300082"/>
          </a:xfrm>
          <a:prstGeom prst="rect">
            <a:avLst/>
          </a:prstGeom>
          <a:noFill/>
        </p:spPr>
        <p:txBody>
          <a:bodyPr wrap="none" rtlCol="0">
            <a:spAutoFit/>
          </a:bodyPr>
          <a:lstStyle/>
          <a:p>
            <a:r>
              <a:rPr lang="es-ES" dirty="0"/>
              <a:t>Palabra (3 bits)</a:t>
            </a:r>
          </a:p>
        </p:txBody>
      </p:sp>
      <p:sp>
        <p:nvSpPr>
          <p:cNvPr id="203" name="Rectángulo 202">
            <a:extLst>
              <a:ext uri="{FF2B5EF4-FFF2-40B4-BE49-F238E27FC236}">
                <a16:creationId xmlns:a16="http://schemas.microsoft.com/office/drawing/2014/main" id="{B6224154-D282-4237-A409-403BDA4514A8}"/>
              </a:ext>
            </a:extLst>
          </p:cNvPr>
          <p:cNvSpPr/>
          <p:nvPr/>
        </p:nvSpPr>
        <p:spPr>
          <a:xfrm>
            <a:off x="2238118" y="2644549"/>
            <a:ext cx="489045" cy="96713"/>
          </a:xfrm>
          <a:prstGeom prst="rect">
            <a:avLst/>
          </a:prstGeom>
          <a:solidFill>
            <a:srgbClr val="FAEAF9"/>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4" name="Rectángulo 203">
            <a:extLst>
              <a:ext uri="{FF2B5EF4-FFF2-40B4-BE49-F238E27FC236}">
                <a16:creationId xmlns:a16="http://schemas.microsoft.com/office/drawing/2014/main" id="{FFC20B63-E844-465E-8399-19902BFB18EF}"/>
              </a:ext>
            </a:extLst>
          </p:cNvPr>
          <p:cNvSpPr/>
          <p:nvPr/>
        </p:nvSpPr>
        <p:spPr>
          <a:xfrm>
            <a:off x="2238118" y="2741262"/>
            <a:ext cx="489045" cy="96713"/>
          </a:xfrm>
          <a:prstGeom prst="rect">
            <a:avLst/>
          </a:prstGeom>
          <a:solidFill>
            <a:srgbClr val="FAEAF9"/>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5" name="Rectángulo 204">
            <a:extLst>
              <a:ext uri="{FF2B5EF4-FFF2-40B4-BE49-F238E27FC236}">
                <a16:creationId xmlns:a16="http://schemas.microsoft.com/office/drawing/2014/main" id="{64356ABF-312B-42D0-934E-19F93F2F062E}"/>
              </a:ext>
            </a:extLst>
          </p:cNvPr>
          <p:cNvSpPr/>
          <p:nvPr/>
        </p:nvSpPr>
        <p:spPr>
          <a:xfrm>
            <a:off x="2238118" y="2837975"/>
            <a:ext cx="489045" cy="96713"/>
          </a:xfrm>
          <a:prstGeom prst="rect">
            <a:avLst/>
          </a:prstGeom>
          <a:solidFill>
            <a:srgbClr val="FAEAF9"/>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6" name="Rectángulo 205">
            <a:extLst>
              <a:ext uri="{FF2B5EF4-FFF2-40B4-BE49-F238E27FC236}">
                <a16:creationId xmlns:a16="http://schemas.microsoft.com/office/drawing/2014/main" id="{E8F41324-E29B-41E2-94BD-D9E94FB31C5F}"/>
              </a:ext>
            </a:extLst>
          </p:cNvPr>
          <p:cNvSpPr/>
          <p:nvPr/>
        </p:nvSpPr>
        <p:spPr>
          <a:xfrm>
            <a:off x="2238118" y="2934688"/>
            <a:ext cx="489045" cy="96713"/>
          </a:xfrm>
          <a:prstGeom prst="rect">
            <a:avLst/>
          </a:prstGeom>
          <a:solidFill>
            <a:srgbClr val="FAEAF9"/>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7" name="Rectángulo 206">
            <a:extLst>
              <a:ext uri="{FF2B5EF4-FFF2-40B4-BE49-F238E27FC236}">
                <a16:creationId xmlns:a16="http://schemas.microsoft.com/office/drawing/2014/main" id="{D9A0225A-456A-4F99-B3AF-9445D0CA1A4C}"/>
              </a:ext>
            </a:extLst>
          </p:cNvPr>
          <p:cNvSpPr/>
          <p:nvPr/>
        </p:nvSpPr>
        <p:spPr>
          <a:xfrm>
            <a:off x="2238118" y="3031400"/>
            <a:ext cx="489045" cy="96713"/>
          </a:xfrm>
          <a:prstGeom prst="rect">
            <a:avLst/>
          </a:prstGeom>
          <a:solidFill>
            <a:schemeClr val="bg1">
              <a:lumMod val="9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8" name="Rectángulo 207">
            <a:extLst>
              <a:ext uri="{FF2B5EF4-FFF2-40B4-BE49-F238E27FC236}">
                <a16:creationId xmlns:a16="http://schemas.microsoft.com/office/drawing/2014/main" id="{251686A5-BBBA-4438-9C56-7CFC39468E3C}"/>
              </a:ext>
            </a:extLst>
          </p:cNvPr>
          <p:cNvSpPr/>
          <p:nvPr/>
        </p:nvSpPr>
        <p:spPr>
          <a:xfrm>
            <a:off x="2238118" y="3128113"/>
            <a:ext cx="489045" cy="96713"/>
          </a:xfrm>
          <a:prstGeom prst="rect">
            <a:avLst/>
          </a:prstGeom>
          <a:solidFill>
            <a:schemeClr val="bg1">
              <a:lumMod val="9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9" name="Rectángulo 198">
            <a:extLst>
              <a:ext uri="{FF2B5EF4-FFF2-40B4-BE49-F238E27FC236}">
                <a16:creationId xmlns:a16="http://schemas.microsoft.com/office/drawing/2014/main" id="{936A07E7-FD77-4817-AB4D-7B05B62DAAF6}"/>
              </a:ext>
            </a:extLst>
          </p:cNvPr>
          <p:cNvSpPr/>
          <p:nvPr/>
        </p:nvSpPr>
        <p:spPr>
          <a:xfrm>
            <a:off x="2238118" y="3992297"/>
            <a:ext cx="489045" cy="96713"/>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0" name="Rectángulo 199">
            <a:extLst>
              <a:ext uri="{FF2B5EF4-FFF2-40B4-BE49-F238E27FC236}">
                <a16:creationId xmlns:a16="http://schemas.microsoft.com/office/drawing/2014/main" id="{342302E2-C1DF-4CCE-886B-8838A365051A}"/>
              </a:ext>
            </a:extLst>
          </p:cNvPr>
          <p:cNvSpPr/>
          <p:nvPr/>
        </p:nvSpPr>
        <p:spPr>
          <a:xfrm>
            <a:off x="2238118" y="4089010"/>
            <a:ext cx="489045" cy="96713"/>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1" name="Rectángulo 200">
            <a:extLst>
              <a:ext uri="{FF2B5EF4-FFF2-40B4-BE49-F238E27FC236}">
                <a16:creationId xmlns:a16="http://schemas.microsoft.com/office/drawing/2014/main" id="{DC76BC65-268F-4B67-8F6C-BABC0C7A98CE}"/>
              </a:ext>
            </a:extLst>
          </p:cNvPr>
          <p:cNvSpPr/>
          <p:nvPr/>
        </p:nvSpPr>
        <p:spPr>
          <a:xfrm>
            <a:off x="2238118" y="4185722"/>
            <a:ext cx="489045" cy="96713"/>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2" name="Rectángulo 201">
            <a:extLst>
              <a:ext uri="{FF2B5EF4-FFF2-40B4-BE49-F238E27FC236}">
                <a16:creationId xmlns:a16="http://schemas.microsoft.com/office/drawing/2014/main" id="{929078E7-91EA-4989-9B90-FE71BB3EAF94}"/>
              </a:ext>
            </a:extLst>
          </p:cNvPr>
          <p:cNvSpPr/>
          <p:nvPr/>
        </p:nvSpPr>
        <p:spPr>
          <a:xfrm>
            <a:off x="2238118" y="4282435"/>
            <a:ext cx="489045" cy="96713"/>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1" name="Rectángulo 190">
            <a:extLst>
              <a:ext uri="{FF2B5EF4-FFF2-40B4-BE49-F238E27FC236}">
                <a16:creationId xmlns:a16="http://schemas.microsoft.com/office/drawing/2014/main" id="{3DACC3ED-4142-406B-A1F2-7A8C9A2AE1B1}"/>
              </a:ext>
            </a:extLst>
          </p:cNvPr>
          <p:cNvSpPr/>
          <p:nvPr/>
        </p:nvSpPr>
        <p:spPr>
          <a:xfrm>
            <a:off x="2238118" y="3221376"/>
            <a:ext cx="489045" cy="96713"/>
          </a:xfrm>
          <a:prstGeom prst="rect">
            <a:avLst/>
          </a:prstGeom>
          <a:solidFill>
            <a:schemeClr val="bg1">
              <a:lumMod val="9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2" name="Rectángulo 191">
            <a:extLst>
              <a:ext uri="{FF2B5EF4-FFF2-40B4-BE49-F238E27FC236}">
                <a16:creationId xmlns:a16="http://schemas.microsoft.com/office/drawing/2014/main" id="{10C58ACF-BB82-4DA5-A4B0-E4CCE20C1B3C}"/>
              </a:ext>
            </a:extLst>
          </p:cNvPr>
          <p:cNvSpPr/>
          <p:nvPr/>
        </p:nvSpPr>
        <p:spPr>
          <a:xfrm>
            <a:off x="2238118" y="3318089"/>
            <a:ext cx="489045" cy="96713"/>
          </a:xfrm>
          <a:prstGeom prst="rect">
            <a:avLst/>
          </a:prstGeom>
          <a:solidFill>
            <a:schemeClr val="bg1">
              <a:lumMod val="9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3" name="Rectángulo 192">
            <a:extLst>
              <a:ext uri="{FF2B5EF4-FFF2-40B4-BE49-F238E27FC236}">
                <a16:creationId xmlns:a16="http://schemas.microsoft.com/office/drawing/2014/main" id="{83148135-5B22-4F69-AF16-79F87CDF4F5C}"/>
              </a:ext>
            </a:extLst>
          </p:cNvPr>
          <p:cNvSpPr/>
          <p:nvPr/>
        </p:nvSpPr>
        <p:spPr>
          <a:xfrm>
            <a:off x="2238118" y="3414802"/>
            <a:ext cx="489045" cy="96713"/>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solidFill>
                  <a:schemeClr val="tx1"/>
                </a:solidFill>
              </a:rPr>
              <a:t>2</a:t>
            </a:r>
          </a:p>
        </p:txBody>
      </p:sp>
      <p:sp>
        <p:nvSpPr>
          <p:cNvPr id="194" name="Rectángulo 193">
            <a:extLst>
              <a:ext uri="{FF2B5EF4-FFF2-40B4-BE49-F238E27FC236}">
                <a16:creationId xmlns:a16="http://schemas.microsoft.com/office/drawing/2014/main" id="{7D23E173-4608-4F3E-841B-17D2D26BD44E}"/>
              </a:ext>
            </a:extLst>
          </p:cNvPr>
          <p:cNvSpPr/>
          <p:nvPr/>
        </p:nvSpPr>
        <p:spPr>
          <a:xfrm>
            <a:off x="2238118" y="3511515"/>
            <a:ext cx="489045" cy="96713"/>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solidFill>
                  <a:schemeClr val="tx1"/>
                </a:solidFill>
              </a:rPr>
              <a:t>0</a:t>
            </a:r>
          </a:p>
        </p:txBody>
      </p:sp>
      <p:sp>
        <p:nvSpPr>
          <p:cNvPr id="195" name="Rectángulo 194">
            <a:extLst>
              <a:ext uri="{FF2B5EF4-FFF2-40B4-BE49-F238E27FC236}">
                <a16:creationId xmlns:a16="http://schemas.microsoft.com/office/drawing/2014/main" id="{622EAD54-50AA-409C-AB61-FB43DAFB786C}"/>
              </a:ext>
            </a:extLst>
          </p:cNvPr>
          <p:cNvSpPr/>
          <p:nvPr/>
        </p:nvSpPr>
        <p:spPr>
          <a:xfrm>
            <a:off x="2238118" y="3608227"/>
            <a:ext cx="489045" cy="96713"/>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900" dirty="0">
                <a:solidFill>
                  <a:schemeClr val="tx1"/>
                </a:solidFill>
              </a:rPr>
              <a:t>1</a:t>
            </a:r>
          </a:p>
        </p:txBody>
      </p:sp>
      <p:sp>
        <p:nvSpPr>
          <p:cNvPr id="196" name="Rectángulo 195">
            <a:extLst>
              <a:ext uri="{FF2B5EF4-FFF2-40B4-BE49-F238E27FC236}">
                <a16:creationId xmlns:a16="http://schemas.microsoft.com/office/drawing/2014/main" id="{47EC4743-0B02-4C20-82B6-B3AE8C90CAF9}"/>
              </a:ext>
            </a:extLst>
          </p:cNvPr>
          <p:cNvSpPr/>
          <p:nvPr/>
        </p:nvSpPr>
        <p:spPr>
          <a:xfrm>
            <a:off x="2238118" y="3704940"/>
            <a:ext cx="489045" cy="96713"/>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800" dirty="0">
                <a:solidFill>
                  <a:schemeClr val="tx1"/>
                </a:solidFill>
              </a:rPr>
              <a:t>3</a:t>
            </a:r>
          </a:p>
        </p:txBody>
      </p:sp>
      <p:sp>
        <p:nvSpPr>
          <p:cNvPr id="25" name="CuadroTexto 24">
            <a:extLst>
              <a:ext uri="{FF2B5EF4-FFF2-40B4-BE49-F238E27FC236}">
                <a16:creationId xmlns:a16="http://schemas.microsoft.com/office/drawing/2014/main" id="{893C1DDA-3036-4C78-B64C-0CFA50295EF5}"/>
              </a:ext>
            </a:extLst>
          </p:cNvPr>
          <p:cNvSpPr txBox="1"/>
          <p:nvPr/>
        </p:nvSpPr>
        <p:spPr>
          <a:xfrm>
            <a:off x="1907578" y="2644549"/>
            <a:ext cx="346570" cy="300082"/>
          </a:xfrm>
          <a:prstGeom prst="rect">
            <a:avLst/>
          </a:prstGeom>
          <a:noFill/>
        </p:spPr>
        <p:txBody>
          <a:bodyPr wrap="none" rtlCol="0">
            <a:spAutoFit/>
          </a:bodyPr>
          <a:lstStyle/>
          <a:p>
            <a:r>
              <a:rPr lang="es-ES" dirty="0"/>
              <a:t>c0</a:t>
            </a:r>
          </a:p>
        </p:txBody>
      </p:sp>
      <p:sp>
        <p:nvSpPr>
          <p:cNvPr id="26" name="CuadroTexto 25">
            <a:extLst>
              <a:ext uri="{FF2B5EF4-FFF2-40B4-BE49-F238E27FC236}">
                <a16:creationId xmlns:a16="http://schemas.microsoft.com/office/drawing/2014/main" id="{07FE4DF2-B181-4D91-AE34-AAA1D4A1ACE7}"/>
              </a:ext>
            </a:extLst>
          </p:cNvPr>
          <p:cNvSpPr txBox="1"/>
          <p:nvPr/>
        </p:nvSpPr>
        <p:spPr>
          <a:xfrm>
            <a:off x="1907578" y="3060001"/>
            <a:ext cx="346570" cy="300082"/>
          </a:xfrm>
          <a:prstGeom prst="rect">
            <a:avLst/>
          </a:prstGeom>
          <a:noFill/>
        </p:spPr>
        <p:txBody>
          <a:bodyPr wrap="none" rtlCol="0">
            <a:spAutoFit/>
          </a:bodyPr>
          <a:lstStyle/>
          <a:p>
            <a:r>
              <a:rPr lang="es-ES" dirty="0"/>
              <a:t>c1</a:t>
            </a:r>
          </a:p>
        </p:txBody>
      </p:sp>
      <p:sp>
        <p:nvSpPr>
          <p:cNvPr id="27" name="CuadroTexto 26">
            <a:extLst>
              <a:ext uri="{FF2B5EF4-FFF2-40B4-BE49-F238E27FC236}">
                <a16:creationId xmlns:a16="http://schemas.microsoft.com/office/drawing/2014/main" id="{A480ECE1-74BB-4A92-BBB3-862D32D9EDA6}"/>
              </a:ext>
            </a:extLst>
          </p:cNvPr>
          <p:cNvSpPr txBox="1"/>
          <p:nvPr/>
        </p:nvSpPr>
        <p:spPr>
          <a:xfrm>
            <a:off x="1917625" y="3439248"/>
            <a:ext cx="346570" cy="300082"/>
          </a:xfrm>
          <a:prstGeom prst="rect">
            <a:avLst/>
          </a:prstGeom>
          <a:noFill/>
        </p:spPr>
        <p:txBody>
          <a:bodyPr wrap="none" rtlCol="0">
            <a:spAutoFit/>
          </a:bodyPr>
          <a:lstStyle/>
          <a:p>
            <a:r>
              <a:rPr lang="es-ES" dirty="0"/>
              <a:t>c2</a:t>
            </a:r>
          </a:p>
        </p:txBody>
      </p:sp>
      <p:sp>
        <p:nvSpPr>
          <p:cNvPr id="28" name="CuadroTexto 27">
            <a:extLst>
              <a:ext uri="{FF2B5EF4-FFF2-40B4-BE49-F238E27FC236}">
                <a16:creationId xmlns:a16="http://schemas.microsoft.com/office/drawing/2014/main" id="{3085A366-C1B2-4E39-AC36-A37BE2D11EEE}"/>
              </a:ext>
            </a:extLst>
          </p:cNvPr>
          <p:cNvSpPr txBox="1"/>
          <p:nvPr/>
        </p:nvSpPr>
        <p:spPr>
          <a:xfrm>
            <a:off x="1917625" y="3995730"/>
            <a:ext cx="346570" cy="300082"/>
          </a:xfrm>
          <a:prstGeom prst="rect">
            <a:avLst/>
          </a:prstGeom>
          <a:noFill/>
        </p:spPr>
        <p:txBody>
          <a:bodyPr wrap="none" rtlCol="0">
            <a:spAutoFit/>
          </a:bodyPr>
          <a:lstStyle/>
          <a:p>
            <a:r>
              <a:rPr lang="es-ES" dirty="0"/>
              <a:t>c7</a:t>
            </a:r>
          </a:p>
        </p:txBody>
      </p:sp>
      <p:sp>
        <p:nvSpPr>
          <p:cNvPr id="29" name="Rectángulo 28">
            <a:extLst>
              <a:ext uri="{FF2B5EF4-FFF2-40B4-BE49-F238E27FC236}">
                <a16:creationId xmlns:a16="http://schemas.microsoft.com/office/drawing/2014/main" id="{D9555249-4C7D-4C4E-B6E2-D0EC06A19C16}"/>
              </a:ext>
            </a:extLst>
          </p:cNvPr>
          <p:cNvSpPr/>
          <p:nvPr/>
        </p:nvSpPr>
        <p:spPr>
          <a:xfrm>
            <a:off x="3031738" y="2214656"/>
            <a:ext cx="759759" cy="1810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mod 8</a:t>
            </a:r>
          </a:p>
        </p:txBody>
      </p:sp>
      <p:sp>
        <p:nvSpPr>
          <p:cNvPr id="30" name="CuadroTexto 29">
            <a:extLst>
              <a:ext uri="{FF2B5EF4-FFF2-40B4-BE49-F238E27FC236}">
                <a16:creationId xmlns:a16="http://schemas.microsoft.com/office/drawing/2014/main" id="{55ABD314-678B-4348-B8B0-127B99F8C161}"/>
              </a:ext>
            </a:extLst>
          </p:cNvPr>
          <p:cNvSpPr txBox="1"/>
          <p:nvPr/>
        </p:nvSpPr>
        <p:spPr>
          <a:xfrm>
            <a:off x="3791497" y="2184825"/>
            <a:ext cx="651140" cy="261610"/>
          </a:xfrm>
          <a:prstGeom prst="rect">
            <a:avLst/>
          </a:prstGeom>
          <a:noFill/>
        </p:spPr>
        <p:txBody>
          <a:bodyPr wrap="none" rtlCol="0">
            <a:spAutoFit/>
          </a:bodyPr>
          <a:lstStyle/>
          <a:p>
            <a:r>
              <a:rPr lang="es-ES" sz="1100" dirty="0"/>
              <a:t>Selector</a:t>
            </a:r>
          </a:p>
        </p:txBody>
      </p:sp>
      <p:sp>
        <p:nvSpPr>
          <p:cNvPr id="31" name="Rectángulo 30">
            <a:extLst>
              <a:ext uri="{FF2B5EF4-FFF2-40B4-BE49-F238E27FC236}">
                <a16:creationId xmlns:a16="http://schemas.microsoft.com/office/drawing/2014/main" id="{5434ACD2-1595-4FA2-9A9F-EB956A094A5C}"/>
              </a:ext>
            </a:extLst>
          </p:cNvPr>
          <p:cNvSpPr/>
          <p:nvPr/>
        </p:nvSpPr>
        <p:spPr>
          <a:xfrm>
            <a:off x="3098002" y="4506322"/>
            <a:ext cx="684967" cy="74354"/>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31">
            <a:extLst>
              <a:ext uri="{FF2B5EF4-FFF2-40B4-BE49-F238E27FC236}">
                <a16:creationId xmlns:a16="http://schemas.microsoft.com/office/drawing/2014/main" id="{4B6CAF5D-38C8-4155-A852-A4DF0FA6AE91}"/>
              </a:ext>
            </a:extLst>
          </p:cNvPr>
          <p:cNvSpPr/>
          <p:nvPr/>
        </p:nvSpPr>
        <p:spPr>
          <a:xfrm>
            <a:off x="3098002" y="4603035"/>
            <a:ext cx="684967" cy="74354"/>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Rectángulo 32">
            <a:extLst>
              <a:ext uri="{FF2B5EF4-FFF2-40B4-BE49-F238E27FC236}">
                <a16:creationId xmlns:a16="http://schemas.microsoft.com/office/drawing/2014/main" id="{8376EC45-9C10-4D97-BD57-983C398DE186}"/>
              </a:ext>
            </a:extLst>
          </p:cNvPr>
          <p:cNvSpPr/>
          <p:nvPr/>
        </p:nvSpPr>
        <p:spPr>
          <a:xfrm>
            <a:off x="3098002" y="4699747"/>
            <a:ext cx="684967" cy="74354"/>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ángulo 33">
            <a:extLst>
              <a:ext uri="{FF2B5EF4-FFF2-40B4-BE49-F238E27FC236}">
                <a16:creationId xmlns:a16="http://schemas.microsoft.com/office/drawing/2014/main" id="{1798BE44-87A7-45EF-8243-2D0249A6EAAA}"/>
              </a:ext>
            </a:extLst>
          </p:cNvPr>
          <p:cNvSpPr/>
          <p:nvPr/>
        </p:nvSpPr>
        <p:spPr>
          <a:xfrm>
            <a:off x="3098002" y="4796460"/>
            <a:ext cx="684967" cy="74354"/>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8" name="Conector recto 37">
            <a:extLst>
              <a:ext uri="{FF2B5EF4-FFF2-40B4-BE49-F238E27FC236}">
                <a16:creationId xmlns:a16="http://schemas.microsoft.com/office/drawing/2014/main" id="{3A64C0BA-86D8-4626-82FB-D3A8906525F3}"/>
              </a:ext>
            </a:extLst>
          </p:cNvPr>
          <p:cNvCxnSpPr/>
          <p:nvPr/>
        </p:nvCxnSpPr>
        <p:spPr>
          <a:xfrm>
            <a:off x="2727163" y="3439248"/>
            <a:ext cx="123613" cy="72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6" name="Conector recto 215">
            <a:extLst>
              <a:ext uri="{FF2B5EF4-FFF2-40B4-BE49-F238E27FC236}">
                <a16:creationId xmlns:a16="http://schemas.microsoft.com/office/drawing/2014/main" id="{BC1C6A65-4767-445B-9F96-2D83D56BEADF}"/>
              </a:ext>
            </a:extLst>
          </p:cNvPr>
          <p:cNvCxnSpPr/>
          <p:nvPr/>
        </p:nvCxnSpPr>
        <p:spPr>
          <a:xfrm>
            <a:off x="2727163" y="3558660"/>
            <a:ext cx="123613" cy="72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7" name="Conector recto 216">
            <a:extLst>
              <a:ext uri="{FF2B5EF4-FFF2-40B4-BE49-F238E27FC236}">
                <a16:creationId xmlns:a16="http://schemas.microsoft.com/office/drawing/2014/main" id="{41A41E02-589D-4643-84F4-BA04CDB9E567}"/>
              </a:ext>
            </a:extLst>
          </p:cNvPr>
          <p:cNvCxnSpPr/>
          <p:nvPr/>
        </p:nvCxnSpPr>
        <p:spPr>
          <a:xfrm>
            <a:off x="2725899" y="3659285"/>
            <a:ext cx="123613" cy="72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8" name="Conector recto 217">
            <a:extLst>
              <a:ext uri="{FF2B5EF4-FFF2-40B4-BE49-F238E27FC236}">
                <a16:creationId xmlns:a16="http://schemas.microsoft.com/office/drawing/2014/main" id="{B71E5AB1-B9EB-4775-9A42-FF00A4F00167}"/>
              </a:ext>
            </a:extLst>
          </p:cNvPr>
          <p:cNvCxnSpPr/>
          <p:nvPr/>
        </p:nvCxnSpPr>
        <p:spPr>
          <a:xfrm>
            <a:off x="2725898" y="3759910"/>
            <a:ext cx="123613" cy="72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9" name="Conector recto 218">
            <a:extLst>
              <a:ext uri="{FF2B5EF4-FFF2-40B4-BE49-F238E27FC236}">
                <a16:creationId xmlns:a16="http://schemas.microsoft.com/office/drawing/2014/main" id="{77E65339-4090-431F-850E-9D1D91738DA7}"/>
              </a:ext>
            </a:extLst>
          </p:cNvPr>
          <p:cNvCxnSpPr/>
          <p:nvPr/>
        </p:nvCxnSpPr>
        <p:spPr>
          <a:xfrm>
            <a:off x="2974389" y="4470188"/>
            <a:ext cx="123613" cy="72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Conector recto 219">
            <a:extLst>
              <a:ext uri="{FF2B5EF4-FFF2-40B4-BE49-F238E27FC236}">
                <a16:creationId xmlns:a16="http://schemas.microsoft.com/office/drawing/2014/main" id="{026E5DC9-47D8-4FBE-BDC5-73581F9CE566}"/>
              </a:ext>
            </a:extLst>
          </p:cNvPr>
          <p:cNvCxnSpPr/>
          <p:nvPr/>
        </p:nvCxnSpPr>
        <p:spPr>
          <a:xfrm>
            <a:off x="2974389" y="4589600"/>
            <a:ext cx="123613" cy="72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1" name="Conector recto 220">
            <a:extLst>
              <a:ext uri="{FF2B5EF4-FFF2-40B4-BE49-F238E27FC236}">
                <a16:creationId xmlns:a16="http://schemas.microsoft.com/office/drawing/2014/main" id="{AEC201BA-AFF3-4B3D-92FE-3CFFE6EC56A3}"/>
              </a:ext>
            </a:extLst>
          </p:cNvPr>
          <p:cNvCxnSpPr/>
          <p:nvPr/>
        </p:nvCxnSpPr>
        <p:spPr>
          <a:xfrm>
            <a:off x="2973125" y="4690225"/>
            <a:ext cx="123613" cy="72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2" name="Conector recto 221">
            <a:extLst>
              <a:ext uri="{FF2B5EF4-FFF2-40B4-BE49-F238E27FC236}">
                <a16:creationId xmlns:a16="http://schemas.microsoft.com/office/drawing/2014/main" id="{CC71C01A-F508-45B8-8763-8580925C3F34}"/>
              </a:ext>
            </a:extLst>
          </p:cNvPr>
          <p:cNvCxnSpPr/>
          <p:nvPr/>
        </p:nvCxnSpPr>
        <p:spPr>
          <a:xfrm>
            <a:off x="2973124" y="4790850"/>
            <a:ext cx="123613" cy="72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24FB91DA-9303-4364-B2AB-501296B531F9}"/>
              </a:ext>
            </a:extLst>
          </p:cNvPr>
          <p:cNvCxnSpPr>
            <a:cxnSpLocks/>
          </p:cNvCxnSpPr>
          <p:nvPr/>
        </p:nvCxnSpPr>
        <p:spPr>
          <a:xfrm flipH="1">
            <a:off x="3287807" y="1943561"/>
            <a:ext cx="1210" cy="271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494F8013-AAC0-4817-B054-59D35998CF73}"/>
              </a:ext>
            </a:extLst>
          </p:cNvPr>
          <p:cNvCxnSpPr>
            <a:stCxn id="29" idx="2"/>
          </p:cNvCxnSpPr>
          <p:nvPr/>
        </p:nvCxnSpPr>
        <p:spPr>
          <a:xfrm flipH="1">
            <a:off x="3402106" y="2395738"/>
            <a:ext cx="9512" cy="1263547"/>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EA793DEE-990E-406E-90A2-67B39D0D238D}"/>
              </a:ext>
            </a:extLst>
          </p:cNvPr>
          <p:cNvCxnSpPr/>
          <p:nvPr/>
        </p:nvCxnSpPr>
        <p:spPr>
          <a:xfrm flipH="1">
            <a:off x="2981652" y="3659285"/>
            <a:ext cx="420454"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Rectángulo 46">
            <a:extLst>
              <a:ext uri="{FF2B5EF4-FFF2-40B4-BE49-F238E27FC236}">
                <a16:creationId xmlns:a16="http://schemas.microsoft.com/office/drawing/2014/main" id="{9006B737-8A38-4E4A-A3DE-6C5752EA688A}"/>
              </a:ext>
            </a:extLst>
          </p:cNvPr>
          <p:cNvSpPr/>
          <p:nvPr/>
        </p:nvSpPr>
        <p:spPr>
          <a:xfrm>
            <a:off x="2851199" y="3409763"/>
            <a:ext cx="123613" cy="538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Rectángulo 47">
            <a:extLst>
              <a:ext uri="{FF2B5EF4-FFF2-40B4-BE49-F238E27FC236}">
                <a16:creationId xmlns:a16="http://schemas.microsoft.com/office/drawing/2014/main" id="{740F45D3-E572-4F96-AD6B-94075DDF7751}"/>
              </a:ext>
            </a:extLst>
          </p:cNvPr>
          <p:cNvSpPr/>
          <p:nvPr/>
        </p:nvSpPr>
        <p:spPr>
          <a:xfrm>
            <a:off x="2849511" y="4356468"/>
            <a:ext cx="123613" cy="538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50" name="Conector recto 49">
            <a:extLst>
              <a:ext uri="{FF2B5EF4-FFF2-40B4-BE49-F238E27FC236}">
                <a16:creationId xmlns:a16="http://schemas.microsoft.com/office/drawing/2014/main" id="{706E166D-51C8-4779-B3F4-2CF2DA09C7E5}"/>
              </a:ext>
            </a:extLst>
          </p:cNvPr>
          <p:cNvCxnSpPr>
            <a:cxnSpLocks/>
            <a:stCxn id="47" idx="2"/>
            <a:endCxn id="48" idx="0"/>
          </p:cNvCxnSpPr>
          <p:nvPr/>
        </p:nvCxnSpPr>
        <p:spPr>
          <a:xfrm flipH="1">
            <a:off x="2911318" y="3948292"/>
            <a:ext cx="1688" cy="408176"/>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6" name="CuadroTexto 55">
            <a:extLst>
              <a:ext uri="{FF2B5EF4-FFF2-40B4-BE49-F238E27FC236}">
                <a16:creationId xmlns:a16="http://schemas.microsoft.com/office/drawing/2014/main" id="{5C8EC5CE-A706-46EE-8F9F-0F565FEC4880}"/>
              </a:ext>
            </a:extLst>
          </p:cNvPr>
          <p:cNvSpPr txBox="1"/>
          <p:nvPr/>
        </p:nvSpPr>
        <p:spPr>
          <a:xfrm rot="16200000">
            <a:off x="2980504" y="2987265"/>
            <a:ext cx="630301" cy="246221"/>
          </a:xfrm>
          <a:prstGeom prst="rect">
            <a:avLst/>
          </a:prstGeom>
          <a:noFill/>
        </p:spPr>
        <p:txBody>
          <a:bodyPr wrap="none" rtlCol="0">
            <a:spAutoFit/>
          </a:bodyPr>
          <a:lstStyle/>
          <a:p>
            <a:r>
              <a:rPr lang="es-ES" sz="1000" dirty="0" err="1"/>
              <a:t>Enable</a:t>
            </a:r>
            <a:r>
              <a:rPr lang="es-ES" sz="1000" dirty="0"/>
              <a:t> 2</a:t>
            </a:r>
          </a:p>
        </p:txBody>
      </p:sp>
      <p:sp>
        <p:nvSpPr>
          <p:cNvPr id="58" name="CuadroTexto 57">
            <a:extLst>
              <a:ext uri="{FF2B5EF4-FFF2-40B4-BE49-F238E27FC236}">
                <a16:creationId xmlns:a16="http://schemas.microsoft.com/office/drawing/2014/main" id="{4DA73206-0BA6-4DAD-B473-71BF913B74E7}"/>
              </a:ext>
            </a:extLst>
          </p:cNvPr>
          <p:cNvSpPr txBox="1"/>
          <p:nvPr/>
        </p:nvSpPr>
        <p:spPr>
          <a:xfrm>
            <a:off x="3754821" y="4794256"/>
            <a:ext cx="1503938" cy="261610"/>
          </a:xfrm>
          <a:prstGeom prst="rect">
            <a:avLst/>
          </a:prstGeom>
          <a:noFill/>
        </p:spPr>
        <p:txBody>
          <a:bodyPr wrap="none" rtlCol="0">
            <a:spAutoFit/>
          </a:bodyPr>
          <a:lstStyle/>
          <a:p>
            <a:r>
              <a:rPr lang="es-ES" sz="1100" dirty="0"/>
              <a:t>Comparador asociativo</a:t>
            </a:r>
          </a:p>
        </p:txBody>
      </p:sp>
      <p:cxnSp>
        <p:nvCxnSpPr>
          <p:cNvPr id="225" name="Conector recto 224">
            <a:extLst>
              <a:ext uri="{FF2B5EF4-FFF2-40B4-BE49-F238E27FC236}">
                <a16:creationId xmlns:a16="http://schemas.microsoft.com/office/drawing/2014/main" id="{98A61128-729C-4EDA-9B75-645682E1AB2B}"/>
              </a:ext>
            </a:extLst>
          </p:cNvPr>
          <p:cNvCxnSpPr>
            <a:cxnSpLocks/>
          </p:cNvCxnSpPr>
          <p:nvPr/>
        </p:nvCxnSpPr>
        <p:spPr>
          <a:xfrm flipH="1">
            <a:off x="1890427" y="1935962"/>
            <a:ext cx="36710" cy="2800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Conector recto 225">
            <a:extLst>
              <a:ext uri="{FF2B5EF4-FFF2-40B4-BE49-F238E27FC236}">
                <a16:creationId xmlns:a16="http://schemas.microsoft.com/office/drawing/2014/main" id="{E4F3A722-CC70-47F1-B4FF-6AD11FC70BFA}"/>
              </a:ext>
            </a:extLst>
          </p:cNvPr>
          <p:cNvCxnSpPr>
            <a:cxnSpLocks/>
          </p:cNvCxnSpPr>
          <p:nvPr/>
        </p:nvCxnSpPr>
        <p:spPr>
          <a:xfrm flipH="1" flipV="1">
            <a:off x="1885790" y="4749533"/>
            <a:ext cx="991166" cy="12499"/>
          </a:xfrm>
          <a:prstGeom prst="line">
            <a:avLst/>
          </a:prstGeom>
        </p:spPr>
        <p:style>
          <a:lnRef idx="1">
            <a:schemeClr val="accent1"/>
          </a:lnRef>
          <a:fillRef idx="0">
            <a:schemeClr val="accent1"/>
          </a:fillRef>
          <a:effectRef idx="0">
            <a:schemeClr val="accent1"/>
          </a:effectRef>
          <a:fontRef idx="minor">
            <a:schemeClr val="tx1"/>
          </a:fontRef>
        </p:style>
      </p:cxnSp>
      <p:sp>
        <p:nvSpPr>
          <p:cNvPr id="230" name="Rectángulo 229">
            <a:extLst>
              <a:ext uri="{FF2B5EF4-FFF2-40B4-BE49-F238E27FC236}">
                <a16:creationId xmlns:a16="http://schemas.microsoft.com/office/drawing/2014/main" id="{9C69D5BB-5D3C-440B-B269-7F1418B4BF29}"/>
              </a:ext>
            </a:extLst>
          </p:cNvPr>
          <p:cNvSpPr/>
          <p:nvPr/>
        </p:nvSpPr>
        <p:spPr>
          <a:xfrm>
            <a:off x="4005183" y="2657854"/>
            <a:ext cx="1323382" cy="74354"/>
          </a:xfrm>
          <a:prstGeom prst="rect">
            <a:avLst/>
          </a:prstGeom>
          <a:solidFill>
            <a:srgbClr val="FAEAF9"/>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2" name="Rectángulo 231">
            <a:extLst>
              <a:ext uri="{FF2B5EF4-FFF2-40B4-BE49-F238E27FC236}">
                <a16:creationId xmlns:a16="http://schemas.microsoft.com/office/drawing/2014/main" id="{97F4DC3C-0CF9-4C81-A769-11FE9459ACA4}"/>
              </a:ext>
            </a:extLst>
          </p:cNvPr>
          <p:cNvSpPr/>
          <p:nvPr/>
        </p:nvSpPr>
        <p:spPr>
          <a:xfrm>
            <a:off x="4005183" y="2754567"/>
            <a:ext cx="1323382" cy="74354"/>
          </a:xfrm>
          <a:prstGeom prst="rect">
            <a:avLst/>
          </a:prstGeom>
          <a:solidFill>
            <a:srgbClr val="FAEAF9"/>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4" name="Rectángulo 233">
            <a:extLst>
              <a:ext uri="{FF2B5EF4-FFF2-40B4-BE49-F238E27FC236}">
                <a16:creationId xmlns:a16="http://schemas.microsoft.com/office/drawing/2014/main" id="{EA0A9169-032B-4985-849C-CFABB49F1C12}"/>
              </a:ext>
            </a:extLst>
          </p:cNvPr>
          <p:cNvSpPr/>
          <p:nvPr/>
        </p:nvSpPr>
        <p:spPr>
          <a:xfrm>
            <a:off x="4005183" y="2851280"/>
            <a:ext cx="1323382" cy="74354"/>
          </a:xfrm>
          <a:prstGeom prst="rect">
            <a:avLst/>
          </a:prstGeom>
          <a:solidFill>
            <a:srgbClr val="FAEAF9"/>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6" name="Rectángulo 235">
            <a:extLst>
              <a:ext uri="{FF2B5EF4-FFF2-40B4-BE49-F238E27FC236}">
                <a16:creationId xmlns:a16="http://schemas.microsoft.com/office/drawing/2014/main" id="{3C90DCE7-87B2-44C4-858A-72069527A28E}"/>
              </a:ext>
            </a:extLst>
          </p:cNvPr>
          <p:cNvSpPr/>
          <p:nvPr/>
        </p:nvSpPr>
        <p:spPr>
          <a:xfrm>
            <a:off x="4005183" y="2947993"/>
            <a:ext cx="1323382" cy="74354"/>
          </a:xfrm>
          <a:prstGeom prst="rect">
            <a:avLst/>
          </a:prstGeom>
          <a:solidFill>
            <a:srgbClr val="FAEAF9"/>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8" name="Rectángulo 237">
            <a:extLst>
              <a:ext uri="{FF2B5EF4-FFF2-40B4-BE49-F238E27FC236}">
                <a16:creationId xmlns:a16="http://schemas.microsoft.com/office/drawing/2014/main" id="{AD7038D5-5B07-4638-BBC1-98AED5450CC6}"/>
              </a:ext>
            </a:extLst>
          </p:cNvPr>
          <p:cNvSpPr/>
          <p:nvPr/>
        </p:nvSpPr>
        <p:spPr>
          <a:xfrm>
            <a:off x="4005183" y="3044705"/>
            <a:ext cx="1323382" cy="74354"/>
          </a:xfrm>
          <a:prstGeom prst="rect">
            <a:avLst/>
          </a:prstGeom>
          <a:solidFill>
            <a:schemeClr val="bg1">
              <a:lumMod val="9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0" name="Rectángulo 239">
            <a:extLst>
              <a:ext uri="{FF2B5EF4-FFF2-40B4-BE49-F238E27FC236}">
                <a16:creationId xmlns:a16="http://schemas.microsoft.com/office/drawing/2014/main" id="{061F28D6-17FC-4158-A9F2-93DCC31F62CB}"/>
              </a:ext>
            </a:extLst>
          </p:cNvPr>
          <p:cNvSpPr/>
          <p:nvPr/>
        </p:nvSpPr>
        <p:spPr>
          <a:xfrm>
            <a:off x="4005183" y="3141418"/>
            <a:ext cx="1323382" cy="74354"/>
          </a:xfrm>
          <a:prstGeom prst="rect">
            <a:avLst/>
          </a:prstGeom>
          <a:solidFill>
            <a:schemeClr val="bg1">
              <a:lumMod val="9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2" name="Rectángulo 241">
            <a:extLst>
              <a:ext uri="{FF2B5EF4-FFF2-40B4-BE49-F238E27FC236}">
                <a16:creationId xmlns:a16="http://schemas.microsoft.com/office/drawing/2014/main" id="{81296765-8352-436A-9796-7475E4F98B52}"/>
              </a:ext>
            </a:extLst>
          </p:cNvPr>
          <p:cNvSpPr/>
          <p:nvPr/>
        </p:nvSpPr>
        <p:spPr>
          <a:xfrm>
            <a:off x="4005183" y="4005602"/>
            <a:ext cx="1323382" cy="74354"/>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4" name="Rectángulo 243">
            <a:extLst>
              <a:ext uri="{FF2B5EF4-FFF2-40B4-BE49-F238E27FC236}">
                <a16:creationId xmlns:a16="http://schemas.microsoft.com/office/drawing/2014/main" id="{B1309641-A946-43D0-B89D-C5DFF799D846}"/>
              </a:ext>
            </a:extLst>
          </p:cNvPr>
          <p:cNvSpPr/>
          <p:nvPr/>
        </p:nvSpPr>
        <p:spPr>
          <a:xfrm>
            <a:off x="4005183" y="4102315"/>
            <a:ext cx="1323382" cy="74354"/>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6" name="Rectángulo 245">
            <a:extLst>
              <a:ext uri="{FF2B5EF4-FFF2-40B4-BE49-F238E27FC236}">
                <a16:creationId xmlns:a16="http://schemas.microsoft.com/office/drawing/2014/main" id="{33E5AD14-6372-4923-93C2-1CDCA1063EDE}"/>
              </a:ext>
            </a:extLst>
          </p:cNvPr>
          <p:cNvSpPr/>
          <p:nvPr/>
        </p:nvSpPr>
        <p:spPr>
          <a:xfrm>
            <a:off x="4005183" y="4199027"/>
            <a:ext cx="1323382" cy="74354"/>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8" name="Rectángulo 247">
            <a:extLst>
              <a:ext uri="{FF2B5EF4-FFF2-40B4-BE49-F238E27FC236}">
                <a16:creationId xmlns:a16="http://schemas.microsoft.com/office/drawing/2014/main" id="{CAF1B0D7-E11A-4B59-947E-1C427FAE97A6}"/>
              </a:ext>
            </a:extLst>
          </p:cNvPr>
          <p:cNvSpPr/>
          <p:nvPr/>
        </p:nvSpPr>
        <p:spPr>
          <a:xfrm>
            <a:off x="4005183" y="4295740"/>
            <a:ext cx="1323382" cy="74354"/>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0" name="Rectángulo 249">
            <a:extLst>
              <a:ext uri="{FF2B5EF4-FFF2-40B4-BE49-F238E27FC236}">
                <a16:creationId xmlns:a16="http://schemas.microsoft.com/office/drawing/2014/main" id="{26290D7A-3B45-45F0-9DE9-2CB1736921B8}"/>
              </a:ext>
            </a:extLst>
          </p:cNvPr>
          <p:cNvSpPr/>
          <p:nvPr/>
        </p:nvSpPr>
        <p:spPr>
          <a:xfrm>
            <a:off x="4005183" y="3234681"/>
            <a:ext cx="1323382" cy="74354"/>
          </a:xfrm>
          <a:prstGeom prst="rect">
            <a:avLst/>
          </a:prstGeom>
          <a:solidFill>
            <a:schemeClr val="bg1">
              <a:lumMod val="9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2" name="Rectángulo 251">
            <a:extLst>
              <a:ext uri="{FF2B5EF4-FFF2-40B4-BE49-F238E27FC236}">
                <a16:creationId xmlns:a16="http://schemas.microsoft.com/office/drawing/2014/main" id="{A6C4BC4B-0693-429D-A365-A4C62B703054}"/>
              </a:ext>
            </a:extLst>
          </p:cNvPr>
          <p:cNvSpPr/>
          <p:nvPr/>
        </p:nvSpPr>
        <p:spPr>
          <a:xfrm>
            <a:off x="4005183" y="3331394"/>
            <a:ext cx="1323382" cy="74354"/>
          </a:xfrm>
          <a:prstGeom prst="rect">
            <a:avLst/>
          </a:prstGeom>
          <a:solidFill>
            <a:schemeClr val="bg1">
              <a:lumMod val="9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4" name="Rectángulo 253">
            <a:extLst>
              <a:ext uri="{FF2B5EF4-FFF2-40B4-BE49-F238E27FC236}">
                <a16:creationId xmlns:a16="http://schemas.microsoft.com/office/drawing/2014/main" id="{CB3728C6-B409-4052-A0C3-96DEE8D66B70}"/>
              </a:ext>
            </a:extLst>
          </p:cNvPr>
          <p:cNvSpPr/>
          <p:nvPr/>
        </p:nvSpPr>
        <p:spPr>
          <a:xfrm>
            <a:off x="4005183" y="3428107"/>
            <a:ext cx="1323382" cy="74354"/>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900" dirty="0">
              <a:solidFill>
                <a:schemeClr val="tx1"/>
              </a:solidFill>
            </a:endParaRPr>
          </a:p>
        </p:txBody>
      </p:sp>
      <p:sp>
        <p:nvSpPr>
          <p:cNvPr id="64" name="Rectángulo 63">
            <a:extLst>
              <a:ext uri="{FF2B5EF4-FFF2-40B4-BE49-F238E27FC236}">
                <a16:creationId xmlns:a16="http://schemas.microsoft.com/office/drawing/2014/main" id="{77BAB3EB-4523-4F1F-BE10-DA19271B1527}"/>
              </a:ext>
            </a:extLst>
          </p:cNvPr>
          <p:cNvSpPr/>
          <p:nvPr/>
        </p:nvSpPr>
        <p:spPr>
          <a:xfrm>
            <a:off x="4005183" y="3524820"/>
            <a:ext cx="1323382" cy="74354"/>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900" dirty="0">
              <a:solidFill>
                <a:schemeClr val="tx1"/>
              </a:solidFill>
            </a:endParaRPr>
          </a:p>
        </p:txBody>
      </p:sp>
      <p:sp>
        <p:nvSpPr>
          <p:cNvPr id="72" name="Rectángulo 71">
            <a:extLst>
              <a:ext uri="{FF2B5EF4-FFF2-40B4-BE49-F238E27FC236}">
                <a16:creationId xmlns:a16="http://schemas.microsoft.com/office/drawing/2014/main" id="{83B85F93-724C-4475-A934-78702AC82E41}"/>
              </a:ext>
            </a:extLst>
          </p:cNvPr>
          <p:cNvSpPr/>
          <p:nvPr/>
        </p:nvSpPr>
        <p:spPr>
          <a:xfrm>
            <a:off x="4005183" y="3621532"/>
            <a:ext cx="1323382" cy="74354"/>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900" dirty="0">
              <a:solidFill>
                <a:schemeClr val="tx1"/>
              </a:solidFill>
            </a:endParaRPr>
          </a:p>
        </p:txBody>
      </p:sp>
      <p:sp>
        <p:nvSpPr>
          <p:cNvPr id="258" name="Rectángulo 257">
            <a:extLst>
              <a:ext uri="{FF2B5EF4-FFF2-40B4-BE49-F238E27FC236}">
                <a16:creationId xmlns:a16="http://schemas.microsoft.com/office/drawing/2014/main" id="{2820C3E8-8EAA-4F46-9669-41E3E6C1ABDA}"/>
              </a:ext>
            </a:extLst>
          </p:cNvPr>
          <p:cNvSpPr/>
          <p:nvPr/>
        </p:nvSpPr>
        <p:spPr>
          <a:xfrm>
            <a:off x="4005183" y="3718245"/>
            <a:ext cx="1323382" cy="74354"/>
          </a:xfrm>
          <a:prstGeom prst="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800" dirty="0">
              <a:solidFill>
                <a:schemeClr val="tx1"/>
              </a:solidFill>
            </a:endParaRPr>
          </a:p>
        </p:txBody>
      </p:sp>
      <p:cxnSp>
        <p:nvCxnSpPr>
          <p:cNvPr id="259" name="Conector recto 258">
            <a:extLst>
              <a:ext uri="{FF2B5EF4-FFF2-40B4-BE49-F238E27FC236}">
                <a16:creationId xmlns:a16="http://schemas.microsoft.com/office/drawing/2014/main" id="{3CCF5955-72F5-4774-8981-D7359A5FA9C2}"/>
              </a:ext>
            </a:extLst>
          </p:cNvPr>
          <p:cNvCxnSpPr>
            <a:cxnSpLocks/>
          </p:cNvCxnSpPr>
          <p:nvPr/>
        </p:nvCxnSpPr>
        <p:spPr>
          <a:xfrm flipH="1">
            <a:off x="3856776" y="3679027"/>
            <a:ext cx="17270" cy="104733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2" name="Conector recto 261">
            <a:extLst>
              <a:ext uri="{FF2B5EF4-FFF2-40B4-BE49-F238E27FC236}">
                <a16:creationId xmlns:a16="http://schemas.microsoft.com/office/drawing/2014/main" id="{CBE8A113-0F63-4C94-B9F1-12D655417E67}"/>
              </a:ext>
            </a:extLst>
          </p:cNvPr>
          <p:cNvCxnSpPr>
            <a:cxnSpLocks/>
          </p:cNvCxnSpPr>
          <p:nvPr/>
        </p:nvCxnSpPr>
        <p:spPr>
          <a:xfrm flipH="1">
            <a:off x="3874045" y="3679027"/>
            <a:ext cx="15862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6" name="Conector recto 275">
            <a:extLst>
              <a:ext uri="{FF2B5EF4-FFF2-40B4-BE49-F238E27FC236}">
                <a16:creationId xmlns:a16="http://schemas.microsoft.com/office/drawing/2014/main" id="{82AF97F7-7667-4DEA-A2A9-A1A630FF9518}"/>
              </a:ext>
            </a:extLst>
          </p:cNvPr>
          <p:cNvCxnSpPr/>
          <p:nvPr/>
        </p:nvCxnSpPr>
        <p:spPr>
          <a:xfrm flipH="1">
            <a:off x="3791497" y="4736924"/>
            <a:ext cx="6527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79" name="Rectángulo 278">
            <a:extLst>
              <a:ext uri="{FF2B5EF4-FFF2-40B4-BE49-F238E27FC236}">
                <a16:creationId xmlns:a16="http://schemas.microsoft.com/office/drawing/2014/main" id="{281E8D37-E8BE-4FCD-82A7-8D4A7A82CE35}"/>
              </a:ext>
            </a:extLst>
          </p:cNvPr>
          <p:cNvSpPr/>
          <p:nvPr/>
        </p:nvSpPr>
        <p:spPr>
          <a:xfrm>
            <a:off x="4333555" y="3634931"/>
            <a:ext cx="158625" cy="63105"/>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900" dirty="0">
              <a:solidFill>
                <a:schemeClr val="tx1"/>
              </a:solidFill>
            </a:endParaRPr>
          </a:p>
        </p:txBody>
      </p:sp>
      <p:sp>
        <p:nvSpPr>
          <p:cNvPr id="280" name="CuadroTexto 279">
            <a:extLst>
              <a:ext uri="{FF2B5EF4-FFF2-40B4-BE49-F238E27FC236}">
                <a16:creationId xmlns:a16="http://schemas.microsoft.com/office/drawing/2014/main" id="{84F459D5-69ED-430D-82A9-776657BB1BEF}"/>
              </a:ext>
            </a:extLst>
          </p:cNvPr>
          <p:cNvSpPr txBox="1"/>
          <p:nvPr/>
        </p:nvSpPr>
        <p:spPr>
          <a:xfrm>
            <a:off x="3906582" y="4347077"/>
            <a:ext cx="1518364" cy="246221"/>
          </a:xfrm>
          <a:prstGeom prst="rect">
            <a:avLst/>
          </a:prstGeom>
          <a:noFill/>
        </p:spPr>
        <p:txBody>
          <a:bodyPr wrap="none" rtlCol="0">
            <a:spAutoFit/>
          </a:bodyPr>
          <a:lstStyle/>
          <a:p>
            <a:r>
              <a:rPr lang="es-ES" sz="1000" dirty="0"/>
              <a:t>7    6    5    4    3    2    1    0</a:t>
            </a:r>
          </a:p>
        </p:txBody>
      </p:sp>
    </p:spTree>
    <p:extLst>
      <p:ext uri="{BB962C8B-B14F-4D97-AF65-F5344CB8AC3E}">
        <p14:creationId xmlns:p14="http://schemas.microsoft.com/office/powerpoint/2010/main" val="151292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4" y="993026"/>
            <a:ext cx="6098567" cy="300082"/>
          </a:xfrm>
          <a:prstGeom prst="rect">
            <a:avLst/>
          </a:prstGeom>
          <a:noFill/>
        </p:spPr>
        <p:txBody>
          <a:bodyPr wrap="square">
            <a:spAutoFit/>
          </a:bodyPr>
          <a:lstStyle/>
          <a:p>
            <a:pPr algn="just"/>
            <a:r>
              <a:rPr lang="es-ES" b="1" u="sng" dirty="0"/>
              <a:t>Caché de varios niveles</a:t>
            </a:r>
          </a:p>
        </p:txBody>
      </p:sp>
      <p:sp>
        <p:nvSpPr>
          <p:cNvPr id="291" name="CuadroTexto 290">
            <a:extLst>
              <a:ext uri="{FF2B5EF4-FFF2-40B4-BE49-F238E27FC236}">
                <a16:creationId xmlns:a16="http://schemas.microsoft.com/office/drawing/2014/main" id="{6943C0A1-E5A7-490A-BF84-13DF478197AC}"/>
              </a:ext>
            </a:extLst>
          </p:cNvPr>
          <p:cNvSpPr txBox="1"/>
          <p:nvPr/>
        </p:nvSpPr>
        <p:spPr>
          <a:xfrm>
            <a:off x="1776414" y="1533848"/>
            <a:ext cx="6876932" cy="1131079"/>
          </a:xfrm>
          <a:prstGeom prst="rect">
            <a:avLst/>
          </a:prstGeom>
          <a:noFill/>
        </p:spPr>
        <p:txBody>
          <a:bodyPr wrap="square" rtlCol="0">
            <a:spAutoFit/>
          </a:bodyPr>
          <a:lstStyle/>
          <a:p>
            <a:pPr algn="just"/>
            <a:r>
              <a:rPr lang="es-ES" dirty="0"/>
              <a:t>En los microprocesadores modernos no hay una sola caché, sino varios niveles (3 en los micros Intel). El nivel 1 es el más pequeño y más rápido. Cada nivel actúa como caché del nivel previo. La comunicación entre las cachés es mucho más rápida que con la RAM porque están en el mismo circuito que la CPU.</a:t>
            </a:r>
          </a:p>
          <a:p>
            <a:pPr algn="just"/>
            <a:r>
              <a:rPr lang="es-ES" dirty="0"/>
              <a:t>La gestión se complica cuando hay varios núcleos por microprocesador. </a:t>
            </a:r>
          </a:p>
        </p:txBody>
      </p:sp>
      <p:pic>
        <p:nvPicPr>
          <p:cNvPr id="1026" name="Picture 2" descr="Cache Memory, what is it? How does it work? What about L1, L2 and ...">
            <a:extLst>
              <a:ext uri="{FF2B5EF4-FFF2-40B4-BE49-F238E27FC236}">
                <a16:creationId xmlns:a16="http://schemas.microsoft.com/office/drawing/2014/main" id="{14BB5CD1-816A-4E37-A572-38E7843A10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884" y="2900592"/>
            <a:ext cx="4161031" cy="2049463"/>
          </a:xfrm>
          <a:prstGeom prst="rect">
            <a:avLst/>
          </a:prstGeom>
          <a:noFill/>
          <a:extLst>
            <a:ext uri="{909E8E84-426E-40DD-AFC4-6F175D3DCCD1}">
              <a14:hiddenFill xmlns:a14="http://schemas.microsoft.com/office/drawing/2010/main">
                <a:solidFill>
                  <a:srgbClr val="FFFFFF"/>
                </a:solidFill>
              </a14:hiddenFill>
            </a:ext>
          </a:extLst>
        </p:spPr>
      </p:pic>
      <p:sp>
        <p:nvSpPr>
          <p:cNvPr id="292" name="CuadroTexto 291">
            <a:extLst>
              <a:ext uri="{FF2B5EF4-FFF2-40B4-BE49-F238E27FC236}">
                <a16:creationId xmlns:a16="http://schemas.microsoft.com/office/drawing/2014/main" id="{09AA2131-78F4-4D58-B612-35A52BEDC968}"/>
              </a:ext>
            </a:extLst>
          </p:cNvPr>
          <p:cNvSpPr txBox="1"/>
          <p:nvPr/>
        </p:nvSpPr>
        <p:spPr>
          <a:xfrm>
            <a:off x="6202336" y="3148920"/>
            <a:ext cx="2326150" cy="923330"/>
          </a:xfrm>
          <a:prstGeom prst="rect">
            <a:avLst/>
          </a:prstGeom>
          <a:noFill/>
        </p:spPr>
        <p:txBody>
          <a:bodyPr wrap="none" rtlCol="0">
            <a:spAutoFit/>
          </a:bodyPr>
          <a:lstStyle/>
          <a:p>
            <a:r>
              <a:rPr lang="es-ES" dirty="0"/>
              <a:t>Esquema de cachés en Intel.</a:t>
            </a:r>
          </a:p>
          <a:p>
            <a:r>
              <a:rPr lang="es-ES" dirty="0"/>
              <a:t>Nótese que hay dos cachés L1</a:t>
            </a:r>
          </a:p>
          <a:p>
            <a:r>
              <a:rPr lang="es-ES" dirty="0"/>
              <a:t>(para código y datos) y que la</a:t>
            </a:r>
          </a:p>
          <a:p>
            <a:r>
              <a:rPr lang="es-ES" dirty="0"/>
              <a:t>de nivel 3 (LLC) es compartida.</a:t>
            </a:r>
          </a:p>
        </p:txBody>
      </p:sp>
    </p:spTree>
    <p:extLst>
      <p:ext uri="{BB962C8B-B14F-4D97-AF65-F5344CB8AC3E}">
        <p14:creationId xmlns:p14="http://schemas.microsoft.com/office/powerpoint/2010/main" val="1714748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4" y="993026"/>
            <a:ext cx="6098567" cy="307777"/>
          </a:xfrm>
          <a:prstGeom prst="rect">
            <a:avLst/>
          </a:prstGeom>
          <a:noFill/>
        </p:spPr>
        <p:txBody>
          <a:bodyPr wrap="square">
            <a:spAutoFit/>
          </a:bodyPr>
          <a:lstStyle/>
          <a:p>
            <a:pPr algn="just"/>
            <a:r>
              <a:rPr lang="es-ES" sz="1400" b="1" u="sng" dirty="0"/>
              <a:t>Políticas de reemplazo</a:t>
            </a:r>
          </a:p>
        </p:txBody>
      </p:sp>
      <p:sp>
        <p:nvSpPr>
          <p:cNvPr id="291" name="CuadroTexto 290">
            <a:extLst>
              <a:ext uri="{FF2B5EF4-FFF2-40B4-BE49-F238E27FC236}">
                <a16:creationId xmlns:a16="http://schemas.microsoft.com/office/drawing/2014/main" id="{6943C0A1-E5A7-490A-BF84-13DF478197AC}"/>
              </a:ext>
            </a:extLst>
          </p:cNvPr>
          <p:cNvSpPr txBox="1"/>
          <p:nvPr/>
        </p:nvSpPr>
        <p:spPr>
          <a:xfrm>
            <a:off x="1776414" y="1533848"/>
            <a:ext cx="6876932" cy="3323987"/>
          </a:xfrm>
          <a:prstGeom prst="rect">
            <a:avLst/>
          </a:prstGeom>
          <a:noFill/>
        </p:spPr>
        <p:txBody>
          <a:bodyPr wrap="square" rtlCol="0">
            <a:spAutoFit/>
          </a:bodyPr>
          <a:lstStyle/>
          <a:p>
            <a:pPr algn="just"/>
            <a:r>
              <a:rPr lang="es-ES" sz="1400" dirty="0"/>
              <a:t>Cuando se produce un fallo la caché debe decidir qué línea expulsar para reemplazarla por la que se ha solicitado. Esto lo realiza la circuitería de la caché, que usa para ello los bits de control ya mencionados.</a:t>
            </a:r>
          </a:p>
          <a:p>
            <a:pPr algn="just"/>
            <a:endParaRPr lang="es-ES" sz="1400" dirty="0"/>
          </a:p>
          <a:p>
            <a:pPr algn="just"/>
            <a:r>
              <a:rPr lang="es-ES" sz="1400" dirty="0"/>
              <a:t>Si la caché es de </a:t>
            </a:r>
            <a:r>
              <a:rPr lang="es-ES" sz="1400" b="1" i="1" dirty="0"/>
              <a:t>correspondencia directa</a:t>
            </a:r>
            <a:r>
              <a:rPr lang="es-ES" sz="1400" dirty="0"/>
              <a:t>, la política es trivial, porque cada bloque solo puede cargarse en una línea concreta. Si el bit de esa línea en la caché indica que está “sucia” la caché debe escribir el contenido de la línea expulsada en su bloque correspondiente de la RAM antes de reemplazarlo. Si la caché es </a:t>
            </a:r>
            <a:r>
              <a:rPr lang="es-ES" sz="1400" b="1" i="1" dirty="0"/>
              <a:t>asociativa</a:t>
            </a:r>
            <a:r>
              <a:rPr lang="es-ES" sz="1400" dirty="0"/>
              <a:t>, el bloque puede instanciarse en cualquier línea. Si es </a:t>
            </a:r>
            <a:r>
              <a:rPr lang="es-ES" sz="1400" b="1" i="1" dirty="0"/>
              <a:t>asociativa por conjuntos</a:t>
            </a:r>
            <a:r>
              <a:rPr lang="es-ES" sz="1400" dirty="0"/>
              <a:t>, la decisión afectará solo a las líneas del conjunto correspondiente:</a:t>
            </a:r>
          </a:p>
          <a:p>
            <a:pPr marL="285750" indent="-285750" algn="just">
              <a:buFont typeface="Arial" panose="020B0604020202020204" pitchFamily="34" charset="0"/>
              <a:buChar char="•"/>
            </a:pPr>
            <a:r>
              <a:rPr lang="es-ES" sz="1400" dirty="0"/>
              <a:t>Reemplazo aleatorio: Se decide una línea al azar. Simplifica la circuitería.</a:t>
            </a:r>
          </a:p>
          <a:p>
            <a:pPr marL="285750" indent="-285750" algn="just">
              <a:buFont typeface="Arial" panose="020B0604020202020204" pitchFamily="34" charset="0"/>
              <a:buChar char="•"/>
            </a:pPr>
            <a:r>
              <a:rPr lang="es-ES" sz="1400" dirty="0"/>
              <a:t>FIFO: Se reemplaza la línea que lleve más tiempo cargada. Hace falta un </a:t>
            </a:r>
            <a:r>
              <a:rPr lang="es-ES" sz="1400" dirty="0" err="1"/>
              <a:t>timestamp</a:t>
            </a:r>
            <a:r>
              <a:rPr lang="es-ES" sz="1400" dirty="0"/>
              <a:t> por línea.</a:t>
            </a:r>
          </a:p>
          <a:p>
            <a:pPr marL="285750" indent="-285750" algn="just">
              <a:buFont typeface="Arial" panose="020B0604020202020204" pitchFamily="34" charset="0"/>
              <a:buChar char="•"/>
            </a:pPr>
            <a:r>
              <a:rPr lang="es-ES" sz="1400" dirty="0"/>
              <a:t>LRU (</a:t>
            </a:r>
            <a:r>
              <a:rPr lang="es-ES" sz="1400" dirty="0" err="1"/>
              <a:t>Least</a:t>
            </a:r>
            <a:r>
              <a:rPr lang="es-ES" sz="1400" dirty="0"/>
              <a:t> </a:t>
            </a:r>
            <a:r>
              <a:rPr lang="es-ES" sz="1400" dirty="0" err="1"/>
              <a:t>Recently</a:t>
            </a:r>
            <a:r>
              <a:rPr lang="es-ES" sz="1400" dirty="0"/>
              <a:t> Used): Se expulsa la línea que lleva más tiempo sin ser referenciada.</a:t>
            </a:r>
          </a:p>
          <a:p>
            <a:pPr marL="285750" indent="-285750" algn="just">
              <a:buFont typeface="Arial" panose="020B0604020202020204" pitchFamily="34" charset="0"/>
              <a:buChar char="•"/>
            </a:pPr>
            <a:r>
              <a:rPr lang="es-ES" sz="1400" dirty="0"/>
              <a:t>LFU (</a:t>
            </a:r>
            <a:r>
              <a:rPr lang="es-ES" sz="1400" dirty="0" err="1"/>
              <a:t>Least</a:t>
            </a:r>
            <a:r>
              <a:rPr lang="es-ES" sz="1400" dirty="0"/>
              <a:t> </a:t>
            </a:r>
            <a:r>
              <a:rPr lang="es-ES" sz="1400" dirty="0" err="1"/>
              <a:t>Frequently</a:t>
            </a:r>
            <a:r>
              <a:rPr lang="es-ES" sz="1400" dirty="0"/>
              <a:t> Used): Se expulsa la que se haya referenciado menos veces. </a:t>
            </a:r>
          </a:p>
        </p:txBody>
      </p:sp>
    </p:spTree>
    <p:extLst>
      <p:ext uri="{BB962C8B-B14F-4D97-AF65-F5344CB8AC3E}">
        <p14:creationId xmlns:p14="http://schemas.microsoft.com/office/powerpoint/2010/main" val="3162736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caché</a:t>
            </a:r>
          </a:p>
        </p:txBody>
      </p:sp>
      <p:sp>
        <p:nvSpPr>
          <p:cNvPr id="141" name="CuadroTexto 140">
            <a:extLst>
              <a:ext uri="{FF2B5EF4-FFF2-40B4-BE49-F238E27FC236}">
                <a16:creationId xmlns:a16="http://schemas.microsoft.com/office/drawing/2014/main" id="{F2688AB0-9F43-42E0-B325-6CEFD6B1D9F7}"/>
              </a:ext>
            </a:extLst>
          </p:cNvPr>
          <p:cNvSpPr txBox="1"/>
          <p:nvPr/>
        </p:nvSpPr>
        <p:spPr>
          <a:xfrm>
            <a:off x="1680044" y="993026"/>
            <a:ext cx="6098567" cy="338554"/>
          </a:xfrm>
          <a:prstGeom prst="rect">
            <a:avLst/>
          </a:prstGeom>
          <a:noFill/>
        </p:spPr>
        <p:txBody>
          <a:bodyPr wrap="square">
            <a:spAutoFit/>
          </a:bodyPr>
          <a:lstStyle/>
          <a:p>
            <a:pPr algn="just"/>
            <a:r>
              <a:rPr lang="es-ES" sz="1600" b="1" u="sng" dirty="0"/>
              <a:t>Políticas de escritura</a:t>
            </a:r>
          </a:p>
        </p:txBody>
      </p:sp>
      <p:sp>
        <p:nvSpPr>
          <p:cNvPr id="291" name="CuadroTexto 290">
            <a:extLst>
              <a:ext uri="{FF2B5EF4-FFF2-40B4-BE49-F238E27FC236}">
                <a16:creationId xmlns:a16="http://schemas.microsoft.com/office/drawing/2014/main" id="{6943C0A1-E5A7-490A-BF84-13DF478197AC}"/>
              </a:ext>
            </a:extLst>
          </p:cNvPr>
          <p:cNvSpPr txBox="1"/>
          <p:nvPr/>
        </p:nvSpPr>
        <p:spPr>
          <a:xfrm>
            <a:off x="1776414" y="1533848"/>
            <a:ext cx="6769070" cy="2893100"/>
          </a:xfrm>
          <a:prstGeom prst="rect">
            <a:avLst/>
          </a:prstGeom>
          <a:noFill/>
        </p:spPr>
        <p:txBody>
          <a:bodyPr wrap="square" rtlCol="0">
            <a:spAutoFit/>
          </a:bodyPr>
          <a:lstStyle/>
          <a:p>
            <a:pPr algn="just"/>
            <a:r>
              <a:rPr lang="es-ES" sz="1400" dirty="0"/>
              <a:t>Cada vez que un dato de la caché se escribe, queda desactualizada la RAM o de los otros niveles de caché. Hay que proceder a su sincronización. Puede hacerse de distintas maneras.</a:t>
            </a:r>
          </a:p>
          <a:p>
            <a:pPr algn="just"/>
            <a:endParaRPr lang="es-ES" sz="1400" dirty="0"/>
          </a:p>
          <a:p>
            <a:pPr marL="285750" indent="-285750" algn="just">
              <a:buFont typeface="Arial" panose="020B0604020202020204" pitchFamily="34" charset="0"/>
              <a:buChar char="•"/>
            </a:pPr>
            <a:r>
              <a:rPr lang="es-ES" sz="1400" b="1" dirty="0" err="1"/>
              <a:t>Write</a:t>
            </a:r>
            <a:r>
              <a:rPr lang="es-ES" sz="1400" b="1" dirty="0"/>
              <a:t> </a:t>
            </a:r>
            <a:r>
              <a:rPr lang="es-ES" sz="1400" b="1" dirty="0" err="1"/>
              <a:t>Through</a:t>
            </a:r>
            <a:r>
              <a:rPr lang="es-ES" sz="1400" dirty="0"/>
              <a:t>: Cada vez que hay una escritura en caché, se reescribe el bloque en la RAM. Es muy simple pero se pierde la ventaja de tener una caché en operaciones de escritura.</a:t>
            </a:r>
          </a:p>
          <a:p>
            <a:pPr marL="285750" indent="-285750" algn="just">
              <a:buFont typeface="Arial" panose="020B0604020202020204" pitchFamily="34" charset="0"/>
              <a:buChar char="•"/>
            </a:pPr>
            <a:endParaRPr lang="es-ES" sz="1400" b="1" dirty="0"/>
          </a:p>
          <a:p>
            <a:pPr marL="285750" indent="-285750" algn="just">
              <a:buFont typeface="Arial" panose="020B0604020202020204" pitchFamily="34" charset="0"/>
              <a:buChar char="•"/>
            </a:pPr>
            <a:r>
              <a:rPr lang="es-ES" sz="1400" b="1" dirty="0" err="1"/>
              <a:t>Write</a:t>
            </a:r>
            <a:r>
              <a:rPr lang="es-ES" sz="1400" b="1" dirty="0"/>
              <a:t> Back</a:t>
            </a:r>
            <a:r>
              <a:rPr lang="es-ES" sz="1400" dirty="0"/>
              <a:t>: La línea solo se escribe en RAM si está sucia en el momento de ser reemplazada. Genera mucho menos trasiego y como precio que hay que pagar, la circuitería es más compleja porque hay que mantener y comprobar el bit “</a:t>
            </a:r>
            <a:r>
              <a:rPr lang="es-ES" sz="1400" dirty="0" err="1"/>
              <a:t>dirty</a:t>
            </a:r>
            <a:r>
              <a:rPr lang="es-ES" sz="1400" dirty="0"/>
              <a:t>”.</a:t>
            </a:r>
          </a:p>
          <a:p>
            <a:pPr marL="285750" indent="-285750" algn="just">
              <a:buFont typeface="Arial" panose="020B0604020202020204" pitchFamily="34" charset="0"/>
              <a:buChar char="•"/>
            </a:pPr>
            <a:endParaRPr lang="es-ES" sz="1400" dirty="0"/>
          </a:p>
          <a:p>
            <a:pPr algn="just"/>
            <a:r>
              <a:rPr lang="es-ES" sz="1400" dirty="0"/>
              <a:t>En cualquiera de los casos, la escritura se hace siempre por líneas completas.</a:t>
            </a:r>
          </a:p>
        </p:txBody>
      </p:sp>
      <p:sp>
        <p:nvSpPr>
          <p:cNvPr id="2" name="CuadroTexto 1">
            <a:extLst>
              <a:ext uri="{FF2B5EF4-FFF2-40B4-BE49-F238E27FC236}">
                <a16:creationId xmlns:a16="http://schemas.microsoft.com/office/drawing/2014/main" id="{6A37A706-3617-4669-ADFC-A40AA19B447F}"/>
              </a:ext>
            </a:extLst>
          </p:cNvPr>
          <p:cNvSpPr txBox="1"/>
          <p:nvPr/>
        </p:nvSpPr>
        <p:spPr>
          <a:xfrm>
            <a:off x="1870745" y="4748169"/>
            <a:ext cx="6674739" cy="300082"/>
          </a:xfrm>
          <a:prstGeom prst="rect">
            <a:avLst/>
          </a:prstGeom>
          <a:noFill/>
        </p:spPr>
        <p:txBody>
          <a:bodyPr wrap="square" rtlCol="0">
            <a:spAutoFit/>
          </a:bodyPr>
          <a:lstStyle/>
          <a:p>
            <a:r>
              <a:rPr lang="es-ES" dirty="0"/>
              <a:t>Para saber más </a:t>
            </a:r>
            <a:r>
              <a:rPr lang="es-ES" dirty="0">
                <a:hlinkClick r:id="rId3"/>
              </a:rPr>
              <a:t>https://youtube.com/playlist?list=PLbtzT1TYeoMgJ4NcWFuXpnF24fsiaOdGq</a:t>
            </a:r>
            <a:endParaRPr lang="es-ES" dirty="0"/>
          </a:p>
        </p:txBody>
      </p:sp>
    </p:spTree>
    <p:extLst>
      <p:ext uri="{BB962C8B-B14F-4D97-AF65-F5344CB8AC3E}">
        <p14:creationId xmlns:p14="http://schemas.microsoft.com/office/powerpoint/2010/main" val="2460828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real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4" y="1063771"/>
            <a:ext cx="6876679" cy="3785652"/>
          </a:xfrm>
          <a:prstGeom prst="rect">
            <a:avLst/>
          </a:prstGeom>
          <a:noFill/>
        </p:spPr>
        <p:txBody>
          <a:bodyPr wrap="square" rtlCol="0">
            <a:spAutoFit/>
          </a:bodyPr>
          <a:lstStyle/>
          <a:p>
            <a:pPr algn="just"/>
            <a:r>
              <a:rPr lang="es-ES" sz="1600" dirty="0"/>
              <a:t>La memoria real o memoria física es la RAM instalada en el ordenador. Aunque los Sistemas Operativos de propósito general trabajan con memoria virtual, que se trata a continuación, hay situaciones en las que puede resultar necesario trabajar con procesos que estén cargados completamente en memoria. Los sistemas de soporte vital o</a:t>
            </a:r>
            <a:r>
              <a:rPr lang="es-ES" sz="1600" i="1" dirty="0"/>
              <a:t> </a:t>
            </a:r>
            <a:r>
              <a:rPr lang="es-ES" sz="1600" i="1" dirty="0" err="1"/>
              <a:t>misision</a:t>
            </a:r>
            <a:r>
              <a:rPr lang="es-ES" sz="1600" i="1" dirty="0"/>
              <a:t> </a:t>
            </a:r>
            <a:r>
              <a:rPr lang="es-ES" sz="1600" i="1" dirty="0" err="1"/>
              <a:t>critical</a:t>
            </a:r>
            <a:r>
              <a:rPr lang="es-ES" sz="1600" dirty="0"/>
              <a:t> entran dentro de esta categoría.</a:t>
            </a:r>
          </a:p>
          <a:p>
            <a:pPr algn="just"/>
            <a:endParaRPr lang="es-ES" sz="1600" dirty="0"/>
          </a:p>
          <a:p>
            <a:pPr algn="just"/>
            <a:r>
              <a:rPr lang="es-ES" sz="1600" dirty="0"/>
              <a:t>El problema que tiene que resolver el Sistema Operativo es cargar los distintos procesos en cada momento y hacerlo en zonas contiguas de memoria (o el menos contiguos en los segmentos).</a:t>
            </a:r>
          </a:p>
          <a:p>
            <a:pPr algn="just"/>
            <a:endParaRPr lang="es-ES" sz="1600" dirty="0"/>
          </a:p>
          <a:p>
            <a:pPr algn="just"/>
            <a:r>
              <a:rPr lang="es-ES" sz="1600" dirty="0"/>
              <a:t>En los sistemas </a:t>
            </a:r>
            <a:r>
              <a:rPr lang="es-ES" sz="1600" dirty="0" err="1"/>
              <a:t>monoproceso</a:t>
            </a:r>
            <a:r>
              <a:rPr lang="es-ES" sz="1600" dirty="0"/>
              <a:t> era muy simple, pero la situación se vuelve mucho más complicada cuando hay decenas o centenas de procesos que tienen que cargarse en memoria simultáneamente. Una solución muy primitiva fue el </a:t>
            </a:r>
            <a:r>
              <a:rPr lang="es-ES" sz="1600" i="1" dirty="0" err="1"/>
              <a:t>swapping</a:t>
            </a:r>
            <a:r>
              <a:rPr lang="es-ES" sz="1600" i="1" dirty="0"/>
              <a:t>, </a:t>
            </a:r>
            <a:r>
              <a:rPr lang="es-ES" sz="1600" dirty="0"/>
              <a:t>el Sistema Operativo concedía toda la memoria física al proceso en ejecución y copia a disco los datos del proceso expulsado.</a:t>
            </a:r>
          </a:p>
        </p:txBody>
      </p:sp>
    </p:spTree>
    <p:extLst>
      <p:ext uri="{BB962C8B-B14F-4D97-AF65-F5344CB8AC3E}">
        <p14:creationId xmlns:p14="http://schemas.microsoft.com/office/powerpoint/2010/main" val="1752251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real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5" y="1063771"/>
            <a:ext cx="6719422" cy="3785652"/>
          </a:xfrm>
          <a:prstGeom prst="rect">
            <a:avLst/>
          </a:prstGeom>
          <a:noFill/>
        </p:spPr>
        <p:txBody>
          <a:bodyPr wrap="square" rtlCol="0">
            <a:spAutoFit/>
          </a:bodyPr>
          <a:lstStyle/>
          <a:p>
            <a:pPr algn="just"/>
            <a:r>
              <a:rPr lang="es-ES" sz="1600" dirty="0"/>
              <a:t>En estos sistemas que trabajan en modo real, tiene que haber un mecanismo HW de protección que evite que un proceso acceda a la dirección de otro proceso, porque esa comprobación hay que hacerla en toda operación de lectura o escritura. Esta función la realiza la MMU (</a:t>
            </a:r>
            <a:r>
              <a:rPr lang="es-ES" sz="1600" dirty="0" err="1"/>
              <a:t>Memory</a:t>
            </a:r>
            <a:r>
              <a:rPr lang="es-ES" sz="1600" dirty="0"/>
              <a:t> Management </a:t>
            </a:r>
            <a:r>
              <a:rPr lang="es-ES" sz="1600" dirty="0" err="1"/>
              <a:t>Unit</a:t>
            </a:r>
            <a:r>
              <a:rPr lang="es-ES" sz="1600" dirty="0"/>
              <a:t>) que se incluye en el microprocesador. Un método sencillo de conseguirlo consiste en tener un registro base con la dirección inicial del proceso y otro límite, en cada acceso a RAM la MMU comprobará por hardware que la dirección no sale de ese rango, de lo contrario produce una interrupción que atenderá el Sistema Operativo (por lo general matará al proceso que intenta el acceso ilegal).</a:t>
            </a:r>
          </a:p>
          <a:p>
            <a:pPr algn="just"/>
            <a:endParaRPr lang="es-ES" sz="1600" dirty="0"/>
          </a:p>
          <a:p>
            <a:pPr algn="just"/>
            <a:r>
              <a:rPr lang="es-ES" sz="1600" dirty="0"/>
              <a:t>El </a:t>
            </a:r>
            <a:r>
              <a:rPr lang="es-ES" sz="1600" dirty="0" err="1"/>
              <a:t>kernel</a:t>
            </a:r>
            <a:r>
              <a:rPr lang="es-ES" sz="1600" dirty="0"/>
              <a:t> mantiene una tabla con todos estos pares base/límite y actualiza los registros de la MMU en cada cambio de contexto. Esta tabla permite reubicar los procesos cambiando la base. Las direcciones que escribe la CPU se recalculan por la MMU en cada acceso.</a:t>
            </a:r>
          </a:p>
        </p:txBody>
      </p:sp>
    </p:spTree>
    <p:extLst>
      <p:ext uri="{BB962C8B-B14F-4D97-AF65-F5344CB8AC3E}">
        <p14:creationId xmlns:p14="http://schemas.microsoft.com/office/powerpoint/2010/main" val="11519133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real</a:t>
            </a:r>
          </a:p>
        </p:txBody>
      </p:sp>
      <p:sp>
        <p:nvSpPr>
          <p:cNvPr id="2" name="Rectángulo 1">
            <a:extLst>
              <a:ext uri="{FF2B5EF4-FFF2-40B4-BE49-F238E27FC236}">
                <a16:creationId xmlns:a16="http://schemas.microsoft.com/office/drawing/2014/main" id="{46982349-98CB-47AD-8A45-AD22C45BDDD5}"/>
              </a:ext>
            </a:extLst>
          </p:cNvPr>
          <p:cNvSpPr/>
          <p:nvPr/>
        </p:nvSpPr>
        <p:spPr>
          <a:xfrm>
            <a:off x="1575692" y="1216186"/>
            <a:ext cx="857839" cy="202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base A</a:t>
            </a:r>
          </a:p>
        </p:txBody>
      </p:sp>
      <p:sp>
        <p:nvSpPr>
          <p:cNvPr id="3" name="Rectángulo 2">
            <a:extLst>
              <a:ext uri="{FF2B5EF4-FFF2-40B4-BE49-F238E27FC236}">
                <a16:creationId xmlns:a16="http://schemas.microsoft.com/office/drawing/2014/main" id="{A7DDC699-0711-4BA2-87E9-95B41C9CE055}"/>
              </a:ext>
            </a:extLst>
          </p:cNvPr>
          <p:cNvSpPr/>
          <p:nvPr/>
        </p:nvSpPr>
        <p:spPr>
          <a:xfrm>
            <a:off x="2433535" y="1216186"/>
            <a:ext cx="857839" cy="2026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0300H</a:t>
            </a:r>
          </a:p>
        </p:txBody>
      </p:sp>
      <p:sp>
        <p:nvSpPr>
          <p:cNvPr id="6" name="Rectángulo 5">
            <a:extLst>
              <a:ext uri="{FF2B5EF4-FFF2-40B4-BE49-F238E27FC236}">
                <a16:creationId xmlns:a16="http://schemas.microsoft.com/office/drawing/2014/main" id="{9CC7F77A-7A3F-4ADD-8A9B-43E6CA779028}"/>
              </a:ext>
            </a:extLst>
          </p:cNvPr>
          <p:cNvSpPr/>
          <p:nvPr/>
        </p:nvSpPr>
        <p:spPr>
          <a:xfrm>
            <a:off x="1575691" y="1418862"/>
            <a:ext cx="857839" cy="202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límite A</a:t>
            </a:r>
          </a:p>
        </p:txBody>
      </p:sp>
      <p:sp>
        <p:nvSpPr>
          <p:cNvPr id="8" name="Rectángulo 7">
            <a:extLst>
              <a:ext uri="{FF2B5EF4-FFF2-40B4-BE49-F238E27FC236}">
                <a16:creationId xmlns:a16="http://schemas.microsoft.com/office/drawing/2014/main" id="{8EE85A82-5C89-40E7-954A-FBF1B2E3DF5F}"/>
              </a:ext>
            </a:extLst>
          </p:cNvPr>
          <p:cNvSpPr/>
          <p:nvPr/>
        </p:nvSpPr>
        <p:spPr>
          <a:xfrm>
            <a:off x="2433535" y="1426297"/>
            <a:ext cx="857839" cy="2722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0150H</a:t>
            </a:r>
          </a:p>
        </p:txBody>
      </p:sp>
      <p:sp>
        <p:nvSpPr>
          <p:cNvPr id="10" name="Rectángulo 9">
            <a:extLst>
              <a:ext uri="{FF2B5EF4-FFF2-40B4-BE49-F238E27FC236}">
                <a16:creationId xmlns:a16="http://schemas.microsoft.com/office/drawing/2014/main" id="{9A3F520A-BD0F-4755-B602-6BA8603C4753}"/>
              </a:ext>
            </a:extLst>
          </p:cNvPr>
          <p:cNvSpPr/>
          <p:nvPr/>
        </p:nvSpPr>
        <p:spPr>
          <a:xfrm>
            <a:off x="1575689" y="1626252"/>
            <a:ext cx="857839" cy="202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base B</a:t>
            </a:r>
          </a:p>
        </p:txBody>
      </p:sp>
      <p:sp>
        <p:nvSpPr>
          <p:cNvPr id="12" name="Rectángulo 11">
            <a:extLst>
              <a:ext uri="{FF2B5EF4-FFF2-40B4-BE49-F238E27FC236}">
                <a16:creationId xmlns:a16="http://schemas.microsoft.com/office/drawing/2014/main" id="{DD763008-A0F5-4E80-92C6-41674D53C9A6}"/>
              </a:ext>
            </a:extLst>
          </p:cNvPr>
          <p:cNvSpPr/>
          <p:nvPr/>
        </p:nvSpPr>
        <p:spPr>
          <a:xfrm>
            <a:off x="1575688" y="1828928"/>
            <a:ext cx="857839" cy="202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límite B</a:t>
            </a:r>
          </a:p>
        </p:txBody>
      </p:sp>
      <p:sp>
        <p:nvSpPr>
          <p:cNvPr id="14" name="Rectángulo 13">
            <a:extLst>
              <a:ext uri="{FF2B5EF4-FFF2-40B4-BE49-F238E27FC236}">
                <a16:creationId xmlns:a16="http://schemas.microsoft.com/office/drawing/2014/main" id="{69288A51-5545-4A8B-B241-39ABEC80C4A9}"/>
              </a:ext>
            </a:extLst>
          </p:cNvPr>
          <p:cNvSpPr/>
          <p:nvPr/>
        </p:nvSpPr>
        <p:spPr>
          <a:xfrm>
            <a:off x="2433535" y="1626896"/>
            <a:ext cx="857839" cy="2026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01F0H</a:t>
            </a:r>
          </a:p>
        </p:txBody>
      </p:sp>
      <p:sp>
        <p:nvSpPr>
          <p:cNvPr id="16" name="Rectángulo 15">
            <a:extLst>
              <a:ext uri="{FF2B5EF4-FFF2-40B4-BE49-F238E27FC236}">
                <a16:creationId xmlns:a16="http://schemas.microsoft.com/office/drawing/2014/main" id="{68F209B8-A5A8-4688-B432-000B5815597C}"/>
              </a:ext>
            </a:extLst>
          </p:cNvPr>
          <p:cNvSpPr/>
          <p:nvPr/>
        </p:nvSpPr>
        <p:spPr>
          <a:xfrm>
            <a:off x="2433534" y="1827495"/>
            <a:ext cx="857839" cy="2026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1"/>
                </a:solidFill>
              </a:rPr>
              <a:t>02E0H</a:t>
            </a:r>
          </a:p>
        </p:txBody>
      </p:sp>
      <p:sp>
        <p:nvSpPr>
          <p:cNvPr id="18" name="CuadroTexto 17">
            <a:extLst>
              <a:ext uri="{FF2B5EF4-FFF2-40B4-BE49-F238E27FC236}">
                <a16:creationId xmlns:a16="http://schemas.microsoft.com/office/drawing/2014/main" id="{C92B3926-FA7B-4276-B705-662FA5F277C6}"/>
              </a:ext>
            </a:extLst>
          </p:cNvPr>
          <p:cNvSpPr txBox="1"/>
          <p:nvPr/>
        </p:nvSpPr>
        <p:spPr>
          <a:xfrm>
            <a:off x="1717441" y="2034885"/>
            <a:ext cx="1743959" cy="507831"/>
          </a:xfrm>
          <a:prstGeom prst="rect">
            <a:avLst/>
          </a:prstGeom>
          <a:noFill/>
        </p:spPr>
        <p:txBody>
          <a:bodyPr wrap="square" rtlCol="0">
            <a:spAutoFit/>
          </a:bodyPr>
          <a:lstStyle/>
          <a:p>
            <a:r>
              <a:rPr lang="es-ES" dirty="0"/>
              <a:t>Tabla de asignación de memoria del SO</a:t>
            </a:r>
          </a:p>
        </p:txBody>
      </p:sp>
      <p:sp>
        <p:nvSpPr>
          <p:cNvPr id="19" name="Rectángulo 18">
            <a:extLst>
              <a:ext uri="{FF2B5EF4-FFF2-40B4-BE49-F238E27FC236}">
                <a16:creationId xmlns:a16="http://schemas.microsoft.com/office/drawing/2014/main" id="{D101B85B-C527-46D7-86DA-745A21F9412D}"/>
              </a:ext>
            </a:extLst>
          </p:cNvPr>
          <p:cNvSpPr/>
          <p:nvPr/>
        </p:nvSpPr>
        <p:spPr>
          <a:xfrm>
            <a:off x="3646246" y="1167864"/>
            <a:ext cx="858721" cy="811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CPU</a:t>
            </a:r>
          </a:p>
        </p:txBody>
      </p:sp>
      <p:sp>
        <p:nvSpPr>
          <p:cNvPr id="21" name="Flecha: a la izquierda y derecha 20">
            <a:extLst>
              <a:ext uri="{FF2B5EF4-FFF2-40B4-BE49-F238E27FC236}">
                <a16:creationId xmlns:a16="http://schemas.microsoft.com/office/drawing/2014/main" id="{4E6E3FE3-EE25-4686-9E47-CE4150917CE3}"/>
              </a:ext>
            </a:extLst>
          </p:cNvPr>
          <p:cNvSpPr/>
          <p:nvPr/>
        </p:nvSpPr>
        <p:spPr>
          <a:xfrm>
            <a:off x="4526761" y="1750741"/>
            <a:ext cx="1207244" cy="14380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22">
            <a:extLst>
              <a:ext uri="{FF2B5EF4-FFF2-40B4-BE49-F238E27FC236}">
                <a16:creationId xmlns:a16="http://schemas.microsoft.com/office/drawing/2014/main" id="{8FEF670B-4A45-4B7D-83DB-4E5CCD5ABD91}"/>
              </a:ext>
            </a:extLst>
          </p:cNvPr>
          <p:cNvSpPr/>
          <p:nvPr/>
        </p:nvSpPr>
        <p:spPr>
          <a:xfrm>
            <a:off x="5358294" y="1076788"/>
            <a:ext cx="1315844" cy="2583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0150H</a:t>
            </a:r>
          </a:p>
        </p:txBody>
      </p:sp>
      <p:sp>
        <p:nvSpPr>
          <p:cNvPr id="24" name="CuadroTexto 23">
            <a:extLst>
              <a:ext uri="{FF2B5EF4-FFF2-40B4-BE49-F238E27FC236}">
                <a16:creationId xmlns:a16="http://schemas.microsoft.com/office/drawing/2014/main" id="{A9F33236-0966-4B61-A4AB-F618493ADE3E}"/>
              </a:ext>
            </a:extLst>
          </p:cNvPr>
          <p:cNvSpPr txBox="1"/>
          <p:nvPr/>
        </p:nvSpPr>
        <p:spPr>
          <a:xfrm>
            <a:off x="5110472" y="759417"/>
            <a:ext cx="1743959" cy="300082"/>
          </a:xfrm>
          <a:prstGeom prst="rect">
            <a:avLst/>
          </a:prstGeom>
          <a:noFill/>
        </p:spPr>
        <p:txBody>
          <a:bodyPr wrap="square" rtlCol="0">
            <a:spAutoFit/>
          </a:bodyPr>
          <a:lstStyle/>
          <a:p>
            <a:pPr algn="ctr"/>
            <a:r>
              <a:rPr lang="es-ES" dirty="0"/>
              <a:t>Límite</a:t>
            </a:r>
          </a:p>
        </p:txBody>
      </p:sp>
      <p:sp>
        <p:nvSpPr>
          <p:cNvPr id="26" name="Rectángulo 25">
            <a:extLst>
              <a:ext uri="{FF2B5EF4-FFF2-40B4-BE49-F238E27FC236}">
                <a16:creationId xmlns:a16="http://schemas.microsoft.com/office/drawing/2014/main" id="{611F8B73-A412-4E98-87D3-F954526A0519}"/>
              </a:ext>
            </a:extLst>
          </p:cNvPr>
          <p:cNvSpPr/>
          <p:nvPr/>
        </p:nvSpPr>
        <p:spPr>
          <a:xfrm>
            <a:off x="6741672" y="1079765"/>
            <a:ext cx="1315844" cy="2583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0300H</a:t>
            </a:r>
          </a:p>
        </p:txBody>
      </p:sp>
      <p:sp>
        <p:nvSpPr>
          <p:cNvPr id="28" name="CuadroTexto 27">
            <a:extLst>
              <a:ext uri="{FF2B5EF4-FFF2-40B4-BE49-F238E27FC236}">
                <a16:creationId xmlns:a16="http://schemas.microsoft.com/office/drawing/2014/main" id="{A1CC49F9-4709-4D64-A12B-788B602241BC}"/>
              </a:ext>
            </a:extLst>
          </p:cNvPr>
          <p:cNvSpPr txBox="1"/>
          <p:nvPr/>
        </p:nvSpPr>
        <p:spPr>
          <a:xfrm>
            <a:off x="6456363" y="734081"/>
            <a:ext cx="1743959" cy="300082"/>
          </a:xfrm>
          <a:prstGeom prst="rect">
            <a:avLst/>
          </a:prstGeom>
          <a:noFill/>
        </p:spPr>
        <p:txBody>
          <a:bodyPr wrap="square" rtlCol="0">
            <a:spAutoFit/>
          </a:bodyPr>
          <a:lstStyle/>
          <a:p>
            <a:pPr algn="ctr"/>
            <a:r>
              <a:rPr lang="es-ES" dirty="0"/>
              <a:t>Base</a:t>
            </a:r>
          </a:p>
        </p:txBody>
      </p:sp>
      <p:sp>
        <p:nvSpPr>
          <p:cNvPr id="30" name="CuadroTexto 29">
            <a:extLst>
              <a:ext uri="{FF2B5EF4-FFF2-40B4-BE49-F238E27FC236}">
                <a16:creationId xmlns:a16="http://schemas.microsoft.com/office/drawing/2014/main" id="{6ED5A492-A523-4BAB-B77D-31858DCFE83D}"/>
              </a:ext>
            </a:extLst>
          </p:cNvPr>
          <p:cNvSpPr txBox="1"/>
          <p:nvPr/>
        </p:nvSpPr>
        <p:spPr>
          <a:xfrm>
            <a:off x="3731802" y="2110085"/>
            <a:ext cx="1207244" cy="461665"/>
          </a:xfrm>
          <a:prstGeom prst="rect">
            <a:avLst/>
          </a:prstGeom>
          <a:noFill/>
        </p:spPr>
        <p:txBody>
          <a:bodyPr wrap="square" rtlCol="0">
            <a:spAutoFit/>
          </a:bodyPr>
          <a:lstStyle/>
          <a:p>
            <a:pPr algn="ctr"/>
            <a:r>
              <a:rPr lang="es-ES" sz="1200" dirty="0"/>
              <a:t>Dirección que escribe la CPU</a:t>
            </a:r>
          </a:p>
        </p:txBody>
      </p:sp>
      <p:sp>
        <p:nvSpPr>
          <p:cNvPr id="96" name="CuadroTexto 95">
            <a:extLst>
              <a:ext uri="{FF2B5EF4-FFF2-40B4-BE49-F238E27FC236}">
                <a16:creationId xmlns:a16="http://schemas.microsoft.com/office/drawing/2014/main" id="{CE0F2375-C063-4443-8F2E-EBEF13C398F5}"/>
              </a:ext>
            </a:extLst>
          </p:cNvPr>
          <p:cNvSpPr txBox="1"/>
          <p:nvPr/>
        </p:nvSpPr>
        <p:spPr>
          <a:xfrm>
            <a:off x="4549100" y="1443130"/>
            <a:ext cx="561372" cy="261610"/>
          </a:xfrm>
          <a:prstGeom prst="rect">
            <a:avLst/>
          </a:prstGeom>
          <a:noFill/>
        </p:spPr>
        <p:txBody>
          <a:bodyPr wrap="none" rtlCol="0">
            <a:spAutoFit/>
          </a:bodyPr>
          <a:lstStyle/>
          <a:p>
            <a:r>
              <a:rPr lang="es-ES" sz="1100" dirty="0"/>
              <a:t>0088H</a:t>
            </a:r>
          </a:p>
        </p:txBody>
      </p:sp>
      <p:sp>
        <p:nvSpPr>
          <p:cNvPr id="97" name="Rectángulo 96">
            <a:extLst>
              <a:ext uri="{FF2B5EF4-FFF2-40B4-BE49-F238E27FC236}">
                <a16:creationId xmlns:a16="http://schemas.microsoft.com/office/drawing/2014/main" id="{F5F89805-C855-4DE6-878F-701EB37E0B68}"/>
              </a:ext>
            </a:extLst>
          </p:cNvPr>
          <p:cNvSpPr/>
          <p:nvPr/>
        </p:nvSpPr>
        <p:spPr>
          <a:xfrm>
            <a:off x="5110472" y="654205"/>
            <a:ext cx="3203433" cy="21930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9" name="Diagrama de flujo: decisión 98">
            <a:extLst>
              <a:ext uri="{FF2B5EF4-FFF2-40B4-BE49-F238E27FC236}">
                <a16:creationId xmlns:a16="http://schemas.microsoft.com/office/drawing/2014/main" id="{69CB9B00-2807-49AC-9761-3E9CFC7AA39C}"/>
              </a:ext>
            </a:extLst>
          </p:cNvPr>
          <p:cNvSpPr/>
          <p:nvPr/>
        </p:nvSpPr>
        <p:spPr>
          <a:xfrm>
            <a:off x="5714760" y="1401439"/>
            <a:ext cx="921834" cy="842405"/>
          </a:xfrm>
          <a:prstGeom prst="flowChartDecis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0" name="CuadroTexto 99">
            <a:extLst>
              <a:ext uri="{FF2B5EF4-FFF2-40B4-BE49-F238E27FC236}">
                <a16:creationId xmlns:a16="http://schemas.microsoft.com/office/drawing/2014/main" id="{66EFC1EC-C14A-44BB-8EC1-F8C98702CACF}"/>
              </a:ext>
            </a:extLst>
          </p:cNvPr>
          <p:cNvSpPr txBox="1"/>
          <p:nvPr/>
        </p:nvSpPr>
        <p:spPr>
          <a:xfrm>
            <a:off x="5778138" y="1640185"/>
            <a:ext cx="834972" cy="300082"/>
          </a:xfrm>
          <a:prstGeom prst="rect">
            <a:avLst/>
          </a:prstGeom>
          <a:noFill/>
        </p:spPr>
        <p:txBody>
          <a:bodyPr wrap="none" rtlCol="0">
            <a:spAutoFit/>
          </a:bodyPr>
          <a:lstStyle/>
          <a:p>
            <a:r>
              <a:rPr lang="es-ES" b="1" dirty="0"/>
              <a:t>&lt; Límite?</a:t>
            </a:r>
          </a:p>
        </p:txBody>
      </p:sp>
      <p:cxnSp>
        <p:nvCxnSpPr>
          <p:cNvPr id="103" name="Conector recto de flecha 102">
            <a:extLst>
              <a:ext uri="{FF2B5EF4-FFF2-40B4-BE49-F238E27FC236}">
                <a16:creationId xmlns:a16="http://schemas.microsoft.com/office/drawing/2014/main" id="{544C1894-A4ED-465D-A56A-8BE1DD356476}"/>
              </a:ext>
            </a:extLst>
          </p:cNvPr>
          <p:cNvCxnSpPr>
            <a:stCxn id="99" idx="2"/>
          </p:cNvCxnSpPr>
          <p:nvPr/>
        </p:nvCxnSpPr>
        <p:spPr>
          <a:xfrm>
            <a:off x="6175677" y="2243844"/>
            <a:ext cx="0" cy="759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CuadroTexto 103">
            <a:extLst>
              <a:ext uri="{FF2B5EF4-FFF2-40B4-BE49-F238E27FC236}">
                <a16:creationId xmlns:a16="http://schemas.microsoft.com/office/drawing/2014/main" id="{363BFDB7-4367-40FE-94B6-BBF68B251B06}"/>
              </a:ext>
            </a:extLst>
          </p:cNvPr>
          <p:cNvSpPr txBox="1"/>
          <p:nvPr/>
        </p:nvSpPr>
        <p:spPr>
          <a:xfrm>
            <a:off x="5806665" y="2339575"/>
            <a:ext cx="369012" cy="261610"/>
          </a:xfrm>
          <a:prstGeom prst="rect">
            <a:avLst/>
          </a:prstGeom>
          <a:noFill/>
        </p:spPr>
        <p:txBody>
          <a:bodyPr wrap="none" rtlCol="0">
            <a:spAutoFit/>
          </a:bodyPr>
          <a:lstStyle/>
          <a:p>
            <a:r>
              <a:rPr lang="es-ES" sz="1100" dirty="0"/>
              <a:t>NO</a:t>
            </a:r>
          </a:p>
        </p:txBody>
      </p:sp>
      <p:sp>
        <p:nvSpPr>
          <p:cNvPr id="105" name="CuadroTexto 104">
            <a:extLst>
              <a:ext uri="{FF2B5EF4-FFF2-40B4-BE49-F238E27FC236}">
                <a16:creationId xmlns:a16="http://schemas.microsoft.com/office/drawing/2014/main" id="{3504BB26-5E48-4C36-A967-0751E60B576B}"/>
              </a:ext>
            </a:extLst>
          </p:cNvPr>
          <p:cNvSpPr txBox="1"/>
          <p:nvPr/>
        </p:nvSpPr>
        <p:spPr>
          <a:xfrm>
            <a:off x="4630772" y="2885091"/>
            <a:ext cx="1301959" cy="261610"/>
          </a:xfrm>
          <a:prstGeom prst="rect">
            <a:avLst/>
          </a:prstGeom>
          <a:noFill/>
        </p:spPr>
        <p:txBody>
          <a:bodyPr wrap="none" rtlCol="0">
            <a:spAutoFit/>
          </a:bodyPr>
          <a:lstStyle/>
          <a:p>
            <a:r>
              <a:rPr lang="es-ES" sz="1100" dirty="0"/>
              <a:t>Violación de acceso</a:t>
            </a:r>
          </a:p>
        </p:txBody>
      </p:sp>
      <p:sp>
        <p:nvSpPr>
          <p:cNvPr id="106" name="CuadroTexto 105">
            <a:extLst>
              <a:ext uri="{FF2B5EF4-FFF2-40B4-BE49-F238E27FC236}">
                <a16:creationId xmlns:a16="http://schemas.microsoft.com/office/drawing/2014/main" id="{DB0BD6B2-5365-4AB5-A64C-B4B14F945A9F}"/>
              </a:ext>
            </a:extLst>
          </p:cNvPr>
          <p:cNvSpPr txBox="1"/>
          <p:nvPr/>
        </p:nvSpPr>
        <p:spPr>
          <a:xfrm>
            <a:off x="6613110" y="1567963"/>
            <a:ext cx="284052" cy="261610"/>
          </a:xfrm>
          <a:prstGeom prst="rect">
            <a:avLst/>
          </a:prstGeom>
          <a:noFill/>
        </p:spPr>
        <p:txBody>
          <a:bodyPr wrap="none" rtlCol="0">
            <a:spAutoFit/>
          </a:bodyPr>
          <a:lstStyle/>
          <a:p>
            <a:r>
              <a:rPr lang="es-ES" sz="1100" dirty="0"/>
              <a:t>SI</a:t>
            </a:r>
          </a:p>
        </p:txBody>
      </p:sp>
      <p:cxnSp>
        <p:nvCxnSpPr>
          <p:cNvPr id="44" name="Conector recto de flecha 43">
            <a:extLst>
              <a:ext uri="{FF2B5EF4-FFF2-40B4-BE49-F238E27FC236}">
                <a16:creationId xmlns:a16="http://schemas.microsoft.com/office/drawing/2014/main" id="{C42A6AB7-BED4-4BE5-8233-DA5EC23A68D1}"/>
              </a:ext>
            </a:extLst>
          </p:cNvPr>
          <p:cNvCxnSpPr>
            <a:cxnSpLocks/>
          </p:cNvCxnSpPr>
          <p:nvPr/>
        </p:nvCxnSpPr>
        <p:spPr>
          <a:xfrm flipV="1">
            <a:off x="6636594" y="1815207"/>
            <a:ext cx="691748" cy="9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 name="Elipse 108">
            <a:extLst>
              <a:ext uri="{FF2B5EF4-FFF2-40B4-BE49-F238E27FC236}">
                <a16:creationId xmlns:a16="http://schemas.microsoft.com/office/drawing/2014/main" id="{61557E58-C3CE-42B9-AA5A-29597DF48D38}"/>
              </a:ext>
            </a:extLst>
          </p:cNvPr>
          <p:cNvSpPr/>
          <p:nvPr/>
        </p:nvSpPr>
        <p:spPr>
          <a:xfrm>
            <a:off x="7351826" y="1614485"/>
            <a:ext cx="429361" cy="4014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 name="CuadroTexto 109">
            <a:extLst>
              <a:ext uri="{FF2B5EF4-FFF2-40B4-BE49-F238E27FC236}">
                <a16:creationId xmlns:a16="http://schemas.microsoft.com/office/drawing/2014/main" id="{FA841A38-8A66-4D19-8F72-BFE4BEE85C69}"/>
              </a:ext>
            </a:extLst>
          </p:cNvPr>
          <p:cNvSpPr txBox="1"/>
          <p:nvPr/>
        </p:nvSpPr>
        <p:spPr>
          <a:xfrm>
            <a:off x="7418397" y="1630541"/>
            <a:ext cx="300082" cy="369332"/>
          </a:xfrm>
          <a:prstGeom prst="rect">
            <a:avLst/>
          </a:prstGeom>
          <a:noFill/>
        </p:spPr>
        <p:txBody>
          <a:bodyPr wrap="none" rtlCol="0">
            <a:spAutoFit/>
          </a:bodyPr>
          <a:lstStyle/>
          <a:p>
            <a:r>
              <a:rPr lang="es-ES" sz="1800" dirty="0"/>
              <a:t>+</a:t>
            </a:r>
            <a:endParaRPr lang="es-ES" dirty="0"/>
          </a:p>
        </p:txBody>
      </p:sp>
      <p:sp>
        <p:nvSpPr>
          <p:cNvPr id="111" name="Flecha: a la izquierda y derecha 110">
            <a:extLst>
              <a:ext uri="{FF2B5EF4-FFF2-40B4-BE49-F238E27FC236}">
                <a16:creationId xmlns:a16="http://schemas.microsoft.com/office/drawing/2014/main" id="{4A753586-AA33-4B2D-A0D8-CFB0CF5BA6FB}"/>
              </a:ext>
            </a:extLst>
          </p:cNvPr>
          <p:cNvSpPr/>
          <p:nvPr/>
        </p:nvSpPr>
        <p:spPr>
          <a:xfrm rot="5400000">
            <a:off x="6962884" y="2561893"/>
            <a:ext cx="1207244" cy="14380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51" name="Conector recto de flecha 50">
            <a:extLst>
              <a:ext uri="{FF2B5EF4-FFF2-40B4-BE49-F238E27FC236}">
                <a16:creationId xmlns:a16="http://schemas.microsoft.com/office/drawing/2014/main" id="{74DD98AB-BA6A-4396-AFBD-B27666037620}"/>
              </a:ext>
            </a:extLst>
          </p:cNvPr>
          <p:cNvCxnSpPr>
            <a:cxnSpLocks/>
            <a:endCxn id="110" idx="0"/>
          </p:cNvCxnSpPr>
          <p:nvPr/>
        </p:nvCxnSpPr>
        <p:spPr>
          <a:xfrm>
            <a:off x="7568438" y="1317524"/>
            <a:ext cx="0" cy="313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5" name="CuadroTexto 114">
            <a:extLst>
              <a:ext uri="{FF2B5EF4-FFF2-40B4-BE49-F238E27FC236}">
                <a16:creationId xmlns:a16="http://schemas.microsoft.com/office/drawing/2014/main" id="{B0C481CC-BB37-4FD0-91CB-FB30F60E6987}"/>
              </a:ext>
            </a:extLst>
          </p:cNvPr>
          <p:cNvSpPr txBox="1"/>
          <p:nvPr/>
        </p:nvSpPr>
        <p:spPr>
          <a:xfrm>
            <a:off x="7285820" y="3324356"/>
            <a:ext cx="561372" cy="261610"/>
          </a:xfrm>
          <a:prstGeom prst="rect">
            <a:avLst/>
          </a:prstGeom>
          <a:noFill/>
        </p:spPr>
        <p:txBody>
          <a:bodyPr wrap="none" rtlCol="0">
            <a:spAutoFit/>
          </a:bodyPr>
          <a:lstStyle/>
          <a:p>
            <a:r>
              <a:rPr lang="es-ES" sz="1100" dirty="0"/>
              <a:t>0388H</a:t>
            </a:r>
          </a:p>
        </p:txBody>
      </p:sp>
      <p:sp>
        <p:nvSpPr>
          <p:cNvPr id="116" name="CuadroTexto 115">
            <a:extLst>
              <a:ext uri="{FF2B5EF4-FFF2-40B4-BE49-F238E27FC236}">
                <a16:creationId xmlns:a16="http://schemas.microsoft.com/office/drawing/2014/main" id="{602C661B-48EB-41A6-86E0-85AF2A95B43F}"/>
              </a:ext>
            </a:extLst>
          </p:cNvPr>
          <p:cNvSpPr txBox="1"/>
          <p:nvPr/>
        </p:nvSpPr>
        <p:spPr>
          <a:xfrm>
            <a:off x="5960971" y="3324356"/>
            <a:ext cx="2579552" cy="600164"/>
          </a:xfrm>
          <a:prstGeom prst="rect">
            <a:avLst/>
          </a:prstGeom>
          <a:noFill/>
        </p:spPr>
        <p:txBody>
          <a:bodyPr wrap="none" rtlCol="0">
            <a:spAutoFit/>
          </a:bodyPr>
          <a:lstStyle/>
          <a:p>
            <a:r>
              <a:rPr lang="es-ES" sz="1100" dirty="0"/>
              <a:t>Dirección de carga</a:t>
            </a:r>
          </a:p>
          <a:p>
            <a:r>
              <a:rPr lang="es-ES" sz="1100" dirty="0"/>
              <a:t>en memoria real</a:t>
            </a:r>
          </a:p>
          <a:p>
            <a:r>
              <a:rPr lang="es-ES" sz="1100" dirty="0"/>
              <a:t>(Si hubiese caché se conecta a esta salida)</a:t>
            </a:r>
          </a:p>
        </p:txBody>
      </p:sp>
      <p:sp>
        <p:nvSpPr>
          <p:cNvPr id="117" name="CuadroTexto 116">
            <a:extLst>
              <a:ext uri="{FF2B5EF4-FFF2-40B4-BE49-F238E27FC236}">
                <a16:creationId xmlns:a16="http://schemas.microsoft.com/office/drawing/2014/main" id="{44FBD4E5-58DA-42C1-8D8C-55FDF0E93C23}"/>
              </a:ext>
            </a:extLst>
          </p:cNvPr>
          <p:cNvSpPr txBox="1"/>
          <p:nvPr/>
        </p:nvSpPr>
        <p:spPr>
          <a:xfrm>
            <a:off x="1575688" y="3947532"/>
            <a:ext cx="6854634" cy="923330"/>
          </a:xfrm>
          <a:prstGeom prst="rect">
            <a:avLst/>
          </a:prstGeom>
          <a:noFill/>
        </p:spPr>
        <p:txBody>
          <a:bodyPr wrap="square" rtlCol="0">
            <a:spAutoFit/>
          </a:bodyPr>
          <a:lstStyle/>
          <a:p>
            <a:r>
              <a:rPr lang="es-ES" dirty="0"/>
              <a:t>El proceso A está cargado a partir de la dirección 0300H y en ejecución. La MMU tiene cargados los datos del proceso A, comprueba en cada acceso que no exceden los límites y traduce a dirección absoluta de carga. Cambiando la Base, se reubica el proceso en otra zona de forma transparente al programador. </a:t>
            </a:r>
          </a:p>
        </p:txBody>
      </p:sp>
      <p:sp>
        <p:nvSpPr>
          <p:cNvPr id="118" name="CuadroTexto 117">
            <a:extLst>
              <a:ext uri="{FF2B5EF4-FFF2-40B4-BE49-F238E27FC236}">
                <a16:creationId xmlns:a16="http://schemas.microsoft.com/office/drawing/2014/main" id="{B1EC8715-A44E-4EFF-A23A-EF47323E7097}"/>
              </a:ext>
            </a:extLst>
          </p:cNvPr>
          <p:cNvSpPr txBox="1"/>
          <p:nvPr/>
        </p:nvSpPr>
        <p:spPr>
          <a:xfrm>
            <a:off x="7773938" y="2559563"/>
            <a:ext cx="590226" cy="300082"/>
          </a:xfrm>
          <a:prstGeom prst="rect">
            <a:avLst/>
          </a:prstGeom>
          <a:noFill/>
        </p:spPr>
        <p:txBody>
          <a:bodyPr wrap="none" rtlCol="0">
            <a:spAutoFit/>
          </a:bodyPr>
          <a:lstStyle/>
          <a:p>
            <a:r>
              <a:rPr lang="es-ES" dirty="0"/>
              <a:t>MMU</a:t>
            </a:r>
          </a:p>
        </p:txBody>
      </p:sp>
    </p:spTree>
    <p:extLst>
      <p:ext uri="{BB962C8B-B14F-4D97-AF65-F5344CB8AC3E}">
        <p14:creationId xmlns:p14="http://schemas.microsoft.com/office/powerpoint/2010/main" val="2674025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real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5" y="1063771"/>
            <a:ext cx="6719422" cy="3585597"/>
          </a:xfrm>
          <a:prstGeom prst="rect">
            <a:avLst/>
          </a:prstGeom>
          <a:noFill/>
        </p:spPr>
        <p:txBody>
          <a:bodyPr wrap="square" rtlCol="0">
            <a:spAutoFit/>
          </a:bodyPr>
          <a:lstStyle/>
          <a:p>
            <a:pPr algn="just"/>
            <a:endParaRPr lang="es-ES" sz="1600" dirty="0"/>
          </a:p>
          <a:p>
            <a:pPr algn="just"/>
            <a:endParaRPr lang="es-ES" sz="1600" dirty="0"/>
          </a:p>
          <a:p>
            <a:pPr algn="just"/>
            <a:r>
              <a:rPr lang="es-ES" sz="1500" dirty="0"/>
              <a:t>En los sistemas con memoria real, hay que proceder al reparto entre todos los procesos cargados cuyos tamaños pueden ser muy diferentes. Cuando hay que cargar un nuevo proceso, es muy improbable que haya un hueco del tamaño exacto. Eso producirá fragmentación, se generan pequeños huecos no ocupados pero que no pueden utilizarse con lo que el uso de la memoria no es óptimo.</a:t>
            </a:r>
          </a:p>
          <a:p>
            <a:pPr algn="just"/>
            <a:endParaRPr lang="es-ES" sz="1500" dirty="0"/>
          </a:p>
          <a:p>
            <a:pPr algn="just"/>
            <a:r>
              <a:rPr lang="es-ES" sz="1500" dirty="0"/>
              <a:t>Además, el sistema tiene que saber qué zonas de memoria se encuentran libres y eso implica que tiene que gastar una parte de dicha memoria en guardar ese registro. Hay dos técnicas, bitmap y listas encadenadas. </a:t>
            </a:r>
          </a:p>
          <a:p>
            <a:pPr algn="just"/>
            <a:endParaRPr lang="es-ES" sz="1500" dirty="0"/>
          </a:p>
          <a:p>
            <a:pPr algn="just"/>
            <a:r>
              <a:rPr lang="es-ES" sz="1500" dirty="0"/>
              <a:t>El mapa de bits implica dividir la memoria en pequeñas zonas (por ejemplo 32 bits) y marcar en un vector de bits si están ocupadas o no. Necesitamos 1 bit por cada 32 bits, con lo que en un sistema de 4GB el bitmap ocuparía 128 MB.</a:t>
            </a:r>
          </a:p>
        </p:txBody>
      </p:sp>
      <p:sp>
        <p:nvSpPr>
          <p:cNvPr id="2" name="CuadroTexto 1">
            <a:extLst>
              <a:ext uri="{FF2B5EF4-FFF2-40B4-BE49-F238E27FC236}">
                <a16:creationId xmlns:a16="http://schemas.microsoft.com/office/drawing/2014/main" id="{AA39B581-693D-4075-A22C-EB08FE23CFB1}"/>
              </a:ext>
            </a:extLst>
          </p:cNvPr>
          <p:cNvSpPr txBox="1"/>
          <p:nvPr/>
        </p:nvSpPr>
        <p:spPr>
          <a:xfrm>
            <a:off x="1776414" y="1063771"/>
            <a:ext cx="3404937" cy="338554"/>
          </a:xfrm>
          <a:prstGeom prst="rect">
            <a:avLst/>
          </a:prstGeom>
          <a:noFill/>
        </p:spPr>
        <p:txBody>
          <a:bodyPr wrap="square" rtlCol="0">
            <a:spAutoFit/>
          </a:bodyPr>
          <a:lstStyle/>
          <a:p>
            <a:r>
              <a:rPr lang="es-ES" sz="1600" b="1" u="sng" dirty="0"/>
              <a:t>Técnicas de asignación de memoria</a:t>
            </a:r>
          </a:p>
        </p:txBody>
      </p:sp>
    </p:spTree>
    <p:extLst>
      <p:ext uri="{BB962C8B-B14F-4D97-AF65-F5344CB8AC3E}">
        <p14:creationId xmlns:p14="http://schemas.microsoft.com/office/powerpoint/2010/main" val="3624417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real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5" y="1063771"/>
            <a:ext cx="6719422" cy="3785652"/>
          </a:xfrm>
          <a:prstGeom prst="rect">
            <a:avLst/>
          </a:prstGeom>
          <a:noFill/>
        </p:spPr>
        <p:txBody>
          <a:bodyPr wrap="square" rtlCol="0">
            <a:spAutoFit/>
          </a:bodyPr>
          <a:lstStyle/>
          <a:p>
            <a:pPr algn="just"/>
            <a:endParaRPr lang="es-ES" sz="1600" dirty="0"/>
          </a:p>
          <a:p>
            <a:pPr algn="just"/>
            <a:endParaRPr lang="es-ES" sz="1600" dirty="0"/>
          </a:p>
          <a:p>
            <a:pPr algn="just"/>
            <a:r>
              <a:rPr lang="es-ES" sz="1600" dirty="0"/>
              <a:t>El bitmap tiene un problema de rendimiento. Cuando el Sistema Operativo tiene que cargar un nuevo proceso del tamaño que sea, tiene que recorrer el bitmap desde el principio hasta entrar el hueco.</a:t>
            </a:r>
          </a:p>
          <a:p>
            <a:pPr algn="just"/>
            <a:endParaRPr lang="es-ES" sz="1600" dirty="0"/>
          </a:p>
          <a:p>
            <a:pPr algn="just"/>
            <a:r>
              <a:rPr lang="es-ES" sz="1600" dirty="0"/>
              <a:t>Una solución mejor es utilizar una lista doblemente encadenada que guarda los datos de los fragmentos de memoria ocupados por procesos y los que están libres.</a:t>
            </a:r>
          </a:p>
          <a:p>
            <a:pPr algn="just"/>
            <a:endParaRPr lang="es-ES" sz="1600" dirty="0"/>
          </a:p>
          <a:p>
            <a:pPr algn="just"/>
            <a:r>
              <a:rPr lang="es-ES" sz="1600" dirty="0"/>
              <a:t>Es mucho más rápido recorrer una lista de este tipo que el bitmap y además consume mucho menos espacio en memoria. El inconveniente es que es memoria dinámica que hay que gestionar desde e Sistema Operativo y puede ser complejo para equipos empotrados de bajas prestaciones, que usan pocos procesos y emplean el mapa de bits.</a:t>
            </a:r>
          </a:p>
        </p:txBody>
      </p:sp>
      <p:sp>
        <p:nvSpPr>
          <p:cNvPr id="2" name="CuadroTexto 1">
            <a:extLst>
              <a:ext uri="{FF2B5EF4-FFF2-40B4-BE49-F238E27FC236}">
                <a16:creationId xmlns:a16="http://schemas.microsoft.com/office/drawing/2014/main" id="{AA39B581-693D-4075-A22C-EB08FE23CFB1}"/>
              </a:ext>
            </a:extLst>
          </p:cNvPr>
          <p:cNvSpPr txBox="1"/>
          <p:nvPr/>
        </p:nvSpPr>
        <p:spPr>
          <a:xfrm>
            <a:off x="1776414" y="1063771"/>
            <a:ext cx="3404937" cy="338554"/>
          </a:xfrm>
          <a:prstGeom prst="rect">
            <a:avLst/>
          </a:prstGeom>
          <a:noFill/>
        </p:spPr>
        <p:txBody>
          <a:bodyPr wrap="square" rtlCol="0">
            <a:spAutoFit/>
          </a:bodyPr>
          <a:lstStyle/>
          <a:p>
            <a:r>
              <a:rPr lang="es-ES" sz="1600" b="1" u="sng" dirty="0"/>
              <a:t>Técnicas de asignación de memoria</a:t>
            </a:r>
          </a:p>
        </p:txBody>
      </p:sp>
    </p:spTree>
    <p:extLst>
      <p:ext uri="{BB962C8B-B14F-4D97-AF65-F5344CB8AC3E}">
        <p14:creationId xmlns:p14="http://schemas.microsoft.com/office/powerpoint/2010/main" val="3458568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real</a:t>
            </a:r>
          </a:p>
        </p:txBody>
      </p:sp>
      <p:sp>
        <p:nvSpPr>
          <p:cNvPr id="3" name="Rectángulo 2">
            <a:extLst>
              <a:ext uri="{FF2B5EF4-FFF2-40B4-BE49-F238E27FC236}">
                <a16:creationId xmlns:a16="http://schemas.microsoft.com/office/drawing/2014/main" id="{D2F2F34D-7C2E-4DF6-AA90-FD38562AEF12}"/>
              </a:ext>
            </a:extLst>
          </p:cNvPr>
          <p:cNvSpPr/>
          <p:nvPr/>
        </p:nvSpPr>
        <p:spPr>
          <a:xfrm>
            <a:off x="1845506" y="1029134"/>
            <a:ext cx="822121" cy="107379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Proceso A</a:t>
            </a:r>
          </a:p>
          <a:p>
            <a:pPr algn="ctr"/>
            <a:endParaRPr lang="es-ES" sz="1200" dirty="0">
              <a:solidFill>
                <a:schemeClr val="tx1"/>
              </a:solidFill>
            </a:endParaRPr>
          </a:p>
          <a:p>
            <a:pPr algn="ctr"/>
            <a:r>
              <a:rPr lang="es-ES" sz="1200" dirty="0">
                <a:solidFill>
                  <a:schemeClr val="tx1"/>
                </a:solidFill>
              </a:rPr>
              <a:t>10000H</a:t>
            </a:r>
          </a:p>
          <a:p>
            <a:pPr algn="ctr"/>
            <a:r>
              <a:rPr lang="es-ES" sz="1200" dirty="0">
                <a:solidFill>
                  <a:schemeClr val="tx1"/>
                </a:solidFill>
              </a:rPr>
              <a:t>08000H</a:t>
            </a:r>
          </a:p>
        </p:txBody>
      </p:sp>
      <p:sp>
        <p:nvSpPr>
          <p:cNvPr id="5" name="CuadroTexto 4">
            <a:extLst>
              <a:ext uri="{FF2B5EF4-FFF2-40B4-BE49-F238E27FC236}">
                <a16:creationId xmlns:a16="http://schemas.microsoft.com/office/drawing/2014/main" id="{D7E316F0-D549-43AD-AF00-2E5A032D9BB2}"/>
              </a:ext>
            </a:extLst>
          </p:cNvPr>
          <p:cNvSpPr txBox="1"/>
          <p:nvPr/>
        </p:nvSpPr>
        <p:spPr>
          <a:xfrm>
            <a:off x="1197572" y="1549251"/>
            <a:ext cx="647934" cy="430887"/>
          </a:xfrm>
          <a:prstGeom prst="rect">
            <a:avLst/>
          </a:prstGeom>
          <a:noFill/>
        </p:spPr>
        <p:txBody>
          <a:bodyPr wrap="none" rtlCol="0">
            <a:spAutoFit/>
          </a:bodyPr>
          <a:lstStyle/>
          <a:p>
            <a:pPr algn="r"/>
            <a:r>
              <a:rPr lang="es-ES" sz="1100" dirty="0"/>
              <a:t>Base</a:t>
            </a:r>
            <a:br>
              <a:rPr lang="es-ES" sz="1100" dirty="0"/>
            </a:br>
            <a:r>
              <a:rPr lang="es-ES" sz="1100" dirty="0"/>
              <a:t>Tamaño</a:t>
            </a:r>
          </a:p>
        </p:txBody>
      </p:sp>
      <p:sp>
        <p:nvSpPr>
          <p:cNvPr id="6" name="Rectángulo 5">
            <a:extLst>
              <a:ext uri="{FF2B5EF4-FFF2-40B4-BE49-F238E27FC236}">
                <a16:creationId xmlns:a16="http://schemas.microsoft.com/office/drawing/2014/main" id="{9F5AB545-50A0-4D43-870C-3E70CD12D348}"/>
              </a:ext>
            </a:extLst>
          </p:cNvPr>
          <p:cNvSpPr/>
          <p:nvPr/>
        </p:nvSpPr>
        <p:spPr>
          <a:xfrm>
            <a:off x="3034503" y="1029134"/>
            <a:ext cx="822121" cy="1073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Libre</a:t>
            </a:r>
          </a:p>
          <a:p>
            <a:pPr algn="ctr"/>
            <a:endParaRPr lang="es-ES" sz="1200" dirty="0">
              <a:solidFill>
                <a:schemeClr val="tx1"/>
              </a:solidFill>
            </a:endParaRPr>
          </a:p>
          <a:p>
            <a:pPr algn="ctr"/>
            <a:r>
              <a:rPr lang="es-ES" sz="1200" dirty="0">
                <a:solidFill>
                  <a:schemeClr val="tx1"/>
                </a:solidFill>
              </a:rPr>
              <a:t>18000H</a:t>
            </a:r>
          </a:p>
          <a:p>
            <a:pPr algn="ctr"/>
            <a:r>
              <a:rPr lang="es-ES" sz="1200" dirty="0">
                <a:solidFill>
                  <a:schemeClr val="tx1"/>
                </a:solidFill>
              </a:rPr>
              <a:t>04000H</a:t>
            </a:r>
          </a:p>
        </p:txBody>
      </p:sp>
      <p:sp>
        <p:nvSpPr>
          <p:cNvPr id="8" name="Rectángulo 7">
            <a:extLst>
              <a:ext uri="{FF2B5EF4-FFF2-40B4-BE49-F238E27FC236}">
                <a16:creationId xmlns:a16="http://schemas.microsoft.com/office/drawing/2014/main" id="{FD40F97A-587F-4DC1-99E6-FA5F1622E11E}"/>
              </a:ext>
            </a:extLst>
          </p:cNvPr>
          <p:cNvSpPr/>
          <p:nvPr/>
        </p:nvSpPr>
        <p:spPr>
          <a:xfrm>
            <a:off x="4223500" y="1029133"/>
            <a:ext cx="822121" cy="107379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Proceso B</a:t>
            </a:r>
          </a:p>
          <a:p>
            <a:pPr algn="ctr"/>
            <a:endParaRPr lang="es-ES" sz="1200" dirty="0">
              <a:solidFill>
                <a:schemeClr val="tx1"/>
              </a:solidFill>
            </a:endParaRPr>
          </a:p>
          <a:p>
            <a:pPr algn="ctr"/>
            <a:r>
              <a:rPr lang="es-ES" sz="1200" dirty="0">
                <a:solidFill>
                  <a:schemeClr val="tx1"/>
                </a:solidFill>
              </a:rPr>
              <a:t>22000H</a:t>
            </a:r>
          </a:p>
          <a:p>
            <a:pPr algn="ctr"/>
            <a:r>
              <a:rPr lang="es-ES" sz="1200" dirty="0">
                <a:solidFill>
                  <a:schemeClr val="tx1"/>
                </a:solidFill>
              </a:rPr>
              <a:t>07000H</a:t>
            </a:r>
          </a:p>
        </p:txBody>
      </p:sp>
      <p:sp>
        <p:nvSpPr>
          <p:cNvPr id="10" name="Rectángulo 9">
            <a:extLst>
              <a:ext uri="{FF2B5EF4-FFF2-40B4-BE49-F238E27FC236}">
                <a16:creationId xmlns:a16="http://schemas.microsoft.com/office/drawing/2014/main" id="{6A8A625A-F8F1-4CF8-B3D8-44DB42B82878}"/>
              </a:ext>
            </a:extLst>
          </p:cNvPr>
          <p:cNvSpPr/>
          <p:nvPr/>
        </p:nvSpPr>
        <p:spPr>
          <a:xfrm>
            <a:off x="5412497" y="1037522"/>
            <a:ext cx="822121" cy="107379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Proceso C</a:t>
            </a:r>
          </a:p>
          <a:p>
            <a:pPr algn="ctr"/>
            <a:endParaRPr lang="es-ES" sz="1200" dirty="0">
              <a:solidFill>
                <a:schemeClr val="tx1"/>
              </a:solidFill>
            </a:endParaRPr>
          </a:p>
          <a:p>
            <a:pPr algn="ctr"/>
            <a:r>
              <a:rPr lang="es-ES" sz="1200" dirty="0">
                <a:solidFill>
                  <a:schemeClr val="tx1"/>
                </a:solidFill>
              </a:rPr>
              <a:t>29000H</a:t>
            </a:r>
          </a:p>
          <a:p>
            <a:pPr algn="ctr"/>
            <a:r>
              <a:rPr lang="es-ES" sz="1200" dirty="0">
                <a:solidFill>
                  <a:schemeClr val="tx1"/>
                </a:solidFill>
              </a:rPr>
              <a:t>12000H</a:t>
            </a:r>
          </a:p>
        </p:txBody>
      </p:sp>
      <p:sp>
        <p:nvSpPr>
          <p:cNvPr id="12" name="Rectángulo 11">
            <a:extLst>
              <a:ext uri="{FF2B5EF4-FFF2-40B4-BE49-F238E27FC236}">
                <a16:creationId xmlns:a16="http://schemas.microsoft.com/office/drawing/2014/main" id="{EFFFF36F-6CBA-4092-ABDC-34F12A2797D3}"/>
              </a:ext>
            </a:extLst>
          </p:cNvPr>
          <p:cNvSpPr/>
          <p:nvPr/>
        </p:nvSpPr>
        <p:spPr>
          <a:xfrm>
            <a:off x="6601495" y="1029132"/>
            <a:ext cx="822121" cy="1073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Libre</a:t>
            </a:r>
          </a:p>
          <a:p>
            <a:pPr algn="ctr"/>
            <a:endParaRPr lang="es-ES" sz="1200" dirty="0">
              <a:solidFill>
                <a:schemeClr val="tx1"/>
              </a:solidFill>
            </a:endParaRPr>
          </a:p>
          <a:p>
            <a:pPr algn="ctr"/>
            <a:r>
              <a:rPr lang="es-ES" sz="1200" dirty="0">
                <a:solidFill>
                  <a:schemeClr val="tx1"/>
                </a:solidFill>
              </a:rPr>
              <a:t>41000H</a:t>
            </a:r>
          </a:p>
          <a:p>
            <a:pPr algn="ctr"/>
            <a:r>
              <a:rPr lang="es-ES" sz="1200" dirty="0">
                <a:solidFill>
                  <a:schemeClr val="tx1"/>
                </a:solidFill>
              </a:rPr>
              <a:t>50000H</a:t>
            </a:r>
          </a:p>
        </p:txBody>
      </p:sp>
      <p:cxnSp>
        <p:nvCxnSpPr>
          <p:cNvPr id="15" name="Conector recto de flecha 14">
            <a:extLst>
              <a:ext uri="{FF2B5EF4-FFF2-40B4-BE49-F238E27FC236}">
                <a16:creationId xmlns:a16="http://schemas.microsoft.com/office/drawing/2014/main" id="{729B1F65-D74B-4001-96A4-57B13F483E05}"/>
              </a:ext>
            </a:extLst>
          </p:cNvPr>
          <p:cNvCxnSpPr>
            <a:cxnSpLocks/>
          </p:cNvCxnSpPr>
          <p:nvPr/>
        </p:nvCxnSpPr>
        <p:spPr>
          <a:xfrm>
            <a:off x="2522704" y="1029133"/>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468FFCD7-70D7-409F-91CC-D6448ACC9E6A}"/>
              </a:ext>
            </a:extLst>
          </p:cNvPr>
          <p:cNvCxnSpPr>
            <a:cxnSpLocks/>
          </p:cNvCxnSpPr>
          <p:nvPr/>
        </p:nvCxnSpPr>
        <p:spPr>
          <a:xfrm>
            <a:off x="3737258" y="1030530"/>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439F2B26-783C-411C-B65D-DAA51EA96178}"/>
              </a:ext>
            </a:extLst>
          </p:cNvPr>
          <p:cNvCxnSpPr>
            <a:cxnSpLocks/>
          </p:cNvCxnSpPr>
          <p:nvPr/>
        </p:nvCxnSpPr>
        <p:spPr>
          <a:xfrm>
            <a:off x="4900698" y="1030530"/>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A0CF6B2-814F-420A-A9D0-5D57209862AD}"/>
              </a:ext>
            </a:extLst>
          </p:cNvPr>
          <p:cNvCxnSpPr>
            <a:cxnSpLocks/>
          </p:cNvCxnSpPr>
          <p:nvPr/>
        </p:nvCxnSpPr>
        <p:spPr>
          <a:xfrm>
            <a:off x="6089696" y="1029133"/>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E04A74CC-894E-43C0-85C0-6950EC9122D0}"/>
              </a:ext>
            </a:extLst>
          </p:cNvPr>
          <p:cNvCxnSpPr>
            <a:cxnSpLocks/>
          </p:cNvCxnSpPr>
          <p:nvPr/>
        </p:nvCxnSpPr>
        <p:spPr>
          <a:xfrm flipH="1">
            <a:off x="2667626" y="2102924"/>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AA67AE40-BF90-4CA8-955C-7C4462D09C2D}"/>
              </a:ext>
            </a:extLst>
          </p:cNvPr>
          <p:cNvCxnSpPr>
            <a:cxnSpLocks/>
          </p:cNvCxnSpPr>
          <p:nvPr/>
        </p:nvCxnSpPr>
        <p:spPr>
          <a:xfrm flipH="1">
            <a:off x="3857013" y="2104321"/>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Conector recto de flecha 26">
            <a:extLst>
              <a:ext uri="{FF2B5EF4-FFF2-40B4-BE49-F238E27FC236}">
                <a16:creationId xmlns:a16="http://schemas.microsoft.com/office/drawing/2014/main" id="{862230D7-E015-4CB8-BA64-A5F5CCD70B49}"/>
              </a:ext>
            </a:extLst>
          </p:cNvPr>
          <p:cNvCxnSpPr>
            <a:cxnSpLocks/>
          </p:cNvCxnSpPr>
          <p:nvPr/>
        </p:nvCxnSpPr>
        <p:spPr>
          <a:xfrm flipH="1">
            <a:off x="5045620" y="2104321"/>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2F453E3A-FB5B-4C91-9382-87DBBFD32519}"/>
              </a:ext>
            </a:extLst>
          </p:cNvPr>
          <p:cNvCxnSpPr>
            <a:cxnSpLocks/>
          </p:cNvCxnSpPr>
          <p:nvPr/>
        </p:nvCxnSpPr>
        <p:spPr>
          <a:xfrm flipH="1">
            <a:off x="6234618" y="2102924"/>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B402680C-034D-462F-8A77-21E413A410E7}"/>
              </a:ext>
            </a:extLst>
          </p:cNvPr>
          <p:cNvSpPr txBox="1"/>
          <p:nvPr/>
        </p:nvSpPr>
        <p:spPr>
          <a:xfrm>
            <a:off x="7678393" y="1029132"/>
            <a:ext cx="1141970" cy="507831"/>
          </a:xfrm>
          <a:prstGeom prst="rect">
            <a:avLst/>
          </a:prstGeom>
          <a:noFill/>
        </p:spPr>
        <p:txBody>
          <a:bodyPr wrap="square" rtlCol="0">
            <a:spAutoFit/>
          </a:bodyPr>
          <a:lstStyle/>
          <a:p>
            <a:pPr algn="ctr"/>
            <a:r>
              <a:rPr lang="es-ES" b="1" dirty="0">
                <a:solidFill>
                  <a:srgbClr val="002060"/>
                </a:solidFill>
              </a:rPr>
              <a:t>Situación</a:t>
            </a:r>
          </a:p>
          <a:p>
            <a:pPr algn="ctr"/>
            <a:r>
              <a:rPr lang="es-ES" b="1" dirty="0">
                <a:solidFill>
                  <a:srgbClr val="002060"/>
                </a:solidFill>
              </a:rPr>
              <a:t>inicial</a:t>
            </a:r>
          </a:p>
        </p:txBody>
      </p:sp>
      <p:sp>
        <p:nvSpPr>
          <p:cNvPr id="29" name="CuadroTexto 28">
            <a:extLst>
              <a:ext uri="{FF2B5EF4-FFF2-40B4-BE49-F238E27FC236}">
                <a16:creationId xmlns:a16="http://schemas.microsoft.com/office/drawing/2014/main" id="{C71AA434-39FB-4ECD-BAFD-9A094A973DC4}"/>
              </a:ext>
            </a:extLst>
          </p:cNvPr>
          <p:cNvSpPr txBox="1"/>
          <p:nvPr/>
        </p:nvSpPr>
        <p:spPr>
          <a:xfrm>
            <a:off x="7678393" y="2445220"/>
            <a:ext cx="1141970" cy="1131079"/>
          </a:xfrm>
          <a:prstGeom prst="rect">
            <a:avLst/>
          </a:prstGeom>
          <a:noFill/>
        </p:spPr>
        <p:txBody>
          <a:bodyPr wrap="square" rtlCol="0">
            <a:spAutoFit/>
          </a:bodyPr>
          <a:lstStyle/>
          <a:p>
            <a:pPr algn="ctr"/>
            <a:r>
              <a:rPr lang="es-ES" b="1" dirty="0">
                <a:solidFill>
                  <a:srgbClr val="002060"/>
                </a:solidFill>
              </a:rPr>
              <a:t>Termina B</a:t>
            </a:r>
          </a:p>
          <a:p>
            <a:pPr algn="ctr"/>
            <a:r>
              <a:rPr lang="es-ES" b="1" dirty="0">
                <a:solidFill>
                  <a:srgbClr val="002060"/>
                </a:solidFill>
              </a:rPr>
              <a:t>(su espacio se asigna al bloque libre contiguo)</a:t>
            </a:r>
          </a:p>
        </p:txBody>
      </p:sp>
      <p:sp>
        <p:nvSpPr>
          <p:cNvPr id="32" name="Rectángulo 31">
            <a:extLst>
              <a:ext uri="{FF2B5EF4-FFF2-40B4-BE49-F238E27FC236}">
                <a16:creationId xmlns:a16="http://schemas.microsoft.com/office/drawing/2014/main" id="{391A6A63-EC72-4F48-9022-4BADD4AB56FF}"/>
              </a:ext>
            </a:extLst>
          </p:cNvPr>
          <p:cNvSpPr/>
          <p:nvPr/>
        </p:nvSpPr>
        <p:spPr>
          <a:xfrm>
            <a:off x="1845505" y="2488368"/>
            <a:ext cx="822121" cy="107379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Proceso A</a:t>
            </a:r>
          </a:p>
          <a:p>
            <a:pPr algn="ctr"/>
            <a:endParaRPr lang="es-ES" sz="1200" dirty="0">
              <a:solidFill>
                <a:schemeClr val="tx1"/>
              </a:solidFill>
            </a:endParaRPr>
          </a:p>
          <a:p>
            <a:pPr algn="ctr"/>
            <a:r>
              <a:rPr lang="es-ES" sz="1200" dirty="0">
                <a:solidFill>
                  <a:schemeClr val="tx1"/>
                </a:solidFill>
              </a:rPr>
              <a:t>10000H</a:t>
            </a:r>
          </a:p>
          <a:p>
            <a:pPr algn="ctr"/>
            <a:r>
              <a:rPr lang="es-ES" sz="1200" dirty="0">
                <a:solidFill>
                  <a:schemeClr val="tx1"/>
                </a:solidFill>
              </a:rPr>
              <a:t>08000H</a:t>
            </a:r>
          </a:p>
        </p:txBody>
      </p:sp>
      <p:sp>
        <p:nvSpPr>
          <p:cNvPr id="33" name="Rectángulo 32">
            <a:extLst>
              <a:ext uri="{FF2B5EF4-FFF2-40B4-BE49-F238E27FC236}">
                <a16:creationId xmlns:a16="http://schemas.microsoft.com/office/drawing/2014/main" id="{1E8ACFB3-4F91-4946-95E9-FF2D3F9B6DA1}"/>
              </a:ext>
            </a:extLst>
          </p:cNvPr>
          <p:cNvSpPr/>
          <p:nvPr/>
        </p:nvSpPr>
        <p:spPr>
          <a:xfrm>
            <a:off x="3034502" y="2488368"/>
            <a:ext cx="822121" cy="1073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Libre</a:t>
            </a:r>
          </a:p>
          <a:p>
            <a:pPr algn="ctr"/>
            <a:endParaRPr lang="es-ES" sz="1200" dirty="0">
              <a:solidFill>
                <a:schemeClr val="tx1"/>
              </a:solidFill>
            </a:endParaRPr>
          </a:p>
          <a:p>
            <a:pPr algn="ctr"/>
            <a:r>
              <a:rPr lang="es-ES" sz="1200" dirty="0">
                <a:solidFill>
                  <a:schemeClr val="tx1"/>
                </a:solidFill>
              </a:rPr>
              <a:t>18000H</a:t>
            </a:r>
          </a:p>
          <a:p>
            <a:pPr algn="ctr"/>
            <a:r>
              <a:rPr lang="es-ES" sz="1200" b="1" dirty="0">
                <a:solidFill>
                  <a:schemeClr val="accent6"/>
                </a:solidFill>
              </a:rPr>
              <a:t>11000H</a:t>
            </a:r>
          </a:p>
        </p:txBody>
      </p:sp>
      <p:sp>
        <p:nvSpPr>
          <p:cNvPr id="35" name="Rectángulo 34">
            <a:extLst>
              <a:ext uri="{FF2B5EF4-FFF2-40B4-BE49-F238E27FC236}">
                <a16:creationId xmlns:a16="http://schemas.microsoft.com/office/drawing/2014/main" id="{6A049616-EE19-42C2-B9CF-6191DBD88D0C}"/>
              </a:ext>
            </a:extLst>
          </p:cNvPr>
          <p:cNvSpPr/>
          <p:nvPr/>
        </p:nvSpPr>
        <p:spPr>
          <a:xfrm>
            <a:off x="4223499" y="2488367"/>
            <a:ext cx="822121" cy="107379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Proceso C</a:t>
            </a:r>
          </a:p>
          <a:p>
            <a:pPr algn="ctr"/>
            <a:endParaRPr lang="es-ES" sz="1200" dirty="0">
              <a:solidFill>
                <a:schemeClr val="tx1"/>
              </a:solidFill>
            </a:endParaRPr>
          </a:p>
          <a:p>
            <a:pPr algn="ctr"/>
            <a:r>
              <a:rPr lang="es-ES" sz="1200" dirty="0">
                <a:solidFill>
                  <a:schemeClr val="tx1"/>
                </a:solidFill>
              </a:rPr>
              <a:t>29000H</a:t>
            </a:r>
          </a:p>
          <a:p>
            <a:pPr algn="ctr"/>
            <a:r>
              <a:rPr lang="es-ES" sz="1200" dirty="0">
                <a:solidFill>
                  <a:schemeClr val="tx1"/>
                </a:solidFill>
              </a:rPr>
              <a:t>12000H</a:t>
            </a:r>
          </a:p>
        </p:txBody>
      </p:sp>
      <p:sp>
        <p:nvSpPr>
          <p:cNvPr id="36" name="Rectángulo 35">
            <a:extLst>
              <a:ext uri="{FF2B5EF4-FFF2-40B4-BE49-F238E27FC236}">
                <a16:creationId xmlns:a16="http://schemas.microsoft.com/office/drawing/2014/main" id="{ED216411-4AEB-4901-8E92-05361177FA92}"/>
              </a:ext>
            </a:extLst>
          </p:cNvPr>
          <p:cNvSpPr/>
          <p:nvPr/>
        </p:nvSpPr>
        <p:spPr>
          <a:xfrm>
            <a:off x="5412497" y="2479977"/>
            <a:ext cx="822121" cy="1073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Libre</a:t>
            </a:r>
          </a:p>
          <a:p>
            <a:pPr algn="ctr"/>
            <a:endParaRPr lang="es-ES" sz="1200" dirty="0">
              <a:solidFill>
                <a:schemeClr val="tx1"/>
              </a:solidFill>
            </a:endParaRPr>
          </a:p>
          <a:p>
            <a:pPr algn="ctr"/>
            <a:r>
              <a:rPr lang="es-ES" sz="1200" dirty="0">
                <a:solidFill>
                  <a:schemeClr val="tx1"/>
                </a:solidFill>
              </a:rPr>
              <a:t>41000H</a:t>
            </a:r>
          </a:p>
          <a:p>
            <a:pPr algn="ctr"/>
            <a:r>
              <a:rPr lang="es-ES" sz="1200" dirty="0">
                <a:solidFill>
                  <a:schemeClr val="tx1"/>
                </a:solidFill>
              </a:rPr>
              <a:t>50000H</a:t>
            </a:r>
          </a:p>
        </p:txBody>
      </p:sp>
      <p:cxnSp>
        <p:nvCxnSpPr>
          <p:cNvPr id="37" name="Conector recto de flecha 36">
            <a:extLst>
              <a:ext uri="{FF2B5EF4-FFF2-40B4-BE49-F238E27FC236}">
                <a16:creationId xmlns:a16="http://schemas.microsoft.com/office/drawing/2014/main" id="{CE5C08BA-2348-4443-B7F9-73A61129E0A4}"/>
              </a:ext>
            </a:extLst>
          </p:cNvPr>
          <p:cNvCxnSpPr>
            <a:cxnSpLocks/>
          </p:cNvCxnSpPr>
          <p:nvPr/>
        </p:nvCxnSpPr>
        <p:spPr>
          <a:xfrm>
            <a:off x="2522703" y="2488367"/>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ector recto de flecha 38">
            <a:extLst>
              <a:ext uri="{FF2B5EF4-FFF2-40B4-BE49-F238E27FC236}">
                <a16:creationId xmlns:a16="http://schemas.microsoft.com/office/drawing/2014/main" id="{93307C99-1858-4BB1-81CB-E7B1259CB112}"/>
              </a:ext>
            </a:extLst>
          </p:cNvPr>
          <p:cNvCxnSpPr>
            <a:cxnSpLocks/>
          </p:cNvCxnSpPr>
          <p:nvPr/>
        </p:nvCxnSpPr>
        <p:spPr>
          <a:xfrm>
            <a:off x="3711700" y="2481375"/>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80217910-EF3C-4D2D-B711-37847D4F52D0}"/>
              </a:ext>
            </a:extLst>
          </p:cNvPr>
          <p:cNvCxnSpPr>
            <a:cxnSpLocks/>
          </p:cNvCxnSpPr>
          <p:nvPr/>
        </p:nvCxnSpPr>
        <p:spPr>
          <a:xfrm>
            <a:off x="4900698" y="2479978"/>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8811A8DF-7648-4965-BD30-8A882CA47C5D}"/>
              </a:ext>
            </a:extLst>
          </p:cNvPr>
          <p:cNvCxnSpPr>
            <a:cxnSpLocks/>
          </p:cNvCxnSpPr>
          <p:nvPr/>
        </p:nvCxnSpPr>
        <p:spPr>
          <a:xfrm flipH="1">
            <a:off x="2667625" y="3562158"/>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8DBD6780-FD95-415D-B7FF-D4E0C561E455}"/>
              </a:ext>
            </a:extLst>
          </p:cNvPr>
          <p:cNvCxnSpPr>
            <a:cxnSpLocks/>
          </p:cNvCxnSpPr>
          <p:nvPr/>
        </p:nvCxnSpPr>
        <p:spPr>
          <a:xfrm flipH="1">
            <a:off x="3856622" y="3555166"/>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23EDAB80-20C7-4406-B57E-B10A7E721D0A}"/>
              </a:ext>
            </a:extLst>
          </p:cNvPr>
          <p:cNvCxnSpPr>
            <a:cxnSpLocks/>
          </p:cNvCxnSpPr>
          <p:nvPr/>
        </p:nvCxnSpPr>
        <p:spPr>
          <a:xfrm flipH="1">
            <a:off x="5045620" y="3553769"/>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A0DF8A0A-7EB7-45B3-9419-3FD19E406D73}"/>
              </a:ext>
            </a:extLst>
          </p:cNvPr>
          <p:cNvSpPr txBox="1"/>
          <p:nvPr/>
        </p:nvSpPr>
        <p:spPr>
          <a:xfrm>
            <a:off x="7678393" y="3909725"/>
            <a:ext cx="1141970" cy="923330"/>
          </a:xfrm>
          <a:prstGeom prst="rect">
            <a:avLst/>
          </a:prstGeom>
          <a:noFill/>
        </p:spPr>
        <p:txBody>
          <a:bodyPr wrap="square" rtlCol="0">
            <a:spAutoFit/>
          </a:bodyPr>
          <a:lstStyle/>
          <a:p>
            <a:pPr algn="ctr"/>
            <a:r>
              <a:rPr lang="es-ES" b="1" dirty="0">
                <a:solidFill>
                  <a:srgbClr val="002060"/>
                </a:solidFill>
              </a:rPr>
              <a:t>Se carga D, que ocupa 20000H B de memoria</a:t>
            </a:r>
          </a:p>
        </p:txBody>
      </p:sp>
      <p:sp>
        <p:nvSpPr>
          <p:cNvPr id="47" name="Rectángulo 46">
            <a:extLst>
              <a:ext uri="{FF2B5EF4-FFF2-40B4-BE49-F238E27FC236}">
                <a16:creationId xmlns:a16="http://schemas.microsoft.com/office/drawing/2014/main" id="{4D62B424-E1EA-4269-B929-D8E97ED14427}"/>
              </a:ext>
            </a:extLst>
          </p:cNvPr>
          <p:cNvSpPr/>
          <p:nvPr/>
        </p:nvSpPr>
        <p:spPr>
          <a:xfrm>
            <a:off x="1835133" y="3904715"/>
            <a:ext cx="822121" cy="107379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Proceso A</a:t>
            </a:r>
          </a:p>
          <a:p>
            <a:pPr algn="ctr"/>
            <a:endParaRPr lang="es-ES" sz="1200" dirty="0">
              <a:solidFill>
                <a:schemeClr val="tx1"/>
              </a:solidFill>
            </a:endParaRPr>
          </a:p>
          <a:p>
            <a:pPr algn="ctr"/>
            <a:r>
              <a:rPr lang="es-ES" sz="1200" dirty="0">
                <a:solidFill>
                  <a:schemeClr val="tx1"/>
                </a:solidFill>
              </a:rPr>
              <a:t>10000H</a:t>
            </a:r>
          </a:p>
          <a:p>
            <a:pPr algn="ctr"/>
            <a:r>
              <a:rPr lang="es-ES" sz="1200" dirty="0">
                <a:solidFill>
                  <a:schemeClr val="tx1"/>
                </a:solidFill>
              </a:rPr>
              <a:t>08000H</a:t>
            </a:r>
          </a:p>
        </p:txBody>
      </p:sp>
      <p:sp>
        <p:nvSpPr>
          <p:cNvPr id="48" name="Rectángulo 47">
            <a:extLst>
              <a:ext uri="{FF2B5EF4-FFF2-40B4-BE49-F238E27FC236}">
                <a16:creationId xmlns:a16="http://schemas.microsoft.com/office/drawing/2014/main" id="{C419C2B1-12A6-4D83-AE14-F92BA6624D9A}"/>
              </a:ext>
            </a:extLst>
          </p:cNvPr>
          <p:cNvSpPr/>
          <p:nvPr/>
        </p:nvSpPr>
        <p:spPr>
          <a:xfrm>
            <a:off x="3024130" y="3904715"/>
            <a:ext cx="822121" cy="1073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Libre</a:t>
            </a:r>
          </a:p>
          <a:p>
            <a:pPr algn="ctr"/>
            <a:endParaRPr lang="es-ES" sz="1200" dirty="0">
              <a:solidFill>
                <a:schemeClr val="tx1"/>
              </a:solidFill>
            </a:endParaRPr>
          </a:p>
          <a:p>
            <a:pPr algn="ctr"/>
            <a:r>
              <a:rPr lang="es-ES" sz="1200" dirty="0">
                <a:solidFill>
                  <a:schemeClr val="tx1"/>
                </a:solidFill>
              </a:rPr>
              <a:t>18000H</a:t>
            </a:r>
          </a:p>
          <a:p>
            <a:pPr algn="ctr"/>
            <a:r>
              <a:rPr lang="es-ES" sz="1200" dirty="0">
                <a:solidFill>
                  <a:schemeClr val="tx1"/>
                </a:solidFill>
              </a:rPr>
              <a:t>11000H</a:t>
            </a:r>
          </a:p>
        </p:txBody>
      </p:sp>
      <p:sp>
        <p:nvSpPr>
          <p:cNvPr id="49" name="Rectángulo 48">
            <a:extLst>
              <a:ext uri="{FF2B5EF4-FFF2-40B4-BE49-F238E27FC236}">
                <a16:creationId xmlns:a16="http://schemas.microsoft.com/office/drawing/2014/main" id="{58F002F7-B26F-4ECF-84EE-8F7869C66D43}"/>
              </a:ext>
            </a:extLst>
          </p:cNvPr>
          <p:cNvSpPr/>
          <p:nvPr/>
        </p:nvSpPr>
        <p:spPr>
          <a:xfrm>
            <a:off x="4213127" y="3904714"/>
            <a:ext cx="822121" cy="107379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Proceso C</a:t>
            </a:r>
          </a:p>
          <a:p>
            <a:pPr algn="ctr"/>
            <a:endParaRPr lang="es-ES" sz="1200" dirty="0">
              <a:solidFill>
                <a:schemeClr val="tx1"/>
              </a:solidFill>
            </a:endParaRPr>
          </a:p>
          <a:p>
            <a:pPr algn="ctr"/>
            <a:r>
              <a:rPr lang="es-ES" sz="1200" dirty="0">
                <a:solidFill>
                  <a:schemeClr val="tx1"/>
                </a:solidFill>
              </a:rPr>
              <a:t>29000H</a:t>
            </a:r>
          </a:p>
          <a:p>
            <a:pPr algn="ctr"/>
            <a:r>
              <a:rPr lang="es-ES" sz="1200" dirty="0">
                <a:solidFill>
                  <a:schemeClr val="tx1"/>
                </a:solidFill>
              </a:rPr>
              <a:t>12000H</a:t>
            </a:r>
          </a:p>
        </p:txBody>
      </p:sp>
      <p:sp>
        <p:nvSpPr>
          <p:cNvPr id="50" name="Rectángulo 49">
            <a:extLst>
              <a:ext uri="{FF2B5EF4-FFF2-40B4-BE49-F238E27FC236}">
                <a16:creationId xmlns:a16="http://schemas.microsoft.com/office/drawing/2014/main" id="{0B816A26-1EC7-49F2-A432-1A02B3795BD5}"/>
              </a:ext>
            </a:extLst>
          </p:cNvPr>
          <p:cNvSpPr/>
          <p:nvPr/>
        </p:nvSpPr>
        <p:spPr>
          <a:xfrm>
            <a:off x="5402124" y="3913103"/>
            <a:ext cx="822121" cy="107379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Proceso D</a:t>
            </a:r>
          </a:p>
          <a:p>
            <a:pPr algn="ctr"/>
            <a:endParaRPr lang="es-ES" sz="1200" dirty="0">
              <a:solidFill>
                <a:schemeClr val="tx1"/>
              </a:solidFill>
            </a:endParaRPr>
          </a:p>
          <a:p>
            <a:pPr algn="ctr"/>
            <a:r>
              <a:rPr lang="es-ES" sz="1200" dirty="0">
                <a:solidFill>
                  <a:schemeClr val="tx1"/>
                </a:solidFill>
              </a:rPr>
              <a:t>41000H</a:t>
            </a:r>
          </a:p>
          <a:p>
            <a:pPr algn="ctr"/>
            <a:r>
              <a:rPr lang="es-ES" sz="1200">
                <a:solidFill>
                  <a:schemeClr val="tx1"/>
                </a:solidFill>
              </a:rPr>
              <a:t>20000H</a:t>
            </a:r>
            <a:endParaRPr lang="es-ES" sz="1200" dirty="0">
              <a:solidFill>
                <a:schemeClr val="tx1"/>
              </a:solidFill>
            </a:endParaRPr>
          </a:p>
        </p:txBody>
      </p:sp>
      <p:sp>
        <p:nvSpPr>
          <p:cNvPr id="51" name="Rectángulo 50">
            <a:extLst>
              <a:ext uri="{FF2B5EF4-FFF2-40B4-BE49-F238E27FC236}">
                <a16:creationId xmlns:a16="http://schemas.microsoft.com/office/drawing/2014/main" id="{961846A4-90EF-4540-AD88-930FA0574925}"/>
              </a:ext>
            </a:extLst>
          </p:cNvPr>
          <p:cNvSpPr/>
          <p:nvPr/>
        </p:nvSpPr>
        <p:spPr>
          <a:xfrm>
            <a:off x="6591122" y="3904713"/>
            <a:ext cx="822121" cy="1073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solidFill>
                  <a:schemeClr val="tx1"/>
                </a:solidFill>
              </a:rPr>
              <a:t>Libre</a:t>
            </a:r>
          </a:p>
          <a:p>
            <a:pPr algn="ctr"/>
            <a:endParaRPr lang="es-ES" sz="1200" dirty="0">
              <a:solidFill>
                <a:schemeClr val="tx1"/>
              </a:solidFill>
            </a:endParaRPr>
          </a:p>
          <a:p>
            <a:pPr algn="ctr"/>
            <a:r>
              <a:rPr lang="es-ES" sz="1200" dirty="0">
                <a:solidFill>
                  <a:schemeClr val="tx1"/>
                </a:solidFill>
              </a:rPr>
              <a:t>61000H</a:t>
            </a:r>
          </a:p>
          <a:p>
            <a:pPr algn="ctr"/>
            <a:r>
              <a:rPr lang="es-ES" sz="1200" dirty="0">
                <a:solidFill>
                  <a:schemeClr val="tx1"/>
                </a:solidFill>
              </a:rPr>
              <a:t>30000H</a:t>
            </a:r>
          </a:p>
        </p:txBody>
      </p:sp>
      <p:cxnSp>
        <p:nvCxnSpPr>
          <p:cNvPr id="52" name="Conector recto de flecha 51">
            <a:extLst>
              <a:ext uri="{FF2B5EF4-FFF2-40B4-BE49-F238E27FC236}">
                <a16:creationId xmlns:a16="http://schemas.microsoft.com/office/drawing/2014/main" id="{FFDD21C7-06EC-4618-B61A-2083CD36C7EB}"/>
              </a:ext>
            </a:extLst>
          </p:cNvPr>
          <p:cNvCxnSpPr>
            <a:cxnSpLocks/>
          </p:cNvCxnSpPr>
          <p:nvPr/>
        </p:nvCxnSpPr>
        <p:spPr>
          <a:xfrm>
            <a:off x="2512331" y="3904714"/>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Conector recto de flecha 52">
            <a:extLst>
              <a:ext uri="{FF2B5EF4-FFF2-40B4-BE49-F238E27FC236}">
                <a16:creationId xmlns:a16="http://schemas.microsoft.com/office/drawing/2014/main" id="{909FA13B-E68F-434D-AF72-A93E2873C928}"/>
              </a:ext>
            </a:extLst>
          </p:cNvPr>
          <p:cNvCxnSpPr>
            <a:cxnSpLocks/>
          </p:cNvCxnSpPr>
          <p:nvPr/>
        </p:nvCxnSpPr>
        <p:spPr>
          <a:xfrm>
            <a:off x="3726885" y="3906111"/>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Conector recto de flecha 53">
            <a:extLst>
              <a:ext uri="{FF2B5EF4-FFF2-40B4-BE49-F238E27FC236}">
                <a16:creationId xmlns:a16="http://schemas.microsoft.com/office/drawing/2014/main" id="{1167237E-B0EA-4078-B816-E7197D64F561}"/>
              </a:ext>
            </a:extLst>
          </p:cNvPr>
          <p:cNvCxnSpPr>
            <a:cxnSpLocks/>
          </p:cNvCxnSpPr>
          <p:nvPr/>
        </p:nvCxnSpPr>
        <p:spPr>
          <a:xfrm>
            <a:off x="4890325" y="3906111"/>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Conector recto de flecha 54">
            <a:extLst>
              <a:ext uri="{FF2B5EF4-FFF2-40B4-BE49-F238E27FC236}">
                <a16:creationId xmlns:a16="http://schemas.microsoft.com/office/drawing/2014/main" id="{81E5633F-0D9F-4DDC-8712-57DC2AEC1404}"/>
              </a:ext>
            </a:extLst>
          </p:cNvPr>
          <p:cNvCxnSpPr>
            <a:cxnSpLocks/>
          </p:cNvCxnSpPr>
          <p:nvPr/>
        </p:nvCxnSpPr>
        <p:spPr>
          <a:xfrm>
            <a:off x="6079323" y="3904714"/>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Conector recto de flecha 55">
            <a:extLst>
              <a:ext uri="{FF2B5EF4-FFF2-40B4-BE49-F238E27FC236}">
                <a16:creationId xmlns:a16="http://schemas.microsoft.com/office/drawing/2014/main" id="{451BB090-D22B-4F29-91CE-9E8DB6E5E102}"/>
              </a:ext>
            </a:extLst>
          </p:cNvPr>
          <p:cNvCxnSpPr>
            <a:cxnSpLocks/>
          </p:cNvCxnSpPr>
          <p:nvPr/>
        </p:nvCxnSpPr>
        <p:spPr>
          <a:xfrm flipH="1">
            <a:off x="2657253" y="4978505"/>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Conector recto de flecha 56">
            <a:extLst>
              <a:ext uri="{FF2B5EF4-FFF2-40B4-BE49-F238E27FC236}">
                <a16:creationId xmlns:a16="http://schemas.microsoft.com/office/drawing/2014/main" id="{660135C7-27AA-4673-9BE0-EA3E64072AEE}"/>
              </a:ext>
            </a:extLst>
          </p:cNvPr>
          <p:cNvCxnSpPr>
            <a:cxnSpLocks/>
          </p:cNvCxnSpPr>
          <p:nvPr/>
        </p:nvCxnSpPr>
        <p:spPr>
          <a:xfrm flipH="1">
            <a:off x="3846640" y="4979902"/>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Conector recto de flecha 57">
            <a:extLst>
              <a:ext uri="{FF2B5EF4-FFF2-40B4-BE49-F238E27FC236}">
                <a16:creationId xmlns:a16="http://schemas.microsoft.com/office/drawing/2014/main" id="{3150CCD4-6605-4036-9BBE-39C12F292D0B}"/>
              </a:ext>
            </a:extLst>
          </p:cNvPr>
          <p:cNvCxnSpPr>
            <a:cxnSpLocks/>
          </p:cNvCxnSpPr>
          <p:nvPr/>
        </p:nvCxnSpPr>
        <p:spPr>
          <a:xfrm flipH="1">
            <a:off x="5035247" y="4979902"/>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Conector recto de flecha 58">
            <a:extLst>
              <a:ext uri="{FF2B5EF4-FFF2-40B4-BE49-F238E27FC236}">
                <a16:creationId xmlns:a16="http://schemas.microsoft.com/office/drawing/2014/main" id="{AB06AD4C-2639-4F3A-A886-B7B37E3406A0}"/>
              </a:ext>
            </a:extLst>
          </p:cNvPr>
          <p:cNvCxnSpPr>
            <a:cxnSpLocks/>
          </p:cNvCxnSpPr>
          <p:nvPr/>
        </p:nvCxnSpPr>
        <p:spPr>
          <a:xfrm flipH="1">
            <a:off x="6224245" y="4978505"/>
            <a:ext cx="511799" cy="0"/>
          </a:xfrm>
          <a:prstGeom prst="straightConnector1">
            <a:avLst/>
          </a:prstGeom>
          <a:ln w="28575">
            <a:solidFill>
              <a:schemeClr val="accent3"/>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609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real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5" y="1063771"/>
            <a:ext cx="6719422" cy="4031873"/>
          </a:xfrm>
          <a:prstGeom prst="rect">
            <a:avLst/>
          </a:prstGeom>
          <a:noFill/>
        </p:spPr>
        <p:txBody>
          <a:bodyPr wrap="square" rtlCol="0">
            <a:spAutoFit/>
          </a:bodyPr>
          <a:lstStyle/>
          <a:p>
            <a:pPr algn="just"/>
            <a:r>
              <a:rPr lang="es-ES" sz="1600" b="1" u="sng" dirty="0"/>
              <a:t>Algoritmos de asignación de memoria real</a:t>
            </a:r>
          </a:p>
          <a:p>
            <a:pPr algn="just"/>
            <a:endParaRPr lang="es-ES" sz="1600" dirty="0"/>
          </a:p>
          <a:p>
            <a:pPr algn="just"/>
            <a:r>
              <a:rPr lang="es-ES" sz="1400" dirty="0"/>
              <a:t>En el ejemplo anterior se ha asignado el primer hueco en el que cabía el proceso. Es lo que se denomina </a:t>
            </a:r>
            <a:r>
              <a:rPr lang="es-ES" sz="1400" b="1" dirty="0" err="1"/>
              <a:t>First</a:t>
            </a:r>
            <a:r>
              <a:rPr lang="es-ES" sz="1400" b="1" dirty="0"/>
              <a:t> </a:t>
            </a:r>
            <a:r>
              <a:rPr lang="es-ES" sz="1400" b="1" dirty="0" err="1"/>
              <a:t>Fit</a:t>
            </a:r>
            <a:r>
              <a:rPr lang="es-ES" sz="1400" b="1" dirty="0"/>
              <a:t> </a:t>
            </a:r>
            <a:r>
              <a:rPr lang="es-ES" sz="1400" dirty="0"/>
              <a:t>pero hay otros criterios.</a:t>
            </a:r>
          </a:p>
          <a:p>
            <a:pPr marL="285750" indent="-285750" algn="just">
              <a:buFont typeface="Arial" panose="020B0604020202020204" pitchFamily="34" charset="0"/>
              <a:buChar char="•"/>
            </a:pPr>
            <a:r>
              <a:rPr lang="es-ES" sz="1400" b="1" dirty="0" err="1"/>
              <a:t>Best</a:t>
            </a:r>
            <a:r>
              <a:rPr lang="es-ES" sz="1400" b="1" dirty="0"/>
              <a:t> </a:t>
            </a:r>
            <a:r>
              <a:rPr lang="es-ES" sz="1400" b="1" dirty="0" err="1"/>
              <a:t>Fit</a:t>
            </a:r>
            <a:r>
              <a:rPr lang="es-ES" sz="1400" dirty="0"/>
              <a:t>. Se busca el hueco más pequeño en el que cabe el proceso. Obliga a recorrer toda la lista, pero reduce al máximo el espacio desaprovechado.</a:t>
            </a:r>
          </a:p>
          <a:p>
            <a:pPr marL="285750" indent="-285750" algn="just">
              <a:buFont typeface="Arial" panose="020B0604020202020204" pitchFamily="34" charset="0"/>
              <a:buChar char="•"/>
            </a:pPr>
            <a:r>
              <a:rPr lang="es-ES" sz="1400" b="1" dirty="0"/>
              <a:t>Next </a:t>
            </a:r>
            <a:r>
              <a:rPr lang="es-ES" sz="1400" b="1" dirty="0" err="1"/>
              <a:t>Fit</a:t>
            </a:r>
            <a:r>
              <a:rPr lang="es-ES" sz="1400" dirty="0"/>
              <a:t>. Es igual que el </a:t>
            </a:r>
            <a:r>
              <a:rPr lang="es-ES" sz="1400" dirty="0" err="1"/>
              <a:t>Fist</a:t>
            </a:r>
            <a:r>
              <a:rPr lang="es-ES" sz="1400" dirty="0"/>
              <a:t> </a:t>
            </a:r>
            <a:r>
              <a:rPr lang="es-ES" sz="1400" dirty="0" err="1"/>
              <a:t>Fit</a:t>
            </a:r>
            <a:r>
              <a:rPr lang="es-ES" sz="1400" dirty="0"/>
              <a:t>, pero en lugar de recorrer la lista desde el inicio se empieza desde el último espacio asignado, para conseguir un reparto más equitativo y reducir de ese modo la fragmentación.</a:t>
            </a:r>
          </a:p>
          <a:p>
            <a:pPr marL="285750" indent="-285750" algn="just">
              <a:buFont typeface="Arial" panose="020B0604020202020204" pitchFamily="34" charset="0"/>
              <a:buChar char="•"/>
            </a:pPr>
            <a:r>
              <a:rPr lang="es-ES" sz="1400" b="1" dirty="0" err="1"/>
              <a:t>Worst</a:t>
            </a:r>
            <a:r>
              <a:rPr lang="es-ES" sz="1400" b="1" dirty="0"/>
              <a:t> </a:t>
            </a:r>
            <a:r>
              <a:rPr lang="es-ES" sz="1400" b="1" dirty="0" err="1"/>
              <a:t>Fit</a:t>
            </a:r>
            <a:r>
              <a:rPr lang="es-ES" sz="1400" dirty="0"/>
              <a:t>. En lugar de buscar el hueco más pequeño disponible, se asigna el más grande. De este modo se evita generar muchas pequeñas zonas desaprovechadas. Tiene el mismo inconveniente que </a:t>
            </a:r>
            <a:r>
              <a:rPr lang="es-ES" sz="1400" dirty="0" err="1"/>
              <a:t>Best</a:t>
            </a:r>
            <a:r>
              <a:rPr lang="es-ES" sz="1400" dirty="0"/>
              <a:t> </a:t>
            </a:r>
            <a:r>
              <a:rPr lang="es-ES" sz="1400" dirty="0" err="1"/>
              <a:t>Fit</a:t>
            </a:r>
            <a:r>
              <a:rPr lang="es-ES" sz="1400" dirty="0"/>
              <a:t>, hay que recorrer toda la lista.</a:t>
            </a:r>
          </a:p>
          <a:p>
            <a:pPr marL="285750" indent="-285750" algn="just">
              <a:buFont typeface="Arial" panose="020B0604020202020204" pitchFamily="34" charset="0"/>
              <a:buChar char="•"/>
            </a:pPr>
            <a:r>
              <a:rPr lang="es-ES" sz="1400" b="1" dirty="0"/>
              <a:t>Quick </a:t>
            </a:r>
            <a:r>
              <a:rPr lang="es-ES" sz="1400" b="1" dirty="0" err="1"/>
              <a:t>Fit</a:t>
            </a:r>
            <a:r>
              <a:rPr lang="es-ES" sz="1400" b="1" dirty="0"/>
              <a:t>. </a:t>
            </a:r>
            <a:r>
              <a:rPr lang="es-ES" sz="1400" dirty="0"/>
              <a:t>En lugar de una lista se mantienen varias con huecos estandarizados de (2 kB, 10 kB, 40 kB, …). Al terminar un proceso hay que hacer un </a:t>
            </a:r>
            <a:r>
              <a:rPr lang="es-ES" sz="1400" dirty="0" err="1"/>
              <a:t>merge</a:t>
            </a:r>
            <a:r>
              <a:rPr lang="es-ES" sz="1400" dirty="0"/>
              <a:t> con el espacio de memoria libre más próximo. </a:t>
            </a:r>
          </a:p>
          <a:p>
            <a:pPr marL="285750" indent="-285750" algn="just">
              <a:buFont typeface="Arial" panose="020B0604020202020204" pitchFamily="34" charset="0"/>
              <a:buChar char="•"/>
            </a:pPr>
            <a:endParaRPr lang="es-ES" sz="1400" dirty="0"/>
          </a:p>
          <a:p>
            <a:pPr algn="ctr"/>
            <a:r>
              <a:rPr lang="es-ES" sz="1400" b="1" dirty="0">
                <a:highlight>
                  <a:srgbClr val="FFFF00"/>
                </a:highlight>
              </a:rPr>
              <a:t>El sistema operativo usa estos mismos criterios para gestionar el </a:t>
            </a:r>
            <a:r>
              <a:rPr lang="es-ES" sz="1400" b="1" dirty="0" err="1">
                <a:highlight>
                  <a:srgbClr val="FFFF00"/>
                </a:highlight>
              </a:rPr>
              <a:t>heap</a:t>
            </a:r>
            <a:r>
              <a:rPr lang="es-ES" sz="1400" b="1" dirty="0">
                <a:highlight>
                  <a:srgbClr val="FFFF00"/>
                </a:highlight>
              </a:rPr>
              <a:t> de un único proceso.</a:t>
            </a:r>
          </a:p>
        </p:txBody>
      </p:sp>
    </p:spTree>
    <p:extLst>
      <p:ext uri="{BB962C8B-B14F-4D97-AF65-F5344CB8AC3E}">
        <p14:creationId xmlns:p14="http://schemas.microsoft.com/office/powerpoint/2010/main" val="3970622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Segmentación</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5" y="1063771"/>
            <a:ext cx="4046788" cy="3970318"/>
          </a:xfrm>
          <a:prstGeom prst="rect">
            <a:avLst/>
          </a:prstGeom>
          <a:noFill/>
        </p:spPr>
        <p:txBody>
          <a:bodyPr wrap="square" rtlCol="0">
            <a:spAutoFit/>
          </a:bodyPr>
          <a:lstStyle/>
          <a:p>
            <a:pPr algn="just"/>
            <a:r>
              <a:rPr lang="es-ES" sz="1400" dirty="0"/>
              <a:t>La segmentación es una técnica de reubicación que emplea la idea de puntero a una base reubicable, y permite usar distintos segmentos de la memoria para el código, los datos o el </a:t>
            </a:r>
            <a:r>
              <a:rPr lang="es-ES" sz="1400" dirty="0" err="1"/>
              <a:t>stack</a:t>
            </a:r>
            <a:r>
              <a:rPr lang="es-ES" sz="1400" dirty="0"/>
              <a:t>. En el caso de la arquitectura x86, hay 4 segmentos, además de los tres definidos hay uno adicional de uso libre.</a:t>
            </a:r>
          </a:p>
          <a:p>
            <a:pPr algn="just"/>
            <a:endParaRPr lang="es-ES" sz="1400" dirty="0"/>
          </a:p>
          <a:p>
            <a:pPr algn="just"/>
            <a:r>
              <a:rPr lang="es-ES" sz="1400" dirty="0"/>
              <a:t>La segmentación tiene la ventaja de añadir una capa adicional de protección, porque el programa no podrá escribir en la zona de código o ejecutar la zona de datos. Cada proceso tiene su propia tabla de segmentos (base y límite) en la zona de memoria del </a:t>
            </a:r>
            <a:r>
              <a:rPr lang="es-ES" sz="1400" dirty="0" err="1"/>
              <a:t>kernel</a:t>
            </a:r>
            <a:r>
              <a:rPr lang="es-ES" sz="1400" dirty="0"/>
              <a:t>. Aunque los micros Intel actuales mantienen los registros de paginación, los sistemas operativos como Linux o Windows no hacen uso de ella. Para evitarlo, simplemente marcan la dirección 0000H como base y el máximo del espacio de memoria virtual como límite en todos los segmentos.</a:t>
            </a:r>
          </a:p>
        </p:txBody>
      </p:sp>
      <p:pic>
        <p:nvPicPr>
          <p:cNvPr id="2" name="Picture 2">
            <a:extLst>
              <a:ext uri="{FF2B5EF4-FFF2-40B4-BE49-F238E27FC236}">
                <a16:creationId xmlns:a16="http://schemas.microsoft.com/office/drawing/2014/main" id="{9304DFEC-2106-4FCA-8662-E301090E73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0154" y="1063771"/>
            <a:ext cx="3033702" cy="2420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3511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5" y="1063771"/>
            <a:ext cx="6816114" cy="3539430"/>
          </a:xfrm>
          <a:prstGeom prst="rect">
            <a:avLst/>
          </a:prstGeom>
          <a:noFill/>
        </p:spPr>
        <p:txBody>
          <a:bodyPr wrap="square" rtlCol="0">
            <a:spAutoFit/>
          </a:bodyPr>
          <a:lstStyle/>
          <a:p>
            <a:pPr algn="just"/>
            <a:r>
              <a:rPr lang="es-ES" sz="1600" dirty="0"/>
              <a:t>Hoy en día solo trabajan con memoria real los sistemas empotrados muy pequeños (por ejemplo, Arduino) o aquellos de tiempo real que por requisitos de rendimiento necesitan todos los procesos cargados en cualquier momento, como en funciones de soporte vital.</a:t>
            </a:r>
          </a:p>
          <a:p>
            <a:endParaRPr lang="es-ES" sz="1600" dirty="0"/>
          </a:p>
          <a:p>
            <a:pPr algn="just"/>
            <a:r>
              <a:rPr lang="es-ES" sz="1600" dirty="0"/>
              <a:t>Todos los demás funcionan con </a:t>
            </a:r>
            <a:r>
              <a:rPr lang="es-ES" sz="1600" b="1" dirty="0"/>
              <a:t>memoria virtual</a:t>
            </a:r>
            <a:r>
              <a:rPr lang="es-ES" sz="1600" dirty="0"/>
              <a:t>, concepto que no tiene nada que ver con la virtualización de equipos. Esta idea nació en los años 60 con una situación muy diferente a la nuestra. La memoria RAM era muy cara y los equipos multiproceso, simplemente no tenían capacidad para tener todos los procesos en ejecución completamente cargados.</a:t>
            </a:r>
          </a:p>
          <a:p>
            <a:endParaRPr lang="es-ES" sz="1600" dirty="0"/>
          </a:p>
          <a:p>
            <a:pPr algn="just"/>
            <a:r>
              <a:rPr lang="es-ES" sz="1600" dirty="0"/>
              <a:t>Puesto que el </a:t>
            </a:r>
            <a:r>
              <a:rPr lang="es-ES" sz="1600" i="1" dirty="0"/>
              <a:t>conjunto de trabajo </a:t>
            </a:r>
            <a:r>
              <a:rPr lang="es-ES" sz="1600" dirty="0"/>
              <a:t>de un proceso es mucho más reducido que su imagen de memoria completa, se trata de cargar solo la parte estrictamente necesaria para la ejecución en un instante dado e ir actualizándola.</a:t>
            </a:r>
          </a:p>
        </p:txBody>
      </p:sp>
    </p:spTree>
    <p:extLst>
      <p:ext uri="{BB962C8B-B14F-4D97-AF65-F5344CB8AC3E}">
        <p14:creationId xmlns:p14="http://schemas.microsoft.com/office/powerpoint/2010/main" val="23399607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4" y="1063771"/>
            <a:ext cx="6876679" cy="3785652"/>
          </a:xfrm>
          <a:prstGeom prst="rect">
            <a:avLst/>
          </a:prstGeom>
          <a:noFill/>
        </p:spPr>
        <p:txBody>
          <a:bodyPr wrap="square" rtlCol="0">
            <a:spAutoFit/>
          </a:bodyPr>
          <a:lstStyle/>
          <a:p>
            <a:pPr algn="just"/>
            <a:r>
              <a:rPr lang="es-ES" sz="1500" dirty="0"/>
              <a:t>En los equipos con memoria virtual, la RAM actúa respecto al disco como la caché respecto a la RAM. Esta idea tuvo que solucionar obstáculos muy grandes para terminar siendo un éxito:</a:t>
            </a:r>
          </a:p>
          <a:p>
            <a:pPr algn="just"/>
            <a:endParaRPr lang="es-ES" sz="1500" dirty="0"/>
          </a:p>
          <a:p>
            <a:pPr marL="285750" indent="-285750" algn="just">
              <a:buFont typeface="Arial" panose="020B0604020202020204" pitchFamily="34" charset="0"/>
              <a:buChar char="•"/>
            </a:pPr>
            <a:r>
              <a:rPr lang="es-ES" sz="1500" dirty="0"/>
              <a:t>El sistema operativo tiene que conseguir que esta gestión sea transparente al proceso y no condicione la programación. En consecuencia, se convierte en una de las funciones centrales del </a:t>
            </a:r>
            <a:r>
              <a:rPr lang="es-ES" sz="1500" dirty="0" err="1"/>
              <a:t>kernel</a:t>
            </a:r>
            <a:r>
              <a:rPr lang="es-ES" sz="1500" dirty="0"/>
              <a:t>.</a:t>
            </a:r>
          </a:p>
          <a:p>
            <a:pPr algn="just"/>
            <a:endParaRPr lang="es-ES" sz="1500" dirty="0"/>
          </a:p>
          <a:p>
            <a:pPr marL="285750" indent="-285750" algn="just">
              <a:buFont typeface="Arial" panose="020B0604020202020204" pitchFamily="34" charset="0"/>
              <a:buChar char="•"/>
            </a:pPr>
            <a:r>
              <a:rPr lang="es-ES" sz="1500" dirty="0"/>
              <a:t>La traducción de direcciones virtuales a direcciones físicas (las que están realmente cargadas) tiene que ser muy rápida. Eso requiere que los microprocesadores dispongan de circuitos MMU (</a:t>
            </a:r>
            <a:r>
              <a:rPr lang="es-ES" sz="1500" dirty="0" err="1"/>
              <a:t>Memory</a:t>
            </a:r>
            <a:r>
              <a:rPr lang="es-ES" sz="1500" dirty="0"/>
              <a:t> Management </a:t>
            </a:r>
            <a:r>
              <a:rPr lang="es-ES" sz="1500" dirty="0" err="1"/>
              <a:t>Unit</a:t>
            </a:r>
            <a:r>
              <a:rPr lang="es-ES" sz="1500" dirty="0"/>
              <a:t>). El Sistema Operativo tendrá que manejar los detalles concretos de la MMU del modelo correspondiente.</a:t>
            </a:r>
          </a:p>
          <a:p>
            <a:pPr marL="285750" indent="-285750" algn="just">
              <a:buFont typeface="Arial" panose="020B0604020202020204" pitchFamily="34" charset="0"/>
              <a:buChar char="•"/>
            </a:pPr>
            <a:endParaRPr lang="es-ES" sz="1500" dirty="0"/>
          </a:p>
          <a:p>
            <a:pPr marL="285750" indent="-285750" algn="just">
              <a:buFont typeface="Arial" panose="020B0604020202020204" pitchFamily="34" charset="0"/>
              <a:buChar char="•"/>
            </a:pPr>
            <a:r>
              <a:rPr lang="es-ES" sz="1500" dirty="0"/>
              <a:t>Los tiempos de acceso a disco magnético son unos 6 órdenes de magnitud superiores a los de la RAM, los fallos tienen que reducirse al mínimo inevitable</a:t>
            </a:r>
          </a:p>
        </p:txBody>
      </p:sp>
    </p:spTree>
    <p:extLst>
      <p:ext uri="{BB962C8B-B14F-4D97-AF65-F5344CB8AC3E}">
        <p14:creationId xmlns:p14="http://schemas.microsoft.com/office/powerpoint/2010/main" val="28512205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4" y="1063771"/>
            <a:ext cx="6876679" cy="3785652"/>
          </a:xfrm>
          <a:prstGeom prst="rect">
            <a:avLst/>
          </a:prstGeom>
          <a:noFill/>
        </p:spPr>
        <p:txBody>
          <a:bodyPr wrap="square" rtlCol="0">
            <a:spAutoFit/>
          </a:bodyPr>
          <a:lstStyle/>
          <a:p>
            <a:pPr algn="just"/>
            <a:r>
              <a:rPr lang="es-ES" sz="1600" dirty="0"/>
              <a:t>Todos los sistemas modernos usan la técnica de paginación. La memoria virtual, la memoria física y los accesos a y desde disco para cargar y escribir páginas se hacen usando páginas de tamaño fijo, un valor típico son 4kB, aunque puede variar por configuración y de sistema a sistema.</a:t>
            </a:r>
          </a:p>
          <a:p>
            <a:pPr algn="just"/>
            <a:endParaRPr lang="es-ES" sz="1600" dirty="0"/>
          </a:p>
          <a:p>
            <a:pPr algn="just"/>
            <a:r>
              <a:rPr lang="es-ES" sz="1600" dirty="0"/>
              <a:t>Los procesos ven un mapa de memoria virtual completo que se divide en “páginas”. Cada página virtual se instancia en un “marco” de la memoria física. El Sistema Operativo es el encargado de realizar la gestión y preparar los datos para el circuito que realiza las traducciones.</a:t>
            </a:r>
          </a:p>
          <a:p>
            <a:pPr algn="just"/>
            <a:endParaRPr lang="es-ES" sz="1600" dirty="0"/>
          </a:p>
          <a:p>
            <a:pPr algn="just"/>
            <a:r>
              <a:rPr lang="es-ES" sz="1600" dirty="0"/>
              <a:t>Cuando la página no está cargada en la RAM se dice que se ha producido un fallo de página y tiene que resolverse buscando un marco libre (o expulsando uno ocupado) en el que cargar dicha página desde disco. En el tiempo de tratamiento de un fallo de este tipo el micro puede ordenar del orden de 50 millones de instrucciones, por lo que el proceso se bloquea para dejar la CPU a otro.</a:t>
            </a:r>
          </a:p>
        </p:txBody>
      </p:sp>
    </p:spTree>
    <p:extLst>
      <p:ext uri="{BB962C8B-B14F-4D97-AF65-F5344CB8AC3E}">
        <p14:creationId xmlns:p14="http://schemas.microsoft.com/office/powerpoint/2010/main" val="4082157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726994" y="1063771"/>
            <a:ext cx="5678129" cy="338554"/>
          </a:xfrm>
          <a:prstGeom prst="rect">
            <a:avLst/>
          </a:prstGeom>
          <a:noFill/>
        </p:spPr>
        <p:txBody>
          <a:bodyPr wrap="square" rtlCol="0">
            <a:spAutoFit/>
          </a:bodyPr>
          <a:lstStyle/>
          <a:p>
            <a:r>
              <a:rPr lang="es-ES" sz="1600" dirty="0"/>
              <a:t>La memoria virtual funciona como un nivel de indirección</a:t>
            </a:r>
          </a:p>
        </p:txBody>
      </p:sp>
      <p:sp>
        <p:nvSpPr>
          <p:cNvPr id="103" name="CuadroTexto 102">
            <a:extLst>
              <a:ext uri="{FF2B5EF4-FFF2-40B4-BE49-F238E27FC236}">
                <a16:creationId xmlns:a16="http://schemas.microsoft.com/office/drawing/2014/main" id="{CAAEE048-8018-401A-802C-E1E88E373E2D}"/>
              </a:ext>
            </a:extLst>
          </p:cNvPr>
          <p:cNvSpPr txBox="1"/>
          <p:nvPr/>
        </p:nvSpPr>
        <p:spPr>
          <a:xfrm>
            <a:off x="1728902" y="1396306"/>
            <a:ext cx="5629951" cy="261610"/>
          </a:xfrm>
          <a:prstGeom prst="rect">
            <a:avLst/>
          </a:prstGeom>
          <a:noFill/>
        </p:spPr>
        <p:txBody>
          <a:bodyPr wrap="square" rtlCol="0">
            <a:spAutoFit/>
          </a:bodyPr>
          <a:lstStyle/>
          <a:p>
            <a:r>
              <a:rPr lang="es-ES" sz="1050" dirty="0"/>
              <a:t>Sin memoria virtual   Dirección del programa = Dirección en la RAM</a:t>
            </a:r>
          </a:p>
        </p:txBody>
      </p:sp>
      <p:sp>
        <p:nvSpPr>
          <p:cNvPr id="104" name="CuadroTexto 103">
            <a:extLst>
              <a:ext uri="{FF2B5EF4-FFF2-40B4-BE49-F238E27FC236}">
                <a16:creationId xmlns:a16="http://schemas.microsoft.com/office/drawing/2014/main" id="{4244B7DC-7FCC-4A86-9CDD-22DA3BBC71FA}"/>
              </a:ext>
            </a:extLst>
          </p:cNvPr>
          <p:cNvSpPr txBox="1"/>
          <p:nvPr/>
        </p:nvSpPr>
        <p:spPr>
          <a:xfrm>
            <a:off x="1800286" y="2025733"/>
            <a:ext cx="5629951" cy="261610"/>
          </a:xfrm>
          <a:prstGeom prst="rect">
            <a:avLst/>
          </a:prstGeom>
          <a:noFill/>
        </p:spPr>
        <p:txBody>
          <a:bodyPr wrap="square" rtlCol="0">
            <a:spAutoFit/>
          </a:bodyPr>
          <a:lstStyle/>
          <a:p>
            <a:r>
              <a:rPr lang="es-ES" sz="1050" dirty="0"/>
              <a:t>Memoria Virtual</a:t>
            </a:r>
          </a:p>
        </p:txBody>
      </p:sp>
      <p:sp>
        <p:nvSpPr>
          <p:cNvPr id="105" name="Rectángulo 104">
            <a:extLst>
              <a:ext uri="{FF2B5EF4-FFF2-40B4-BE49-F238E27FC236}">
                <a16:creationId xmlns:a16="http://schemas.microsoft.com/office/drawing/2014/main" id="{E12CAC8F-12CB-427F-A9D2-A91CD74A3F64}"/>
              </a:ext>
            </a:extLst>
          </p:cNvPr>
          <p:cNvSpPr/>
          <p:nvPr/>
        </p:nvSpPr>
        <p:spPr>
          <a:xfrm>
            <a:off x="1898119" y="2326831"/>
            <a:ext cx="1121861" cy="2271252"/>
          </a:xfrm>
          <a:prstGeom prst="rect">
            <a:avLst/>
          </a:prstGeom>
          <a:solidFill>
            <a:schemeClr val="bg2"/>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106" name="CuadroTexto 105">
            <a:extLst>
              <a:ext uri="{FF2B5EF4-FFF2-40B4-BE49-F238E27FC236}">
                <a16:creationId xmlns:a16="http://schemas.microsoft.com/office/drawing/2014/main" id="{D20253E1-538D-48F4-9A26-B2FE43FBA167}"/>
              </a:ext>
            </a:extLst>
          </p:cNvPr>
          <p:cNvSpPr txBox="1"/>
          <p:nvPr/>
        </p:nvSpPr>
        <p:spPr>
          <a:xfrm rot="16200000">
            <a:off x="1185773" y="3252371"/>
            <a:ext cx="1121861" cy="261610"/>
          </a:xfrm>
          <a:prstGeom prst="rect">
            <a:avLst/>
          </a:prstGeom>
          <a:noFill/>
        </p:spPr>
        <p:txBody>
          <a:bodyPr wrap="square" rtlCol="0">
            <a:spAutoFit/>
          </a:bodyPr>
          <a:lstStyle/>
          <a:p>
            <a:r>
              <a:rPr lang="es-ES" sz="1050" dirty="0"/>
              <a:t>32 bits (4 GB)</a:t>
            </a:r>
          </a:p>
        </p:txBody>
      </p:sp>
      <p:sp>
        <p:nvSpPr>
          <p:cNvPr id="107" name="Rectángulo 106">
            <a:extLst>
              <a:ext uri="{FF2B5EF4-FFF2-40B4-BE49-F238E27FC236}">
                <a16:creationId xmlns:a16="http://schemas.microsoft.com/office/drawing/2014/main" id="{D6536FEC-7858-4AF4-818F-D100EC64C95B}"/>
              </a:ext>
            </a:extLst>
          </p:cNvPr>
          <p:cNvSpPr/>
          <p:nvPr/>
        </p:nvSpPr>
        <p:spPr>
          <a:xfrm>
            <a:off x="1898119" y="2729953"/>
            <a:ext cx="1121861" cy="192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dirty="0"/>
              <a:t>#000046</a:t>
            </a:r>
          </a:p>
        </p:txBody>
      </p:sp>
      <p:sp>
        <p:nvSpPr>
          <p:cNvPr id="108" name="Rectángulo 107">
            <a:extLst>
              <a:ext uri="{FF2B5EF4-FFF2-40B4-BE49-F238E27FC236}">
                <a16:creationId xmlns:a16="http://schemas.microsoft.com/office/drawing/2014/main" id="{4E08FC1A-E5A3-4BDA-9355-A9E83FB56A57}"/>
              </a:ext>
            </a:extLst>
          </p:cNvPr>
          <p:cNvSpPr/>
          <p:nvPr/>
        </p:nvSpPr>
        <p:spPr>
          <a:xfrm>
            <a:off x="1898119" y="3452623"/>
            <a:ext cx="1121861" cy="192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dirty="0"/>
              <a:t>#01F018</a:t>
            </a:r>
          </a:p>
        </p:txBody>
      </p:sp>
      <p:sp>
        <p:nvSpPr>
          <p:cNvPr id="109" name="Rectángulo 108">
            <a:extLst>
              <a:ext uri="{FF2B5EF4-FFF2-40B4-BE49-F238E27FC236}">
                <a16:creationId xmlns:a16="http://schemas.microsoft.com/office/drawing/2014/main" id="{BF804C1A-FD29-4530-9B07-F5A1F0C524ED}"/>
              </a:ext>
            </a:extLst>
          </p:cNvPr>
          <p:cNvSpPr/>
          <p:nvPr/>
        </p:nvSpPr>
        <p:spPr>
          <a:xfrm>
            <a:off x="1898119" y="4347359"/>
            <a:ext cx="1121861" cy="192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dirty="0"/>
              <a:t>#2EF87D</a:t>
            </a:r>
          </a:p>
        </p:txBody>
      </p:sp>
      <p:sp>
        <p:nvSpPr>
          <p:cNvPr id="110" name="Elipse 109">
            <a:extLst>
              <a:ext uri="{FF2B5EF4-FFF2-40B4-BE49-F238E27FC236}">
                <a16:creationId xmlns:a16="http://schemas.microsoft.com/office/drawing/2014/main" id="{D4200E65-CF4B-44B4-AE7E-9BEF0E5EAA9D}"/>
              </a:ext>
            </a:extLst>
          </p:cNvPr>
          <p:cNvSpPr/>
          <p:nvPr/>
        </p:nvSpPr>
        <p:spPr>
          <a:xfrm>
            <a:off x="4001462" y="2515981"/>
            <a:ext cx="1190687" cy="1170791"/>
          </a:xfrm>
          <a:prstGeom prst="ellipse">
            <a:avLst/>
          </a:prstGeom>
          <a:solidFill>
            <a:schemeClr val="accent2">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b="1" dirty="0">
                <a:solidFill>
                  <a:schemeClr val="tx1"/>
                </a:solidFill>
              </a:rPr>
              <a:t>Mapeo de</a:t>
            </a:r>
          </a:p>
          <a:p>
            <a:pPr algn="ctr"/>
            <a:r>
              <a:rPr lang="es-ES" sz="1100" b="1" dirty="0">
                <a:solidFill>
                  <a:schemeClr val="tx1"/>
                </a:solidFill>
              </a:rPr>
              <a:t>direcciones</a:t>
            </a:r>
          </a:p>
        </p:txBody>
      </p:sp>
      <p:sp>
        <p:nvSpPr>
          <p:cNvPr id="111" name="Rectángulo 110">
            <a:extLst>
              <a:ext uri="{FF2B5EF4-FFF2-40B4-BE49-F238E27FC236}">
                <a16:creationId xmlns:a16="http://schemas.microsoft.com/office/drawing/2014/main" id="{BFC4DF63-4173-48F0-A4F1-D69306549EFB}"/>
              </a:ext>
            </a:extLst>
          </p:cNvPr>
          <p:cNvSpPr/>
          <p:nvPr/>
        </p:nvSpPr>
        <p:spPr>
          <a:xfrm>
            <a:off x="5744858" y="2346125"/>
            <a:ext cx="1121861" cy="1091382"/>
          </a:xfrm>
          <a:prstGeom prst="rect">
            <a:avLst/>
          </a:prstGeom>
          <a:solidFill>
            <a:schemeClr val="accent1">
              <a:lumMod val="20000"/>
              <a:lumOff val="80000"/>
            </a:schemeClr>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112" name="CuadroTexto 111">
            <a:extLst>
              <a:ext uri="{FF2B5EF4-FFF2-40B4-BE49-F238E27FC236}">
                <a16:creationId xmlns:a16="http://schemas.microsoft.com/office/drawing/2014/main" id="{69185DF9-8E57-4F02-B978-FA971C3A37DD}"/>
              </a:ext>
            </a:extLst>
          </p:cNvPr>
          <p:cNvSpPr txBox="1"/>
          <p:nvPr/>
        </p:nvSpPr>
        <p:spPr>
          <a:xfrm>
            <a:off x="6073993" y="2009942"/>
            <a:ext cx="463588" cy="261610"/>
          </a:xfrm>
          <a:prstGeom prst="rect">
            <a:avLst/>
          </a:prstGeom>
          <a:noFill/>
        </p:spPr>
        <p:txBody>
          <a:bodyPr wrap="none" rtlCol="0">
            <a:spAutoFit/>
          </a:bodyPr>
          <a:lstStyle/>
          <a:p>
            <a:r>
              <a:rPr lang="es-ES" sz="1050" dirty="0"/>
              <a:t>RAM</a:t>
            </a:r>
          </a:p>
        </p:txBody>
      </p:sp>
      <p:sp>
        <p:nvSpPr>
          <p:cNvPr id="113" name="Rectángulo 112">
            <a:extLst>
              <a:ext uri="{FF2B5EF4-FFF2-40B4-BE49-F238E27FC236}">
                <a16:creationId xmlns:a16="http://schemas.microsoft.com/office/drawing/2014/main" id="{F48A6545-813D-40A7-9369-29754C0D4D25}"/>
              </a:ext>
            </a:extLst>
          </p:cNvPr>
          <p:cNvSpPr/>
          <p:nvPr/>
        </p:nvSpPr>
        <p:spPr>
          <a:xfrm>
            <a:off x="5744858" y="2394040"/>
            <a:ext cx="1121861" cy="19271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dirty="0">
                <a:solidFill>
                  <a:schemeClr val="accent2">
                    <a:lumMod val="75000"/>
                  </a:schemeClr>
                </a:solidFill>
              </a:rPr>
              <a:t>#000030</a:t>
            </a:r>
          </a:p>
        </p:txBody>
      </p:sp>
      <p:pic>
        <p:nvPicPr>
          <p:cNvPr id="114" name="Picture 2" descr="Resultado de imagen de hard disk">
            <a:extLst>
              <a:ext uri="{FF2B5EF4-FFF2-40B4-BE49-F238E27FC236}">
                <a16:creationId xmlns:a16="http://schemas.microsoft.com/office/drawing/2014/main" id="{9CF28BED-75EF-4BBD-9743-FB2779A1D4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664269">
            <a:off x="5962383" y="3865850"/>
            <a:ext cx="650383" cy="650383"/>
          </a:xfrm>
          <a:prstGeom prst="rect">
            <a:avLst/>
          </a:prstGeom>
          <a:noFill/>
          <a:extLst>
            <a:ext uri="{909E8E84-426E-40DD-AFC4-6F175D3DCCD1}">
              <a14:hiddenFill xmlns:a14="http://schemas.microsoft.com/office/drawing/2010/main">
                <a:solidFill>
                  <a:srgbClr val="FFFFFF"/>
                </a:solidFill>
              </a14:hiddenFill>
            </a:ext>
          </a:extLst>
        </p:spPr>
      </p:pic>
      <p:sp>
        <p:nvSpPr>
          <p:cNvPr id="115" name="Forma libre: forma 114">
            <a:extLst>
              <a:ext uri="{FF2B5EF4-FFF2-40B4-BE49-F238E27FC236}">
                <a16:creationId xmlns:a16="http://schemas.microsoft.com/office/drawing/2014/main" id="{8C3CD4E0-9714-4313-8FC8-9FF14FE370C1}"/>
              </a:ext>
            </a:extLst>
          </p:cNvPr>
          <p:cNvSpPr/>
          <p:nvPr/>
        </p:nvSpPr>
        <p:spPr>
          <a:xfrm>
            <a:off x="2980652" y="2633642"/>
            <a:ext cx="2704855" cy="241468"/>
          </a:xfrm>
          <a:custGeom>
            <a:avLst/>
            <a:gdLst>
              <a:gd name="connsiteX0" fmla="*/ 0 w 3864078"/>
              <a:gd name="connsiteY0" fmla="*/ 167148 h 344954"/>
              <a:gd name="connsiteX1" fmla="*/ 1799304 w 3864078"/>
              <a:gd name="connsiteY1" fmla="*/ 98322 h 344954"/>
              <a:gd name="connsiteX2" fmla="*/ 2556387 w 3864078"/>
              <a:gd name="connsiteY2" fmla="*/ 344129 h 344954"/>
              <a:gd name="connsiteX3" fmla="*/ 3864078 w 3864078"/>
              <a:gd name="connsiteY3" fmla="*/ 0 h 344954"/>
            </a:gdLst>
            <a:ahLst/>
            <a:cxnLst>
              <a:cxn ang="0">
                <a:pos x="connsiteX0" y="connsiteY0"/>
              </a:cxn>
              <a:cxn ang="0">
                <a:pos x="connsiteX1" y="connsiteY1"/>
              </a:cxn>
              <a:cxn ang="0">
                <a:pos x="connsiteX2" y="connsiteY2"/>
              </a:cxn>
              <a:cxn ang="0">
                <a:pos x="connsiteX3" y="connsiteY3"/>
              </a:cxn>
            </a:cxnLst>
            <a:rect l="l" t="t" r="r" b="b"/>
            <a:pathLst>
              <a:path w="3864078" h="344954">
                <a:moveTo>
                  <a:pt x="0" y="167148"/>
                </a:moveTo>
                <a:cubicBezTo>
                  <a:pt x="686620" y="117986"/>
                  <a:pt x="1373240" y="68825"/>
                  <a:pt x="1799304" y="98322"/>
                </a:cubicBezTo>
                <a:cubicBezTo>
                  <a:pt x="2225368" y="127819"/>
                  <a:pt x="2212258" y="360516"/>
                  <a:pt x="2556387" y="344129"/>
                </a:cubicBezTo>
                <a:cubicBezTo>
                  <a:pt x="2900516" y="327742"/>
                  <a:pt x="3864078" y="0"/>
                  <a:pt x="3864078" y="0"/>
                </a:cubicBezTo>
              </a:path>
            </a:pathLst>
          </a:custGeom>
          <a:noFill/>
          <a:ln w="38100">
            <a:solidFill>
              <a:srgbClr val="00B050"/>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116" name="Rectángulo 115">
            <a:extLst>
              <a:ext uri="{FF2B5EF4-FFF2-40B4-BE49-F238E27FC236}">
                <a16:creationId xmlns:a16="http://schemas.microsoft.com/office/drawing/2014/main" id="{2C0DA382-CACB-4D93-B2FB-192FC7BAC7FE}"/>
              </a:ext>
            </a:extLst>
          </p:cNvPr>
          <p:cNvSpPr/>
          <p:nvPr/>
        </p:nvSpPr>
        <p:spPr>
          <a:xfrm>
            <a:off x="5744857" y="2813273"/>
            <a:ext cx="1121861" cy="19271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dirty="0">
                <a:solidFill>
                  <a:schemeClr val="accent2">
                    <a:lumMod val="75000"/>
                  </a:schemeClr>
                </a:solidFill>
              </a:rPr>
              <a:t>#00DE1A</a:t>
            </a:r>
          </a:p>
        </p:txBody>
      </p:sp>
      <p:sp>
        <p:nvSpPr>
          <p:cNvPr id="118" name="Forma libre: forma 117">
            <a:extLst>
              <a:ext uri="{FF2B5EF4-FFF2-40B4-BE49-F238E27FC236}">
                <a16:creationId xmlns:a16="http://schemas.microsoft.com/office/drawing/2014/main" id="{DD3051BD-59E9-4FA7-B82E-7C050228CC70}"/>
              </a:ext>
            </a:extLst>
          </p:cNvPr>
          <p:cNvSpPr/>
          <p:nvPr/>
        </p:nvSpPr>
        <p:spPr>
          <a:xfrm>
            <a:off x="3036592" y="2834468"/>
            <a:ext cx="3037401" cy="1372709"/>
          </a:xfrm>
          <a:custGeom>
            <a:avLst/>
            <a:gdLst>
              <a:gd name="connsiteX0" fmla="*/ 0 w 4168878"/>
              <a:gd name="connsiteY0" fmla="*/ 269477 h 1144548"/>
              <a:gd name="connsiteX1" fmla="*/ 1179871 w 4168878"/>
              <a:gd name="connsiteY1" fmla="*/ 13838 h 1144548"/>
              <a:gd name="connsiteX2" fmla="*/ 1907458 w 4168878"/>
              <a:gd name="connsiteY2" fmla="*/ 643103 h 1144548"/>
              <a:gd name="connsiteX3" fmla="*/ 4168878 w 4168878"/>
              <a:gd name="connsiteY3" fmla="*/ 1144548 h 1144548"/>
            </a:gdLst>
            <a:ahLst/>
            <a:cxnLst>
              <a:cxn ang="0">
                <a:pos x="connsiteX0" y="connsiteY0"/>
              </a:cxn>
              <a:cxn ang="0">
                <a:pos x="connsiteX1" y="connsiteY1"/>
              </a:cxn>
              <a:cxn ang="0">
                <a:pos x="connsiteX2" y="connsiteY2"/>
              </a:cxn>
              <a:cxn ang="0">
                <a:pos x="connsiteX3" y="connsiteY3"/>
              </a:cxn>
            </a:cxnLst>
            <a:rect l="l" t="t" r="r" b="b"/>
            <a:pathLst>
              <a:path w="4168878" h="1144548">
                <a:moveTo>
                  <a:pt x="0" y="269477"/>
                </a:moveTo>
                <a:cubicBezTo>
                  <a:pt x="430980" y="110522"/>
                  <a:pt x="861961" y="-48433"/>
                  <a:pt x="1179871" y="13838"/>
                </a:cubicBezTo>
                <a:cubicBezTo>
                  <a:pt x="1497781" y="76109"/>
                  <a:pt x="1409290" y="454651"/>
                  <a:pt x="1907458" y="643103"/>
                </a:cubicBezTo>
                <a:cubicBezTo>
                  <a:pt x="2405626" y="831555"/>
                  <a:pt x="4168878" y="1144548"/>
                  <a:pt x="4168878" y="1144548"/>
                </a:cubicBezTo>
              </a:path>
            </a:pathLst>
          </a:custGeom>
          <a:noFill/>
          <a:ln w="38100">
            <a:solidFill>
              <a:srgbClr val="00B050"/>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119" name="CuadroTexto 118">
            <a:extLst>
              <a:ext uri="{FF2B5EF4-FFF2-40B4-BE49-F238E27FC236}">
                <a16:creationId xmlns:a16="http://schemas.microsoft.com/office/drawing/2014/main" id="{69785CB4-589E-42E3-A8C2-91183589E861}"/>
              </a:ext>
            </a:extLst>
          </p:cNvPr>
          <p:cNvSpPr txBox="1"/>
          <p:nvPr/>
        </p:nvSpPr>
        <p:spPr>
          <a:xfrm>
            <a:off x="3246123" y="4614841"/>
            <a:ext cx="605667" cy="261610"/>
          </a:xfrm>
          <a:prstGeom prst="rect">
            <a:avLst/>
          </a:prstGeom>
          <a:noFill/>
        </p:spPr>
        <p:txBody>
          <a:bodyPr wrap="square" rtlCol="0">
            <a:spAutoFit/>
          </a:bodyPr>
          <a:lstStyle/>
          <a:p>
            <a:r>
              <a:rPr lang="es-ES" sz="1050" dirty="0"/>
              <a:t>Página</a:t>
            </a:r>
          </a:p>
        </p:txBody>
      </p:sp>
      <p:cxnSp>
        <p:nvCxnSpPr>
          <p:cNvPr id="120" name="Conector recto de flecha 119">
            <a:extLst>
              <a:ext uri="{FF2B5EF4-FFF2-40B4-BE49-F238E27FC236}">
                <a16:creationId xmlns:a16="http://schemas.microsoft.com/office/drawing/2014/main" id="{D892837B-ABDF-4435-8646-D6FF3A5CCEE7}"/>
              </a:ext>
            </a:extLst>
          </p:cNvPr>
          <p:cNvCxnSpPr>
            <a:cxnSpLocks/>
            <a:stCxn id="119" idx="1"/>
            <a:endCxn id="109" idx="3"/>
          </p:cNvCxnSpPr>
          <p:nvPr/>
        </p:nvCxnSpPr>
        <p:spPr>
          <a:xfrm flipH="1" flipV="1">
            <a:off x="3019980" y="4443715"/>
            <a:ext cx="226143" cy="301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CuadroTexto 120">
            <a:extLst>
              <a:ext uri="{FF2B5EF4-FFF2-40B4-BE49-F238E27FC236}">
                <a16:creationId xmlns:a16="http://schemas.microsoft.com/office/drawing/2014/main" id="{0DD1AA35-B098-4854-BAFE-E987753A009E}"/>
              </a:ext>
            </a:extLst>
          </p:cNvPr>
          <p:cNvSpPr txBox="1"/>
          <p:nvPr/>
        </p:nvSpPr>
        <p:spPr>
          <a:xfrm>
            <a:off x="7450847" y="2028850"/>
            <a:ext cx="605667" cy="261610"/>
          </a:xfrm>
          <a:prstGeom prst="rect">
            <a:avLst/>
          </a:prstGeom>
          <a:noFill/>
        </p:spPr>
        <p:txBody>
          <a:bodyPr wrap="square" rtlCol="0">
            <a:spAutoFit/>
          </a:bodyPr>
          <a:lstStyle/>
          <a:p>
            <a:r>
              <a:rPr lang="es-ES" sz="1050" dirty="0"/>
              <a:t>Marco</a:t>
            </a:r>
          </a:p>
        </p:txBody>
      </p:sp>
      <p:cxnSp>
        <p:nvCxnSpPr>
          <p:cNvPr id="122" name="Conector recto de flecha 121">
            <a:extLst>
              <a:ext uri="{FF2B5EF4-FFF2-40B4-BE49-F238E27FC236}">
                <a16:creationId xmlns:a16="http://schemas.microsoft.com/office/drawing/2014/main" id="{5B915D5B-3FE6-412E-9030-015CCB4B8AC4}"/>
              </a:ext>
            </a:extLst>
          </p:cNvPr>
          <p:cNvCxnSpPr>
            <a:cxnSpLocks/>
            <a:stCxn id="104" idx="3"/>
          </p:cNvCxnSpPr>
          <p:nvPr/>
        </p:nvCxnSpPr>
        <p:spPr>
          <a:xfrm flipH="1">
            <a:off x="6934431" y="2156538"/>
            <a:ext cx="495806" cy="404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Rectángulo 122">
            <a:extLst>
              <a:ext uri="{FF2B5EF4-FFF2-40B4-BE49-F238E27FC236}">
                <a16:creationId xmlns:a16="http://schemas.microsoft.com/office/drawing/2014/main" id="{28DF130E-2194-4F36-8FF8-3C474BA8186D}"/>
              </a:ext>
            </a:extLst>
          </p:cNvPr>
          <p:cNvSpPr/>
          <p:nvPr/>
        </p:nvSpPr>
        <p:spPr>
          <a:xfrm>
            <a:off x="5744857" y="3231564"/>
            <a:ext cx="1121861" cy="19271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dirty="0">
              <a:solidFill>
                <a:schemeClr val="accent2">
                  <a:lumMod val="75000"/>
                </a:schemeClr>
              </a:solidFill>
            </a:endParaRPr>
          </a:p>
        </p:txBody>
      </p:sp>
      <p:sp>
        <p:nvSpPr>
          <p:cNvPr id="124" name="Forma libre: forma 123">
            <a:extLst>
              <a:ext uri="{FF2B5EF4-FFF2-40B4-BE49-F238E27FC236}">
                <a16:creationId xmlns:a16="http://schemas.microsoft.com/office/drawing/2014/main" id="{15D3A09F-13F2-4484-B1C0-647D7BD14183}"/>
              </a:ext>
            </a:extLst>
          </p:cNvPr>
          <p:cNvSpPr/>
          <p:nvPr/>
        </p:nvSpPr>
        <p:spPr>
          <a:xfrm>
            <a:off x="6636181" y="3305186"/>
            <a:ext cx="432865" cy="763172"/>
          </a:xfrm>
          <a:custGeom>
            <a:avLst/>
            <a:gdLst>
              <a:gd name="connsiteX0" fmla="*/ 0 w 541189"/>
              <a:gd name="connsiteY0" fmla="*/ 1140542 h 1140542"/>
              <a:gd name="connsiteX1" fmla="*/ 344129 w 541189"/>
              <a:gd name="connsiteY1" fmla="*/ 924232 h 1140542"/>
              <a:gd name="connsiteX2" fmla="*/ 540774 w 541189"/>
              <a:gd name="connsiteY2" fmla="*/ 383458 h 1140542"/>
              <a:gd name="connsiteX3" fmla="*/ 294967 w 541189"/>
              <a:gd name="connsiteY3" fmla="*/ 0 h 1140542"/>
            </a:gdLst>
            <a:ahLst/>
            <a:cxnLst>
              <a:cxn ang="0">
                <a:pos x="connsiteX0" y="connsiteY0"/>
              </a:cxn>
              <a:cxn ang="0">
                <a:pos x="connsiteX1" y="connsiteY1"/>
              </a:cxn>
              <a:cxn ang="0">
                <a:pos x="connsiteX2" y="connsiteY2"/>
              </a:cxn>
              <a:cxn ang="0">
                <a:pos x="connsiteX3" y="connsiteY3"/>
              </a:cxn>
            </a:cxnLst>
            <a:rect l="l" t="t" r="r" b="b"/>
            <a:pathLst>
              <a:path w="541189" h="1140542">
                <a:moveTo>
                  <a:pt x="0" y="1140542"/>
                </a:moveTo>
                <a:cubicBezTo>
                  <a:pt x="127000" y="1095477"/>
                  <a:pt x="254000" y="1050413"/>
                  <a:pt x="344129" y="924232"/>
                </a:cubicBezTo>
                <a:cubicBezTo>
                  <a:pt x="434258" y="798051"/>
                  <a:pt x="548968" y="537497"/>
                  <a:pt x="540774" y="383458"/>
                </a:cubicBezTo>
                <a:cubicBezTo>
                  <a:pt x="532580" y="229419"/>
                  <a:pt x="293328" y="55716"/>
                  <a:pt x="294967" y="0"/>
                </a:cubicBezTo>
              </a:path>
            </a:pathLst>
          </a:custGeom>
          <a:noFill/>
          <a:ln w="38100">
            <a:solidFill>
              <a:schemeClr val="accent2">
                <a:lumMod val="75000"/>
              </a:schemeClr>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125" name="CuadroTexto 124">
            <a:extLst>
              <a:ext uri="{FF2B5EF4-FFF2-40B4-BE49-F238E27FC236}">
                <a16:creationId xmlns:a16="http://schemas.microsoft.com/office/drawing/2014/main" id="{9CC2AACD-CF11-4E86-9A02-96D4893736B8}"/>
              </a:ext>
            </a:extLst>
          </p:cNvPr>
          <p:cNvSpPr txBox="1"/>
          <p:nvPr/>
        </p:nvSpPr>
        <p:spPr>
          <a:xfrm>
            <a:off x="2003539" y="4791226"/>
            <a:ext cx="4528739" cy="253916"/>
          </a:xfrm>
          <a:prstGeom prst="rect">
            <a:avLst/>
          </a:prstGeom>
          <a:noFill/>
        </p:spPr>
        <p:txBody>
          <a:bodyPr wrap="square" rtlCol="0">
            <a:spAutoFit/>
          </a:bodyPr>
          <a:lstStyle/>
          <a:p>
            <a:r>
              <a:rPr lang="es-ES" sz="1050" b="1" dirty="0"/>
              <a:t>El programa usa direcciones virtuales</a:t>
            </a:r>
          </a:p>
        </p:txBody>
      </p:sp>
      <p:sp>
        <p:nvSpPr>
          <p:cNvPr id="117" name="Forma libre: forma 116">
            <a:extLst>
              <a:ext uri="{FF2B5EF4-FFF2-40B4-BE49-F238E27FC236}">
                <a16:creationId xmlns:a16="http://schemas.microsoft.com/office/drawing/2014/main" id="{8D59B329-06EB-4E5E-8857-6ECBA406F305}"/>
              </a:ext>
            </a:extLst>
          </p:cNvPr>
          <p:cNvSpPr/>
          <p:nvPr/>
        </p:nvSpPr>
        <p:spPr>
          <a:xfrm>
            <a:off x="3051415" y="3003160"/>
            <a:ext cx="2676831" cy="1417765"/>
          </a:xfrm>
          <a:custGeom>
            <a:avLst/>
            <a:gdLst>
              <a:gd name="connsiteX0" fmla="*/ 0 w 3844413"/>
              <a:gd name="connsiteY0" fmla="*/ 1622323 h 1622323"/>
              <a:gd name="connsiteX1" fmla="*/ 1465006 w 3844413"/>
              <a:gd name="connsiteY1" fmla="*/ 737420 h 1622323"/>
              <a:gd name="connsiteX2" fmla="*/ 2320413 w 3844413"/>
              <a:gd name="connsiteY2" fmla="*/ 668594 h 1622323"/>
              <a:gd name="connsiteX3" fmla="*/ 2615380 w 3844413"/>
              <a:gd name="connsiteY3" fmla="*/ 275304 h 1622323"/>
              <a:gd name="connsiteX4" fmla="*/ 3844413 w 3844413"/>
              <a:gd name="connsiteY4" fmla="*/ 0 h 1622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4413" h="1622323">
                <a:moveTo>
                  <a:pt x="0" y="1622323"/>
                </a:moveTo>
                <a:cubicBezTo>
                  <a:pt x="539135" y="1259349"/>
                  <a:pt x="1078271" y="896375"/>
                  <a:pt x="1465006" y="737420"/>
                </a:cubicBezTo>
                <a:cubicBezTo>
                  <a:pt x="1851741" y="578465"/>
                  <a:pt x="2128684" y="745613"/>
                  <a:pt x="2320413" y="668594"/>
                </a:cubicBezTo>
                <a:cubicBezTo>
                  <a:pt x="2512142" y="591575"/>
                  <a:pt x="2361380" y="386736"/>
                  <a:pt x="2615380" y="275304"/>
                </a:cubicBezTo>
                <a:cubicBezTo>
                  <a:pt x="2869380" y="163872"/>
                  <a:pt x="3844413" y="0"/>
                  <a:pt x="3844413" y="0"/>
                </a:cubicBezTo>
              </a:path>
            </a:pathLst>
          </a:custGeom>
          <a:noFill/>
          <a:ln w="38100">
            <a:solidFill>
              <a:srgbClr val="00B050"/>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3" name="CuadroTexto 2">
            <a:extLst>
              <a:ext uri="{FF2B5EF4-FFF2-40B4-BE49-F238E27FC236}">
                <a16:creationId xmlns:a16="http://schemas.microsoft.com/office/drawing/2014/main" id="{A4269306-4642-4372-A7C0-A64F2132FB09}"/>
              </a:ext>
            </a:extLst>
          </p:cNvPr>
          <p:cNvSpPr txBox="1"/>
          <p:nvPr/>
        </p:nvSpPr>
        <p:spPr>
          <a:xfrm>
            <a:off x="4237862" y="1827979"/>
            <a:ext cx="1667302" cy="577081"/>
          </a:xfrm>
          <a:prstGeom prst="rect">
            <a:avLst/>
          </a:prstGeom>
          <a:noFill/>
        </p:spPr>
        <p:txBody>
          <a:bodyPr wrap="square" rtlCol="0">
            <a:spAutoFit/>
          </a:bodyPr>
          <a:lstStyle/>
          <a:p>
            <a:r>
              <a:rPr lang="es-ES" sz="1050" b="1" dirty="0"/>
              <a:t>La función de mapeo las </a:t>
            </a:r>
          </a:p>
          <a:p>
            <a:r>
              <a:rPr lang="es-ES" sz="1050" b="1" dirty="0"/>
              <a:t>convierte en direcciones físicas</a:t>
            </a:r>
          </a:p>
        </p:txBody>
      </p:sp>
      <p:sp>
        <p:nvSpPr>
          <p:cNvPr id="6" name="CuadroTexto 5">
            <a:extLst>
              <a:ext uri="{FF2B5EF4-FFF2-40B4-BE49-F238E27FC236}">
                <a16:creationId xmlns:a16="http://schemas.microsoft.com/office/drawing/2014/main" id="{91717B6B-3741-42E2-867D-2F85A1047280}"/>
              </a:ext>
            </a:extLst>
          </p:cNvPr>
          <p:cNvSpPr txBox="1"/>
          <p:nvPr/>
        </p:nvSpPr>
        <p:spPr>
          <a:xfrm>
            <a:off x="4615261" y="4638700"/>
            <a:ext cx="4528739" cy="415498"/>
          </a:xfrm>
          <a:prstGeom prst="rect">
            <a:avLst/>
          </a:prstGeom>
          <a:noFill/>
        </p:spPr>
        <p:txBody>
          <a:bodyPr wrap="square" rtlCol="0">
            <a:spAutoFit/>
          </a:bodyPr>
          <a:lstStyle/>
          <a:p>
            <a:r>
              <a:rPr lang="es-ES" sz="1050" b="1" dirty="0"/>
              <a:t>Si la dirección virtual no está en RAM, el SO la cargará desde el almacenamiento secundario</a:t>
            </a:r>
          </a:p>
        </p:txBody>
      </p:sp>
      <p:sp>
        <p:nvSpPr>
          <p:cNvPr id="5" name="CuadroTexto 4">
            <a:extLst>
              <a:ext uri="{FF2B5EF4-FFF2-40B4-BE49-F238E27FC236}">
                <a16:creationId xmlns:a16="http://schemas.microsoft.com/office/drawing/2014/main" id="{5C8DAE28-58C0-4F38-940C-63E171D3F2EA}"/>
              </a:ext>
            </a:extLst>
          </p:cNvPr>
          <p:cNvSpPr txBox="1"/>
          <p:nvPr/>
        </p:nvSpPr>
        <p:spPr>
          <a:xfrm>
            <a:off x="7564703" y="2421712"/>
            <a:ext cx="1303865" cy="1107996"/>
          </a:xfrm>
          <a:prstGeom prst="rect">
            <a:avLst/>
          </a:prstGeom>
          <a:noFill/>
        </p:spPr>
        <p:txBody>
          <a:bodyPr wrap="square" rtlCol="0">
            <a:spAutoFit/>
          </a:bodyPr>
          <a:lstStyle/>
          <a:p>
            <a:pPr algn="just"/>
            <a:r>
              <a:rPr lang="es-ES" sz="1100" dirty="0"/>
              <a:t>Las páginas de un proceso cargadas en RAM se llaman conjunto residente, no confundir con el conjunto de trabajo</a:t>
            </a:r>
          </a:p>
        </p:txBody>
      </p:sp>
      <p:sp>
        <p:nvSpPr>
          <p:cNvPr id="7" name="CuadroTexto 6">
            <a:extLst>
              <a:ext uri="{FF2B5EF4-FFF2-40B4-BE49-F238E27FC236}">
                <a16:creationId xmlns:a16="http://schemas.microsoft.com/office/drawing/2014/main" id="{39E093E6-E711-4ADF-9D80-9D5769B9A874}"/>
              </a:ext>
            </a:extLst>
          </p:cNvPr>
          <p:cNvSpPr txBox="1"/>
          <p:nvPr/>
        </p:nvSpPr>
        <p:spPr>
          <a:xfrm>
            <a:off x="6943658" y="3859715"/>
            <a:ext cx="1672443" cy="600164"/>
          </a:xfrm>
          <a:prstGeom prst="rect">
            <a:avLst/>
          </a:prstGeom>
          <a:noFill/>
        </p:spPr>
        <p:txBody>
          <a:bodyPr wrap="square" rtlCol="0">
            <a:spAutoFit/>
          </a:bodyPr>
          <a:lstStyle/>
          <a:p>
            <a:pPr algn="just"/>
            <a:r>
              <a:rPr lang="es-ES" sz="1100" dirty="0"/>
              <a:t>El disco contiene una partición especial (swap) para este cometido </a:t>
            </a:r>
          </a:p>
        </p:txBody>
      </p:sp>
    </p:spTree>
    <p:extLst>
      <p:ext uri="{BB962C8B-B14F-4D97-AF65-F5344CB8AC3E}">
        <p14:creationId xmlns:p14="http://schemas.microsoft.com/office/powerpoint/2010/main" val="1222483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102" name="CuadroTexto 101">
            <a:extLst>
              <a:ext uri="{FF2B5EF4-FFF2-40B4-BE49-F238E27FC236}">
                <a16:creationId xmlns:a16="http://schemas.microsoft.com/office/drawing/2014/main" id="{32D78061-C9BA-4D8F-B26D-21140872C8BC}"/>
              </a:ext>
            </a:extLst>
          </p:cNvPr>
          <p:cNvSpPr txBox="1"/>
          <p:nvPr/>
        </p:nvSpPr>
        <p:spPr>
          <a:xfrm>
            <a:off x="1499869" y="963410"/>
            <a:ext cx="7049872" cy="584775"/>
          </a:xfrm>
          <a:prstGeom prst="rect">
            <a:avLst/>
          </a:prstGeom>
          <a:noFill/>
        </p:spPr>
        <p:txBody>
          <a:bodyPr wrap="square" rtlCol="0">
            <a:spAutoFit/>
          </a:bodyPr>
          <a:lstStyle/>
          <a:p>
            <a:r>
              <a:rPr lang="es-ES" sz="1600" dirty="0"/>
              <a:t>La memoria virtual con paginación añade flexibilidad al poder asignar espacio físico no contiguo en la RAM. La fragmentación se reduce al mínimo.</a:t>
            </a:r>
          </a:p>
        </p:txBody>
      </p:sp>
      <p:pic>
        <p:nvPicPr>
          <p:cNvPr id="5" name="Imagen 4">
            <a:extLst>
              <a:ext uri="{FF2B5EF4-FFF2-40B4-BE49-F238E27FC236}">
                <a16:creationId xmlns:a16="http://schemas.microsoft.com/office/drawing/2014/main" id="{2799C80C-F613-4BFD-807F-A9B989AF9DF9}"/>
              </a:ext>
            </a:extLst>
          </p:cNvPr>
          <p:cNvPicPr>
            <a:picLocks noChangeAspect="1"/>
          </p:cNvPicPr>
          <p:nvPr/>
        </p:nvPicPr>
        <p:blipFill>
          <a:blip r:embed="rId3"/>
          <a:stretch>
            <a:fillRect/>
          </a:stretch>
        </p:blipFill>
        <p:spPr>
          <a:xfrm>
            <a:off x="1886790" y="1661001"/>
            <a:ext cx="5370419" cy="3482499"/>
          </a:xfrm>
          <a:prstGeom prst="rect">
            <a:avLst/>
          </a:prstGeom>
        </p:spPr>
      </p:pic>
    </p:spTree>
    <p:extLst>
      <p:ext uri="{BB962C8B-B14F-4D97-AF65-F5344CB8AC3E}">
        <p14:creationId xmlns:p14="http://schemas.microsoft.com/office/powerpoint/2010/main" val="11975363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2" name="CuadroTexto 1">
            <a:extLst>
              <a:ext uri="{FF2B5EF4-FFF2-40B4-BE49-F238E27FC236}">
                <a16:creationId xmlns:a16="http://schemas.microsoft.com/office/drawing/2014/main" id="{A2761BD6-92AC-414E-AB10-7090F9644467}"/>
              </a:ext>
            </a:extLst>
          </p:cNvPr>
          <p:cNvSpPr txBox="1"/>
          <p:nvPr/>
        </p:nvSpPr>
        <p:spPr>
          <a:xfrm>
            <a:off x="1726994" y="1063771"/>
            <a:ext cx="6876679" cy="3785652"/>
          </a:xfrm>
          <a:prstGeom prst="rect">
            <a:avLst/>
          </a:prstGeom>
          <a:noFill/>
        </p:spPr>
        <p:txBody>
          <a:bodyPr wrap="square" rtlCol="0">
            <a:spAutoFit/>
          </a:bodyPr>
          <a:lstStyle/>
          <a:p>
            <a:pPr algn="just"/>
            <a:r>
              <a:rPr lang="es-ES" sz="1600" dirty="0"/>
              <a:t>Para que la memoria virtual pueda funcionar es necesario que la correspondencia entre página virtual y marco físico se almacene en alguna estructura. Como cada proceso puede ver el mapa de memoria virtual completo los números de página se repiten pero se instancian en marcos diferentes. En consecuencia hay que tener una tabla de correspondencia (tabla de memoria virtual) por cada proceso instanciado y hay que actualizarla cada vez que hay una carga o expulsión.</a:t>
            </a:r>
          </a:p>
          <a:p>
            <a:pPr algn="just"/>
            <a:endParaRPr lang="es-ES" sz="1600" dirty="0"/>
          </a:p>
          <a:p>
            <a:pPr algn="just"/>
            <a:r>
              <a:rPr lang="es-ES" sz="1600" dirty="0"/>
              <a:t>El </a:t>
            </a:r>
            <a:r>
              <a:rPr lang="es-ES" sz="1600" dirty="0" err="1"/>
              <a:t>kernel</a:t>
            </a:r>
            <a:r>
              <a:rPr lang="es-ES" sz="1600" dirty="0"/>
              <a:t> mantiene una página por proceso, dentro de su propio espacio de memoria. Como solo puede habar un proceso activo, el </a:t>
            </a:r>
            <a:r>
              <a:rPr lang="es-ES" sz="1600" dirty="0" err="1"/>
              <a:t>kernel</a:t>
            </a:r>
            <a:r>
              <a:rPr lang="es-ES" sz="1600" dirty="0"/>
              <a:t> trabajará en cada momento con la tabla del proceso en ejecución.</a:t>
            </a:r>
          </a:p>
          <a:p>
            <a:pPr algn="just"/>
            <a:endParaRPr lang="es-ES" sz="1600" dirty="0"/>
          </a:p>
          <a:p>
            <a:pPr algn="just"/>
            <a:r>
              <a:rPr lang="es-ES" sz="1600" dirty="0"/>
              <a:t>Esta tabla, al igual que e BCP, forma parte de los metadatos de gestión de cada proceso y tiene que crearse cuando este nace y destruirse para liberar espacio al acabar su ejecución</a:t>
            </a:r>
            <a:r>
              <a:rPr lang="es-ES" sz="1400" dirty="0"/>
              <a:t>.</a:t>
            </a:r>
          </a:p>
        </p:txBody>
      </p:sp>
    </p:spTree>
    <p:extLst>
      <p:ext uri="{BB962C8B-B14F-4D97-AF65-F5344CB8AC3E}">
        <p14:creationId xmlns:p14="http://schemas.microsoft.com/office/powerpoint/2010/main" val="1376233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16" name="CuadroTexto 15">
            <a:extLst>
              <a:ext uri="{FF2B5EF4-FFF2-40B4-BE49-F238E27FC236}">
                <a16:creationId xmlns:a16="http://schemas.microsoft.com/office/drawing/2014/main" id="{3430E65F-73A1-47C5-8DC1-9CF920E773EE}"/>
              </a:ext>
            </a:extLst>
          </p:cNvPr>
          <p:cNvSpPr txBox="1"/>
          <p:nvPr/>
        </p:nvSpPr>
        <p:spPr>
          <a:xfrm>
            <a:off x="3749041" y="3562689"/>
            <a:ext cx="5077246" cy="1546577"/>
          </a:xfrm>
          <a:prstGeom prst="rect">
            <a:avLst/>
          </a:prstGeom>
          <a:noFill/>
        </p:spPr>
        <p:txBody>
          <a:bodyPr wrap="square" rtlCol="0">
            <a:spAutoFit/>
          </a:bodyPr>
          <a:lstStyle/>
          <a:p>
            <a:pPr algn="just"/>
            <a:r>
              <a:rPr lang="es-ES" b="1" dirty="0"/>
              <a:t>Tabla de páginas del proceso A de un nivel.</a:t>
            </a:r>
          </a:p>
          <a:p>
            <a:pPr algn="just"/>
            <a:r>
              <a:rPr lang="es-ES" dirty="0"/>
              <a:t>Necesita 2</a:t>
            </a:r>
            <a:r>
              <a:rPr lang="es-ES" baseline="30000" dirty="0"/>
              <a:t>20</a:t>
            </a:r>
            <a:r>
              <a:rPr lang="es-ES" dirty="0"/>
              <a:t> entradas, una por página (aunque no se esté usando). Se denomina tabla directa. </a:t>
            </a:r>
            <a:r>
              <a:rPr lang="es-ES" dirty="0" err="1"/>
              <a:t>Aprox</a:t>
            </a:r>
            <a:r>
              <a:rPr lang="es-ES" dirty="0"/>
              <a:t> 1 millón de entradas para 32 bits de direcciones y página de 4kB. Cada fila de la tabla tiene 4 bytes por lo que se ocupan 4 MB por proceso. Esta tabla </a:t>
            </a:r>
            <a:r>
              <a:rPr lang="es-ES" b="1" dirty="0"/>
              <a:t>tiene que estar cargada completamente en memoria </a:t>
            </a:r>
            <a:r>
              <a:rPr lang="es-ES" dirty="0"/>
              <a:t>cuando el proceso está cargado. Si tenemos 100 procesos, sólo las tablas de páginas ocuparían 400 MB</a:t>
            </a:r>
          </a:p>
        </p:txBody>
      </p:sp>
      <p:pic>
        <p:nvPicPr>
          <p:cNvPr id="41" name="Imagen 40">
            <a:extLst>
              <a:ext uri="{FF2B5EF4-FFF2-40B4-BE49-F238E27FC236}">
                <a16:creationId xmlns:a16="http://schemas.microsoft.com/office/drawing/2014/main" id="{46320E47-CEE4-48CA-B469-5648E2DE7368}"/>
              </a:ext>
            </a:extLst>
          </p:cNvPr>
          <p:cNvPicPr>
            <a:picLocks noChangeAspect="1"/>
          </p:cNvPicPr>
          <p:nvPr/>
        </p:nvPicPr>
        <p:blipFill>
          <a:blip r:embed="rId3"/>
          <a:stretch>
            <a:fillRect/>
          </a:stretch>
        </p:blipFill>
        <p:spPr>
          <a:xfrm>
            <a:off x="5768780" y="1031278"/>
            <a:ext cx="1880957" cy="2433694"/>
          </a:xfrm>
          <a:prstGeom prst="rect">
            <a:avLst/>
          </a:prstGeom>
        </p:spPr>
      </p:pic>
      <p:pic>
        <p:nvPicPr>
          <p:cNvPr id="43" name="Imagen 42">
            <a:extLst>
              <a:ext uri="{FF2B5EF4-FFF2-40B4-BE49-F238E27FC236}">
                <a16:creationId xmlns:a16="http://schemas.microsoft.com/office/drawing/2014/main" id="{9AAB6D8A-937C-4F4C-80F4-096653F917BE}"/>
              </a:ext>
            </a:extLst>
          </p:cNvPr>
          <p:cNvPicPr>
            <a:picLocks noChangeAspect="1"/>
          </p:cNvPicPr>
          <p:nvPr/>
        </p:nvPicPr>
        <p:blipFill>
          <a:blip r:embed="rId4"/>
          <a:stretch>
            <a:fillRect/>
          </a:stretch>
        </p:blipFill>
        <p:spPr>
          <a:xfrm>
            <a:off x="1938686" y="1031278"/>
            <a:ext cx="1591160" cy="3910905"/>
          </a:xfrm>
          <a:prstGeom prst="rect">
            <a:avLst/>
          </a:prstGeom>
        </p:spPr>
      </p:pic>
    </p:spTree>
    <p:extLst>
      <p:ext uri="{BB962C8B-B14F-4D97-AF65-F5344CB8AC3E}">
        <p14:creationId xmlns:p14="http://schemas.microsoft.com/office/powerpoint/2010/main" val="7975160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pic>
        <p:nvPicPr>
          <p:cNvPr id="3" name="Imagen 2">
            <a:extLst>
              <a:ext uri="{FF2B5EF4-FFF2-40B4-BE49-F238E27FC236}">
                <a16:creationId xmlns:a16="http://schemas.microsoft.com/office/drawing/2014/main" id="{50893CC2-2761-457E-A659-8D65D27677D5}"/>
              </a:ext>
            </a:extLst>
          </p:cNvPr>
          <p:cNvPicPr>
            <a:picLocks noChangeAspect="1"/>
          </p:cNvPicPr>
          <p:nvPr/>
        </p:nvPicPr>
        <p:blipFill>
          <a:blip r:embed="rId3"/>
          <a:stretch>
            <a:fillRect/>
          </a:stretch>
        </p:blipFill>
        <p:spPr>
          <a:xfrm>
            <a:off x="1575923" y="1683458"/>
            <a:ext cx="7049872" cy="3005513"/>
          </a:xfrm>
          <a:prstGeom prst="rect">
            <a:avLst/>
          </a:prstGeom>
        </p:spPr>
      </p:pic>
      <p:sp>
        <p:nvSpPr>
          <p:cNvPr id="5" name="CuadroTexto 4">
            <a:extLst>
              <a:ext uri="{FF2B5EF4-FFF2-40B4-BE49-F238E27FC236}">
                <a16:creationId xmlns:a16="http://schemas.microsoft.com/office/drawing/2014/main" id="{1303C544-0B95-4874-A9E1-586FC6234685}"/>
              </a:ext>
            </a:extLst>
          </p:cNvPr>
          <p:cNvSpPr txBox="1"/>
          <p:nvPr/>
        </p:nvSpPr>
        <p:spPr>
          <a:xfrm>
            <a:off x="1315843" y="4912667"/>
            <a:ext cx="3480619" cy="461665"/>
          </a:xfrm>
          <a:prstGeom prst="rect">
            <a:avLst/>
          </a:prstGeom>
          <a:noFill/>
        </p:spPr>
        <p:txBody>
          <a:bodyPr wrap="square" rtlCol="0">
            <a:spAutoFit/>
          </a:bodyPr>
          <a:lstStyle/>
          <a:p>
            <a:r>
              <a:rPr lang="es-ES" sz="1200" dirty="0"/>
              <a:t>Fuente: David Black-Schaffer</a:t>
            </a:r>
          </a:p>
          <a:p>
            <a:r>
              <a:rPr lang="es-ES" sz="1200" dirty="0"/>
              <a:t> </a:t>
            </a:r>
          </a:p>
        </p:txBody>
      </p:sp>
      <p:sp>
        <p:nvSpPr>
          <p:cNvPr id="6" name="CuadroTexto 5">
            <a:extLst>
              <a:ext uri="{FF2B5EF4-FFF2-40B4-BE49-F238E27FC236}">
                <a16:creationId xmlns:a16="http://schemas.microsoft.com/office/drawing/2014/main" id="{96F8A558-8617-40C1-8192-8238EC88AA8B}"/>
              </a:ext>
            </a:extLst>
          </p:cNvPr>
          <p:cNvSpPr txBox="1"/>
          <p:nvPr/>
        </p:nvSpPr>
        <p:spPr>
          <a:xfrm>
            <a:off x="1776414" y="875932"/>
            <a:ext cx="7155482" cy="715581"/>
          </a:xfrm>
          <a:prstGeom prst="rect">
            <a:avLst/>
          </a:prstGeom>
          <a:noFill/>
        </p:spPr>
        <p:txBody>
          <a:bodyPr wrap="square" rtlCol="0">
            <a:spAutoFit/>
          </a:bodyPr>
          <a:lstStyle/>
          <a:p>
            <a:r>
              <a:rPr lang="es-ES" dirty="0"/>
              <a:t>Cada proceso tiene su propia tabla de páginas, que reside en el espacio de trabajo del </a:t>
            </a:r>
            <a:r>
              <a:rPr lang="es-ES" dirty="0" err="1"/>
              <a:t>kernel</a:t>
            </a:r>
            <a:r>
              <a:rPr lang="es-ES" dirty="0"/>
              <a:t>.</a:t>
            </a:r>
          </a:p>
          <a:p>
            <a:r>
              <a:rPr lang="es-ES" dirty="0"/>
              <a:t>El SSOO se asegura de que apuntan al mismo marco solo cuando hay compartición legal (por ejemplo, están usando una misma librería dinámica).</a:t>
            </a:r>
          </a:p>
        </p:txBody>
      </p:sp>
    </p:spTree>
    <p:extLst>
      <p:ext uri="{BB962C8B-B14F-4D97-AF65-F5344CB8AC3E}">
        <p14:creationId xmlns:p14="http://schemas.microsoft.com/office/powerpoint/2010/main" val="8493845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pic>
        <p:nvPicPr>
          <p:cNvPr id="2" name="Imagen 1">
            <a:extLst>
              <a:ext uri="{FF2B5EF4-FFF2-40B4-BE49-F238E27FC236}">
                <a16:creationId xmlns:a16="http://schemas.microsoft.com/office/drawing/2014/main" id="{545CEBFC-702E-47B3-B76D-9D9320737300}"/>
              </a:ext>
            </a:extLst>
          </p:cNvPr>
          <p:cNvPicPr>
            <a:picLocks noChangeAspect="1"/>
          </p:cNvPicPr>
          <p:nvPr/>
        </p:nvPicPr>
        <p:blipFill>
          <a:blip r:embed="rId3"/>
          <a:stretch>
            <a:fillRect/>
          </a:stretch>
        </p:blipFill>
        <p:spPr>
          <a:xfrm>
            <a:off x="1776415" y="735986"/>
            <a:ext cx="6475488" cy="1653162"/>
          </a:xfrm>
          <a:prstGeom prst="rect">
            <a:avLst/>
          </a:prstGeom>
        </p:spPr>
      </p:pic>
      <p:sp>
        <p:nvSpPr>
          <p:cNvPr id="3" name="CuadroTexto 2">
            <a:extLst>
              <a:ext uri="{FF2B5EF4-FFF2-40B4-BE49-F238E27FC236}">
                <a16:creationId xmlns:a16="http://schemas.microsoft.com/office/drawing/2014/main" id="{5C695574-2ABC-4BF9-B983-94020F0078DE}"/>
              </a:ext>
            </a:extLst>
          </p:cNvPr>
          <p:cNvSpPr txBox="1"/>
          <p:nvPr/>
        </p:nvSpPr>
        <p:spPr>
          <a:xfrm>
            <a:off x="1776414" y="2616357"/>
            <a:ext cx="6854629" cy="2377574"/>
          </a:xfrm>
          <a:prstGeom prst="rect">
            <a:avLst/>
          </a:prstGeom>
          <a:noFill/>
        </p:spPr>
        <p:txBody>
          <a:bodyPr wrap="square" rtlCol="0">
            <a:spAutoFit/>
          </a:bodyPr>
          <a:lstStyle/>
          <a:p>
            <a:r>
              <a:rPr lang="es-ES" dirty="0"/>
              <a:t>La representación anterior es simplificada. Por cada entrada de la tabla de páginas de un proceso, además del número de marco hay otros bits de control:</a:t>
            </a:r>
          </a:p>
          <a:p>
            <a:pPr marL="285750" indent="-285750">
              <a:buFont typeface="Arial" panose="020B0604020202020204" pitchFamily="34" charset="0"/>
              <a:buChar char="•"/>
            </a:pPr>
            <a:r>
              <a:rPr lang="es-ES" dirty="0" err="1"/>
              <a:t>Referenced</a:t>
            </a:r>
            <a:r>
              <a:rPr lang="es-ES" dirty="0"/>
              <a:t>. Indica que la página ha sido referenciada recientemente y se usa para el algoritmo de sustitución de páginas</a:t>
            </a:r>
          </a:p>
          <a:p>
            <a:pPr marL="285750" indent="-285750">
              <a:buFont typeface="Arial" panose="020B0604020202020204" pitchFamily="34" charset="0"/>
              <a:buChar char="•"/>
            </a:pPr>
            <a:r>
              <a:rPr lang="es-ES" dirty="0" err="1"/>
              <a:t>Modified</a:t>
            </a:r>
            <a:r>
              <a:rPr lang="es-ES" dirty="0"/>
              <a:t>. Indica que los contenidos de la página se han modificado (está “sucia”) y que, por tanto, deberá ser escrita en disco antes de ser expulsada.</a:t>
            </a:r>
          </a:p>
          <a:p>
            <a:pPr marL="285750" indent="-285750">
              <a:buFont typeface="Arial" panose="020B0604020202020204" pitchFamily="34" charset="0"/>
              <a:buChar char="•"/>
            </a:pPr>
            <a:r>
              <a:rPr lang="es-ES" dirty="0" err="1"/>
              <a:t>Protection</a:t>
            </a:r>
            <a:r>
              <a:rPr lang="es-ES" dirty="0"/>
              <a:t>. Indica si la página es de código, se puede escribir, etc.</a:t>
            </a:r>
          </a:p>
          <a:p>
            <a:pPr marL="285750" indent="-285750">
              <a:buFont typeface="Arial" panose="020B0604020202020204" pitchFamily="34" charset="0"/>
              <a:buChar char="•"/>
            </a:pPr>
            <a:r>
              <a:rPr lang="es-ES" dirty="0" err="1"/>
              <a:t>Present</a:t>
            </a:r>
            <a:r>
              <a:rPr lang="es-ES" dirty="0"/>
              <a:t>/</a:t>
            </a:r>
            <a:r>
              <a:rPr lang="es-ES" dirty="0" err="1"/>
              <a:t>absent</a:t>
            </a:r>
            <a:r>
              <a:rPr lang="es-ES" dirty="0"/>
              <a:t>. Indica si esa entrada es válida. Cuando la página se expulsa, por rapidez, se marca solo ese bit que invalida el resto de informaciones</a:t>
            </a:r>
          </a:p>
          <a:p>
            <a:pPr marL="285750" indent="-285750">
              <a:buFont typeface="Arial" panose="020B0604020202020204" pitchFamily="34" charset="0"/>
              <a:buChar char="•"/>
            </a:pPr>
            <a:r>
              <a:rPr lang="es-ES" dirty="0" err="1"/>
              <a:t>Caching</a:t>
            </a:r>
            <a:r>
              <a:rPr lang="es-ES" dirty="0"/>
              <a:t> </a:t>
            </a:r>
            <a:r>
              <a:rPr lang="es-ES" dirty="0" err="1"/>
              <a:t>disabled</a:t>
            </a:r>
            <a:r>
              <a:rPr lang="es-ES" dirty="0"/>
              <a:t>. Indica si para acceder a esa página hay que inhabilitar la caché. Se usa para los dispositivos de I/O mapeados en memoria en direcciones físicas fijas.</a:t>
            </a:r>
          </a:p>
        </p:txBody>
      </p:sp>
    </p:spTree>
    <p:extLst>
      <p:ext uri="{BB962C8B-B14F-4D97-AF65-F5344CB8AC3E}">
        <p14:creationId xmlns:p14="http://schemas.microsoft.com/office/powerpoint/2010/main" val="1568672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3148106" cy="338554"/>
          </a:xfrm>
          <a:prstGeom prst="rect">
            <a:avLst/>
          </a:prstGeom>
          <a:noFill/>
        </p:spPr>
        <p:txBody>
          <a:bodyPr wrap="none" rtlCol="0">
            <a:spAutoFit/>
          </a:bodyPr>
          <a:lstStyle/>
          <a:p>
            <a:r>
              <a:rPr lang="es-ES" sz="1600" dirty="0"/>
              <a:t>¿Cómo se traducen las direcciones?</a:t>
            </a:r>
          </a:p>
        </p:txBody>
      </p:sp>
      <p:pic>
        <p:nvPicPr>
          <p:cNvPr id="3" name="Imagen 2">
            <a:extLst>
              <a:ext uri="{FF2B5EF4-FFF2-40B4-BE49-F238E27FC236}">
                <a16:creationId xmlns:a16="http://schemas.microsoft.com/office/drawing/2014/main" id="{494BBD18-F069-4397-9871-CF68BF19798C}"/>
              </a:ext>
            </a:extLst>
          </p:cNvPr>
          <p:cNvPicPr>
            <a:picLocks noChangeAspect="1"/>
          </p:cNvPicPr>
          <p:nvPr/>
        </p:nvPicPr>
        <p:blipFill>
          <a:blip r:embed="rId3"/>
          <a:stretch>
            <a:fillRect/>
          </a:stretch>
        </p:blipFill>
        <p:spPr>
          <a:xfrm>
            <a:off x="2188708" y="1228725"/>
            <a:ext cx="5724525" cy="3914775"/>
          </a:xfrm>
          <a:prstGeom prst="rect">
            <a:avLst/>
          </a:prstGeom>
        </p:spPr>
      </p:pic>
    </p:spTree>
    <p:extLst>
      <p:ext uri="{BB962C8B-B14F-4D97-AF65-F5344CB8AC3E}">
        <p14:creationId xmlns:p14="http://schemas.microsoft.com/office/powerpoint/2010/main" val="15294344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3148106" cy="338554"/>
          </a:xfrm>
          <a:prstGeom prst="rect">
            <a:avLst/>
          </a:prstGeom>
          <a:noFill/>
        </p:spPr>
        <p:txBody>
          <a:bodyPr wrap="none" rtlCol="0">
            <a:spAutoFit/>
          </a:bodyPr>
          <a:lstStyle/>
          <a:p>
            <a:r>
              <a:rPr lang="es-ES" sz="1600" dirty="0"/>
              <a:t>¿Cómo se traducen las direcciones?</a:t>
            </a:r>
          </a:p>
        </p:txBody>
      </p:sp>
      <p:pic>
        <p:nvPicPr>
          <p:cNvPr id="8" name="Imagen 7">
            <a:extLst>
              <a:ext uri="{FF2B5EF4-FFF2-40B4-BE49-F238E27FC236}">
                <a16:creationId xmlns:a16="http://schemas.microsoft.com/office/drawing/2014/main" id="{F5587AD5-56C2-40FB-97CF-726332DA4FE8}"/>
              </a:ext>
            </a:extLst>
          </p:cNvPr>
          <p:cNvPicPr>
            <a:picLocks noChangeAspect="1"/>
          </p:cNvPicPr>
          <p:nvPr/>
        </p:nvPicPr>
        <p:blipFill rotWithShape="1">
          <a:blip r:embed="rId3"/>
          <a:srcRect t="-155" b="9558"/>
          <a:stretch/>
        </p:blipFill>
        <p:spPr>
          <a:xfrm>
            <a:off x="2256393" y="1227803"/>
            <a:ext cx="6469316" cy="3816000"/>
          </a:xfrm>
          <a:prstGeom prst="rect">
            <a:avLst/>
          </a:prstGeom>
        </p:spPr>
      </p:pic>
      <p:sp>
        <p:nvSpPr>
          <p:cNvPr id="10" name="CuadroTexto 9">
            <a:extLst>
              <a:ext uri="{FF2B5EF4-FFF2-40B4-BE49-F238E27FC236}">
                <a16:creationId xmlns:a16="http://schemas.microsoft.com/office/drawing/2014/main" id="{A14BC6CB-A8A2-44F9-BA8C-8FB2FB7A6B0B}"/>
              </a:ext>
            </a:extLst>
          </p:cNvPr>
          <p:cNvSpPr txBox="1"/>
          <p:nvPr/>
        </p:nvSpPr>
        <p:spPr>
          <a:xfrm>
            <a:off x="1293541" y="4778532"/>
            <a:ext cx="3480619" cy="461665"/>
          </a:xfrm>
          <a:prstGeom prst="rect">
            <a:avLst/>
          </a:prstGeom>
          <a:noFill/>
        </p:spPr>
        <p:txBody>
          <a:bodyPr wrap="square" rtlCol="0">
            <a:spAutoFit/>
          </a:bodyPr>
          <a:lstStyle/>
          <a:p>
            <a:r>
              <a:rPr lang="es-ES" sz="1200" dirty="0"/>
              <a:t>Fuente: David Black-Schaffer</a:t>
            </a:r>
          </a:p>
          <a:p>
            <a:r>
              <a:rPr lang="es-ES" sz="1200" dirty="0"/>
              <a:t> </a:t>
            </a:r>
          </a:p>
        </p:txBody>
      </p:sp>
    </p:spTree>
    <p:extLst>
      <p:ext uri="{BB962C8B-B14F-4D97-AF65-F5344CB8AC3E}">
        <p14:creationId xmlns:p14="http://schemas.microsoft.com/office/powerpoint/2010/main" val="30348459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2" name="CuadroTexto 1">
            <a:extLst>
              <a:ext uri="{FF2B5EF4-FFF2-40B4-BE49-F238E27FC236}">
                <a16:creationId xmlns:a16="http://schemas.microsoft.com/office/drawing/2014/main" id="{A2761BD6-92AC-414E-AB10-7090F9644467}"/>
              </a:ext>
            </a:extLst>
          </p:cNvPr>
          <p:cNvSpPr txBox="1"/>
          <p:nvPr/>
        </p:nvSpPr>
        <p:spPr>
          <a:xfrm>
            <a:off x="1726994" y="1063771"/>
            <a:ext cx="6876679" cy="3046988"/>
          </a:xfrm>
          <a:prstGeom prst="rect">
            <a:avLst/>
          </a:prstGeom>
          <a:noFill/>
        </p:spPr>
        <p:txBody>
          <a:bodyPr wrap="square" rtlCol="0">
            <a:spAutoFit/>
          </a:bodyPr>
          <a:lstStyle/>
          <a:p>
            <a:pPr algn="just"/>
            <a:r>
              <a:rPr lang="es-ES" sz="1600" dirty="0"/>
              <a:t>Estos ejemplos muestran una de las dificultades de la memoria virtual. Para accede a un dato concreto de la RAM, primero hay que leer una tabla, también cargada en RAM y que alguien se encargue de cambiar número de página por número de marco. Esto no puede funcionar si se hace por software, la solución está en la TLB.</a:t>
            </a:r>
          </a:p>
          <a:p>
            <a:pPr algn="just"/>
            <a:endParaRPr lang="es-ES" sz="1600" dirty="0"/>
          </a:p>
          <a:p>
            <a:pPr algn="just"/>
            <a:r>
              <a:rPr lang="es-ES" sz="1600" dirty="0"/>
              <a:t>Otro obstáculo muy serio es el tamaño de las tablas. Para una CPU de 32 bits hacen falta 2</a:t>
            </a:r>
            <a:r>
              <a:rPr lang="es-ES" sz="1600" baseline="30000" dirty="0"/>
              <a:t>20</a:t>
            </a:r>
            <a:r>
              <a:rPr lang="es-ES" sz="1600" dirty="0"/>
              <a:t> entradas ( ~ 1 millón) en una tabla de único nivel, para una de 64bits nada menos que 2</a:t>
            </a:r>
            <a:r>
              <a:rPr lang="es-ES" sz="1600" baseline="30000" dirty="0"/>
              <a:t>52</a:t>
            </a:r>
            <a:r>
              <a:rPr lang="es-ES" sz="1600" dirty="0"/>
              <a:t> entradas. Esto es inabarcable, pero afortunadamente la mayoría de las páginas no están instanciadas, por lo que puede recurrirse a una solución ingeniosa para ahorrar mucho espacio de almacenamiento las tablas multinivel.</a:t>
            </a:r>
          </a:p>
        </p:txBody>
      </p:sp>
    </p:spTree>
    <p:extLst>
      <p:ext uri="{BB962C8B-B14F-4D97-AF65-F5344CB8AC3E}">
        <p14:creationId xmlns:p14="http://schemas.microsoft.com/office/powerpoint/2010/main" val="8859653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1616340" cy="338554"/>
          </a:xfrm>
          <a:prstGeom prst="rect">
            <a:avLst/>
          </a:prstGeom>
          <a:noFill/>
        </p:spPr>
        <p:txBody>
          <a:bodyPr wrap="none" rtlCol="0">
            <a:spAutoFit/>
          </a:bodyPr>
          <a:lstStyle/>
          <a:p>
            <a:r>
              <a:rPr lang="es-ES" sz="1600" b="1" u="sng" dirty="0"/>
              <a:t>Tablas multinivel</a:t>
            </a:r>
          </a:p>
        </p:txBody>
      </p:sp>
      <p:pic>
        <p:nvPicPr>
          <p:cNvPr id="2" name="Picture 2" descr="File:X86 Paging 4K.svg">
            <a:extLst>
              <a:ext uri="{FF2B5EF4-FFF2-40B4-BE49-F238E27FC236}">
                <a16:creationId xmlns:a16="http://schemas.microsoft.com/office/drawing/2014/main" id="{85FD634C-C6A3-44C1-A276-03B1C3C05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3991" y="1197198"/>
            <a:ext cx="4873082" cy="3502528"/>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7659AE1-0357-4471-AC18-95D1F9623447}"/>
              </a:ext>
            </a:extLst>
          </p:cNvPr>
          <p:cNvSpPr txBox="1"/>
          <p:nvPr/>
        </p:nvSpPr>
        <p:spPr>
          <a:xfrm>
            <a:off x="1184817" y="4897660"/>
            <a:ext cx="5885055" cy="230832"/>
          </a:xfrm>
          <a:prstGeom prst="rect">
            <a:avLst/>
          </a:prstGeom>
          <a:noFill/>
        </p:spPr>
        <p:txBody>
          <a:bodyPr wrap="square">
            <a:spAutoFit/>
          </a:bodyPr>
          <a:lstStyle/>
          <a:p>
            <a:r>
              <a:rPr lang="es-ES" sz="900" dirty="0"/>
              <a:t>Fuente: </a:t>
            </a:r>
            <a:r>
              <a:rPr lang="en-US" sz="900" dirty="0"/>
              <a:t>By </a:t>
            </a:r>
            <a:r>
              <a:rPr lang="en-US" sz="900" dirty="0" err="1"/>
              <a:t>RokerHRO</a:t>
            </a:r>
            <a:r>
              <a:rPr lang="en-US" sz="900" dirty="0"/>
              <a:t> (Own work using: </a:t>
            </a:r>
            <a:r>
              <a:rPr lang="en-US" sz="900" dirty="0" err="1"/>
              <a:t>Xfig</a:t>
            </a:r>
            <a:r>
              <a:rPr lang="en-US" sz="900" dirty="0"/>
              <a:t>) [GFDL (http://www.gnu.org/copyleft/fdl.html) or CC BY-SA 3.0  </a:t>
            </a:r>
            <a:endParaRPr lang="es-ES" sz="900" dirty="0"/>
          </a:p>
        </p:txBody>
      </p:sp>
      <p:sp>
        <p:nvSpPr>
          <p:cNvPr id="7" name="CuadroTexto 6">
            <a:extLst>
              <a:ext uri="{FF2B5EF4-FFF2-40B4-BE49-F238E27FC236}">
                <a16:creationId xmlns:a16="http://schemas.microsoft.com/office/drawing/2014/main" id="{087B3775-9C13-4BC1-B660-92A17CACE6A7}"/>
              </a:ext>
            </a:extLst>
          </p:cNvPr>
          <p:cNvSpPr txBox="1"/>
          <p:nvPr/>
        </p:nvSpPr>
        <p:spPr>
          <a:xfrm>
            <a:off x="6775625" y="2076135"/>
            <a:ext cx="588494" cy="300082"/>
          </a:xfrm>
          <a:prstGeom prst="rect">
            <a:avLst/>
          </a:prstGeom>
          <a:noFill/>
        </p:spPr>
        <p:txBody>
          <a:bodyPr wrap="none" rtlCol="0">
            <a:spAutoFit/>
          </a:bodyPr>
          <a:lstStyle/>
          <a:p>
            <a:r>
              <a:rPr lang="es-ES" dirty="0"/>
              <a:t>offset</a:t>
            </a:r>
          </a:p>
        </p:txBody>
      </p:sp>
      <p:sp>
        <p:nvSpPr>
          <p:cNvPr id="11" name="CuadroTexto 10">
            <a:extLst>
              <a:ext uri="{FF2B5EF4-FFF2-40B4-BE49-F238E27FC236}">
                <a16:creationId xmlns:a16="http://schemas.microsoft.com/office/drawing/2014/main" id="{EEAA9560-B60F-45BB-92C4-0B259222BC6B}"/>
              </a:ext>
            </a:extLst>
          </p:cNvPr>
          <p:cNvSpPr txBox="1"/>
          <p:nvPr/>
        </p:nvSpPr>
        <p:spPr>
          <a:xfrm>
            <a:off x="5210737" y="2072067"/>
            <a:ext cx="446789" cy="300082"/>
          </a:xfrm>
          <a:prstGeom prst="rect">
            <a:avLst/>
          </a:prstGeom>
          <a:noFill/>
        </p:spPr>
        <p:txBody>
          <a:bodyPr wrap="none" rtlCol="0">
            <a:spAutoFit/>
          </a:bodyPr>
          <a:lstStyle/>
          <a:p>
            <a:r>
              <a:rPr lang="es-ES" dirty="0"/>
              <a:t>PT2</a:t>
            </a:r>
          </a:p>
        </p:txBody>
      </p:sp>
      <p:sp>
        <p:nvSpPr>
          <p:cNvPr id="13" name="CuadroTexto 12">
            <a:extLst>
              <a:ext uri="{FF2B5EF4-FFF2-40B4-BE49-F238E27FC236}">
                <a16:creationId xmlns:a16="http://schemas.microsoft.com/office/drawing/2014/main" id="{A782954E-EF69-4CC0-98BD-4C8A4D4489B4}"/>
              </a:ext>
            </a:extLst>
          </p:cNvPr>
          <p:cNvSpPr txBox="1"/>
          <p:nvPr/>
        </p:nvSpPr>
        <p:spPr>
          <a:xfrm>
            <a:off x="3933264" y="2052780"/>
            <a:ext cx="446789" cy="300082"/>
          </a:xfrm>
          <a:prstGeom prst="rect">
            <a:avLst/>
          </a:prstGeom>
          <a:noFill/>
        </p:spPr>
        <p:txBody>
          <a:bodyPr wrap="none" rtlCol="0">
            <a:spAutoFit/>
          </a:bodyPr>
          <a:lstStyle/>
          <a:p>
            <a:r>
              <a:rPr lang="es-ES" dirty="0"/>
              <a:t>PT1</a:t>
            </a:r>
          </a:p>
        </p:txBody>
      </p:sp>
    </p:spTree>
    <p:extLst>
      <p:ext uri="{BB962C8B-B14F-4D97-AF65-F5344CB8AC3E}">
        <p14:creationId xmlns:p14="http://schemas.microsoft.com/office/powerpoint/2010/main" val="21011716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1616340" cy="338554"/>
          </a:xfrm>
          <a:prstGeom prst="rect">
            <a:avLst/>
          </a:prstGeom>
          <a:noFill/>
        </p:spPr>
        <p:txBody>
          <a:bodyPr wrap="none" rtlCol="0">
            <a:spAutoFit/>
          </a:bodyPr>
          <a:lstStyle/>
          <a:p>
            <a:r>
              <a:rPr lang="es-ES" sz="1600" b="1" u="sng" dirty="0"/>
              <a:t>Tablas multinivel</a:t>
            </a:r>
          </a:p>
        </p:txBody>
      </p:sp>
      <p:sp>
        <p:nvSpPr>
          <p:cNvPr id="3" name="CuadroTexto 2">
            <a:extLst>
              <a:ext uri="{FF2B5EF4-FFF2-40B4-BE49-F238E27FC236}">
                <a16:creationId xmlns:a16="http://schemas.microsoft.com/office/drawing/2014/main" id="{E18A66D5-DF97-44F9-B7D2-43C6A5DB4A8D}"/>
              </a:ext>
            </a:extLst>
          </p:cNvPr>
          <p:cNvSpPr txBox="1"/>
          <p:nvPr/>
        </p:nvSpPr>
        <p:spPr>
          <a:xfrm>
            <a:off x="1776414" y="1388870"/>
            <a:ext cx="6876679" cy="3108543"/>
          </a:xfrm>
          <a:prstGeom prst="rect">
            <a:avLst/>
          </a:prstGeom>
          <a:noFill/>
        </p:spPr>
        <p:txBody>
          <a:bodyPr wrap="square" rtlCol="0">
            <a:spAutoFit/>
          </a:bodyPr>
          <a:lstStyle/>
          <a:p>
            <a:pPr algn="just"/>
            <a:r>
              <a:rPr lang="es-ES" sz="1400" dirty="0"/>
              <a:t>Supongamos que tenemos un sistema de 32 bits con páginas de 4kB. Los 12 bits de menor peso son el offset, permiten referenciar cualquier byte dentro de los 4 kB de la página/marco. Esto es igual que para la tabla de un único nivel.</a:t>
            </a:r>
          </a:p>
          <a:p>
            <a:pPr algn="just"/>
            <a:endParaRPr lang="es-ES" sz="1400" dirty="0"/>
          </a:p>
          <a:p>
            <a:pPr algn="just"/>
            <a:r>
              <a:rPr lang="es-ES" sz="1400" dirty="0"/>
              <a:t>La diferencia está en los 20 bits de mayor peso. En lugar de tomarlos como un único número que identifica una página dentro de 2</a:t>
            </a:r>
            <a:r>
              <a:rPr lang="es-ES" sz="1400" baseline="30000" dirty="0"/>
              <a:t>20</a:t>
            </a:r>
            <a:r>
              <a:rPr lang="es-ES" sz="1400" dirty="0"/>
              <a:t>, los separamos en dos grupos (PT1 los de mayor paso, PT2 los de menor). Los bits PT1 son el índice de una tabla única de primer nivel de 1024 entradas. En cada entrada hay un puntero de 32 bits a la dirección de memoria de una hoja de segundo nivel. Nótese que el tamaño de la tabla de primer nivel es 1 página (4 kB). En cada hoja de segundo nivel hay 1024 posibles entradas, cada una de ellas indica un marco de RAM instanciada. Los 10 bits PT2 seleccionan la celda correspondiente de esa tabla de segundo nivel. El ahorro de espacio se consigue porque la mayoría de las páginas no están cargadas, solo hacen falta tantas hojas de segundo nivel como páginas instanciadas/1024.</a:t>
            </a:r>
          </a:p>
        </p:txBody>
      </p:sp>
    </p:spTree>
    <p:extLst>
      <p:ext uri="{BB962C8B-B14F-4D97-AF65-F5344CB8AC3E}">
        <p14:creationId xmlns:p14="http://schemas.microsoft.com/office/powerpoint/2010/main" val="29734991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1616340" cy="338554"/>
          </a:xfrm>
          <a:prstGeom prst="rect">
            <a:avLst/>
          </a:prstGeom>
          <a:noFill/>
        </p:spPr>
        <p:txBody>
          <a:bodyPr wrap="none" rtlCol="0">
            <a:spAutoFit/>
          </a:bodyPr>
          <a:lstStyle/>
          <a:p>
            <a:r>
              <a:rPr lang="es-ES" sz="1600" b="1" u="sng" dirty="0"/>
              <a:t>Tablas multinivel</a:t>
            </a:r>
          </a:p>
        </p:txBody>
      </p:sp>
      <p:sp>
        <p:nvSpPr>
          <p:cNvPr id="3" name="CuadroTexto 2">
            <a:extLst>
              <a:ext uri="{FF2B5EF4-FFF2-40B4-BE49-F238E27FC236}">
                <a16:creationId xmlns:a16="http://schemas.microsoft.com/office/drawing/2014/main" id="{6EF20AF0-348B-4B2C-A96F-382FD3CC3AF5}"/>
              </a:ext>
            </a:extLst>
          </p:cNvPr>
          <p:cNvSpPr txBox="1"/>
          <p:nvPr/>
        </p:nvSpPr>
        <p:spPr>
          <a:xfrm>
            <a:off x="1776414" y="1134308"/>
            <a:ext cx="7900022" cy="369332"/>
          </a:xfrm>
          <a:prstGeom prst="rect">
            <a:avLst/>
          </a:prstGeom>
          <a:noFill/>
        </p:spPr>
        <p:txBody>
          <a:bodyPr wrap="square" rtlCol="0">
            <a:spAutoFit/>
          </a:bodyPr>
          <a:lstStyle/>
          <a:p>
            <a:pPr algn="just"/>
            <a:r>
              <a:rPr lang="es-ES" dirty="0"/>
              <a:t>Añaden un nivel adicional de indirección</a:t>
            </a:r>
          </a:p>
        </p:txBody>
      </p:sp>
      <p:pic>
        <p:nvPicPr>
          <p:cNvPr id="6" name="Picture 2" descr="Resultado de imagen de multilevel page table">
            <a:extLst>
              <a:ext uri="{FF2B5EF4-FFF2-40B4-BE49-F238E27FC236}">
                <a16:creationId xmlns:a16="http://schemas.microsoft.com/office/drawing/2014/main" id="{29139F14-6672-406D-9292-A09372157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855" y="1624649"/>
            <a:ext cx="4197887" cy="2730715"/>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0FE794AD-8631-43D0-B934-4A86C3E5CB02}"/>
              </a:ext>
            </a:extLst>
          </p:cNvPr>
          <p:cNvSpPr txBox="1"/>
          <p:nvPr/>
        </p:nvSpPr>
        <p:spPr>
          <a:xfrm>
            <a:off x="1753892" y="4028275"/>
            <a:ext cx="3277724" cy="923330"/>
          </a:xfrm>
          <a:prstGeom prst="rect">
            <a:avLst/>
          </a:prstGeom>
          <a:noFill/>
        </p:spPr>
        <p:txBody>
          <a:bodyPr wrap="square" rtlCol="0">
            <a:spAutoFit/>
          </a:bodyPr>
          <a:lstStyle/>
          <a:p>
            <a:r>
              <a:rPr lang="es-ES" dirty="0"/>
              <a:t>El ahorro se consigue porque solo se crean entradas de segundo nivel para las entradas de primer nivel que están ocupadas. El coste es un acceso adicional a RAM </a:t>
            </a:r>
          </a:p>
        </p:txBody>
      </p:sp>
      <p:sp>
        <p:nvSpPr>
          <p:cNvPr id="16" name="CuadroTexto 15">
            <a:extLst>
              <a:ext uri="{FF2B5EF4-FFF2-40B4-BE49-F238E27FC236}">
                <a16:creationId xmlns:a16="http://schemas.microsoft.com/office/drawing/2014/main" id="{FAE24E6D-ED3C-40A9-BF8E-A4109E079D54}"/>
              </a:ext>
            </a:extLst>
          </p:cNvPr>
          <p:cNvSpPr txBox="1"/>
          <p:nvPr/>
        </p:nvSpPr>
        <p:spPr>
          <a:xfrm>
            <a:off x="5301350" y="4489940"/>
            <a:ext cx="3277724" cy="507831"/>
          </a:xfrm>
          <a:prstGeom prst="rect">
            <a:avLst/>
          </a:prstGeom>
          <a:noFill/>
        </p:spPr>
        <p:txBody>
          <a:bodyPr wrap="square" rtlCol="0">
            <a:spAutoFit/>
          </a:bodyPr>
          <a:lstStyle/>
          <a:p>
            <a:r>
              <a:rPr lang="es-ES" dirty="0"/>
              <a:t>En este ejemplo solo hay instanciadas 5 hojas de segundo nivel de las 16 posibles.</a:t>
            </a:r>
          </a:p>
        </p:txBody>
      </p:sp>
    </p:spTree>
    <p:extLst>
      <p:ext uri="{BB962C8B-B14F-4D97-AF65-F5344CB8AC3E}">
        <p14:creationId xmlns:p14="http://schemas.microsoft.com/office/powerpoint/2010/main" val="2694102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1616340" cy="338554"/>
          </a:xfrm>
          <a:prstGeom prst="rect">
            <a:avLst/>
          </a:prstGeom>
          <a:noFill/>
        </p:spPr>
        <p:txBody>
          <a:bodyPr wrap="none" rtlCol="0">
            <a:spAutoFit/>
          </a:bodyPr>
          <a:lstStyle/>
          <a:p>
            <a:r>
              <a:rPr lang="es-ES" sz="1600" b="1" u="sng" dirty="0"/>
              <a:t>Tablas multinivel</a:t>
            </a:r>
          </a:p>
        </p:txBody>
      </p:sp>
      <p:pic>
        <p:nvPicPr>
          <p:cNvPr id="2" name="Imagen 1">
            <a:extLst>
              <a:ext uri="{FF2B5EF4-FFF2-40B4-BE49-F238E27FC236}">
                <a16:creationId xmlns:a16="http://schemas.microsoft.com/office/drawing/2014/main" id="{5C956A67-1345-406F-A165-EF7B6EBFE0E1}"/>
              </a:ext>
            </a:extLst>
          </p:cNvPr>
          <p:cNvPicPr>
            <a:picLocks noChangeAspect="1"/>
          </p:cNvPicPr>
          <p:nvPr/>
        </p:nvPicPr>
        <p:blipFill>
          <a:blip r:embed="rId3"/>
          <a:stretch>
            <a:fillRect/>
          </a:stretch>
        </p:blipFill>
        <p:spPr>
          <a:xfrm>
            <a:off x="1962504" y="1182029"/>
            <a:ext cx="6914615" cy="3290328"/>
          </a:xfrm>
          <a:prstGeom prst="rect">
            <a:avLst/>
          </a:prstGeom>
        </p:spPr>
      </p:pic>
      <p:sp>
        <p:nvSpPr>
          <p:cNvPr id="14" name="CuadroTexto 13">
            <a:extLst>
              <a:ext uri="{FF2B5EF4-FFF2-40B4-BE49-F238E27FC236}">
                <a16:creationId xmlns:a16="http://schemas.microsoft.com/office/drawing/2014/main" id="{94746E43-93FF-498E-AF40-4DD79EE84F2D}"/>
              </a:ext>
            </a:extLst>
          </p:cNvPr>
          <p:cNvSpPr txBox="1"/>
          <p:nvPr/>
        </p:nvSpPr>
        <p:spPr>
          <a:xfrm>
            <a:off x="1293541" y="4778532"/>
            <a:ext cx="3480619" cy="461665"/>
          </a:xfrm>
          <a:prstGeom prst="rect">
            <a:avLst/>
          </a:prstGeom>
          <a:noFill/>
        </p:spPr>
        <p:txBody>
          <a:bodyPr wrap="square" rtlCol="0">
            <a:spAutoFit/>
          </a:bodyPr>
          <a:lstStyle/>
          <a:p>
            <a:r>
              <a:rPr lang="es-ES" sz="1200" dirty="0"/>
              <a:t>Fuente: David Black-Schaffer</a:t>
            </a:r>
          </a:p>
          <a:p>
            <a:r>
              <a:rPr lang="es-ES" sz="1200" dirty="0"/>
              <a:t> </a:t>
            </a:r>
          </a:p>
        </p:txBody>
      </p:sp>
      <p:sp>
        <p:nvSpPr>
          <p:cNvPr id="16" name="CuadroTexto 15">
            <a:extLst>
              <a:ext uri="{FF2B5EF4-FFF2-40B4-BE49-F238E27FC236}">
                <a16:creationId xmlns:a16="http://schemas.microsoft.com/office/drawing/2014/main" id="{AD59366E-D698-40B4-9E4F-97345E0BB992}"/>
              </a:ext>
            </a:extLst>
          </p:cNvPr>
          <p:cNvSpPr txBox="1"/>
          <p:nvPr/>
        </p:nvSpPr>
        <p:spPr>
          <a:xfrm>
            <a:off x="4774160" y="4795742"/>
            <a:ext cx="4577574" cy="300082"/>
          </a:xfrm>
          <a:prstGeom prst="rect">
            <a:avLst/>
          </a:prstGeom>
          <a:noFill/>
        </p:spPr>
        <p:txBody>
          <a:bodyPr wrap="square">
            <a:spAutoFit/>
          </a:bodyPr>
          <a:lstStyle/>
          <a:p>
            <a:r>
              <a:rPr lang="en-US" dirty="0">
                <a:hlinkClick r:id="rId4"/>
              </a:rPr>
              <a:t>Two Level Page Table Example ( Georgia Tech, </a:t>
            </a:r>
            <a:r>
              <a:rPr lang="en-US" dirty="0" err="1">
                <a:hlinkClick r:id="rId4"/>
              </a:rPr>
              <a:t>Youtube</a:t>
            </a:r>
            <a:r>
              <a:rPr lang="en-US" dirty="0">
                <a:hlinkClick r:id="rId4"/>
              </a:rPr>
              <a:t>)</a:t>
            </a:r>
            <a:endParaRPr lang="es-ES" dirty="0"/>
          </a:p>
        </p:txBody>
      </p:sp>
    </p:spTree>
    <p:extLst>
      <p:ext uri="{BB962C8B-B14F-4D97-AF65-F5344CB8AC3E}">
        <p14:creationId xmlns:p14="http://schemas.microsoft.com/office/powerpoint/2010/main" val="20107171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1616340" cy="338554"/>
          </a:xfrm>
          <a:prstGeom prst="rect">
            <a:avLst/>
          </a:prstGeom>
          <a:noFill/>
        </p:spPr>
        <p:txBody>
          <a:bodyPr wrap="none" rtlCol="0">
            <a:spAutoFit/>
          </a:bodyPr>
          <a:lstStyle/>
          <a:p>
            <a:r>
              <a:rPr lang="es-ES" sz="1600" b="1" u="sng" dirty="0"/>
              <a:t>Tablas multinivel</a:t>
            </a:r>
          </a:p>
        </p:txBody>
      </p:sp>
      <p:pic>
        <p:nvPicPr>
          <p:cNvPr id="3" name="Imagen 2">
            <a:extLst>
              <a:ext uri="{FF2B5EF4-FFF2-40B4-BE49-F238E27FC236}">
                <a16:creationId xmlns:a16="http://schemas.microsoft.com/office/drawing/2014/main" id="{12654C10-E90F-4AD0-A443-51AB8A788F1B}"/>
              </a:ext>
            </a:extLst>
          </p:cNvPr>
          <p:cNvPicPr>
            <a:picLocks noChangeAspect="1"/>
          </p:cNvPicPr>
          <p:nvPr/>
        </p:nvPicPr>
        <p:blipFill>
          <a:blip r:embed="rId3"/>
          <a:stretch>
            <a:fillRect/>
          </a:stretch>
        </p:blipFill>
        <p:spPr>
          <a:xfrm>
            <a:off x="2895992" y="1449658"/>
            <a:ext cx="5887162" cy="3689399"/>
          </a:xfrm>
          <a:prstGeom prst="rect">
            <a:avLst/>
          </a:prstGeom>
        </p:spPr>
      </p:pic>
      <p:sp>
        <p:nvSpPr>
          <p:cNvPr id="6" name="CuadroTexto 5">
            <a:extLst>
              <a:ext uri="{FF2B5EF4-FFF2-40B4-BE49-F238E27FC236}">
                <a16:creationId xmlns:a16="http://schemas.microsoft.com/office/drawing/2014/main" id="{8BB68E0F-3A87-408E-B58E-7AB889C01B03}"/>
              </a:ext>
            </a:extLst>
          </p:cNvPr>
          <p:cNvSpPr txBox="1"/>
          <p:nvPr/>
        </p:nvSpPr>
        <p:spPr>
          <a:xfrm>
            <a:off x="5306189" y="1065665"/>
            <a:ext cx="1066767" cy="515526"/>
          </a:xfrm>
          <a:prstGeom prst="rect">
            <a:avLst/>
          </a:prstGeom>
          <a:noFill/>
        </p:spPr>
        <p:txBody>
          <a:bodyPr wrap="none" rtlCol="0">
            <a:spAutoFit/>
          </a:bodyPr>
          <a:lstStyle/>
          <a:p>
            <a:r>
              <a:rPr lang="es-ES" sz="1400" dirty="0"/>
              <a:t>Intel Core i7</a:t>
            </a:r>
          </a:p>
          <a:p>
            <a:endParaRPr lang="es-ES" dirty="0"/>
          </a:p>
        </p:txBody>
      </p:sp>
      <p:sp>
        <p:nvSpPr>
          <p:cNvPr id="7" name="CuadroTexto 6">
            <a:extLst>
              <a:ext uri="{FF2B5EF4-FFF2-40B4-BE49-F238E27FC236}">
                <a16:creationId xmlns:a16="http://schemas.microsoft.com/office/drawing/2014/main" id="{11D31E50-E116-47C9-8E68-AF9712CDA84B}"/>
              </a:ext>
            </a:extLst>
          </p:cNvPr>
          <p:cNvSpPr txBox="1"/>
          <p:nvPr/>
        </p:nvSpPr>
        <p:spPr>
          <a:xfrm>
            <a:off x="2181787" y="1581191"/>
            <a:ext cx="655949" cy="300082"/>
          </a:xfrm>
          <a:prstGeom prst="rect">
            <a:avLst/>
          </a:prstGeom>
          <a:noFill/>
        </p:spPr>
        <p:txBody>
          <a:bodyPr wrap="none" rtlCol="0">
            <a:spAutoFit/>
          </a:bodyPr>
          <a:lstStyle/>
          <a:p>
            <a:r>
              <a:rPr lang="es-ES" dirty="0"/>
              <a:t>48 bits</a:t>
            </a:r>
          </a:p>
        </p:txBody>
      </p:sp>
      <p:sp>
        <p:nvSpPr>
          <p:cNvPr id="8" name="CuadroTexto 7">
            <a:extLst>
              <a:ext uri="{FF2B5EF4-FFF2-40B4-BE49-F238E27FC236}">
                <a16:creationId xmlns:a16="http://schemas.microsoft.com/office/drawing/2014/main" id="{D97B9903-7679-4F1F-9639-F9C21370786C}"/>
              </a:ext>
            </a:extLst>
          </p:cNvPr>
          <p:cNvSpPr txBox="1"/>
          <p:nvPr/>
        </p:nvSpPr>
        <p:spPr>
          <a:xfrm>
            <a:off x="2181787" y="4614818"/>
            <a:ext cx="655949" cy="300082"/>
          </a:xfrm>
          <a:prstGeom prst="rect">
            <a:avLst/>
          </a:prstGeom>
          <a:noFill/>
        </p:spPr>
        <p:txBody>
          <a:bodyPr wrap="none" rtlCol="0">
            <a:spAutoFit/>
          </a:bodyPr>
          <a:lstStyle/>
          <a:p>
            <a:r>
              <a:rPr lang="es-ES" dirty="0"/>
              <a:t>52 bits</a:t>
            </a:r>
          </a:p>
        </p:txBody>
      </p:sp>
    </p:spTree>
    <p:extLst>
      <p:ext uri="{BB962C8B-B14F-4D97-AF65-F5344CB8AC3E}">
        <p14:creationId xmlns:p14="http://schemas.microsoft.com/office/powerpoint/2010/main" val="1075965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3077509" cy="338554"/>
          </a:xfrm>
          <a:prstGeom prst="rect">
            <a:avLst/>
          </a:prstGeom>
          <a:noFill/>
        </p:spPr>
        <p:txBody>
          <a:bodyPr wrap="none" rtlCol="0">
            <a:spAutoFit/>
          </a:bodyPr>
          <a:lstStyle/>
          <a:p>
            <a:r>
              <a:rPr lang="es-ES" sz="1600" b="1" u="sng" dirty="0"/>
              <a:t>TLB (</a:t>
            </a:r>
            <a:r>
              <a:rPr lang="es-ES" sz="1600" b="1" u="sng" dirty="0" err="1"/>
              <a:t>Translation</a:t>
            </a:r>
            <a:r>
              <a:rPr lang="es-ES" sz="1600" b="1" u="sng" dirty="0"/>
              <a:t> </a:t>
            </a:r>
            <a:r>
              <a:rPr lang="es-ES" sz="1600" b="1" u="sng" dirty="0" err="1"/>
              <a:t>Lookaside</a:t>
            </a:r>
            <a:r>
              <a:rPr lang="es-ES" sz="1600" b="1" u="sng" dirty="0"/>
              <a:t> Buffer)</a:t>
            </a:r>
          </a:p>
        </p:txBody>
      </p:sp>
      <p:sp>
        <p:nvSpPr>
          <p:cNvPr id="2" name="CuadroTexto 1">
            <a:extLst>
              <a:ext uri="{FF2B5EF4-FFF2-40B4-BE49-F238E27FC236}">
                <a16:creationId xmlns:a16="http://schemas.microsoft.com/office/drawing/2014/main" id="{88FEB78F-0038-46AF-9497-FD3BB78982BE}"/>
              </a:ext>
            </a:extLst>
          </p:cNvPr>
          <p:cNvSpPr txBox="1"/>
          <p:nvPr/>
        </p:nvSpPr>
        <p:spPr>
          <a:xfrm>
            <a:off x="1776414" y="1397259"/>
            <a:ext cx="7049872" cy="3554819"/>
          </a:xfrm>
          <a:prstGeom prst="rect">
            <a:avLst/>
          </a:prstGeom>
          <a:noFill/>
        </p:spPr>
        <p:txBody>
          <a:bodyPr wrap="square" rtlCol="0">
            <a:spAutoFit/>
          </a:bodyPr>
          <a:lstStyle/>
          <a:p>
            <a:pPr algn="just"/>
            <a:r>
              <a:rPr lang="es-ES" sz="1500" dirty="0"/>
              <a:t>Imaginemos un micro actual con una tabla de 5 niveles. Por cada acceso a memoria del proceso el </a:t>
            </a:r>
            <a:r>
              <a:rPr lang="es-ES" sz="1500" dirty="0" err="1"/>
              <a:t>kernel</a:t>
            </a:r>
            <a:r>
              <a:rPr lang="es-ES" sz="1500" dirty="0"/>
              <a:t> tendría que realizar 5 accesos solo para saber si la página estaba cargada, y en tal caso realizar la traducción.</a:t>
            </a:r>
          </a:p>
          <a:p>
            <a:pPr algn="just"/>
            <a:endParaRPr lang="es-ES" sz="1500" dirty="0"/>
          </a:p>
          <a:p>
            <a:pPr algn="just"/>
            <a:r>
              <a:rPr lang="es-ES" sz="1500" dirty="0"/>
              <a:t>Esto no puede realizarse por SW, la MMU dispone de una memoria asociativa especial llamada TLB para llevarlo a cabo. La TLB es pequeña y muy rápida (parecida a una caché) y mantiene la relación entre números de página y marcos accedidos más recientemente. Cada vez que la CPU escribe una dirección virtual, se presenta a la TLB. Como es una memoria asociativa, compara el número de página con todas sus entradas. Si está presente, realiza la traducción de inmediato, sin intervención del Sistema Operativo y el proceso es muy rápido. Si no lo está hay un fallo de TLB. Esto produce una interrupción que despierta al </a:t>
            </a:r>
            <a:r>
              <a:rPr lang="es-ES" sz="1500" dirty="0" err="1"/>
              <a:t>kernel</a:t>
            </a:r>
            <a:r>
              <a:rPr lang="es-ES" sz="1500" dirty="0"/>
              <a:t>. Si la página está en RAM (fallo de TLB), el </a:t>
            </a:r>
            <a:r>
              <a:rPr lang="es-ES" sz="1500" dirty="0" err="1"/>
              <a:t>kernel</a:t>
            </a:r>
            <a:r>
              <a:rPr lang="es-ES" sz="1500" dirty="0"/>
              <a:t> toma esos datos de la tabla de memoria virtual del proceso, actualiza la TLB y puede realizarse la traducción. Si no lo está, es un fallo de RAM y hay que cargarla desde disco (fallo de página).</a:t>
            </a:r>
          </a:p>
        </p:txBody>
      </p:sp>
    </p:spTree>
    <p:extLst>
      <p:ext uri="{BB962C8B-B14F-4D97-AF65-F5344CB8AC3E}">
        <p14:creationId xmlns:p14="http://schemas.microsoft.com/office/powerpoint/2010/main" val="26419548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3077509" cy="338554"/>
          </a:xfrm>
          <a:prstGeom prst="rect">
            <a:avLst/>
          </a:prstGeom>
          <a:noFill/>
        </p:spPr>
        <p:txBody>
          <a:bodyPr wrap="none" rtlCol="0">
            <a:spAutoFit/>
          </a:bodyPr>
          <a:lstStyle/>
          <a:p>
            <a:r>
              <a:rPr lang="es-ES" sz="1600" b="1" u="sng" dirty="0"/>
              <a:t>TLB (</a:t>
            </a:r>
            <a:r>
              <a:rPr lang="es-ES" sz="1600" b="1" u="sng" dirty="0" err="1"/>
              <a:t>Translation</a:t>
            </a:r>
            <a:r>
              <a:rPr lang="es-ES" sz="1600" b="1" u="sng" dirty="0"/>
              <a:t> </a:t>
            </a:r>
            <a:r>
              <a:rPr lang="es-ES" sz="1600" b="1" u="sng" dirty="0" err="1"/>
              <a:t>Lookaside</a:t>
            </a:r>
            <a:r>
              <a:rPr lang="es-ES" sz="1600" b="1" u="sng" dirty="0"/>
              <a:t> Buffer)</a:t>
            </a:r>
          </a:p>
        </p:txBody>
      </p:sp>
      <p:pic>
        <p:nvPicPr>
          <p:cNvPr id="3" name="Imagen 2">
            <a:extLst>
              <a:ext uri="{FF2B5EF4-FFF2-40B4-BE49-F238E27FC236}">
                <a16:creationId xmlns:a16="http://schemas.microsoft.com/office/drawing/2014/main" id="{A1DD4A39-0110-4C0E-A5EF-A9E6932B4492}"/>
              </a:ext>
            </a:extLst>
          </p:cNvPr>
          <p:cNvPicPr>
            <a:picLocks noChangeAspect="1"/>
          </p:cNvPicPr>
          <p:nvPr/>
        </p:nvPicPr>
        <p:blipFill>
          <a:blip r:embed="rId3"/>
          <a:stretch>
            <a:fillRect/>
          </a:stretch>
        </p:blipFill>
        <p:spPr>
          <a:xfrm>
            <a:off x="1776414" y="1497105"/>
            <a:ext cx="4809776" cy="3575737"/>
          </a:xfrm>
          <a:prstGeom prst="rect">
            <a:avLst/>
          </a:prstGeom>
        </p:spPr>
      </p:pic>
      <p:sp>
        <p:nvSpPr>
          <p:cNvPr id="6" name="CuadroTexto 5">
            <a:extLst>
              <a:ext uri="{FF2B5EF4-FFF2-40B4-BE49-F238E27FC236}">
                <a16:creationId xmlns:a16="http://schemas.microsoft.com/office/drawing/2014/main" id="{07F185F8-0DD8-4E57-BDAA-2335BBFFD79D}"/>
              </a:ext>
            </a:extLst>
          </p:cNvPr>
          <p:cNvSpPr txBox="1"/>
          <p:nvPr/>
        </p:nvSpPr>
        <p:spPr>
          <a:xfrm>
            <a:off x="6824749" y="1720735"/>
            <a:ext cx="2001537" cy="2793072"/>
          </a:xfrm>
          <a:prstGeom prst="rect">
            <a:avLst/>
          </a:prstGeom>
          <a:noFill/>
        </p:spPr>
        <p:txBody>
          <a:bodyPr wrap="square" rtlCol="0">
            <a:spAutoFit/>
          </a:bodyPr>
          <a:lstStyle/>
          <a:p>
            <a:r>
              <a:rPr lang="es-ES" dirty="0"/>
              <a:t>Funcionamiento de la TLB. Si hay acierto el SO no interviene.</a:t>
            </a:r>
          </a:p>
          <a:p>
            <a:endParaRPr lang="es-ES" dirty="0"/>
          </a:p>
          <a:p>
            <a:r>
              <a:rPr lang="es-ES" dirty="0"/>
              <a:t>La TLB se carga cada vez que hay un cambio de contexto. Un puntero del micro llamado </a:t>
            </a:r>
            <a:r>
              <a:rPr lang="es-ES" b="1" dirty="0"/>
              <a:t>PTBR</a:t>
            </a:r>
            <a:r>
              <a:rPr lang="es-ES" dirty="0"/>
              <a:t> (Page Table Base </a:t>
            </a:r>
            <a:r>
              <a:rPr lang="es-ES" dirty="0" err="1"/>
              <a:t>Register</a:t>
            </a:r>
            <a:r>
              <a:rPr lang="es-ES" dirty="0"/>
              <a:t>) apunta a la dirección de la tabla del proceso actual en el espacio de memoria del </a:t>
            </a:r>
            <a:r>
              <a:rPr lang="es-ES" dirty="0" err="1"/>
              <a:t>kernel</a:t>
            </a:r>
            <a:endParaRPr lang="es-ES" dirty="0"/>
          </a:p>
        </p:txBody>
      </p:sp>
      <p:sp>
        <p:nvSpPr>
          <p:cNvPr id="8" name="Rectángulo 7">
            <a:extLst>
              <a:ext uri="{FF2B5EF4-FFF2-40B4-BE49-F238E27FC236}">
                <a16:creationId xmlns:a16="http://schemas.microsoft.com/office/drawing/2014/main" id="{BB6CA971-077D-4030-A464-FAEBA2C48E49}"/>
              </a:ext>
            </a:extLst>
          </p:cNvPr>
          <p:cNvSpPr/>
          <p:nvPr/>
        </p:nvSpPr>
        <p:spPr>
          <a:xfrm>
            <a:off x="1884479" y="2043178"/>
            <a:ext cx="526211" cy="1794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b="1" dirty="0"/>
              <a:t>PTBR</a:t>
            </a:r>
          </a:p>
        </p:txBody>
      </p:sp>
      <p:cxnSp>
        <p:nvCxnSpPr>
          <p:cNvPr id="14" name="Conector recto de flecha 13">
            <a:extLst>
              <a:ext uri="{FF2B5EF4-FFF2-40B4-BE49-F238E27FC236}">
                <a16:creationId xmlns:a16="http://schemas.microsoft.com/office/drawing/2014/main" id="{4633EDC5-0888-4894-83A1-139354CC7554}"/>
              </a:ext>
            </a:extLst>
          </p:cNvPr>
          <p:cNvCxnSpPr/>
          <p:nvPr/>
        </p:nvCxnSpPr>
        <p:spPr>
          <a:xfrm>
            <a:off x="2186247" y="2244436"/>
            <a:ext cx="0" cy="1454728"/>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CC946656-5C0C-4D06-AE1F-52EB2405A8B5}"/>
              </a:ext>
            </a:extLst>
          </p:cNvPr>
          <p:cNvCxnSpPr>
            <a:cxnSpLocks/>
          </p:cNvCxnSpPr>
          <p:nvPr/>
        </p:nvCxnSpPr>
        <p:spPr>
          <a:xfrm flipH="1">
            <a:off x="2186248" y="3699164"/>
            <a:ext cx="1704108" cy="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9513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3077509" cy="338554"/>
          </a:xfrm>
          <a:prstGeom prst="rect">
            <a:avLst/>
          </a:prstGeom>
          <a:noFill/>
        </p:spPr>
        <p:txBody>
          <a:bodyPr wrap="none" rtlCol="0">
            <a:spAutoFit/>
          </a:bodyPr>
          <a:lstStyle/>
          <a:p>
            <a:r>
              <a:rPr lang="es-ES" sz="1600" b="1" u="sng" dirty="0"/>
              <a:t>TLB (</a:t>
            </a:r>
            <a:r>
              <a:rPr lang="es-ES" sz="1600" b="1" u="sng" dirty="0" err="1"/>
              <a:t>Translation</a:t>
            </a:r>
            <a:r>
              <a:rPr lang="es-ES" sz="1600" b="1" u="sng" dirty="0"/>
              <a:t> </a:t>
            </a:r>
            <a:r>
              <a:rPr lang="es-ES" sz="1600" b="1" u="sng" dirty="0" err="1"/>
              <a:t>Lookaside</a:t>
            </a:r>
            <a:r>
              <a:rPr lang="es-ES" sz="1600" b="1" u="sng" dirty="0"/>
              <a:t> Buffer)</a:t>
            </a:r>
          </a:p>
        </p:txBody>
      </p:sp>
      <p:sp>
        <p:nvSpPr>
          <p:cNvPr id="11" name="Rectángulo 10">
            <a:extLst>
              <a:ext uri="{FF2B5EF4-FFF2-40B4-BE49-F238E27FC236}">
                <a16:creationId xmlns:a16="http://schemas.microsoft.com/office/drawing/2014/main" id="{C22C32B3-368C-4423-AB15-CE2E505EF6E0}"/>
              </a:ext>
            </a:extLst>
          </p:cNvPr>
          <p:cNvSpPr/>
          <p:nvPr/>
        </p:nvSpPr>
        <p:spPr>
          <a:xfrm>
            <a:off x="3526924" y="1767212"/>
            <a:ext cx="1845425" cy="1995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038F2H</a:t>
            </a:r>
          </a:p>
        </p:txBody>
      </p:sp>
      <p:sp>
        <p:nvSpPr>
          <p:cNvPr id="15" name="Rectángulo 14">
            <a:extLst>
              <a:ext uri="{FF2B5EF4-FFF2-40B4-BE49-F238E27FC236}">
                <a16:creationId xmlns:a16="http://schemas.microsoft.com/office/drawing/2014/main" id="{F93FDFFA-169A-4B01-965A-5A286C73D8E0}"/>
              </a:ext>
            </a:extLst>
          </p:cNvPr>
          <p:cNvSpPr/>
          <p:nvPr/>
        </p:nvSpPr>
        <p:spPr>
          <a:xfrm>
            <a:off x="5372349" y="1767212"/>
            <a:ext cx="656706" cy="1995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A01H</a:t>
            </a:r>
          </a:p>
        </p:txBody>
      </p:sp>
      <p:sp>
        <p:nvSpPr>
          <p:cNvPr id="16" name="Rectángulo 15">
            <a:extLst>
              <a:ext uri="{FF2B5EF4-FFF2-40B4-BE49-F238E27FC236}">
                <a16:creationId xmlns:a16="http://schemas.microsoft.com/office/drawing/2014/main" id="{4B6117AC-3E60-4093-B887-4444191C40ED}"/>
              </a:ext>
            </a:extLst>
          </p:cNvPr>
          <p:cNvSpPr/>
          <p:nvPr/>
        </p:nvSpPr>
        <p:spPr>
          <a:xfrm>
            <a:off x="1776414" y="1370987"/>
            <a:ext cx="858721" cy="811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CPU</a:t>
            </a:r>
          </a:p>
        </p:txBody>
      </p:sp>
      <p:sp>
        <p:nvSpPr>
          <p:cNvPr id="18" name="Flecha: a la izquierda y arriba 17">
            <a:extLst>
              <a:ext uri="{FF2B5EF4-FFF2-40B4-BE49-F238E27FC236}">
                <a16:creationId xmlns:a16="http://schemas.microsoft.com/office/drawing/2014/main" id="{D29F0455-A28D-4DC1-AA8E-227DEEC1EEE4}"/>
              </a:ext>
            </a:extLst>
          </p:cNvPr>
          <p:cNvSpPr/>
          <p:nvPr/>
        </p:nvSpPr>
        <p:spPr>
          <a:xfrm flipV="1">
            <a:off x="2635135" y="2019991"/>
            <a:ext cx="1289274" cy="811074"/>
          </a:xfrm>
          <a:prstGeom prst="leftUpArrow">
            <a:avLst>
              <a:gd name="adj1" fmla="val 9004"/>
              <a:gd name="adj2" fmla="val 11676"/>
              <a:gd name="adj3" fmla="val 15776"/>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BD4695F2-E397-4F90-B1E2-922BD8832B7A}"/>
              </a:ext>
            </a:extLst>
          </p:cNvPr>
          <p:cNvSpPr txBox="1"/>
          <p:nvPr/>
        </p:nvSpPr>
        <p:spPr>
          <a:xfrm>
            <a:off x="3645133" y="1459098"/>
            <a:ext cx="2809702" cy="300082"/>
          </a:xfrm>
          <a:prstGeom prst="rect">
            <a:avLst/>
          </a:prstGeom>
          <a:noFill/>
        </p:spPr>
        <p:txBody>
          <a:bodyPr wrap="square" rtlCol="0">
            <a:spAutoFit/>
          </a:bodyPr>
          <a:lstStyle/>
          <a:p>
            <a:r>
              <a:rPr lang="es-ES" dirty="0"/>
              <a:t>Página (20 bits)            offset (12 bits)</a:t>
            </a:r>
          </a:p>
        </p:txBody>
      </p:sp>
      <p:sp>
        <p:nvSpPr>
          <p:cNvPr id="20" name="CuadroTexto 19">
            <a:extLst>
              <a:ext uri="{FF2B5EF4-FFF2-40B4-BE49-F238E27FC236}">
                <a16:creationId xmlns:a16="http://schemas.microsoft.com/office/drawing/2014/main" id="{FA5AB639-924B-4709-A9EC-461855E89190}"/>
              </a:ext>
            </a:extLst>
          </p:cNvPr>
          <p:cNvSpPr txBox="1"/>
          <p:nvPr/>
        </p:nvSpPr>
        <p:spPr>
          <a:xfrm>
            <a:off x="1420108" y="2350889"/>
            <a:ext cx="2504301" cy="276999"/>
          </a:xfrm>
          <a:prstGeom prst="rect">
            <a:avLst/>
          </a:prstGeom>
          <a:noFill/>
        </p:spPr>
        <p:txBody>
          <a:bodyPr wrap="square" rtlCol="0">
            <a:spAutoFit/>
          </a:bodyPr>
          <a:lstStyle/>
          <a:p>
            <a:r>
              <a:rPr lang="es-ES" sz="1200" dirty="0"/>
              <a:t>Dirección virtual 038F2A01H</a:t>
            </a:r>
          </a:p>
        </p:txBody>
      </p:sp>
      <p:sp>
        <p:nvSpPr>
          <p:cNvPr id="21" name="Rectángulo 20">
            <a:extLst>
              <a:ext uri="{FF2B5EF4-FFF2-40B4-BE49-F238E27FC236}">
                <a16:creationId xmlns:a16="http://schemas.microsoft.com/office/drawing/2014/main" id="{2FAF1DB6-66F1-40B5-8EFC-40C42FB7BF98}"/>
              </a:ext>
            </a:extLst>
          </p:cNvPr>
          <p:cNvSpPr/>
          <p:nvPr/>
        </p:nvSpPr>
        <p:spPr>
          <a:xfrm>
            <a:off x="3183775" y="2831065"/>
            <a:ext cx="2152996" cy="9799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2" name="Rectángulo 21">
            <a:extLst>
              <a:ext uri="{FF2B5EF4-FFF2-40B4-BE49-F238E27FC236}">
                <a16:creationId xmlns:a16="http://schemas.microsoft.com/office/drawing/2014/main" id="{C6AEC36A-5054-4C99-892F-D9745032000C}"/>
              </a:ext>
            </a:extLst>
          </p:cNvPr>
          <p:cNvSpPr/>
          <p:nvPr/>
        </p:nvSpPr>
        <p:spPr>
          <a:xfrm>
            <a:off x="3466406" y="2928984"/>
            <a:ext cx="698269" cy="2329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03890H</a:t>
            </a:r>
          </a:p>
        </p:txBody>
      </p:sp>
      <p:sp>
        <p:nvSpPr>
          <p:cNvPr id="30" name="Rectángulo 29">
            <a:extLst>
              <a:ext uri="{FF2B5EF4-FFF2-40B4-BE49-F238E27FC236}">
                <a16:creationId xmlns:a16="http://schemas.microsoft.com/office/drawing/2014/main" id="{9B3ECDE4-00D6-48FD-8B99-FD94A3FF2C63}"/>
              </a:ext>
            </a:extLst>
          </p:cNvPr>
          <p:cNvSpPr/>
          <p:nvPr/>
        </p:nvSpPr>
        <p:spPr>
          <a:xfrm>
            <a:off x="3466406" y="3161963"/>
            <a:ext cx="698269" cy="2329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038F2H</a:t>
            </a:r>
          </a:p>
        </p:txBody>
      </p:sp>
      <p:sp>
        <p:nvSpPr>
          <p:cNvPr id="32" name="Rectángulo 31">
            <a:extLst>
              <a:ext uri="{FF2B5EF4-FFF2-40B4-BE49-F238E27FC236}">
                <a16:creationId xmlns:a16="http://schemas.microsoft.com/office/drawing/2014/main" id="{D46A46BD-78EA-4459-A66B-F309E1A2B0F3}"/>
              </a:ext>
            </a:extLst>
          </p:cNvPr>
          <p:cNvSpPr/>
          <p:nvPr/>
        </p:nvSpPr>
        <p:spPr>
          <a:xfrm>
            <a:off x="3466406" y="3480069"/>
            <a:ext cx="698269" cy="2329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02AFFH</a:t>
            </a:r>
          </a:p>
        </p:txBody>
      </p:sp>
      <p:sp>
        <p:nvSpPr>
          <p:cNvPr id="34" name="Rectángulo 33">
            <a:extLst>
              <a:ext uri="{FF2B5EF4-FFF2-40B4-BE49-F238E27FC236}">
                <a16:creationId xmlns:a16="http://schemas.microsoft.com/office/drawing/2014/main" id="{C027AB60-9732-4E54-B5B1-1A954325CE9F}"/>
              </a:ext>
            </a:extLst>
          </p:cNvPr>
          <p:cNvSpPr/>
          <p:nvPr/>
        </p:nvSpPr>
        <p:spPr>
          <a:xfrm>
            <a:off x="4222865" y="2914083"/>
            <a:ext cx="698269" cy="232979"/>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010AH</a:t>
            </a:r>
          </a:p>
        </p:txBody>
      </p:sp>
      <p:sp>
        <p:nvSpPr>
          <p:cNvPr id="38" name="Rectángulo 37">
            <a:extLst>
              <a:ext uri="{FF2B5EF4-FFF2-40B4-BE49-F238E27FC236}">
                <a16:creationId xmlns:a16="http://schemas.microsoft.com/office/drawing/2014/main" id="{10C63D91-C577-433D-9EDB-EB9B3F1D8448}"/>
              </a:ext>
            </a:extLst>
          </p:cNvPr>
          <p:cNvSpPr/>
          <p:nvPr/>
        </p:nvSpPr>
        <p:spPr>
          <a:xfrm>
            <a:off x="4222864" y="3161963"/>
            <a:ext cx="698269" cy="232979"/>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0019H</a:t>
            </a:r>
          </a:p>
        </p:txBody>
      </p:sp>
      <p:sp>
        <p:nvSpPr>
          <p:cNvPr id="40" name="Rectángulo 39">
            <a:extLst>
              <a:ext uri="{FF2B5EF4-FFF2-40B4-BE49-F238E27FC236}">
                <a16:creationId xmlns:a16="http://schemas.microsoft.com/office/drawing/2014/main" id="{CB118912-3800-4830-BC02-7B579FD8C1A5}"/>
              </a:ext>
            </a:extLst>
          </p:cNvPr>
          <p:cNvSpPr/>
          <p:nvPr/>
        </p:nvSpPr>
        <p:spPr>
          <a:xfrm>
            <a:off x="4222863" y="3461146"/>
            <a:ext cx="698269" cy="232979"/>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a:t>1409H</a:t>
            </a:r>
          </a:p>
        </p:txBody>
      </p:sp>
      <p:sp>
        <p:nvSpPr>
          <p:cNvPr id="42" name="Rectángulo 41">
            <a:extLst>
              <a:ext uri="{FF2B5EF4-FFF2-40B4-BE49-F238E27FC236}">
                <a16:creationId xmlns:a16="http://schemas.microsoft.com/office/drawing/2014/main" id="{DA68D3A0-431C-4F95-969E-9C1C271B66B8}"/>
              </a:ext>
            </a:extLst>
          </p:cNvPr>
          <p:cNvSpPr/>
          <p:nvPr/>
        </p:nvSpPr>
        <p:spPr>
          <a:xfrm>
            <a:off x="3815542" y="4240833"/>
            <a:ext cx="1556807" cy="1995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0019H</a:t>
            </a:r>
          </a:p>
        </p:txBody>
      </p:sp>
      <p:sp>
        <p:nvSpPr>
          <p:cNvPr id="44" name="CuadroTexto 43">
            <a:extLst>
              <a:ext uri="{FF2B5EF4-FFF2-40B4-BE49-F238E27FC236}">
                <a16:creationId xmlns:a16="http://schemas.microsoft.com/office/drawing/2014/main" id="{F56AF3A0-67F3-43DF-8787-82103999F1CA}"/>
              </a:ext>
            </a:extLst>
          </p:cNvPr>
          <p:cNvSpPr txBox="1"/>
          <p:nvPr/>
        </p:nvSpPr>
        <p:spPr>
          <a:xfrm>
            <a:off x="3713748" y="4463564"/>
            <a:ext cx="2809702" cy="300082"/>
          </a:xfrm>
          <a:prstGeom prst="rect">
            <a:avLst/>
          </a:prstGeom>
          <a:noFill/>
        </p:spPr>
        <p:txBody>
          <a:bodyPr wrap="square" rtlCol="0">
            <a:spAutoFit/>
          </a:bodyPr>
          <a:lstStyle/>
          <a:p>
            <a:r>
              <a:rPr lang="es-ES" dirty="0"/>
              <a:t>Marco (16 bits)            offset (12 bits)</a:t>
            </a:r>
          </a:p>
        </p:txBody>
      </p:sp>
      <p:sp>
        <p:nvSpPr>
          <p:cNvPr id="45" name="Flecha: doblada 44">
            <a:extLst>
              <a:ext uri="{FF2B5EF4-FFF2-40B4-BE49-F238E27FC236}">
                <a16:creationId xmlns:a16="http://schemas.microsoft.com/office/drawing/2014/main" id="{0891AB2C-7BD3-4107-98B0-F9493895712D}"/>
              </a:ext>
            </a:extLst>
          </p:cNvPr>
          <p:cNvSpPr/>
          <p:nvPr/>
        </p:nvSpPr>
        <p:spPr>
          <a:xfrm rot="5400000">
            <a:off x="4536342" y="3656537"/>
            <a:ext cx="969085" cy="199508"/>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47" name="Rectángulo 46">
            <a:extLst>
              <a:ext uri="{FF2B5EF4-FFF2-40B4-BE49-F238E27FC236}">
                <a16:creationId xmlns:a16="http://schemas.microsoft.com/office/drawing/2014/main" id="{1E3085AD-B878-433C-9090-72D7A6CC884B}"/>
              </a:ext>
            </a:extLst>
          </p:cNvPr>
          <p:cNvSpPr/>
          <p:nvPr/>
        </p:nvSpPr>
        <p:spPr>
          <a:xfrm>
            <a:off x="5372349" y="4240205"/>
            <a:ext cx="656706" cy="1995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A01H</a:t>
            </a:r>
          </a:p>
        </p:txBody>
      </p:sp>
      <p:cxnSp>
        <p:nvCxnSpPr>
          <p:cNvPr id="49" name="Conector recto de flecha 48">
            <a:extLst>
              <a:ext uri="{FF2B5EF4-FFF2-40B4-BE49-F238E27FC236}">
                <a16:creationId xmlns:a16="http://schemas.microsoft.com/office/drawing/2014/main" id="{7E4F204B-AE6F-4C15-A5E7-1BCEE2A5E770}"/>
              </a:ext>
            </a:extLst>
          </p:cNvPr>
          <p:cNvCxnSpPr>
            <a:stCxn id="15" idx="2"/>
            <a:endCxn id="47" idx="0"/>
          </p:cNvCxnSpPr>
          <p:nvPr/>
        </p:nvCxnSpPr>
        <p:spPr>
          <a:xfrm>
            <a:off x="5700702" y="1966718"/>
            <a:ext cx="0" cy="2273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CuadroTexto 49">
            <a:extLst>
              <a:ext uri="{FF2B5EF4-FFF2-40B4-BE49-F238E27FC236}">
                <a16:creationId xmlns:a16="http://schemas.microsoft.com/office/drawing/2014/main" id="{E1570537-74C4-4D16-B116-102E4960CAB6}"/>
              </a:ext>
            </a:extLst>
          </p:cNvPr>
          <p:cNvSpPr txBox="1"/>
          <p:nvPr/>
        </p:nvSpPr>
        <p:spPr>
          <a:xfrm>
            <a:off x="4900430" y="2836879"/>
            <a:ext cx="436338" cy="300082"/>
          </a:xfrm>
          <a:prstGeom prst="rect">
            <a:avLst/>
          </a:prstGeom>
          <a:noFill/>
        </p:spPr>
        <p:txBody>
          <a:bodyPr wrap="none" rtlCol="0">
            <a:spAutoFit/>
          </a:bodyPr>
          <a:lstStyle/>
          <a:p>
            <a:r>
              <a:rPr lang="es-ES" dirty="0"/>
              <a:t>TLB</a:t>
            </a:r>
          </a:p>
        </p:txBody>
      </p:sp>
      <p:sp>
        <p:nvSpPr>
          <p:cNvPr id="51" name="Rectángulo 50">
            <a:extLst>
              <a:ext uri="{FF2B5EF4-FFF2-40B4-BE49-F238E27FC236}">
                <a16:creationId xmlns:a16="http://schemas.microsoft.com/office/drawing/2014/main" id="{D73EE81C-E8D2-4CFE-9C73-7E008519A02C}"/>
              </a:ext>
            </a:extLst>
          </p:cNvPr>
          <p:cNvSpPr/>
          <p:nvPr/>
        </p:nvSpPr>
        <p:spPr>
          <a:xfrm>
            <a:off x="1420109" y="1270455"/>
            <a:ext cx="4919702" cy="3644445"/>
          </a:xfrm>
          <a:prstGeom prst="rect">
            <a:avLst/>
          </a:prstGeom>
          <a:noFill/>
          <a:ln w="28575">
            <a:solidFill>
              <a:schemeClr val="accent3">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2" name="CuadroTexto 51">
            <a:extLst>
              <a:ext uri="{FF2B5EF4-FFF2-40B4-BE49-F238E27FC236}">
                <a16:creationId xmlns:a16="http://schemas.microsoft.com/office/drawing/2014/main" id="{41E2024D-2FF8-497A-9562-79C7AEF9FF7B}"/>
              </a:ext>
            </a:extLst>
          </p:cNvPr>
          <p:cNvSpPr txBox="1"/>
          <p:nvPr/>
        </p:nvSpPr>
        <p:spPr>
          <a:xfrm>
            <a:off x="6791498" y="1005840"/>
            <a:ext cx="1371600" cy="453258"/>
          </a:xfrm>
          <a:prstGeom prst="rect">
            <a:avLst/>
          </a:prstGeom>
          <a:noFill/>
        </p:spPr>
        <p:txBody>
          <a:bodyPr wrap="square" rtlCol="0">
            <a:spAutoFit/>
          </a:bodyPr>
          <a:lstStyle/>
          <a:p>
            <a:endParaRPr lang="es-ES" dirty="0"/>
          </a:p>
        </p:txBody>
      </p:sp>
      <p:sp>
        <p:nvSpPr>
          <p:cNvPr id="53" name="CuadroTexto 52">
            <a:extLst>
              <a:ext uri="{FF2B5EF4-FFF2-40B4-BE49-F238E27FC236}">
                <a16:creationId xmlns:a16="http://schemas.microsoft.com/office/drawing/2014/main" id="{7E69F3C2-7166-4665-86C6-14ED38AFE14A}"/>
              </a:ext>
            </a:extLst>
          </p:cNvPr>
          <p:cNvSpPr txBox="1"/>
          <p:nvPr/>
        </p:nvSpPr>
        <p:spPr>
          <a:xfrm>
            <a:off x="1510327" y="4606177"/>
            <a:ext cx="1390894" cy="300082"/>
          </a:xfrm>
          <a:prstGeom prst="rect">
            <a:avLst/>
          </a:prstGeom>
          <a:noFill/>
        </p:spPr>
        <p:txBody>
          <a:bodyPr wrap="none" rtlCol="0">
            <a:spAutoFit/>
          </a:bodyPr>
          <a:lstStyle/>
          <a:p>
            <a:r>
              <a:rPr lang="es-ES" dirty="0"/>
              <a:t>Microprocesador</a:t>
            </a:r>
          </a:p>
        </p:txBody>
      </p:sp>
      <p:sp>
        <p:nvSpPr>
          <p:cNvPr id="54" name="Rectángulo 53">
            <a:extLst>
              <a:ext uri="{FF2B5EF4-FFF2-40B4-BE49-F238E27FC236}">
                <a16:creationId xmlns:a16="http://schemas.microsoft.com/office/drawing/2014/main" id="{3EC6D080-B7F4-44A9-8922-A25BB1F4D330}"/>
              </a:ext>
            </a:extLst>
          </p:cNvPr>
          <p:cNvSpPr/>
          <p:nvPr/>
        </p:nvSpPr>
        <p:spPr>
          <a:xfrm>
            <a:off x="7185297" y="1370986"/>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Rectángulo 57">
            <a:extLst>
              <a:ext uri="{FF2B5EF4-FFF2-40B4-BE49-F238E27FC236}">
                <a16:creationId xmlns:a16="http://schemas.microsoft.com/office/drawing/2014/main" id="{13940F0C-C81F-46D0-9DF6-BC06D640A122}"/>
              </a:ext>
            </a:extLst>
          </p:cNvPr>
          <p:cNvSpPr/>
          <p:nvPr/>
        </p:nvSpPr>
        <p:spPr>
          <a:xfrm>
            <a:off x="7185297" y="1504938"/>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Rectángulo 59">
            <a:extLst>
              <a:ext uri="{FF2B5EF4-FFF2-40B4-BE49-F238E27FC236}">
                <a16:creationId xmlns:a16="http://schemas.microsoft.com/office/drawing/2014/main" id="{5620CA19-F883-4035-AC2A-1A8CD911B601}"/>
              </a:ext>
            </a:extLst>
          </p:cNvPr>
          <p:cNvSpPr/>
          <p:nvPr/>
        </p:nvSpPr>
        <p:spPr>
          <a:xfrm>
            <a:off x="7185297" y="1646007"/>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Rectángulo 61">
            <a:extLst>
              <a:ext uri="{FF2B5EF4-FFF2-40B4-BE49-F238E27FC236}">
                <a16:creationId xmlns:a16="http://schemas.microsoft.com/office/drawing/2014/main" id="{164B0E94-DFEF-4781-AEBC-DDBAA247FF2E}"/>
              </a:ext>
            </a:extLst>
          </p:cNvPr>
          <p:cNvSpPr/>
          <p:nvPr/>
        </p:nvSpPr>
        <p:spPr>
          <a:xfrm>
            <a:off x="7185297" y="2267841"/>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4" name="Rectángulo 63">
            <a:extLst>
              <a:ext uri="{FF2B5EF4-FFF2-40B4-BE49-F238E27FC236}">
                <a16:creationId xmlns:a16="http://schemas.microsoft.com/office/drawing/2014/main" id="{DFFA1827-D37A-45A7-83BA-CA846C9DCA0D}"/>
              </a:ext>
            </a:extLst>
          </p:cNvPr>
          <p:cNvSpPr/>
          <p:nvPr/>
        </p:nvSpPr>
        <p:spPr>
          <a:xfrm>
            <a:off x="7185297" y="2417223"/>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6" name="Rectángulo 65">
            <a:extLst>
              <a:ext uri="{FF2B5EF4-FFF2-40B4-BE49-F238E27FC236}">
                <a16:creationId xmlns:a16="http://schemas.microsoft.com/office/drawing/2014/main" id="{BC796399-CD5F-40EC-A2F2-FC2341B3FA4E}"/>
              </a:ext>
            </a:extLst>
          </p:cNvPr>
          <p:cNvSpPr/>
          <p:nvPr/>
        </p:nvSpPr>
        <p:spPr>
          <a:xfrm>
            <a:off x="7185297" y="2560911"/>
            <a:ext cx="1110805" cy="162055"/>
          </a:xfrm>
          <a:prstGeom prst="rect">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Rectángulo 67">
            <a:extLst>
              <a:ext uri="{FF2B5EF4-FFF2-40B4-BE49-F238E27FC236}">
                <a16:creationId xmlns:a16="http://schemas.microsoft.com/office/drawing/2014/main" id="{C741A58A-49AB-4FC0-90AE-DDB1032727E1}"/>
              </a:ext>
            </a:extLst>
          </p:cNvPr>
          <p:cNvSpPr/>
          <p:nvPr/>
        </p:nvSpPr>
        <p:spPr>
          <a:xfrm>
            <a:off x="7185297" y="3481774"/>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Rectángulo 69">
            <a:extLst>
              <a:ext uri="{FF2B5EF4-FFF2-40B4-BE49-F238E27FC236}">
                <a16:creationId xmlns:a16="http://schemas.microsoft.com/office/drawing/2014/main" id="{47BD4713-6F5F-46E9-9FB6-887A63E0ED0A}"/>
              </a:ext>
            </a:extLst>
          </p:cNvPr>
          <p:cNvSpPr/>
          <p:nvPr/>
        </p:nvSpPr>
        <p:spPr>
          <a:xfrm>
            <a:off x="7185297" y="3632033"/>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2" name="Rectángulo 71">
            <a:extLst>
              <a:ext uri="{FF2B5EF4-FFF2-40B4-BE49-F238E27FC236}">
                <a16:creationId xmlns:a16="http://schemas.microsoft.com/office/drawing/2014/main" id="{F174FE48-B66A-423D-9935-F6875BABED4B}"/>
              </a:ext>
            </a:extLst>
          </p:cNvPr>
          <p:cNvSpPr/>
          <p:nvPr/>
        </p:nvSpPr>
        <p:spPr>
          <a:xfrm>
            <a:off x="7185297" y="3773102"/>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4" name="Rectángulo 73">
            <a:extLst>
              <a:ext uri="{FF2B5EF4-FFF2-40B4-BE49-F238E27FC236}">
                <a16:creationId xmlns:a16="http://schemas.microsoft.com/office/drawing/2014/main" id="{A8679D74-9A79-4B13-B864-03C25FCA5FB7}"/>
              </a:ext>
            </a:extLst>
          </p:cNvPr>
          <p:cNvSpPr/>
          <p:nvPr/>
        </p:nvSpPr>
        <p:spPr>
          <a:xfrm>
            <a:off x="7185297" y="3907283"/>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Rectángulo 75">
            <a:extLst>
              <a:ext uri="{FF2B5EF4-FFF2-40B4-BE49-F238E27FC236}">
                <a16:creationId xmlns:a16="http://schemas.microsoft.com/office/drawing/2014/main" id="{847BB9BF-8DC0-413E-BF7D-50972BCEEDD5}"/>
              </a:ext>
            </a:extLst>
          </p:cNvPr>
          <p:cNvSpPr/>
          <p:nvPr/>
        </p:nvSpPr>
        <p:spPr>
          <a:xfrm>
            <a:off x="7185297" y="4037200"/>
            <a:ext cx="1110805" cy="162055"/>
          </a:xfrm>
          <a:prstGeom prst="rect">
            <a:avLst/>
          </a:prstGeom>
          <a:solidFill>
            <a:schemeClr val="bg2"/>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7" name="CuadroTexto 76">
            <a:extLst>
              <a:ext uri="{FF2B5EF4-FFF2-40B4-BE49-F238E27FC236}">
                <a16:creationId xmlns:a16="http://schemas.microsoft.com/office/drawing/2014/main" id="{92DE1B27-E3FD-4CB9-B153-6A787ED59532}"/>
              </a:ext>
            </a:extLst>
          </p:cNvPr>
          <p:cNvSpPr txBox="1"/>
          <p:nvPr/>
        </p:nvSpPr>
        <p:spPr>
          <a:xfrm>
            <a:off x="7249063" y="4332818"/>
            <a:ext cx="1215397" cy="300082"/>
          </a:xfrm>
          <a:prstGeom prst="rect">
            <a:avLst/>
          </a:prstGeom>
          <a:noFill/>
        </p:spPr>
        <p:txBody>
          <a:bodyPr wrap="none" rtlCol="0">
            <a:spAutoFit/>
          </a:bodyPr>
          <a:lstStyle/>
          <a:p>
            <a:r>
              <a:rPr lang="es-ES" dirty="0"/>
              <a:t>RAM (512 MB)</a:t>
            </a:r>
          </a:p>
        </p:txBody>
      </p:sp>
      <p:sp>
        <p:nvSpPr>
          <p:cNvPr id="79" name="CuadroTexto 78">
            <a:extLst>
              <a:ext uri="{FF2B5EF4-FFF2-40B4-BE49-F238E27FC236}">
                <a16:creationId xmlns:a16="http://schemas.microsoft.com/office/drawing/2014/main" id="{B5594B61-67F1-4CFB-A9C3-6EE7FBCA3386}"/>
              </a:ext>
            </a:extLst>
          </p:cNvPr>
          <p:cNvSpPr txBox="1"/>
          <p:nvPr/>
        </p:nvSpPr>
        <p:spPr>
          <a:xfrm>
            <a:off x="8280105" y="1330083"/>
            <a:ext cx="612668" cy="577081"/>
          </a:xfrm>
          <a:prstGeom prst="rect">
            <a:avLst/>
          </a:prstGeom>
          <a:noFill/>
        </p:spPr>
        <p:txBody>
          <a:bodyPr wrap="none" rtlCol="0">
            <a:spAutoFit/>
          </a:bodyPr>
          <a:lstStyle/>
          <a:p>
            <a:r>
              <a:rPr lang="es-ES" sz="1050" dirty="0"/>
              <a:t>00000H</a:t>
            </a:r>
          </a:p>
          <a:p>
            <a:r>
              <a:rPr lang="es-ES" sz="1050" dirty="0"/>
              <a:t>00001H</a:t>
            </a:r>
          </a:p>
          <a:p>
            <a:r>
              <a:rPr lang="es-ES" sz="1050" dirty="0"/>
              <a:t>00002H</a:t>
            </a:r>
          </a:p>
        </p:txBody>
      </p:sp>
      <p:sp>
        <p:nvSpPr>
          <p:cNvPr id="81" name="CuadroTexto 80">
            <a:extLst>
              <a:ext uri="{FF2B5EF4-FFF2-40B4-BE49-F238E27FC236}">
                <a16:creationId xmlns:a16="http://schemas.microsoft.com/office/drawing/2014/main" id="{AE0C9D1B-FF65-474B-9E76-CA789090A147}"/>
              </a:ext>
            </a:extLst>
          </p:cNvPr>
          <p:cNvSpPr txBox="1"/>
          <p:nvPr/>
        </p:nvSpPr>
        <p:spPr>
          <a:xfrm>
            <a:off x="8249776" y="2235307"/>
            <a:ext cx="612668" cy="577081"/>
          </a:xfrm>
          <a:prstGeom prst="rect">
            <a:avLst/>
          </a:prstGeom>
          <a:noFill/>
        </p:spPr>
        <p:txBody>
          <a:bodyPr wrap="none" rtlCol="0">
            <a:spAutoFit/>
          </a:bodyPr>
          <a:lstStyle/>
          <a:p>
            <a:r>
              <a:rPr lang="es-ES" sz="1050" dirty="0"/>
              <a:t>00017H</a:t>
            </a:r>
          </a:p>
          <a:p>
            <a:r>
              <a:rPr lang="es-ES" sz="1050" dirty="0"/>
              <a:t>00018H</a:t>
            </a:r>
          </a:p>
          <a:p>
            <a:r>
              <a:rPr lang="es-ES" sz="1050" dirty="0"/>
              <a:t>00019H</a:t>
            </a:r>
          </a:p>
        </p:txBody>
      </p:sp>
      <p:sp>
        <p:nvSpPr>
          <p:cNvPr id="83" name="CuadroTexto 82">
            <a:extLst>
              <a:ext uri="{FF2B5EF4-FFF2-40B4-BE49-F238E27FC236}">
                <a16:creationId xmlns:a16="http://schemas.microsoft.com/office/drawing/2014/main" id="{04D7D3D6-BEED-41BB-AC91-86A6F0536EBB}"/>
              </a:ext>
            </a:extLst>
          </p:cNvPr>
          <p:cNvSpPr txBox="1"/>
          <p:nvPr/>
        </p:nvSpPr>
        <p:spPr>
          <a:xfrm>
            <a:off x="8246635" y="3495052"/>
            <a:ext cx="601447" cy="738664"/>
          </a:xfrm>
          <a:prstGeom prst="rect">
            <a:avLst/>
          </a:prstGeom>
          <a:noFill/>
        </p:spPr>
        <p:txBody>
          <a:bodyPr wrap="none" rtlCol="0">
            <a:spAutoFit/>
          </a:bodyPr>
          <a:lstStyle/>
          <a:p>
            <a:r>
              <a:rPr lang="es-ES" sz="1050" dirty="0"/>
              <a:t>FFFFCH</a:t>
            </a:r>
          </a:p>
          <a:p>
            <a:r>
              <a:rPr lang="es-ES" sz="1050" dirty="0"/>
              <a:t>FFFFDH</a:t>
            </a:r>
          </a:p>
          <a:p>
            <a:r>
              <a:rPr lang="es-ES" sz="1050" dirty="0"/>
              <a:t>FFFFEH</a:t>
            </a:r>
          </a:p>
          <a:p>
            <a:r>
              <a:rPr lang="es-ES" sz="1050" dirty="0"/>
              <a:t>FFFFFH</a:t>
            </a:r>
          </a:p>
        </p:txBody>
      </p:sp>
      <p:sp>
        <p:nvSpPr>
          <p:cNvPr id="84" name="CuadroTexto 83">
            <a:extLst>
              <a:ext uri="{FF2B5EF4-FFF2-40B4-BE49-F238E27FC236}">
                <a16:creationId xmlns:a16="http://schemas.microsoft.com/office/drawing/2014/main" id="{BE3354BD-3848-440D-A6F6-E5F5A47A07C7}"/>
              </a:ext>
            </a:extLst>
          </p:cNvPr>
          <p:cNvSpPr txBox="1"/>
          <p:nvPr/>
        </p:nvSpPr>
        <p:spPr>
          <a:xfrm>
            <a:off x="7506875" y="1680716"/>
            <a:ext cx="553297" cy="461665"/>
          </a:xfrm>
          <a:prstGeom prst="rect">
            <a:avLst/>
          </a:prstGeom>
          <a:noFill/>
        </p:spPr>
        <p:txBody>
          <a:bodyPr wrap="square" rtlCol="0">
            <a:spAutoFit/>
          </a:bodyPr>
          <a:lstStyle/>
          <a:p>
            <a:r>
              <a:rPr lang="es-ES" sz="2400" dirty="0"/>
              <a:t>. . .</a:t>
            </a:r>
          </a:p>
        </p:txBody>
      </p:sp>
      <p:sp>
        <p:nvSpPr>
          <p:cNvPr id="88" name="CuadroTexto 87">
            <a:extLst>
              <a:ext uri="{FF2B5EF4-FFF2-40B4-BE49-F238E27FC236}">
                <a16:creationId xmlns:a16="http://schemas.microsoft.com/office/drawing/2014/main" id="{C38D61B9-FDDD-48EE-851F-EF0282C432BF}"/>
              </a:ext>
            </a:extLst>
          </p:cNvPr>
          <p:cNvSpPr txBox="1"/>
          <p:nvPr/>
        </p:nvSpPr>
        <p:spPr>
          <a:xfrm>
            <a:off x="7537237" y="2746106"/>
            <a:ext cx="553297" cy="461665"/>
          </a:xfrm>
          <a:prstGeom prst="rect">
            <a:avLst/>
          </a:prstGeom>
          <a:noFill/>
        </p:spPr>
        <p:txBody>
          <a:bodyPr wrap="square" rtlCol="0">
            <a:spAutoFit/>
          </a:bodyPr>
          <a:lstStyle/>
          <a:p>
            <a:r>
              <a:rPr lang="es-ES" sz="2400" dirty="0"/>
              <a:t>. . .</a:t>
            </a:r>
          </a:p>
        </p:txBody>
      </p:sp>
      <p:sp>
        <p:nvSpPr>
          <p:cNvPr id="91" name="Rectángulo 90">
            <a:extLst>
              <a:ext uri="{FF2B5EF4-FFF2-40B4-BE49-F238E27FC236}">
                <a16:creationId xmlns:a16="http://schemas.microsoft.com/office/drawing/2014/main" id="{9259263B-57B1-44EA-9B76-151B949EF2DF}"/>
              </a:ext>
            </a:extLst>
          </p:cNvPr>
          <p:cNvSpPr/>
          <p:nvPr/>
        </p:nvSpPr>
        <p:spPr>
          <a:xfrm>
            <a:off x="6600689" y="1005840"/>
            <a:ext cx="132220" cy="390041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2" name="Flecha: a la izquierda y derecha 91">
            <a:extLst>
              <a:ext uri="{FF2B5EF4-FFF2-40B4-BE49-F238E27FC236}">
                <a16:creationId xmlns:a16="http://schemas.microsoft.com/office/drawing/2014/main" id="{A695C8FC-D2A1-464E-A77B-4B539AE2A22C}"/>
              </a:ext>
            </a:extLst>
          </p:cNvPr>
          <p:cNvSpPr/>
          <p:nvPr/>
        </p:nvSpPr>
        <p:spPr>
          <a:xfrm>
            <a:off x="6330136" y="4254077"/>
            <a:ext cx="336663" cy="22678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 name="Flecha: a la izquierda y derecha 93">
            <a:extLst>
              <a:ext uri="{FF2B5EF4-FFF2-40B4-BE49-F238E27FC236}">
                <a16:creationId xmlns:a16="http://schemas.microsoft.com/office/drawing/2014/main" id="{4E90FE79-885F-40B7-86B3-BD986FA1B6E4}"/>
              </a:ext>
            </a:extLst>
          </p:cNvPr>
          <p:cNvSpPr/>
          <p:nvPr/>
        </p:nvSpPr>
        <p:spPr>
          <a:xfrm>
            <a:off x="6722963" y="1866965"/>
            <a:ext cx="336663" cy="22678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6" name="Rectángulo 95">
            <a:extLst>
              <a:ext uri="{FF2B5EF4-FFF2-40B4-BE49-F238E27FC236}">
                <a16:creationId xmlns:a16="http://schemas.microsoft.com/office/drawing/2014/main" id="{BA63B7BD-9EAF-4AC7-AFC0-21D9A1847895}"/>
              </a:ext>
            </a:extLst>
          </p:cNvPr>
          <p:cNvSpPr/>
          <p:nvPr/>
        </p:nvSpPr>
        <p:spPr>
          <a:xfrm>
            <a:off x="7083534" y="1027921"/>
            <a:ext cx="1733555" cy="3644445"/>
          </a:xfrm>
          <a:prstGeom prst="rect">
            <a:avLst/>
          </a:prstGeom>
          <a:noFill/>
          <a:ln w="28575">
            <a:solidFill>
              <a:schemeClr val="accent3">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97" name="CuadroTexto 96">
            <a:extLst>
              <a:ext uri="{FF2B5EF4-FFF2-40B4-BE49-F238E27FC236}">
                <a16:creationId xmlns:a16="http://schemas.microsoft.com/office/drawing/2014/main" id="{E679A3FE-B354-47AB-9CDB-FE141966EDD0}"/>
              </a:ext>
            </a:extLst>
          </p:cNvPr>
          <p:cNvSpPr txBox="1"/>
          <p:nvPr/>
        </p:nvSpPr>
        <p:spPr>
          <a:xfrm>
            <a:off x="8293122" y="1087560"/>
            <a:ext cx="561372" cy="261610"/>
          </a:xfrm>
          <a:prstGeom prst="rect">
            <a:avLst/>
          </a:prstGeom>
          <a:noFill/>
        </p:spPr>
        <p:txBody>
          <a:bodyPr wrap="none" rtlCol="0">
            <a:spAutoFit/>
          </a:bodyPr>
          <a:lstStyle/>
          <a:p>
            <a:r>
              <a:rPr lang="es-ES" sz="1100" b="1" dirty="0"/>
              <a:t>Marco</a:t>
            </a:r>
          </a:p>
        </p:txBody>
      </p:sp>
      <p:sp>
        <p:nvSpPr>
          <p:cNvPr id="98" name="CuadroTexto 97">
            <a:extLst>
              <a:ext uri="{FF2B5EF4-FFF2-40B4-BE49-F238E27FC236}">
                <a16:creationId xmlns:a16="http://schemas.microsoft.com/office/drawing/2014/main" id="{1708EF71-B123-4A22-8B22-69325B35FED6}"/>
              </a:ext>
            </a:extLst>
          </p:cNvPr>
          <p:cNvSpPr txBox="1"/>
          <p:nvPr/>
        </p:nvSpPr>
        <p:spPr>
          <a:xfrm rot="16200000">
            <a:off x="5833111" y="3086799"/>
            <a:ext cx="2041521" cy="300082"/>
          </a:xfrm>
          <a:prstGeom prst="rect">
            <a:avLst/>
          </a:prstGeom>
          <a:noFill/>
        </p:spPr>
        <p:txBody>
          <a:bodyPr wrap="none" rtlCol="0">
            <a:spAutoFit/>
          </a:bodyPr>
          <a:lstStyle/>
          <a:p>
            <a:r>
              <a:rPr lang="es-ES" dirty="0"/>
              <a:t>Dirección física: 0019A01H</a:t>
            </a:r>
          </a:p>
        </p:txBody>
      </p:sp>
    </p:spTree>
    <p:extLst>
      <p:ext uri="{BB962C8B-B14F-4D97-AF65-F5344CB8AC3E}">
        <p14:creationId xmlns:p14="http://schemas.microsoft.com/office/powerpoint/2010/main" val="7670212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3077509" cy="338554"/>
          </a:xfrm>
          <a:prstGeom prst="rect">
            <a:avLst/>
          </a:prstGeom>
          <a:noFill/>
        </p:spPr>
        <p:txBody>
          <a:bodyPr wrap="none" rtlCol="0">
            <a:spAutoFit/>
          </a:bodyPr>
          <a:lstStyle/>
          <a:p>
            <a:r>
              <a:rPr lang="es-ES" sz="1600" b="1" u="sng" dirty="0"/>
              <a:t>TLB (</a:t>
            </a:r>
            <a:r>
              <a:rPr lang="es-ES" sz="1600" b="1" u="sng" dirty="0" err="1"/>
              <a:t>Translation</a:t>
            </a:r>
            <a:r>
              <a:rPr lang="es-ES" sz="1600" b="1" u="sng" dirty="0"/>
              <a:t> </a:t>
            </a:r>
            <a:r>
              <a:rPr lang="es-ES" sz="1600" b="1" u="sng" dirty="0" err="1"/>
              <a:t>Lookaside</a:t>
            </a:r>
            <a:r>
              <a:rPr lang="es-ES" sz="1600" b="1" u="sng" dirty="0"/>
              <a:t> Buffer)</a:t>
            </a:r>
          </a:p>
        </p:txBody>
      </p:sp>
      <p:sp>
        <p:nvSpPr>
          <p:cNvPr id="7" name="CuadroTexto 6">
            <a:extLst>
              <a:ext uri="{FF2B5EF4-FFF2-40B4-BE49-F238E27FC236}">
                <a16:creationId xmlns:a16="http://schemas.microsoft.com/office/drawing/2014/main" id="{4FFA6212-23D1-4FEC-8C0F-EC9571EBCEFC}"/>
              </a:ext>
            </a:extLst>
          </p:cNvPr>
          <p:cNvSpPr txBox="1"/>
          <p:nvPr/>
        </p:nvSpPr>
        <p:spPr>
          <a:xfrm>
            <a:off x="1972102" y="1420714"/>
            <a:ext cx="6658495" cy="2793072"/>
          </a:xfrm>
          <a:prstGeom prst="rect">
            <a:avLst/>
          </a:prstGeom>
          <a:noFill/>
        </p:spPr>
        <p:txBody>
          <a:bodyPr wrap="square" rtlCol="0">
            <a:spAutoFit/>
          </a:bodyPr>
          <a:lstStyle/>
          <a:p>
            <a:pPr marL="285750" indent="-285750" algn="just">
              <a:buFont typeface="Arial" panose="020B0604020202020204" pitchFamily="34" charset="0"/>
              <a:buChar char="•"/>
            </a:pPr>
            <a:r>
              <a:rPr lang="es-ES" dirty="0"/>
              <a:t>La TLB es parte de la MMU, que incluye también la gestión de la segmentación, la actualización de los bits de estado de la tabla de direcciones (sucia, referenciada), la composición de la dirección de memoria física y la generación de interrupciones por intentos de acceso a direcciones que no son del proceso o en modo no permitido.</a:t>
            </a:r>
          </a:p>
          <a:p>
            <a:pPr marL="285750" indent="-285750" algn="just">
              <a:buFont typeface="Arial" panose="020B0604020202020204" pitchFamily="34" charset="0"/>
              <a:buChar char="•"/>
            </a:pPr>
            <a:r>
              <a:rPr lang="es-ES" dirty="0"/>
              <a:t>La TLB es muy rápida cuando hay acierto (menos de 1 ciclo de reloj), similar a una caché.</a:t>
            </a:r>
          </a:p>
          <a:p>
            <a:pPr marL="285750" indent="-285750" algn="just">
              <a:buFont typeface="Arial" panose="020B0604020202020204" pitchFamily="34" charset="0"/>
              <a:buChar char="•"/>
            </a:pPr>
            <a:r>
              <a:rPr lang="es-ES" dirty="0"/>
              <a:t>Una TLB típica tiene 64 entradas (32 para datos y 32 para código), frente al millón de entradas de la tabla de memoria de un proceso.</a:t>
            </a:r>
          </a:p>
          <a:p>
            <a:pPr marL="285750" indent="-285750" algn="just">
              <a:buFont typeface="Arial" panose="020B0604020202020204" pitchFamily="34" charset="0"/>
              <a:buChar char="•"/>
            </a:pPr>
            <a:r>
              <a:rPr lang="es-ES" dirty="0"/>
              <a:t>La localidad permite que los fallos de TLB sean muy bajos y la memoria virtual se haya consolidado como un sistema casi universal para ordenadores de sobremesa y servidores.</a:t>
            </a:r>
          </a:p>
          <a:p>
            <a:pPr marL="285750" indent="-285750" algn="just">
              <a:buFont typeface="Arial" panose="020B0604020202020204" pitchFamily="34" charset="0"/>
              <a:buChar char="•"/>
            </a:pPr>
            <a:r>
              <a:rPr lang="es-ES" dirty="0"/>
              <a:t>Cada vez que hay un cambio de contexto, la TLB se tiene que actualizar.</a:t>
            </a:r>
          </a:p>
          <a:p>
            <a:pPr marL="285750" indent="-285750" algn="just">
              <a:buFont typeface="Arial" panose="020B0604020202020204" pitchFamily="34" charset="0"/>
              <a:buChar char="•"/>
            </a:pPr>
            <a:r>
              <a:rPr lang="es-ES" dirty="0"/>
              <a:t>Durante el arranque del sistema la función de la TLB está anulada porque no existen aun las tablas de memoria. Es lo que se llama </a:t>
            </a:r>
            <a:r>
              <a:rPr lang="es-ES" b="1" dirty="0"/>
              <a:t>modo real</a:t>
            </a:r>
            <a:r>
              <a:rPr lang="es-ES" dirty="0"/>
              <a:t>. </a:t>
            </a:r>
          </a:p>
        </p:txBody>
      </p:sp>
      <p:sp>
        <p:nvSpPr>
          <p:cNvPr id="2" name="CuadroTexto 1">
            <a:extLst>
              <a:ext uri="{FF2B5EF4-FFF2-40B4-BE49-F238E27FC236}">
                <a16:creationId xmlns:a16="http://schemas.microsoft.com/office/drawing/2014/main" id="{A4305375-77EE-4D46-9A33-C1C29DD52109}"/>
              </a:ext>
            </a:extLst>
          </p:cNvPr>
          <p:cNvSpPr txBox="1"/>
          <p:nvPr/>
        </p:nvSpPr>
        <p:spPr>
          <a:xfrm>
            <a:off x="1972102" y="4284856"/>
            <a:ext cx="6854184" cy="600164"/>
          </a:xfrm>
          <a:prstGeom prst="rect">
            <a:avLst/>
          </a:prstGeom>
          <a:noFill/>
          <a:ln>
            <a:solidFill>
              <a:srgbClr val="FF0000"/>
            </a:solidFill>
          </a:ln>
        </p:spPr>
        <p:txBody>
          <a:bodyPr wrap="square" rtlCol="0">
            <a:spAutoFit/>
          </a:bodyPr>
          <a:lstStyle/>
          <a:p>
            <a:r>
              <a:rPr lang="es-ES" sz="1100" dirty="0">
                <a:solidFill>
                  <a:srgbClr val="FF0000"/>
                </a:solidFill>
              </a:rPr>
              <a:t>Error común y grave. Suponer que si la tabla es multinivel, la TLB también es multinivel. No es así, es una memoria asociativa que relaciona etiqueta y marco. El dato de la etiqueta (número de página virtual) reside en el último nivel de la tabla de memoria y es lo único que guarda la TLB.</a:t>
            </a:r>
          </a:p>
        </p:txBody>
      </p:sp>
      <p:pic>
        <p:nvPicPr>
          <p:cNvPr id="2050" name="Picture 2" descr="Electricity current danger sign vector image | Free SVG">
            <a:extLst>
              <a:ext uri="{FF2B5EF4-FFF2-40B4-BE49-F238E27FC236}">
                <a16:creationId xmlns:a16="http://schemas.microsoft.com/office/drawing/2014/main" id="{2BF7B12A-072E-44F4-93F7-43E07ADB34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1644" y="4354203"/>
            <a:ext cx="601834" cy="530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5371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1192955" cy="338554"/>
          </a:xfrm>
          <a:prstGeom prst="rect">
            <a:avLst/>
          </a:prstGeom>
          <a:noFill/>
        </p:spPr>
        <p:txBody>
          <a:bodyPr wrap="none" rtlCol="0">
            <a:spAutoFit/>
          </a:bodyPr>
          <a:lstStyle/>
          <a:p>
            <a:r>
              <a:rPr lang="es-ES" sz="1600" b="1" u="sng" dirty="0"/>
              <a:t>TLB + Caché</a:t>
            </a:r>
          </a:p>
        </p:txBody>
      </p:sp>
      <p:sp>
        <p:nvSpPr>
          <p:cNvPr id="2" name="CuadroTexto 1">
            <a:extLst>
              <a:ext uri="{FF2B5EF4-FFF2-40B4-BE49-F238E27FC236}">
                <a16:creationId xmlns:a16="http://schemas.microsoft.com/office/drawing/2014/main" id="{BF1A1BC6-CCB2-4AAB-AD02-EBCD92CD447C}"/>
              </a:ext>
            </a:extLst>
          </p:cNvPr>
          <p:cNvSpPr txBox="1"/>
          <p:nvPr/>
        </p:nvSpPr>
        <p:spPr>
          <a:xfrm>
            <a:off x="2028966" y="1594708"/>
            <a:ext cx="4014783" cy="2062103"/>
          </a:xfrm>
          <a:prstGeom prst="rect">
            <a:avLst/>
          </a:prstGeom>
          <a:noFill/>
        </p:spPr>
        <p:txBody>
          <a:bodyPr wrap="square" rtlCol="0">
            <a:spAutoFit/>
          </a:bodyPr>
          <a:lstStyle/>
          <a:p>
            <a:pPr algn="just"/>
            <a:r>
              <a:rPr lang="es-ES" sz="1600" dirty="0">
                <a:solidFill>
                  <a:srgbClr val="FF0000"/>
                </a:solidFill>
              </a:rPr>
              <a:t>A estas alturas de la lección, puede que confundas la TLB con la caché, la MMU y la tabla de memoria. TLB y caché son memorias asociativas que gestionan zonas muy diferenciadas de la jerarquía de memoria.</a:t>
            </a:r>
          </a:p>
          <a:p>
            <a:pPr algn="just"/>
            <a:endParaRPr lang="es-ES" sz="1600" dirty="0">
              <a:solidFill>
                <a:srgbClr val="FF0000"/>
              </a:solidFill>
            </a:endParaRPr>
          </a:p>
          <a:p>
            <a:pPr algn="just"/>
            <a:r>
              <a:rPr lang="es-ES" sz="1600" dirty="0">
                <a:solidFill>
                  <a:srgbClr val="FF0000"/>
                </a:solidFill>
              </a:rPr>
              <a:t>¿Sabrías explicar las principales diferencias entre ambas?</a:t>
            </a:r>
          </a:p>
        </p:txBody>
      </p:sp>
      <p:pic>
        <p:nvPicPr>
          <p:cNvPr id="1026" name="Picture 2" descr="Confused cartoon kid | Free SVG">
            <a:extLst>
              <a:ext uri="{FF2B5EF4-FFF2-40B4-BE49-F238E27FC236}">
                <a16:creationId xmlns:a16="http://schemas.microsoft.com/office/drawing/2014/main" id="{6231580E-8FF7-47FC-876C-4C4BC51086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0830" y="1994263"/>
            <a:ext cx="3149237" cy="3149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0353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1192955" cy="338554"/>
          </a:xfrm>
          <a:prstGeom prst="rect">
            <a:avLst/>
          </a:prstGeom>
          <a:noFill/>
        </p:spPr>
        <p:txBody>
          <a:bodyPr wrap="none" rtlCol="0">
            <a:spAutoFit/>
          </a:bodyPr>
          <a:lstStyle/>
          <a:p>
            <a:r>
              <a:rPr lang="es-ES" sz="1600" b="1" u="sng" dirty="0"/>
              <a:t>TLB + Caché</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2057209" y="1352602"/>
            <a:ext cx="6575367" cy="2169825"/>
          </a:xfrm>
          <a:prstGeom prst="rect">
            <a:avLst/>
          </a:prstGeom>
          <a:noFill/>
        </p:spPr>
        <p:txBody>
          <a:bodyPr wrap="square" rtlCol="0">
            <a:spAutoFit/>
          </a:bodyPr>
          <a:lstStyle/>
          <a:p>
            <a:pPr marL="285750" indent="-285750" algn="just">
              <a:buFont typeface="Arial" panose="020B0604020202020204" pitchFamily="34" charset="0"/>
              <a:buChar char="•"/>
            </a:pPr>
            <a:r>
              <a:rPr lang="es-ES" dirty="0"/>
              <a:t>La TLB traduce direcciones virtuales a direcciones físicas, la caché solo maneja direcciones físicas.</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El Sistema Operativo puede programar la TLB, la caché es inaccesible.</a:t>
            </a:r>
          </a:p>
          <a:p>
            <a:pPr marL="285750" indent="-285750">
              <a:buFont typeface="Arial" panose="020B0604020202020204" pitchFamily="34" charset="0"/>
              <a:buChar char="•"/>
            </a:pPr>
            <a:endParaRPr lang="es-ES" dirty="0"/>
          </a:p>
          <a:p>
            <a:pPr marL="285750" indent="-285750" algn="just">
              <a:buFont typeface="Arial" panose="020B0604020202020204" pitchFamily="34" charset="0"/>
              <a:buChar char="•"/>
            </a:pPr>
            <a:r>
              <a:rPr lang="es-ES" dirty="0"/>
              <a:t>La TLB se sitúa a la salida de la CPU, la caché entre la TLB y la memoria RAM.</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r>
              <a:rPr lang="es-ES" dirty="0"/>
              <a:t>El fallo de caché no es bloqueante, se resuelve desde el hardware y la CPU no puede ejecutar otra instrucción hasta que termina. Por eso el tamaño de línea es muy pequeño.</a:t>
            </a:r>
          </a:p>
        </p:txBody>
      </p:sp>
      <p:sp>
        <p:nvSpPr>
          <p:cNvPr id="12" name="Rectángulo 11">
            <a:extLst>
              <a:ext uri="{FF2B5EF4-FFF2-40B4-BE49-F238E27FC236}">
                <a16:creationId xmlns:a16="http://schemas.microsoft.com/office/drawing/2014/main" id="{83DFBA54-A96B-44FA-991E-4E5AC009537F}"/>
              </a:ext>
            </a:extLst>
          </p:cNvPr>
          <p:cNvSpPr/>
          <p:nvPr/>
        </p:nvSpPr>
        <p:spPr>
          <a:xfrm>
            <a:off x="2969369" y="3932467"/>
            <a:ext cx="858721" cy="811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CPU</a:t>
            </a:r>
          </a:p>
        </p:txBody>
      </p:sp>
      <p:sp>
        <p:nvSpPr>
          <p:cNvPr id="14" name="Rectángulo 13">
            <a:extLst>
              <a:ext uri="{FF2B5EF4-FFF2-40B4-BE49-F238E27FC236}">
                <a16:creationId xmlns:a16="http://schemas.microsoft.com/office/drawing/2014/main" id="{FC42C364-0BE8-4A9D-850A-4AC4B4F50129}"/>
              </a:ext>
            </a:extLst>
          </p:cNvPr>
          <p:cNvSpPr/>
          <p:nvPr/>
        </p:nvSpPr>
        <p:spPr>
          <a:xfrm>
            <a:off x="4345517" y="3932467"/>
            <a:ext cx="858721" cy="811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TLB</a:t>
            </a:r>
          </a:p>
        </p:txBody>
      </p:sp>
      <p:sp>
        <p:nvSpPr>
          <p:cNvPr id="16" name="Rectángulo 15">
            <a:extLst>
              <a:ext uri="{FF2B5EF4-FFF2-40B4-BE49-F238E27FC236}">
                <a16:creationId xmlns:a16="http://schemas.microsoft.com/office/drawing/2014/main" id="{261DC7D5-A72E-42D0-9D8D-4B3B5D898C3A}"/>
              </a:ext>
            </a:extLst>
          </p:cNvPr>
          <p:cNvSpPr/>
          <p:nvPr/>
        </p:nvSpPr>
        <p:spPr>
          <a:xfrm>
            <a:off x="5721665" y="3932467"/>
            <a:ext cx="858721" cy="811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Caché</a:t>
            </a:r>
          </a:p>
        </p:txBody>
      </p:sp>
      <p:sp>
        <p:nvSpPr>
          <p:cNvPr id="17" name="Flecha: a la izquierda y derecha 16">
            <a:extLst>
              <a:ext uri="{FF2B5EF4-FFF2-40B4-BE49-F238E27FC236}">
                <a16:creationId xmlns:a16="http://schemas.microsoft.com/office/drawing/2014/main" id="{8F3B06C9-90D4-492E-8AC6-38D4481BB5E0}"/>
              </a:ext>
            </a:extLst>
          </p:cNvPr>
          <p:cNvSpPr/>
          <p:nvPr/>
        </p:nvSpPr>
        <p:spPr>
          <a:xfrm>
            <a:off x="3877103" y="4338005"/>
            <a:ext cx="419401" cy="1707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C6F72A71-B0E4-46B5-95BF-E6A6EF99640D}"/>
              </a:ext>
            </a:extLst>
          </p:cNvPr>
          <p:cNvSpPr txBox="1"/>
          <p:nvPr/>
        </p:nvSpPr>
        <p:spPr>
          <a:xfrm>
            <a:off x="3454228" y="4849807"/>
            <a:ext cx="1203727" cy="276999"/>
          </a:xfrm>
          <a:prstGeom prst="rect">
            <a:avLst/>
          </a:prstGeom>
          <a:noFill/>
        </p:spPr>
        <p:txBody>
          <a:bodyPr wrap="none" rtlCol="0">
            <a:spAutoFit/>
          </a:bodyPr>
          <a:lstStyle/>
          <a:p>
            <a:r>
              <a:rPr lang="es-ES" sz="1200" dirty="0"/>
              <a:t>Dirección virtual</a:t>
            </a:r>
          </a:p>
        </p:txBody>
      </p:sp>
      <p:sp>
        <p:nvSpPr>
          <p:cNvPr id="20" name="Flecha: a la izquierda y derecha 19">
            <a:extLst>
              <a:ext uri="{FF2B5EF4-FFF2-40B4-BE49-F238E27FC236}">
                <a16:creationId xmlns:a16="http://schemas.microsoft.com/office/drawing/2014/main" id="{2661A353-48E9-4E52-B7D5-3BF74017E677}"/>
              </a:ext>
            </a:extLst>
          </p:cNvPr>
          <p:cNvSpPr/>
          <p:nvPr/>
        </p:nvSpPr>
        <p:spPr>
          <a:xfrm>
            <a:off x="5253251" y="4318301"/>
            <a:ext cx="419401" cy="170766"/>
          </a:xfrm>
          <a:prstGeom prst="leftRightArrow">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F0047996-7864-4F46-BAF2-A01A012E5569}"/>
              </a:ext>
            </a:extLst>
          </p:cNvPr>
          <p:cNvSpPr txBox="1"/>
          <p:nvPr/>
        </p:nvSpPr>
        <p:spPr>
          <a:xfrm>
            <a:off x="4963169" y="4841721"/>
            <a:ext cx="1122295" cy="276999"/>
          </a:xfrm>
          <a:prstGeom prst="rect">
            <a:avLst/>
          </a:prstGeom>
          <a:noFill/>
        </p:spPr>
        <p:txBody>
          <a:bodyPr wrap="none" rtlCol="0">
            <a:spAutoFit/>
          </a:bodyPr>
          <a:lstStyle/>
          <a:p>
            <a:r>
              <a:rPr lang="es-ES" sz="1200" dirty="0"/>
              <a:t>Dirección física</a:t>
            </a:r>
          </a:p>
        </p:txBody>
      </p:sp>
      <p:sp>
        <p:nvSpPr>
          <p:cNvPr id="23" name="Rectángulo 22">
            <a:extLst>
              <a:ext uri="{FF2B5EF4-FFF2-40B4-BE49-F238E27FC236}">
                <a16:creationId xmlns:a16="http://schemas.microsoft.com/office/drawing/2014/main" id="{A18EA680-E5CC-4A73-A79E-AF1D18F0029F}"/>
              </a:ext>
            </a:extLst>
          </p:cNvPr>
          <p:cNvSpPr/>
          <p:nvPr/>
        </p:nvSpPr>
        <p:spPr>
          <a:xfrm>
            <a:off x="7097813" y="3656206"/>
            <a:ext cx="731520" cy="1257300"/>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tx1"/>
                </a:solidFill>
              </a:rPr>
              <a:t>RAM</a:t>
            </a:r>
          </a:p>
        </p:txBody>
      </p:sp>
      <p:sp>
        <p:nvSpPr>
          <p:cNvPr id="25" name="Flecha: a la izquierda y derecha 24">
            <a:extLst>
              <a:ext uri="{FF2B5EF4-FFF2-40B4-BE49-F238E27FC236}">
                <a16:creationId xmlns:a16="http://schemas.microsoft.com/office/drawing/2014/main" id="{33C04121-C89E-43F1-972C-3EFC9DF96908}"/>
              </a:ext>
            </a:extLst>
          </p:cNvPr>
          <p:cNvSpPr/>
          <p:nvPr/>
        </p:nvSpPr>
        <p:spPr>
          <a:xfrm>
            <a:off x="6629399" y="4284856"/>
            <a:ext cx="419401" cy="170766"/>
          </a:xfrm>
          <a:prstGeom prst="leftRightArrow">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7907815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1461426" cy="338554"/>
          </a:xfrm>
          <a:prstGeom prst="rect">
            <a:avLst/>
          </a:prstGeom>
          <a:noFill/>
        </p:spPr>
        <p:txBody>
          <a:bodyPr wrap="none" rtlCol="0">
            <a:spAutoFit/>
          </a:bodyPr>
          <a:lstStyle/>
          <a:p>
            <a:r>
              <a:rPr lang="es-ES" sz="1600" b="1" u="sng" dirty="0"/>
              <a:t>Fallo de página</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1986741" y="1514524"/>
            <a:ext cx="6575367" cy="3077766"/>
          </a:xfrm>
          <a:prstGeom prst="rect">
            <a:avLst/>
          </a:prstGeom>
          <a:noFill/>
        </p:spPr>
        <p:txBody>
          <a:bodyPr wrap="square" rtlCol="0">
            <a:spAutoFit/>
          </a:bodyPr>
          <a:lstStyle/>
          <a:p>
            <a:pPr algn="just"/>
            <a:r>
              <a:rPr lang="es-ES" sz="1600" dirty="0"/>
              <a:t>El fallo de página se produce cuando la dirección virtual a la que quiere acceder la CPU corresponde con una página no cargada en la memoria. Cuando ocurre esto, el gestor de memoria virtual (parte del </a:t>
            </a:r>
            <a:r>
              <a:rPr lang="es-ES" sz="1600" dirty="0" err="1"/>
              <a:t>kernel</a:t>
            </a:r>
            <a:r>
              <a:rPr lang="es-ES" sz="1600" dirty="0"/>
              <a:t>) busca un marco libre, se lo asigna a la página en cuestión y lanza una operación de DMA (se verá en la lección 6) para cargar los 4kB desde disco. Como es una operación muy costosa en tiempo, el proceso se bloquea hasta que termine la carga y se cede la CPU a otro.</a:t>
            </a:r>
          </a:p>
          <a:p>
            <a:pPr algn="just"/>
            <a:endParaRPr lang="es-ES" sz="1600" dirty="0"/>
          </a:p>
          <a:p>
            <a:pPr algn="just"/>
            <a:r>
              <a:rPr lang="es-ES" sz="1600" dirty="0"/>
              <a:t>También puede suceder que esté toda la memoria ocupada. El gestor de memoria tiene que decidir qué página expulsar para dejar un marco libre. Si la página expulsada está sucia habrá que escribirla en </a:t>
            </a:r>
            <a:r>
              <a:rPr lang="es-ES" sz="1800" dirty="0"/>
              <a:t>disco</a:t>
            </a:r>
            <a:r>
              <a:rPr lang="es-ES" sz="1600" dirty="0"/>
              <a:t> antes de cargar la nueva. Existen distintos criterios para decidir qué pagina debe expulsarse.</a:t>
            </a:r>
          </a:p>
        </p:txBody>
      </p:sp>
    </p:spTree>
    <p:extLst>
      <p:ext uri="{BB962C8B-B14F-4D97-AF65-F5344CB8AC3E}">
        <p14:creationId xmlns:p14="http://schemas.microsoft.com/office/powerpoint/2010/main" val="35899209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3195298" cy="338554"/>
          </a:xfrm>
          <a:prstGeom prst="rect">
            <a:avLst/>
          </a:prstGeom>
          <a:noFill/>
        </p:spPr>
        <p:txBody>
          <a:bodyPr wrap="none" rtlCol="0">
            <a:spAutoFit/>
          </a:bodyPr>
          <a:lstStyle/>
          <a:p>
            <a:r>
              <a:rPr lang="es-ES" sz="1600" b="1" u="sng" dirty="0"/>
              <a:t>Algoritmos de reemplazo de página</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1986740" y="1480270"/>
            <a:ext cx="6575367" cy="1754326"/>
          </a:xfrm>
          <a:prstGeom prst="rect">
            <a:avLst/>
          </a:prstGeom>
          <a:noFill/>
        </p:spPr>
        <p:txBody>
          <a:bodyPr wrap="square" rtlCol="0">
            <a:spAutoFit/>
          </a:bodyPr>
          <a:lstStyle/>
          <a:p>
            <a:pPr marL="285750" indent="-285750" algn="just">
              <a:buFont typeface="Arial" panose="020B0604020202020204" pitchFamily="34" charset="0"/>
              <a:buChar char="•"/>
            </a:pPr>
            <a:r>
              <a:rPr lang="es-ES" dirty="0"/>
              <a:t>Página no usada recientemente (</a:t>
            </a:r>
            <a:r>
              <a:rPr lang="es-ES" b="1" dirty="0"/>
              <a:t>NRU</a:t>
            </a:r>
            <a:r>
              <a:rPr lang="es-ES" dirty="0"/>
              <a:t>). Se expulsa la página que lleva más tiempo sin usar, para ello se usan los bits M (modificada) y R (referenciada), considerando que la modificación tiene más peso de forma que las páginas con configuración MR = 00 son las primeras que se expulsan (se elige una al azar), luego las 01, 11 y finalmente 11. Los bits M y R se borran periódicamente con la interrupción </a:t>
            </a:r>
            <a:r>
              <a:rPr lang="es-ES" dirty="0" err="1"/>
              <a:t>tick</a:t>
            </a:r>
            <a:r>
              <a:rPr lang="es-ES" dirty="0"/>
              <a:t>.</a:t>
            </a:r>
          </a:p>
          <a:p>
            <a:pPr marL="285750" indent="-285750" algn="just">
              <a:buFont typeface="Arial" panose="020B0604020202020204" pitchFamily="34" charset="0"/>
              <a:buChar char="•"/>
            </a:pPr>
            <a:r>
              <a:rPr lang="es-ES" b="1" dirty="0"/>
              <a:t>FIFO</a:t>
            </a:r>
            <a:r>
              <a:rPr lang="es-ES" dirty="0"/>
              <a:t>. Se elimina la página que lleva más tiempo en memoria. Para ello el sistema usa una lista unidireccional en la que se borra la página de un extremo y se añade la nueva en el contrario.</a:t>
            </a:r>
          </a:p>
        </p:txBody>
      </p:sp>
      <p:sp>
        <p:nvSpPr>
          <p:cNvPr id="2" name="CuadroTexto 1">
            <a:extLst>
              <a:ext uri="{FF2B5EF4-FFF2-40B4-BE49-F238E27FC236}">
                <a16:creationId xmlns:a16="http://schemas.microsoft.com/office/drawing/2014/main" id="{62FAC6FA-669E-498A-BD37-62F29F566330}"/>
              </a:ext>
            </a:extLst>
          </p:cNvPr>
          <p:cNvSpPr txBox="1"/>
          <p:nvPr/>
        </p:nvSpPr>
        <p:spPr>
          <a:xfrm>
            <a:off x="3998422" y="3247622"/>
            <a:ext cx="2821606" cy="338554"/>
          </a:xfrm>
          <a:prstGeom prst="rect">
            <a:avLst/>
          </a:prstGeom>
          <a:noFill/>
        </p:spPr>
        <p:txBody>
          <a:bodyPr wrap="none" rtlCol="0">
            <a:spAutoFit/>
          </a:bodyPr>
          <a:lstStyle/>
          <a:p>
            <a:r>
              <a:rPr lang="es-ES" sz="1600" b="1" dirty="0">
                <a:solidFill>
                  <a:srgbClr val="FF0000"/>
                </a:solidFill>
              </a:rPr>
              <a:t>1</a:t>
            </a:r>
            <a:r>
              <a:rPr lang="es-ES" sz="1600" dirty="0"/>
              <a:t> &lt;- 6 &lt;- 12 &lt;- 32 &lt;- 8 &lt;- 46 &lt;- </a:t>
            </a:r>
            <a:r>
              <a:rPr lang="es-ES" sz="1600" b="1" dirty="0">
                <a:solidFill>
                  <a:srgbClr val="00B050"/>
                </a:solidFill>
              </a:rPr>
              <a:t>9</a:t>
            </a:r>
            <a:r>
              <a:rPr lang="es-ES" sz="1600" dirty="0">
                <a:solidFill>
                  <a:srgbClr val="00B050"/>
                </a:solidFill>
              </a:rPr>
              <a:t> </a:t>
            </a:r>
          </a:p>
        </p:txBody>
      </p:sp>
      <p:sp>
        <p:nvSpPr>
          <p:cNvPr id="3" name="CuadroTexto 2">
            <a:extLst>
              <a:ext uri="{FF2B5EF4-FFF2-40B4-BE49-F238E27FC236}">
                <a16:creationId xmlns:a16="http://schemas.microsoft.com/office/drawing/2014/main" id="{DA072F24-C05D-4A08-8FD2-76DEB3F88428}"/>
              </a:ext>
            </a:extLst>
          </p:cNvPr>
          <p:cNvSpPr txBox="1"/>
          <p:nvPr/>
        </p:nvSpPr>
        <p:spPr>
          <a:xfrm>
            <a:off x="6670399" y="3266858"/>
            <a:ext cx="918841" cy="300082"/>
          </a:xfrm>
          <a:prstGeom prst="rect">
            <a:avLst/>
          </a:prstGeom>
          <a:noFill/>
        </p:spPr>
        <p:txBody>
          <a:bodyPr wrap="none" rtlCol="0">
            <a:spAutoFit/>
          </a:bodyPr>
          <a:lstStyle/>
          <a:p>
            <a:r>
              <a:rPr lang="es-ES" dirty="0">
                <a:solidFill>
                  <a:schemeClr val="accent6">
                    <a:lumMod val="75000"/>
                  </a:schemeClr>
                </a:solidFill>
              </a:rPr>
              <a:t>(se añade)</a:t>
            </a:r>
          </a:p>
        </p:txBody>
      </p:sp>
      <p:sp>
        <p:nvSpPr>
          <p:cNvPr id="6" name="CuadroTexto 5">
            <a:extLst>
              <a:ext uri="{FF2B5EF4-FFF2-40B4-BE49-F238E27FC236}">
                <a16:creationId xmlns:a16="http://schemas.microsoft.com/office/drawing/2014/main" id="{C2EE5A98-D1CF-4945-A45C-01B5BBD0FB81}"/>
              </a:ext>
            </a:extLst>
          </p:cNvPr>
          <p:cNvSpPr txBox="1"/>
          <p:nvPr/>
        </p:nvSpPr>
        <p:spPr>
          <a:xfrm>
            <a:off x="3115323" y="3266858"/>
            <a:ext cx="1015599" cy="300082"/>
          </a:xfrm>
          <a:prstGeom prst="rect">
            <a:avLst/>
          </a:prstGeom>
          <a:noFill/>
        </p:spPr>
        <p:txBody>
          <a:bodyPr wrap="none" rtlCol="0">
            <a:spAutoFit/>
          </a:bodyPr>
          <a:lstStyle/>
          <a:p>
            <a:r>
              <a:rPr lang="es-ES" dirty="0">
                <a:solidFill>
                  <a:srgbClr val="FF0000"/>
                </a:solidFill>
              </a:rPr>
              <a:t>(se expulsa)</a:t>
            </a:r>
          </a:p>
        </p:txBody>
      </p:sp>
      <p:sp>
        <p:nvSpPr>
          <p:cNvPr id="8" name="CuadroTexto 7">
            <a:extLst>
              <a:ext uri="{FF2B5EF4-FFF2-40B4-BE49-F238E27FC236}">
                <a16:creationId xmlns:a16="http://schemas.microsoft.com/office/drawing/2014/main" id="{EA169503-ADA5-4C52-916B-C4A99C9E198B}"/>
              </a:ext>
            </a:extLst>
          </p:cNvPr>
          <p:cNvSpPr txBox="1"/>
          <p:nvPr/>
        </p:nvSpPr>
        <p:spPr>
          <a:xfrm>
            <a:off x="1986740" y="3586176"/>
            <a:ext cx="6575367" cy="715581"/>
          </a:xfrm>
          <a:prstGeom prst="rect">
            <a:avLst/>
          </a:prstGeom>
          <a:noFill/>
        </p:spPr>
        <p:txBody>
          <a:bodyPr wrap="square" rtlCol="0">
            <a:spAutoFit/>
          </a:bodyPr>
          <a:lstStyle/>
          <a:p>
            <a:pPr marL="285750" indent="-285750" algn="just">
              <a:buFont typeface="Arial" panose="020B0604020202020204" pitchFamily="34" charset="0"/>
              <a:buChar char="•"/>
            </a:pPr>
            <a:r>
              <a:rPr lang="es-ES" b="1" dirty="0"/>
              <a:t>Segunda oportunidad</a:t>
            </a:r>
            <a:r>
              <a:rPr lang="es-ES" dirty="0"/>
              <a:t>. Una página referenciada gana una “vida” extra. Si la página que se va a expulsar tiene el bit R a 1, se pone a 0 y se coloca en el extremo opuesto de la lista de entrada. [Las páginas con * del ejemplo tienen el bit R a 1]</a:t>
            </a:r>
          </a:p>
        </p:txBody>
      </p:sp>
      <p:sp>
        <p:nvSpPr>
          <p:cNvPr id="12" name="CuadroTexto 11">
            <a:extLst>
              <a:ext uri="{FF2B5EF4-FFF2-40B4-BE49-F238E27FC236}">
                <a16:creationId xmlns:a16="http://schemas.microsoft.com/office/drawing/2014/main" id="{F7937CD1-F5E5-4F11-AC20-E0B72D29E37E}"/>
              </a:ext>
            </a:extLst>
          </p:cNvPr>
          <p:cNvSpPr txBox="1"/>
          <p:nvPr/>
        </p:nvSpPr>
        <p:spPr>
          <a:xfrm>
            <a:off x="4052375" y="4269423"/>
            <a:ext cx="2618024" cy="338554"/>
          </a:xfrm>
          <a:prstGeom prst="rect">
            <a:avLst/>
          </a:prstGeom>
          <a:noFill/>
        </p:spPr>
        <p:txBody>
          <a:bodyPr wrap="none" rtlCol="0">
            <a:spAutoFit/>
          </a:bodyPr>
          <a:lstStyle/>
          <a:p>
            <a:r>
              <a:rPr lang="es-ES" sz="1600" b="1" dirty="0"/>
              <a:t>1*</a:t>
            </a:r>
            <a:r>
              <a:rPr lang="es-ES" sz="1600" dirty="0"/>
              <a:t> &lt;- 6 &lt;- 12* &lt;- 32 &lt;- 8 &lt;- 46</a:t>
            </a:r>
          </a:p>
        </p:txBody>
      </p:sp>
      <p:sp>
        <p:nvSpPr>
          <p:cNvPr id="18" name="CuadroTexto 17">
            <a:extLst>
              <a:ext uri="{FF2B5EF4-FFF2-40B4-BE49-F238E27FC236}">
                <a16:creationId xmlns:a16="http://schemas.microsoft.com/office/drawing/2014/main" id="{A36F7963-8764-441D-A93C-C60B9BC46902}"/>
              </a:ext>
            </a:extLst>
          </p:cNvPr>
          <p:cNvSpPr txBox="1"/>
          <p:nvPr/>
        </p:nvSpPr>
        <p:spPr>
          <a:xfrm>
            <a:off x="4052375" y="4561799"/>
            <a:ext cx="2877711" cy="338554"/>
          </a:xfrm>
          <a:prstGeom prst="rect">
            <a:avLst/>
          </a:prstGeom>
          <a:noFill/>
        </p:spPr>
        <p:txBody>
          <a:bodyPr wrap="none" rtlCol="0">
            <a:spAutoFit/>
          </a:bodyPr>
          <a:lstStyle/>
          <a:p>
            <a:r>
              <a:rPr lang="es-ES" sz="1600" b="1" dirty="0">
                <a:solidFill>
                  <a:srgbClr val="FF0000"/>
                </a:solidFill>
              </a:rPr>
              <a:t>6 </a:t>
            </a:r>
            <a:r>
              <a:rPr lang="es-ES" sz="1600" dirty="0"/>
              <a:t>&lt;- 12* &lt;- 32 &lt;- 8 &lt;- 46 &lt;- </a:t>
            </a:r>
            <a:r>
              <a:rPr lang="es-ES" sz="1600" b="1" dirty="0">
                <a:solidFill>
                  <a:schemeClr val="accent5">
                    <a:lumMod val="50000"/>
                  </a:schemeClr>
                </a:solidFill>
              </a:rPr>
              <a:t>1</a:t>
            </a:r>
            <a:r>
              <a:rPr lang="es-ES" sz="1600" dirty="0"/>
              <a:t> &lt;-</a:t>
            </a:r>
            <a:r>
              <a:rPr lang="es-ES" sz="1600" dirty="0">
                <a:solidFill>
                  <a:schemeClr val="accent5">
                    <a:lumMod val="50000"/>
                  </a:schemeClr>
                </a:solidFill>
              </a:rPr>
              <a:t> </a:t>
            </a:r>
            <a:r>
              <a:rPr lang="es-ES" sz="1600" b="1" dirty="0">
                <a:solidFill>
                  <a:srgbClr val="00B050"/>
                </a:solidFill>
              </a:rPr>
              <a:t>9</a:t>
            </a:r>
          </a:p>
        </p:txBody>
      </p:sp>
    </p:spTree>
    <p:extLst>
      <p:ext uri="{BB962C8B-B14F-4D97-AF65-F5344CB8AC3E}">
        <p14:creationId xmlns:p14="http://schemas.microsoft.com/office/powerpoint/2010/main" val="20296369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1461426" cy="338554"/>
          </a:xfrm>
          <a:prstGeom prst="rect">
            <a:avLst/>
          </a:prstGeom>
          <a:noFill/>
        </p:spPr>
        <p:txBody>
          <a:bodyPr wrap="none" rtlCol="0">
            <a:spAutoFit/>
          </a:bodyPr>
          <a:lstStyle/>
          <a:p>
            <a:r>
              <a:rPr lang="es-ES" sz="1600" b="1" u="sng" dirty="0"/>
              <a:t>Fallo de página</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1986741" y="1514524"/>
            <a:ext cx="6575367" cy="3108543"/>
          </a:xfrm>
          <a:prstGeom prst="rect">
            <a:avLst/>
          </a:prstGeom>
          <a:noFill/>
        </p:spPr>
        <p:txBody>
          <a:bodyPr wrap="square" rtlCol="0">
            <a:spAutoFit/>
          </a:bodyPr>
          <a:lstStyle/>
          <a:p>
            <a:pPr algn="just"/>
            <a:r>
              <a:rPr lang="es-ES" sz="1400" dirty="0"/>
              <a:t>Ahora podemos ya ver el tratamiento completo del fallo de página:</a:t>
            </a:r>
          </a:p>
          <a:p>
            <a:pPr algn="just"/>
            <a:endParaRPr lang="es-ES" sz="1400" dirty="0"/>
          </a:p>
          <a:p>
            <a:pPr marL="342900" indent="-342900" algn="just">
              <a:buFont typeface="+mj-lt"/>
              <a:buAutoNum type="arabicPeriod"/>
            </a:pPr>
            <a:r>
              <a:rPr lang="es-ES" sz="1400" dirty="0"/>
              <a:t>La MMU genera una interrupción que despierta al </a:t>
            </a:r>
            <a:r>
              <a:rPr lang="es-ES" sz="1400" dirty="0" err="1"/>
              <a:t>kernel</a:t>
            </a:r>
            <a:r>
              <a:rPr lang="es-ES" sz="1400" dirty="0"/>
              <a:t>. Este la atiende, salva los registros del proceso en la pila de usuario e invoca al gestor de memoria.</a:t>
            </a:r>
          </a:p>
          <a:p>
            <a:pPr marL="342900" indent="-342900" algn="just">
              <a:buFont typeface="+mj-lt"/>
              <a:buAutoNum type="arabicPeriod"/>
            </a:pPr>
            <a:r>
              <a:rPr lang="es-ES" sz="1400" dirty="0"/>
              <a:t>El Sistema Operativo busca en la tabla de gestión de la memoria física si hay un marco libre. Si lo hay, lo asigna a la página, lanza el proceso de carga desde disco y bloquea el proceso. Despertará cuando termine.</a:t>
            </a:r>
          </a:p>
          <a:p>
            <a:pPr marL="342900" indent="-342900" algn="just">
              <a:buFont typeface="+mj-lt"/>
              <a:buAutoNum type="arabicPeriod"/>
            </a:pPr>
            <a:r>
              <a:rPr lang="es-ES" sz="1400" dirty="0"/>
              <a:t>Si no hay marco libre aplica uno de los algoritmos descritos y decide cuál expulsar. Si la página está sucia (M==1), tiene que escribirla primero a la zona de swap y después cargará la nueva (las dos operaciones son bloqueantes).</a:t>
            </a:r>
          </a:p>
          <a:p>
            <a:pPr marL="342900" indent="-342900" algn="just">
              <a:buFont typeface="+mj-lt"/>
              <a:buAutoNum type="arabicPeriod"/>
            </a:pPr>
            <a:r>
              <a:rPr lang="es-ES" sz="1400" dirty="0"/>
              <a:t>Cuando ya ha terminado la carga, la instrucción que produjo el fallo se restaura y el proceso puede acceder ya al dato que necesitaba. El proceso queda </a:t>
            </a:r>
            <a:r>
              <a:rPr lang="es-ES" sz="1400" dirty="0" err="1"/>
              <a:t>Ready</a:t>
            </a:r>
            <a:r>
              <a:rPr lang="es-ES" sz="1400" dirty="0"/>
              <a:t>.</a:t>
            </a:r>
          </a:p>
          <a:p>
            <a:pPr marL="342900" indent="-342900" algn="just">
              <a:buFont typeface="+mj-lt"/>
              <a:buAutoNum type="arabicPeriod"/>
            </a:pPr>
            <a:r>
              <a:rPr lang="es-ES" sz="1400" dirty="0"/>
              <a:t>Cuando el planificador lo decida el proceso se restaura y sigue con la ejecución en la instrucción que produjo el fallo de página, pero en este caso habrá acierto.</a:t>
            </a:r>
          </a:p>
        </p:txBody>
      </p:sp>
    </p:spTree>
    <p:extLst>
      <p:ext uri="{BB962C8B-B14F-4D97-AF65-F5344CB8AC3E}">
        <p14:creationId xmlns:p14="http://schemas.microsoft.com/office/powerpoint/2010/main" val="22225939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2320059" cy="338554"/>
          </a:xfrm>
          <a:prstGeom prst="rect">
            <a:avLst/>
          </a:prstGeom>
          <a:noFill/>
        </p:spPr>
        <p:txBody>
          <a:bodyPr wrap="none" rtlCol="0">
            <a:spAutoFit/>
          </a:bodyPr>
          <a:lstStyle/>
          <a:p>
            <a:r>
              <a:rPr lang="es-ES" sz="1600" b="1" u="sng" dirty="0"/>
              <a:t>Gestión del área de swap</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1986741" y="1514524"/>
            <a:ext cx="6575367" cy="3108543"/>
          </a:xfrm>
          <a:prstGeom prst="rect">
            <a:avLst/>
          </a:prstGeom>
          <a:noFill/>
        </p:spPr>
        <p:txBody>
          <a:bodyPr wrap="square" rtlCol="0">
            <a:spAutoFit/>
          </a:bodyPr>
          <a:lstStyle/>
          <a:p>
            <a:pPr algn="just"/>
            <a:r>
              <a:rPr lang="es-ES" sz="1400" dirty="0"/>
              <a:t>La zona de swap es una partición especial del disco para grabar las páginas expulsadas o cargar desde ella las páginas de un nuevo proceso. En Unix tiene un formateo especial para reducir el sobrecoste de la gestión de ficheros, ya que todas las páginas tienen el mismo tamaño y eso permite tener una estructura plana.</a:t>
            </a:r>
          </a:p>
          <a:p>
            <a:pPr algn="just"/>
            <a:endParaRPr lang="es-ES" sz="1400" dirty="0"/>
          </a:p>
          <a:p>
            <a:pPr algn="just"/>
            <a:r>
              <a:rPr lang="es-ES" sz="1400" dirty="0"/>
              <a:t>Cuando el ordenador arranca esta zona está vacía. Cuando se crea un proceso se asigna una porción de la zona de swap a sus páginas. En Unix, se guarda una referencia a la zona de swap del proceso en su BCP.</a:t>
            </a:r>
          </a:p>
          <a:p>
            <a:pPr algn="just"/>
            <a:endParaRPr lang="es-ES" sz="1400" dirty="0"/>
          </a:p>
          <a:p>
            <a:pPr algn="just"/>
            <a:r>
              <a:rPr lang="es-ES" sz="1400" dirty="0"/>
              <a:t>Antes de que el proceso cargue es posible crear su imagen de memoria en la zona de swap e ir cargando desde ella. La otra es cargar solo en memoria e ir escribiendo a swap cuando resulte necesario. La imagen puede cambiar de tamaño a lo largo de la ejecución del proceso, se distinguen distintas zonas en el área de swap para texto, datos y la pila.</a:t>
            </a:r>
          </a:p>
        </p:txBody>
      </p:sp>
    </p:spTree>
    <p:extLst>
      <p:ext uri="{BB962C8B-B14F-4D97-AF65-F5344CB8AC3E}">
        <p14:creationId xmlns:p14="http://schemas.microsoft.com/office/powerpoint/2010/main" val="21508418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2320059" cy="338554"/>
          </a:xfrm>
          <a:prstGeom prst="rect">
            <a:avLst/>
          </a:prstGeom>
          <a:noFill/>
        </p:spPr>
        <p:txBody>
          <a:bodyPr wrap="none" rtlCol="0">
            <a:spAutoFit/>
          </a:bodyPr>
          <a:lstStyle/>
          <a:p>
            <a:r>
              <a:rPr lang="es-ES" sz="1600" b="1" u="sng" dirty="0"/>
              <a:t>Gestión del área de swap</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1986741" y="1514524"/>
            <a:ext cx="6575367" cy="584775"/>
          </a:xfrm>
          <a:prstGeom prst="rect">
            <a:avLst/>
          </a:prstGeom>
          <a:noFill/>
        </p:spPr>
        <p:txBody>
          <a:bodyPr wrap="square" rtlCol="0">
            <a:spAutoFit/>
          </a:bodyPr>
          <a:lstStyle/>
          <a:p>
            <a:pPr algn="just"/>
            <a:r>
              <a:rPr lang="es-ES" sz="1600" dirty="0">
                <a:solidFill>
                  <a:srgbClr val="FF0000"/>
                </a:solidFill>
              </a:rPr>
              <a:t>Pregunta: ¿Qué pasa si el Sistema Operativo escribe a la zona de </a:t>
            </a:r>
            <a:r>
              <a:rPr lang="es-ES" sz="1600" i="1" dirty="0">
                <a:solidFill>
                  <a:srgbClr val="FF0000"/>
                </a:solidFill>
              </a:rPr>
              <a:t>swap</a:t>
            </a:r>
            <a:r>
              <a:rPr lang="es-ES" sz="1600" dirty="0">
                <a:solidFill>
                  <a:srgbClr val="FF0000"/>
                </a:solidFill>
              </a:rPr>
              <a:t> una página con datos confidenciales (claves, números de cuenta bancaria)?</a:t>
            </a:r>
          </a:p>
        </p:txBody>
      </p:sp>
      <p:pic>
        <p:nvPicPr>
          <p:cNvPr id="3074" name="Picture 2" descr="compare, comparison, options, choice, choose, value, doubt, question, mark, decision, person">
            <a:extLst>
              <a:ext uri="{FF2B5EF4-FFF2-40B4-BE49-F238E27FC236}">
                <a16:creationId xmlns:a16="http://schemas.microsoft.com/office/drawing/2014/main" id="{C12E412C-E096-4AE6-AD03-A9DA276D7D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9933" y="2256064"/>
            <a:ext cx="3862387"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0302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Memoria virtual</a:t>
            </a:r>
          </a:p>
        </p:txBody>
      </p:sp>
      <p:sp>
        <p:nvSpPr>
          <p:cNvPr id="5" name="CuadroTexto 4">
            <a:extLst>
              <a:ext uri="{FF2B5EF4-FFF2-40B4-BE49-F238E27FC236}">
                <a16:creationId xmlns:a16="http://schemas.microsoft.com/office/drawing/2014/main" id="{53436311-60EA-46A7-AB48-155B5F16C40F}"/>
              </a:ext>
            </a:extLst>
          </p:cNvPr>
          <p:cNvSpPr txBox="1"/>
          <p:nvPr/>
        </p:nvSpPr>
        <p:spPr>
          <a:xfrm>
            <a:off x="1776414" y="858644"/>
            <a:ext cx="2320059" cy="338554"/>
          </a:xfrm>
          <a:prstGeom prst="rect">
            <a:avLst/>
          </a:prstGeom>
          <a:noFill/>
        </p:spPr>
        <p:txBody>
          <a:bodyPr wrap="none" rtlCol="0">
            <a:spAutoFit/>
          </a:bodyPr>
          <a:lstStyle/>
          <a:p>
            <a:r>
              <a:rPr lang="es-ES" sz="1600" b="1" u="sng" dirty="0"/>
              <a:t>Gestión del área de swap</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1986741" y="1514524"/>
            <a:ext cx="6575367" cy="3323987"/>
          </a:xfrm>
          <a:prstGeom prst="rect">
            <a:avLst/>
          </a:prstGeom>
          <a:noFill/>
        </p:spPr>
        <p:txBody>
          <a:bodyPr wrap="square" rtlCol="0">
            <a:spAutoFit/>
          </a:bodyPr>
          <a:lstStyle/>
          <a:p>
            <a:pPr algn="just"/>
            <a:r>
              <a:rPr lang="es-ES" sz="1400" dirty="0"/>
              <a:t>Los que han pensado que los datos están en peligro están completamente en lo cierto. Cuando el Sistema Operativo expulsa una página de datos a la zona de </a:t>
            </a:r>
            <a:r>
              <a:rPr lang="es-ES" sz="1400" i="1" dirty="0"/>
              <a:t>swap</a:t>
            </a:r>
            <a:r>
              <a:rPr lang="es-ES" sz="1400" dirty="0"/>
              <a:t>, no tiene la menor idea sobre cuál es el significado de sus contenidos. Si nos roban el equipo, alguien con el programa adecuado puede volcar los contenidos de la zona de </a:t>
            </a:r>
            <a:r>
              <a:rPr lang="es-ES" sz="1400" i="1" dirty="0"/>
              <a:t>swap</a:t>
            </a:r>
            <a:r>
              <a:rPr lang="es-ES" sz="1400" dirty="0"/>
              <a:t>.</a:t>
            </a:r>
          </a:p>
          <a:p>
            <a:pPr algn="just"/>
            <a:endParaRPr lang="es-ES" sz="1400" dirty="0"/>
          </a:p>
          <a:p>
            <a:pPr algn="just"/>
            <a:r>
              <a:rPr lang="es-ES" sz="1400" dirty="0"/>
              <a:t>Posibles soluciones:</a:t>
            </a:r>
          </a:p>
          <a:p>
            <a:pPr algn="just"/>
            <a:endParaRPr lang="es-ES" sz="1400" dirty="0"/>
          </a:p>
          <a:p>
            <a:pPr marL="628650" lvl="1" indent="-285750" algn="just">
              <a:buFont typeface="Arial" panose="020B0604020202020204" pitchFamily="34" charset="0"/>
              <a:buChar char="•"/>
            </a:pPr>
            <a:r>
              <a:rPr lang="es-ES" sz="1400" dirty="0">
                <a:hlinkClick r:id="rId3"/>
              </a:rPr>
              <a:t>Borrar</a:t>
            </a:r>
            <a:r>
              <a:rPr lang="es-ES" sz="1400" dirty="0"/>
              <a:t> la zona de swap al apagar el equipo. [No se ejecuta si se apaga de forma brusca]</a:t>
            </a:r>
          </a:p>
          <a:p>
            <a:pPr marL="628650" lvl="1" indent="-285750" algn="just">
              <a:buFont typeface="Arial" panose="020B0604020202020204" pitchFamily="34" charset="0"/>
              <a:buChar char="•"/>
            </a:pPr>
            <a:r>
              <a:rPr lang="es-ES" sz="1400" dirty="0">
                <a:hlinkClick r:id="rId4"/>
              </a:rPr>
              <a:t>Cifrar la zona de swap</a:t>
            </a:r>
            <a:r>
              <a:rPr lang="es-ES" sz="1400" dirty="0"/>
              <a:t>. Tiene consecuencias en el rendimiento global.</a:t>
            </a:r>
          </a:p>
          <a:p>
            <a:pPr marL="628650" lvl="1" indent="-285750" algn="just">
              <a:buFont typeface="Arial" panose="020B0604020202020204" pitchFamily="34" charset="0"/>
              <a:buChar char="•"/>
            </a:pPr>
            <a:r>
              <a:rPr lang="es-ES" sz="1400" dirty="0"/>
              <a:t>El desarrollador puede marcar determinadas zonas de memoria (variables) como inmunes al swap, se denomina </a:t>
            </a:r>
            <a:r>
              <a:rPr lang="es-ES" sz="1400" i="1" dirty="0" err="1"/>
              <a:t>pinned</a:t>
            </a:r>
            <a:r>
              <a:rPr lang="es-ES" sz="1400" i="1" dirty="0"/>
              <a:t> </a:t>
            </a:r>
            <a:r>
              <a:rPr lang="es-ES" sz="1400" i="1" dirty="0" err="1"/>
              <a:t>memory</a:t>
            </a:r>
            <a:r>
              <a:rPr lang="es-ES" sz="1400" dirty="0"/>
              <a:t>. En Linux se hace con el servicio </a:t>
            </a:r>
            <a:r>
              <a:rPr lang="es-ES" sz="1200" dirty="0" err="1">
                <a:latin typeface="Lucida Sans Typewriter" panose="020B0509030504030204" pitchFamily="49" charset="0"/>
              </a:rPr>
              <a:t>mlock</a:t>
            </a:r>
            <a:r>
              <a:rPr lang="es-ES" sz="1200" dirty="0">
                <a:latin typeface="Lucida Sans Typewriter" panose="020B0509030504030204" pitchFamily="49" charset="0"/>
              </a:rPr>
              <a:t>()</a:t>
            </a:r>
            <a:r>
              <a:rPr lang="es-ES" sz="1400" dirty="0"/>
              <a:t>.</a:t>
            </a:r>
          </a:p>
          <a:p>
            <a:pPr marL="628650" lvl="1" indent="-285750" algn="just">
              <a:buFont typeface="Arial" panose="020B0604020202020204" pitchFamily="34" charset="0"/>
              <a:buChar char="•"/>
            </a:pPr>
            <a:r>
              <a:rPr lang="es-ES" sz="1400" dirty="0"/>
              <a:t>Confiar en que no va a pasar (99,999% de los usuarios)</a:t>
            </a:r>
          </a:p>
          <a:p>
            <a:pPr marL="628650" lvl="1" indent="-285750" algn="just">
              <a:buFont typeface="Arial" panose="020B0604020202020204" pitchFamily="34" charset="0"/>
              <a:buChar char="•"/>
            </a:pPr>
            <a:endParaRPr lang="es-ES" sz="1400" dirty="0"/>
          </a:p>
        </p:txBody>
      </p:sp>
    </p:spTree>
    <p:extLst>
      <p:ext uri="{BB962C8B-B14F-4D97-AF65-F5344CB8AC3E}">
        <p14:creationId xmlns:p14="http://schemas.microsoft.com/office/powerpoint/2010/main" val="17043381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Gestión de la imagen de memoria</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1885471" y="1098482"/>
            <a:ext cx="6575367" cy="1131079"/>
          </a:xfrm>
          <a:prstGeom prst="rect">
            <a:avLst/>
          </a:prstGeom>
          <a:noFill/>
          <a:ln>
            <a:noFill/>
          </a:ln>
        </p:spPr>
        <p:txBody>
          <a:bodyPr wrap="square" rtlCol="0">
            <a:spAutoFit/>
          </a:bodyPr>
          <a:lstStyle/>
          <a:p>
            <a:pPr algn="just"/>
            <a:r>
              <a:rPr lang="es-ES" dirty="0"/>
              <a:t>Como ya se vio en el tema anterior, la imagen de memoria es el conjunto de la información necesaria para su ejecución, ya sea código máquina o datos. La imagen se crea a partir del ejecutable y este es producto de la cadena de compilación + </a:t>
            </a:r>
            <a:r>
              <a:rPr lang="es-ES" dirty="0" err="1"/>
              <a:t>linkado</a:t>
            </a:r>
            <a:r>
              <a:rPr lang="es-ES" dirty="0"/>
              <a:t>. El programa se escribe en un lenguaje de alto nival y el compilador crea uno o varios ficheros de objetos. Un fichero objeto consta de:</a:t>
            </a:r>
          </a:p>
        </p:txBody>
      </p:sp>
      <p:sp>
        <p:nvSpPr>
          <p:cNvPr id="2" name="CuadroTexto 1">
            <a:extLst>
              <a:ext uri="{FF2B5EF4-FFF2-40B4-BE49-F238E27FC236}">
                <a16:creationId xmlns:a16="http://schemas.microsoft.com/office/drawing/2014/main" id="{656B0793-0335-4587-8F17-E729927AF558}"/>
              </a:ext>
            </a:extLst>
          </p:cNvPr>
          <p:cNvSpPr txBox="1"/>
          <p:nvPr/>
        </p:nvSpPr>
        <p:spPr>
          <a:xfrm>
            <a:off x="1825393" y="2346663"/>
            <a:ext cx="3123679" cy="2585323"/>
          </a:xfrm>
          <a:prstGeom prst="rect">
            <a:avLst/>
          </a:prstGeom>
          <a:noFill/>
        </p:spPr>
        <p:txBody>
          <a:bodyPr wrap="square" rtlCol="0">
            <a:spAutoFit/>
          </a:bodyPr>
          <a:lstStyle/>
          <a:p>
            <a:pPr marL="285750" indent="-285750" algn="just">
              <a:buFont typeface="Arial" panose="020B0604020202020204" pitchFamily="34" charset="0"/>
              <a:buChar char="•"/>
            </a:pPr>
            <a:r>
              <a:rPr lang="es-ES" dirty="0"/>
              <a:t>Una cabecera que describe cómo se organiza</a:t>
            </a:r>
          </a:p>
          <a:p>
            <a:pPr marL="285750" indent="-285750" algn="just">
              <a:buFont typeface="Arial" panose="020B0604020202020204" pitchFamily="34" charset="0"/>
              <a:buChar char="•"/>
            </a:pPr>
            <a:r>
              <a:rPr lang="es-ES" dirty="0"/>
              <a:t>Texto: Código máquina y constantes del módulo</a:t>
            </a:r>
          </a:p>
          <a:p>
            <a:pPr marL="285750" indent="-285750" algn="just">
              <a:buFont typeface="Arial" panose="020B0604020202020204" pitchFamily="34" charset="0"/>
              <a:buChar char="•"/>
            </a:pPr>
            <a:r>
              <a:rPr lang="es-ES" dirty="0"/>
              <a:t>Variables globales</a:t>
            </a:r>
          </a:p>
          <a:p>
            <a:pPr marL="285750" indent="-285750" algn="just">
              <a:buFont typeface="Arial" panose="020B0604020202020204" pitchFamily="34" charset="0"/>
              <a:buChar char="•"/>
            </a:pPr>
            <a:r>
              <a:rPr lang="es-ES" dirty="0"/>
              <a:t>Información de reubicación</a:t>
            </a:r>
          </a:p>
          <a:p>
            <a:pPr marL="285750" indent="-285750" algn="just">
              <a:buFont typeface="Arial" panose="020B0604020202020204" pitchFamily="34" charset="0"/>
              <a:buChar char="•"/>
            </a:pPr>
            <a:r>
              <a:rPr lang="es-ES" dirty="0"/>
              <a:t>Tabla de símbolos externos (datos o procedimientos) que no </a:t>
            </a:r>
            <a:r>
              <a:rPr lang="es-ES" dirty="0" err="1"/>
              <a:t>pertecen</a:t>
            </a:r>
            <a:r>
              <a:rPr lang="es-ES" dirty="0"/>
              <a:t> al módulo, por ejemplo de una librería.</a:t>
            </a:r>
          </a:p>
          <a:p>
            <a:pPr marL="285750" indent="-285750" algn="just">
              <a:buFont typeface="Arial" panose="020B0604020202020204" pitchFamily="34" charset="0"/>
              <a:buChar char="•"/>
            </a:pPr>
            <a:r>
              <a:rPr lang="es-ES" dirty="0"/>
              <a:t>Información de depuración </a:t>
            </a:r>
          </a:p>
          <a:p>
            <a:pPr marL="285750" indent="-285750" algn="just">
              <a:buFont typeface="Arial" panose="020B0604020202020204" pitchFamily="34" charset="0"/>
              <a:buChar char="•"/>
            </a:pPr>
            <a:endParaRPr lang="es-ES" dirty="0"/>
          </a:p>
          <a:p>
            <a:endParaRPr lang="es-ES" dirty="0"/>
          </a:p>
        </p:txBody>
      </p:sp>
      <p:grpSp>
        <p:nvGrpSpPr>
          <p:cNvPr id="11" name="Grupo 10">
            <a:extLst>
              <a:ext uri="{FF2B5EF4-FFF2-40B4-BE49-F238E27FC236}">
                <a16:creationId xmlns:a16="http://schemas.microsoft.com/office/drawing/2014/main" id="{A7D683E1-DA02-4659-9F4F-43CD0F4F719E}"/>
              </a:ext>
            </a:extLst>
          </p:cNvPr>
          <p:cNvGrpSpPr/>
          <p:nvPr/>
        </p:nvGrpSpPr>
        <p:grpSpPr>
          <a:xfrm>
            <a:off x="5043338" y="2666731"/>
            <a:ext cx="1489437" cy="1815457"/>
            <a:chOff x="5571239" y="2373556"/>
            <a:chExt cx="1489437" cy="1671462"/>
          </a:xfrm>
        </p:grpSpPr>
        <p:sp>
          <p:nvSpPr>
            <p:cNvPr id="3" name="Rectángulo 2">
              <a:extLst>
                <a:ext uri="{FF2B5EF4-FFF2-40B4-BE49-F238E27FC236}">
                  <a16:creationId xmlns:a16="http://schemas.microsoft.com/office/drawing/2014/main" id="{7EF4FF27-B155-4881-B07D-0A41A96F409F}"/>
                </a:ext>
              </a:extLst>
            </p:cNvPr>
            <p:cNvSpPr/>
            <p:nvPr/>
          </p:nvSpPr>
          <p:spPr>
            <a:xfrm>
              <a:off x="5571241" y="2373556"/>
              <a:ext cx="1489435" cy="386500"/>
            </a:xfrm>
            <a:prstGeom prst="rect">
              <a:avLst/>
            </a:prstGeom>
            <a:no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1FFB8120-CB51-4A74-A160-7BA85B7EB80B}"/>
                </a:ext>
              </a:extLst>
            </p:cNvPr>
            <p:cNvSpPr/>
            <p:nvPr/>
          </p:nvSpPr>
          <p:spPr>
            <a:xfrm>
              <a:off x="5571240" y="2760056"/>
              <a:ext cx="1489435" cy="754144"/>
            </a:xfrm>
            <a:prstGeom prst="rect">
              <a:avLst/>
            </a:prstGeom>
            <a:no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D0072456-6BAA-410C-9E71-82359637837C}"/>
                </a:ext>
              </a:extLst>
            </p:cNvPr>
            <p:cNvSpPr/>
            <p:nvPr/>
          </p:nvSpPr>
          <p:spPr>
            <a:xfrm>
              <a:off x="5571239" y="3514201"/>
              <a:ext cx="1489435" cy="530817"/>
            </a:xfrm>
            <a:prstGeom prst="rect">
              <a:avLst/>
            </a:prstGeom>
            <a:no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2" name="CuadroTexto 11">
            <a:extLst>
              <a:ext uri="{FF2B5EF4-FFF2-40B4-BE49-F238E27FC236}">
                <a16:creationId xmlns:a16="http://schemas.microsoft.com/office/drawing/2014/main" id="{146CA29D-77FE-41FC-A027-52BF111E961D}"/>
              </a:ext>
            </a:extLst>
          </p:cNvPr>
          <p:cNvSpPr txBox="1"/>
          <p:nvPr/>
        </p:nvSpPr>
        <p:spPr>
          <a:xfrm>
            <a:off x="5288437" y="2645796"/>
            <a:ext cx="1150443" cy="461665"/>
          </a:xfrm>
          <a:prstGeom prst="rect">
            <a:avLst/>
          </a:prstGeom>
          <a:noFill/>
        </p:spPr>
        <p:txBody>
          <a:bodyPr wrap="none" rtlCol="0">
            <a:spAutoFit/>
          </a:bodyPr>
          <a:lstStyle/>
          <a:p>
            <a:r>
              <a:rPr lang="es-ES" sz="1200" dirty="0"/>
              <a:t>Magic </a:t>
            </a:r>
            <a:r>
              <a:rPr lang="es-ES" sz="1200" dirty="0" err="1"/>
              <a:t>number</a:t>
            </a:r>
            <a:br>
              <a:rPr lang="es-ES" sz="1200" dirty="0"/>
            </a:br>
            <a:r>
              <a:rPr lang="es-ES" sz="1200" dirty="0"/>
              <a:t>Tabla secciones</a:t>
            </a:r>
          </a:p>
        </p:txBody>
      </p:sp>
      <p:sp>
        <p:nvSpPr>
          <p:cNvPr id="14" name="CuadroTexto 13">
            <a:extLst>
              <a:ext uri="{FF2B5EF4-FFF2-40B4-BE49-F238E27FC236}">
                <a16:creationId xmlns:a16="http://schemas.microsoft.com/office/drawing/2014/main" id="{F2E5CA8D-8A3F-4CC4-92C5-0D8A34F351A6}"/>
              </a:ext>
            </a:extLst>
          </p:cNvPr>
          <p:cNvSpPr txBox="1"/>
          <p:nvPr/>
        </p:nvSpPr>
        <p:spPr>
          <a:xfrm>
            <a:off x="5135895" y="3255012"/>
            <a:ext cx="1302985" cy="461665"/>
          </a:xfrm>
          <a:prstGeom prst="rect">
            <a:avLst/>
          </a:prstGeom>
          <a:noFill/>
        </p:spPr>
        <p:txBody>
          <a:bodyPr wrap="none" rtlCol="0">
            <a:spAutoFit/>
          </a:bodyPr>
          <a:lstStyle/>
          <a:p>
            <a:pPr algn="ctr"/>
            <a:r>
              <a:rPr lang="es-ES" sz="1200" dirty="0"/>
              <a:t>Texto</a:t>
            </a:r>
          </a:p>
          <a:p>
            <a:pPr algn="ctr"/>
            <a:r>
              <a:rPr lang="es-ES" sz="1200" dirty="0"/>
              <a:t>Variables globales</a:t>
            </a:r>
          </a:p>
        </p:txBody>
      </p:sp>
      <p:sp>
        <p:nvSpPr>
          <p:cNvPr id="16" name="CuadroTexto 15">
            <a:extLst>
              <a:ext uri="{FF2B5EF4-FFF2-40B4-BE49-F238E27FC236}">
                <a16:creationId xmlns:a16="http://schemas.microsoft.com/office/drawing/2014/main" id="{34DBDAE1-B026-4B56-B777-7F823AAD6C83}"/>
              </a:ext>
            </a:extLst>
          </p:cNvPr>
          <p:cNvSpPr txBox="1"/>
          <p:nvPr/>
        </p:nvSpPr>
        <p:spPr>
          <a:xfrm>
            <a:off x="5076612" y="4079105"/>
            <a:ext cx="1297919" cy="276999"/>
          </a:xfrm>
          <a:prstGeom prst="rect">
            <a:avLst/>
          </a:prstGeom>
          <a:noFill/>
        </p:spPr>
        <p:txBody>
          <a:bodyPr wrap="none" rtlCol="0">
            <a:spAutoFit/>
          </a:bodyPr>
          <a:lstStyle/>
          <a:p>
            <a:r>
              <a:rPr lang="es-ES" sz="1200" dirty="0"/>
              <a:t>Tabla de símbolos</a:t>
            </a:r>
          </a:p>
        </p:txBody>
      </p:sp>
      <p:sp>
        <p:nvSpPr>
          <p:cNvPr id="18" name="CuadroTexto 17">
            <a:extLst>
              <a:ext uri="{FF2B5EF4-FFF2-40B4-BE49-F238E27FC236}">
                <a16:creationId xmlns:a16="http://schemas.microsoft.com/office/drawing/2014/main" id="{7635B36C-ECCE-4F84-A6A7-A4EC32FE04EC}"/>
              </a:ext>
            </a:extLst>
          </p:cNvPr>
          <p:cNvSpPr txBox="1"/>
          <p:nvPr/>
        </p:nvSpPr>
        <p:spPr>
          <a:xfrm>
            <a:off x="5135895" y="2346663"/>
            <a:ext cx="1356333" cy="276999"/>
          </a:xfrm>
          <a:prstGeom prst="rect">
            <a:avLst/>
          </a:prstGeom>
          <a:noFill/>
        </p:spPr>
        <p:txBody>
          <a:bodyPr wrap="none" rtlCol="0">
            <a:spAutoFit/>
          </a:bodyPr>
          <a:lstStyle/>
          <a:p>
            <a:r>
              <a:rPr lang="es-ES" sz="1200" b="1" dirty="0"/>
              <a:t>Fichero ejecutable</a:t>
            </a:r>
          </a:p>
        </p:txBody>
      </p:sp>
      <p:sp>
        <p:nvSpPr>
          <p:cNvPr id="19" name="Rectángulo 18">
            <a:extLst>
              <a:ext uri="{FF2B5EF4-FFF2-40B4-BE49-F238E27FC236}">
                <a16:creationId xmlns:a16="http://schemas.microsoft.com/office/drawing/2014/main" id="{D5A488CD-612A-4B09-AAC1-1A23FC0ED47A}"/>
              </a:ext>
            </a:extLst>
          </p:cNvPr>
          <p:cNvSpPr/>
          <p:nvPr/>
        </p:nvSpPr>
        <p:spPr>
          <a:xfrm>
            <a:off x="7211505" y="2383916"/>
            <a:ext cx="1706252" cy="2404900"/>
          </a:xfrm>
          <a:prstGeom prst="rect">
            <a:avLst/>
          </a:prstGeom>
          <a:solidFill>
            <a:schemeClr val="accent2">
              <a:lumMod val="20000"/>
              <a:lumOff val="80000"/>
            </a:schemeClr>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n>
                <a:solidFill>
                  <a:schemeClr val="accent2">
                    <a:lumMod val="50000"/>
                  </a:schemeClr>
                </a:solidFill>
              </a:ln>
            </a:endParaRPr>
          </a:p>
        </p:txBody>
      </p:sp>
      <p:sp>
        <p:nvSpPr>
          <p:cNvPr id="20" name="Rectángulo 19">
            <a:extLst>
              <a:ext uri="{FF2B5EF4-FFF2-40B4-BE49-F238E27FC236}">
                <a16:creationId xmlns:a16="http://schemas.microsoft.com/office/drawing/2014/main" id="{98F0CF24-E443-4821-B3F8-5AFDFE3501AA}"/>
              </a:ext>
            </a:extLst>
          </p:cNvPr>
          <p:cNvSpPr/>
          <p:nvPr/>
        </p:nvSpPr>
        <p:spPr>
          <a:xfrm>
            <a:off x="7211505" y="2545237"/>
            <a:ext cx="1706252" cy="313418"/>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25000"/>
                  </a:schemeClr>
                </a:solidFill>
              </a:rPr>
              <a:t>Texto</a:t>
            </a:r>
          </a:p>
        </p:txBody>
      </p:sp>
      <p:sp>
        <p:nvSpPr>
          <p:cNvPr id="24" name="Rectángulo 23">
            <a:extLst>
              <a:ext uri="{FF2B5EF4-FFF2-40B4-BE49-F238E27FC236}">
                <a16:creationId xmlns:a16="http://schemas.microsoft.com/office/drawing/2014/main" id="{5EFCE341-EB24-47B6-8A85-2B7B20E42C82}"/>
              </a:ext>
            </a:extLst>
          </p:cNvPr>
          <p:cNvSpPr/>
          <p:nvPr/>
        </p:nvSpPr>
        <p:spPr>
          <a:xfrm>
            <a:off x="7211505" y="3013010"/>
            <a:ext cx="1706252" cy="2770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25000"/>
                  </a:schemeClr>
                </a:solidFill>
              </a:rPr>
              <a:t>Variables</a:t>
            </a:r>
          </a:p>
        </p:txBody>
      </p:sp>
      <p:sp>
        <p:nvSpPr>
          <p:cNvPr id="26" name="Rectángulo 25">
            <a:extLst>
              <a:ext uri="{FF2B5EF4-FFF2-40B4-BE49-F238E27FC236}">
                <a16:creationId xmlns:a16="http://schemas.microsoft.com/office/drawing/2014/main" id="{F04F8B24-1CEB-43CA-871C-4480DC672028}"/>
              </a:ext>
            </a:extLst>
          </p:cNvPr>
          <p:cNvSpPr/>
          <p:nvPr/>
        </p:nvSpPr>
        <p:spPr>
          <a:xfrm>
            <a:off x="7211503" y="3444612"/>
            <a:ext cx="1706252" cy="458652"/>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bg2">
                    <a:lumMod val="25000"/>
                  </a:schemeClr>
                </a:solidFill>
              </a:rPr>
              <a:t>Heap</a:t>
            </a:r>
            <a:endParaRPr lang="es-ES" dirty="0">
              <a:solidFill>
                <a:schemeClr val="bg2">
                  <a:lumMod val="25000"/>
                </a:schemeClr>
              </a:solidFill>
            </a:endParaRPr>
          </a:p>
        </p:txBody>
      </p:sp>
      <p:sp>
        <p:nvSpPr>
          <p:cNvPr id="28" name="Rectángulo 27">
            <a:extLst>
              <a:ext uri="{FF2B5EF4-FFF2-40B4-BE49-F238E27FC236}">
                <a16:creationId xmlns:a16="http://schemas.microsoft.com/office/drawing/2014/main" id="{D8E428B1-BB0B-43B3-9A55-2036AB04E6F7}"/>
              </a:ext>
            </a:extLst>
          </p:cNvPr>
          <p:cNvSpPr/>
          <p:nvPr/>
        </p:nvSpPr>
        <p:spPr>
          <a:xfrm>
            <a:off x="7211503" y="4353727"/>
            <a:ext cx="1706252" cy="277000"/>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bg2">
                    <a:lumMod val="25000"/>
                  </a:schemeClr>
                </a:solidFill>
              </a:rPr>
              <a:t>Stack</a:t>
            </a:r>
            <a:endParaRPr lang="es-ES" dirty="0">
              <a:solidFill>
                <a:schemeClr val="bg2">
                  <a:lumMod val="25000"/>
                </a:schemeClr>
              </a:solidFill>
            </a:endParaRPr>
          </a:p>
        </p:txBody>
      </p:sp>
      <p:sp>
        <p:nvSpPr>
          <p:cNvPr id="29" name="Flecha: hacia abajo 28">
            <a:extLst>
              <a:ext uri="{FF2B5EF4-FFF2-40B4-BE49-F238E27FC236}">
                <a16:creationId xmlns:a16="http://schemas.microsoft.com/office/drawing/2014/main" id="{E282E692-9D7D-43B5-BF99-D93ACF4E5ED0}"/>
              </a:ext>
            </a:extLst>
          </p:cNvPr>
          <p:cNvSpPr/>
          <p:nvPr/>
        </p:nvSpPr>
        <p:spPr>
          <a:xfrm>
            <a:off x="7974067" y="3919351"/>
            <a:ext cx="181123" cy="1559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Flecha: hacia abajo 32">
            <a:extLst>
              <a:ext uri="{FF2B5EF4-FFF2-40B4-BE49-F238E27FC236}">
                <a16:creationId xmlns:a16="http://schemas.microsoft.com/office/drawing/2014/main" id="{96D0193C-4D20-42A6-8BEE-CEFC3053A97A}"/>
              </a:ext>
            </a:extLst>
          </p:cNvPr>
          <p:cNvSpPr/>
          <p:nvPr/>
        </p:nvSpPr>
        <p:spPr>
          <a:xfrm rot="10800000">
            <a:off x="7974066" y="4197471"/>
            <a:ext cx="181123" cy="1559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CuadroTexto 34">
            <a:extLst>
              <a:ext uri="{FF2B5EF4-FFF2-40B4-BE49-F238E27FC236}">
                <a16:creationId xmlns:a16="http://schemas.microsoft.com/office/drawing/2014/main" id="{070FE7F7-3E30-48E4-8E58-A1C2FE7F5547}"/>
              </a:ext>
            </a:extLst>
          </p:cNvPr>
          <p:cNvSpPr txBox="1"/>
          <p:nvPr/>
        </p:nvSpPr>
        <p:spPr>
          <a:xfrm>
            <a:off x="7357679" y="4866501"/>
            <a:ext cx="1468607" cy="276999"/>
          </a:xfrm>
          <a:prstGeom prst="rect">
            <a:avLst/>
          </a:prstGeom>
          <a:noFill/>
        </p:spPr>
        <p:txBody>
          <a:bodyPr wrap="none" rtlCol="0">
            <a:spAutoFit/>
          </a:bodyPr>
          <a:lstStyle/>
          <a:p>
            <a:r>
              <a:rPr lang="es-ES" sz="1200" b="1" dirty="0"/>
              <a:t>Imagen de memoria</a:t>
            </a:r>
          </a:p>
        </p:txBody>
      </p:sp>
    </p:spTree>
    <p:extLst>
      <p:ext uri="{BB962C8B-B14F-4D97-AF65-F5344CB8AC3E}">
        <p14:creationId xmlns:p14="http://schemas.microsoft.com/office/powerpoint/2010/main" val="1388144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Gestión de la imagen de memoria</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1885472" y="1098482"/>
            <a:ext cx="2486232" cy="1131079"/>
          </a:xfrm>
          <a:prstGeom prst="rect">
            <a:avLst/>
          </a:prstGeom>
          <a:noFill/>
          <a:ln>
            <a:noFill/>
          </a:ln>
        </p:spPr>
        <p:txBody>
          <a:bodyPr wrap="square" rtlCol="0">
            <a:spAutoFit/>
          </a:bodyPr>
          <a:lstStyle/>
          <a:p>
            <a:pPr algn="just"/>
            <a:r>
              <a:rPr lang="es-ES" dirty="0"/>
              <a:t>Linux maneja el mapa de memoria virtual de cada proceso con una estructura del tipo </a:t>
            </a:r>
            <a:r>
              <a:rPr lang="es-ES" sz="1100" dirty="0" err="1">
                <a:latin typeface="Lucida Sans Typewriter" panose="020B0509030504030204" pitchFamily="49" charset="0"/>
              </a:rPr>
              <a:t>mm_struct</a:t>
            </a:r>
            <a:r>
              <a:rPr lang="es-ES" dirty="0"/>
              <a:t>. ¿Cuántos campos eres capaz de interpretar?</a:t>
            </a:r>
          </a:p>
        </p:txBody>
      </p:sp>
      <p:pic>
        <p:nvPicPr>
          <p:cNvPr id="13" name="Imagen 12">
            <a:extLst>
              <a:ext uri="{FF2B5EF4-FFF2-40B4-BE49-F238E27FC236}">
                <a16:creationId xmlns:a16="http://schemas.microsoft.com/office/drawing/2014/main" id="{92DF912D-C1C2-4043-8E8A-627A87D042BA}"/>
              </a:ext>
            </a:extLst>
          </p:cNvPr>
          <p:cNvPicPr>
            <a:picLocks noChangeAspect="1"/>
          </p:cNvPicPr>
          <p:nvPr/>
        </p:nvPicPr>
        <p:blipFill>
          <a:blip r:embed="rId3"/>
          <a:stretch>
            <a:fillRect/>
          </a:stretch>
        </p:blipFill>
        <p:spPr>
          <a:xfrm>
            <a:off x="4772298" y="1055486"/>
            <a:ext cx="3629270" cy="3859414"/>
          </a:xfrm>
          <a:prstGeom prst="rect">
            <a:avLst/>
          </a:prstGeom>
        </p:spPr>
      </p:pic>
    </p:spTree>
    <p:extLst>
      <p:ext uri="{BB962C8B-B14F-4D97-AF65-F5344CB8AC3E}">
        <p14:creationId xmlns:p14="http://schemas.microsoft.com/office/powerpoint/2010/main" val="17733936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Gestión de la imagen de memoria</a:t>
            </a:r>
          </a:p>
        </p:txBody>
      </p:sp>
      <p:sp>
        <p:nvSpPr>
          <p:cNvPr id="9" name="CuadroTexto 8">
            <a:extLst>
              <a:ext uri="{FF2B5EF4-FFF2-40B4-BE49-F238E27FC236}">
                <a16:creationId xmlns:a16="http://schemas.microsoft.com/office/drawing/2014/main" id="{FAC76446-93A2-418B-B992-2B67DBE74866}"/>
              </a:ext>
            </a:extLst>
          </p:cNvPr>
          <p:cNvSpPr txBox="1"/>
          <p:nvPr/>
        </p:nvSpPr>
        <p:spPr>
          <a:xfrm>
            <a:off x="1885471" y="1098482"/>
            <a:ext cx="6711773" cy="3539430"/>
          </a:xfrm>
          <a:prstGeom prst="rect">
            <a:avLst/>
          </a:prstGeom>
          <a:noFill/>
        </p:spPr>
        <p:txBody>
          <a:bodyPr wrap="square" rtlCol="0">
            <a:spAutoFit/>
          </a:bodyPr>
          <a:lstStyle/>
          <a:p>
            <a:pPr algn="just"/>
            <a:r>
              <a:rPr lang="es-ES" sz="1600" dirty="0"/>
              <a:t>Para construir el ejecutable, el </a:t>
            </a:r>
            <a:r>
              <a:rPr lang="es-ES" sz="1600" dirty="0" err="1"/>
              <a:t>linker</a:t>
            </a:r>
            <a:r>
              <a:rPr lang="es-ES" sz="1600" dirty="0"/>
              <a:t> necesita conocer qué librerías o módulos contienen las referencias externa. En la fase de montaje se reubican estos módulos de acuerdo a la posición final en el ejecutable.</a:t>
            </a:r>
          </a:p>
          <a:p>
            <a:pPr algn="just"/>
            <a:endParaRPr lang="es-ES" sz="1600" dirty="0"/>
          </a:p>
          <a:p>
            <a:pPr algn="just"/>
            <a:r>
              <a:rPr lang="es-ES" sz="1600" dirty="0"/>
              <a:t>Si el montaje es estático, todo el código de las librerías se incluye en el ejecutable, aunque no se usen las funciones. Tiene el inconveniente de crear ejecutables grandes y de repetir código en las distintas instancias.</a:t>
            </a:r>
          </a:p>
          <a:p>
            <a:pPr algn="just"/>
            <a:endParaRPr lang="es-ES" sz="1600" dirty="0"/>
          </a:p>
          <a:p>
            <a:pPr algn="just"/>
            <a:r>
              <a:rPr lang="es-ES" sz="1600" dirty="0"/>
              <a:t>Con el montaje dinámico solo se incluye una pequeña rutina capaz de localizar a la librería dinámica e invocarla. La librería se carga la primera vez que un proceso la invoca. Si durante su ejecución un segundo proceso la requiere, simplemente se incluyen esas páginas en su tabla de memoria virtual. El espacio de memoria que ocupa la librería no se libera mientras quede un proceso usándola</a:t>
            </a:r>
            <a:r>
              <a:rPr lang="es-ES" dirty="0"/>
              <a:t>.</a:t>
            </a:r>
          </a:p>
        </p:txBody>
      </p:sp>
    </p:spTree>
    <p:extLst>
      <p:ext uri="{BB962C8B-B14F-4D97-AF65-F5344CB8AC3E}">
        <p14:creationId xmlns:p14="http://schemas.microsoft.com/office/powerpoint/2010/main" val="37829298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Gestión de la imagen de memoria</a:t>
            </a:r>
          </a:p>
        </p:txBody>
      </p:sp>
      <p:grpSp>
        <p:nvGrpSpPr>
          <p:cNvPr id="5" name="Grupo 4">
            <a:extLst>
              <a:ext uri="{FF2B5EF4-FFF2-40B4-BE49-F238E27FC236}">
                <a16:creationId xmlns:a16="http://schemas.microsoft.com/office/drawing/2014/main" id="{74A1DA1B-51A4-495E-96C1-18068B371873}"/>
              </a:ext>
            </a:extLst>
          </p:cNvPr>
          <p:cNvGrpSpPr/>
          <p:nvPr/>
        </p:nvGrpSpPr>
        <p:grpSpPr>
          <a:xfrm>
            <a:off x="2029901" y="1299347"/>
            <a:ext cx="1489437" cy="1815457"/>
            <a:chOff x="5571239" y="2373556"/>
            <a:chExt cx="1489437" cy="1671462"/>
          </a:xfrm>
          <a:solidFill>
            <a:schemeClr val="accent1">
              <a:lumMod val="20000"/>
              <a:lumOff val="80000"/>
            </a:schemeClr>
          </a:solidFill>
        </p:grpSpPr>
        <p:sp>
          <p:nvSpPr>
            <p:cNvPr id="6" name="Rectángulo 5">
              <a:extLst>
                <a:ext uri="{FF2B5EF4-FFF2-40B4-BE49-F238E27FC236}">
                  <a16:creationId xmlns:a16="http://schemas.microsoft.com/office/drawing/2014/main" id="{6FC61CA9-308B-47FC-AD59-60DCD6CEFB7C}"/>
                </a:ext>
              </a:extLst>
            </p:cNvPr>
            <p:cNvSpPr/>
            <p:nvPr/>
          </p:nvSpPr>
          <p:spPr>
            <a:xfrm>
              <a:off x="5571241" y="2373556"/>
              <a:ext cx="1489435" cy="386500"/>
            </a:xfrm>
            <a:prstGeom prst="rect">
              <a:avLst/>
            </a:prstGeom>
            <a:grp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C6437C7F-EA52-4AF2-BFE5-0D5C7B30756A}"/>
                </a:ext>
              </a:extLst>
            </p:cNvPr>
            <p:cNvSpPr/>
            <p:nvPr/>
          </p:nvSpPr>
          <p:spPr>
            <a:xfrm>
              <a:off x="5571240" y="2760056"/>
              <a:ext cx="1489435" cy="754144"/>
            </a:xfrm>
            <a:prstGeom prst="rect">
              <a:avLst/>
            </a:prstGeom>
            <a:grp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1122B39E-26DF-42E3-B23A-4587A5BB6723}"/>
                </a:ext>
              </a:extLst>
            </p:cNvPr>
            <p:cNvSpPr/>
            <p:nvPr/>
          </p:nvSpPr>
          <p:spPr>
            <a:xfrm>
              <a:off x="5571239" y="3514201"/>
              <a:ext cx="1489435" cy="530817"/>
            </a:xfrm>
            <a:prstGeom prst="rect">
              <a:avLst/>
            </a:prstGeom>
            <a:grpFill/>
            <a:ln w="2857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0" name="CuadroTexto 9">
            <a:extLst>
              <a:ext uri="{FF2B5EF4-FFF2-40B4-BE49-F238E27FC236}">
                <a16:creationId xmlns:a16="http://schemas.microsoft.com/office/drawing/2014/main" id="{ADFC414D-2A8A-461B-812F-25881D1DFE0F}"/>
              </a:ext>
            </a:extLst>
          </p:cNvPr>
          <p:cNvSpPr txBox="1"/>
          <p:nvPr/>
        </p:nvSpPr>
        <p:spPr>
          <a:xfrm>
            <a:off x="2275000" y="1278412"/>
            <a:ext cx="1150443" cy="461665"/>
          </a:xfrm>
          <a:prstGeom prst="rect">
            <a:avLst/>
          </a:prstGeom>
          <a:noFill/>
        </p:spPr>
        <p:txBody>
          <a:bodyPr wrap="none" rtlCol="0">
            <a:spAutoFit/>
          </a:bodyPr>
          <a:lstStyle/>
          <a:p>
            <a:r>
              <a:rPr lang="es-ES" sz="1200" dirty="0"/>
              <a:t>Magic </a:t>
            </a:r>
            <a:r>
              <a:rPr lang="es-ES" sz="1200" dirty="0" err="1"/>
              <a:t>number</a:t>
            </a:r>
            <a:br>
              <a:rPr lang="es-ES" sz="1200" dirty="0"/>
            </a:br>
            <a:r>
              <a:rPr lang="es-ES" sz="1200" dirty="0"/>
              <a:t>Tabla secciones</a:t>
            </a:r>
          </a:p>
        </p:txBody>
      </p:sp>
      <p:sp>
        <p:nvSpPr>
          <p:cNvPr id="11" name="CuadroTexto 10">
            <a:extLst>
              <a:ext uri="{FF2B5EF4-FFF2-40B4-BE49-F238E27FC236}">
                <a16:creationId xmlns:a16="http://schemas.microsoft.com/office/drawing/2014/main" id="{7825EB1B-6116-40A1-9BB6-08F86A90131D}"/>
              </a:ext>
            </a:extLst>
          </p:cNvPr>
          <p:cNvSpPr txBox="1"/>
          <p:nvPr/>
        </p:nvSpPr>
        <p:spPr>
          <a:xfrm>
            <a:off x="2122458" y="1887628"/>
            <a:ext cx="1302985" cy="461665"/>
          </a:xfrm>
          <a:prstGeom prst="rect">
            <a:avLst/>
          </a:prstGeom>
          <a:noFill/>
        </p:spPr>
        <p:txBody>
          <a:bodyPr wrap="none" rtlCol="0">
            <a:spAutoFit/>
          </a:bodyPr>
          <a:lstStyle/>
          <a:p>
            <a:pPr algn="ctr"/>
            <a:r>
              <a:rPr lang="es-ES" sz="1200" dirty="0"/>
              <a:t>Texto</a:t>
            </a:r>
          </a:p>
          <a:p>
            <a:pPr algn="ctr"/>
            <a:r>
              <a:rPr lang="es-ES" sz="1200" dirty="0"/>
              <a:t>Variables globales</a:t>
            </a:r>
          </a:p>
        </p:txBody>
      </p:sp>
      <p:sp>
        <p:nvSpPr>
          <p:cNvPr id="12" name="CuadroTexto 11">
            <a:extLst>
              <a:ext uri="{FF2B5EF4-FFF2-40B4-BE49-F238E27FC236}">
                <a16:creationId xmlns:a16="http://schemas.microsoft.com/office/drawing/2014/main" id="{FC39CC3A-4864-4A3E-85FE-D56B37A83EBA}"/>
              </a:ext>
            </a:extLst>
          </p:cNvPr>
          <p:cNvSpPr txBox="1"/>
          <p:nvPr/>
        </p:nvSpPr>
        <p:spPr>
          <a:xfrm>
            <a:off x="2063175" y="2711721"/>
            <a:ext cx="1297919" cy="276999"/>
          </a:xfrm>
          <a:prstGeom prst="rect">
            <a:avLst/>
          </a:prstGeom>
          <a:noFill/>
        </p:spPr>
        <p:txBody>
          <a:bodyPr wrap="none" rtlCol="0">
            <a:spAutoFit/>
          </a:bodyPr>
          <a:lstStyle/>
          <a:p>
            <a:r>
              <a:rPr lang="es-ES" sz="1200" dirty="0"/>
              <a:t>Tabla de símbolos</a:t>
            </a:r>
          </a:p>
        </p:txBody>
      </p:sp>
      <p:sp>
        <p:nvSpPr>
          <p:cNvPr id="13" name="CuadroTexto 12">
            <a:extLst>
              <a:ext uri="{FF2B5EF4-FFF2-40B4-BE49-F238E27FC236}">
                <a16:creationId xmlns:a16="http://schemas.microsoft.com/office/drawing/2014/main" id="{7A4A76D0-9D50-4990-8AC3-7450B2F6BA70}"/>
              </a:ext>
            </a:extLst>
          </p:cNvPr>
          <p:cNvSpPr txBox="1"/>
          <p:nvPr/>
        </p:nvSpPr>
        <p:spPr>
          <a:xfrm>
            <a:off x="2122458" y="979279"/>
            <a:ext cx="1356333" cy="276999"/>
          </a:xfrm>
          <a:prstGeom prst="rect">
            <a:avLst/>
          </a:prstGeom>
          <a:noFill/>
        </p:spPr>
        <p:txBody>
          <a:bodyPr wrap="none" rtlCol="0">
            <a:spAutoFit/>
          </a:bodyPr>
          <a:lstStyle/>
          <a:p>
            <a:r>
              <a:rPr lang="es-ES" sz="1200" b="1" dirty="0"/>
              <a:t>Fichero ejecutable</a:t>
            </a:r>
          </a:p>
        </p:txBody>
      </p:sp>
      <p:sp>
        <p:nvSpPr>
          <p:cNvPr id="15" name="Rectángulo 14">
            <a:extLst>
              <a:ext uri="{FF2B5EF4-FFF2-40B4-BE49-F238E27FC236}">
                <a16:creationId xmlns:a16="http://schemas.microsoft.com/office/drawing/2014/main" id="{CBDFBF21-DE65-480B-83BB-CB4FCB0215C3}"/>
              </a:ext>
            </a:extLst>
          </p:cNvPr>
          <p:cNvSpPr/>
          <p:nvPr/>
        </p:nvSpPr>
        <p:spPr>
          <a:xfrm>
            <a:off x="3519338" y="3334666"/>
            <a:ext cx="1489435" cy="419797"/>
          </a:xfrm>
          <a:prstGeom prst="rect">
            <a:avLst/>
          </a:prstGeom>
          <a:solidFill>
            <a:schemeClr val="bg2"/>
          </a:solid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a:extLst>
              <a:ext uri="{FF2B5EF4-FFF2-40B4-BE49-F238E27FC236}">
                <a16:creationId xmlns:a16="http://schemas.microsoft.com/office/drawing/2014/main" id="{1D1E47C7-6074-43F1-961C-619F779DB906}"/>
              </a:ext>
            </a:extLst>
          </p:cNvPr>
          <p:cNvSpPr/>
          <p:nvPr/>
        </p:nvSpPr>
        <p:spPr>
          <a:xfrm>
            <a:off x="3519339" y="3754464"/>
            <a:ext cx="1489435" cy="630148"/>
          </a:xfrm>
          <a:prstGeom prst="rect">
            <a:avLst/>
          </a:prstGeom>
          <a:solidFill>
            <a:schemeClr val="bg2"/>
          </a:solid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67F3E20F-5F6A-4C4C-85D9-660A78564A77}"/>
              </a:ext>
            </a:extLst>
          </p:cNvPr>
          <p:cNvSpPr/>
          <p:nvPr/>
        </p:nvSpPr>
        <p:spPr>
          <a:xfrm>
            <a:off x="3519338" y="4384613"/>
            <a:ext cx="1489435" cy="576546"/>
          </a:xfrm>
          <a:prstGeom prst="rect">
            <a:avLst/>
          </a:prstGeom>
          <a:solidFill>
            <a:schemeClr val="bg2"/>
          </a:solidFill>
          <a:ln w="285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2267BCB0-FBAC-4000-9580-D7E2F733EE41}"/>
              </a:ext>
            </a:extLst>
          </p:cNvPr>
          <p:cNvSpPr txBox="1"/>
          <p:nvPr/>
        </p:nvSpPr>
        <p:spPr>
          <a:xfrm>
            <a:off x="3881678" y="3390732"/>
            <a:ext cx="763414" cy="276999"/>
          </a:xfrm>
          <a:prstGeom prst="rect">
            <a:avLst/>
          </a:prstGeom>
          <a:noFill/>
        </p:spPr>
        <p:txBody>
          <a:bodyPr wrap="none" rtlCol="0">
            <a:spAutoFit/>
          </a:bodyPr>
          <a:lstStyle/>
          <a:p>
            <a:r>
              <a:rPr lang="es-ES" sz="1200" dirty="0"/>
              <a:t>Cabecera</a:t>
            </a:r>
          </a:p>
        </p:txBody>
      </p:sp>
      <p:sp>
        <p:nvSpPr>
          <p:cNvPr id="19" name="CuadroTexto 18">
            <a:extLst>
              <a:ext uri="{FF2B5EF4-FFF2-40B4-BE49-F238E27FC236}">
                <a16:creationId xmlns:a16="http://schemas.microsoft.com/office/drawing/2014/main" id="{130ABF98-F77C-40CF-99F4-70EF4DF25182}"/>
              </a:ext>
            </a:extLst>
          </p:cNvPr>
          <p:cNvSpPr txBox="1"/>
          <p:nvPr/>
        </p:nvSpPr>
        <p:spPr>
          <a:xfrm>
            <a:off x="3611895" y="3733983"/>
            <a:ext cx="1302985" cy="461665"/>
          </a:xfrm>
          <a:prstGeom prst="rect">
            <a:avLst/>
          </a:prstGeom>
          <a:noFill/>
        </p:spPr>
        <p:txBody>
          <a:bodyPr wrap="none" rtlCol="0">
            <a:spAutoFit/>
          </a:bodyPr>
          <a:lstStyle/>
          <a:p>
            <a:pPr algn="ctr"/>
            <a:r>
              <a:rPr lang="es-ES" sz="1200" dirty="0"/>
              <a:t>Texto</a:t>
            </a:r>
          </a:p>
          <a:p>
            <a:pPr algn="ctr"/>
            <a:r>
              <a:rPr lang="es-ES" sz="1200" dirty="0"/>
              <a:t>Variables globales</a:t>
            </a:r>
          </a:p>
        </p:txBody>
      </p:sp>
      <p:sp>
        <p:nvSpPr>
          <p:cNvPr id="20" name="CuadroTexto 19">
            <a:extLst>
              <a:ext uri="{FF2B5EF4-FFF2-40B4-BE49-F238E27FC236}">
                <a16:creationId xmlns:a16="http://schemas.microsoft.com/office/drawing/2014/main" id="{CA3BBF4C-4846-408F-8FCD-26A711CBE79B}"/>
              </a:ext>
            </a:extLst>
          </p:cNvPr>
          <p:cNvSpPr txBox="1"/>
          <p:nvPr/>
        </p:nvSpPr>
        <p:spPr>
          <a:xfrm>
            <a:off x="3552612" y="4558076"/>
            <a:ext cx="1297919" cy="276999"/>
          </a:xfrm>
          <a:prstGeom prst="rect">
            <a:avLst/>
          </a:prstGeom>
          <a:noFill/>
        </p:spPr>
        <p:txBody>
          <a:bodyPr wrap="none" rtlCol="0">
            <a:spAutoFit/>
          </a:bodyPr>
          <a:lstStyle/>
          <a:p>
            <a:r>
              <a:rPr lang="es-ES" sz="1200" dirty="0"/>
              <a:t>Tabla de símbolos</a:t>
            </a:r>
          </a:p>
        </p:txBody>
      </p:sp>
      <p:sp>
        <p:nvSpPr>
          <p:cNvPr id="21" name="CuadroTexto 20">
            <a:extLst>
              <a:ext uri="{FF2B5EF4-FFF2-40B4-BE49-F238E27FC236}">
                <a16:creationId xmlns:a16="http://schemas.microsoft.com/office/drawing/2014/main" id="{54E7493E-2FD8-420B-815A-D785A65CD92E}"/>
              </a:ext>
            </a:extLst>
          </p:cNvPr>
          <p:cNvSpPr txBox="1"/>
          <p:nvPr/>
        </p:nvSpPr>
        <p:spPr>
          <a:xfrm>
            <a:off x="2225402" y="4755145"/>
            <a:ext cx="1249637" cy="276999"/>
          </a:xfrm>
          <a:prstGeom prst="rect">
            <a:avLst/>
          </a:prstGeom>
          <a:noFill/>
        </p:spPr>
        <p:txBody>
          <a:bodyPr wrap="none" rtlCol="0">
            <a:spAutoFit/>
          </a:bodyPr>
          <a:lstStyle/>
          <a:p>
            <a:r>
              <a:rPr lang="es-ES" sz="1200" b="1" dirty="0" err="1"/>
              <a:t>Lbrería</a:t>
            </a:r>
            <a:r>
              <a:rPr lang="es-ES" sz="1200" b="1" dirty="0"/>
              <a:t> dinámica</a:t>
            </a:r>
          </a:p>
        </p:txBody>
      </p:sp>
      <p:sp>
        <p:nvSpPr>
          <p:cNvPr id="2" name="Rectángulo 1">
            <a:extLst>
              <a:ext uri="{FF2B5EF4-FFF2-40B4-BE49-F238E27FC236}">
                <a16:creationId xmlns:a16="http://schemas.microsoft.com/office/drawing/2014/main" id="{C4D5C782-4FF8-4E65-AE87-9F3794E63B1A}"/>
              </a:ext>
            </a:extLst>
          </p:cNvPr>
          <p:cNvSpPr/>
          <p:nvPr/>
        </p:nvSpPr>
        <p:spPr>
          <a:xfrm>
            <a:off x="5922636" y="1146843"/>
            <a:ext cx="1706252" cy="3494826"/>
          </a:xfrm>
          <a:prstGeom prst="rect">
            <a:avLst/>
          </a:prstGeom>
          <a:solidFill>
            <a:schemeClr val="accent2">
              <a:lumMod val="20000"/>
              <a:lumOff val="80000"/>
            </a:schemeClr>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n>
                <a:solidFill>
                  <a:schemeClr val="accent2">
                    <a:lumMod val="50000"/>
                  </a:schemeClr>
                </a:solidFill>
              </a:ln>
            </a:endParaRPr>
          </a:p>
        </p:txBody>
      </p:sp>
      <p:sp>
        <p:nvSpPr>
          <p:cNvPr id="3" name="Rectángulo 2">
            <a:extLst>
              <a:ext uri="{FF2B5EF4-FFF2-40B4-BE49-F238E27FC236}">
                <a16:creationId xmlns:a16="http://schemas.microsoft.com/office/drawing/2014/main" id="{1449F3D9-6D76-495E-BFF2-1963043CBD5D}"/>
              </a:ext>
            </a:extLst>
          </p:cNvPr>
          <p:cNvSpPr/>
          <p:nvPr/>
        </p:nvSpPr>
        <p:spPr>
          <a:xfrm>
            <a:off x="5922636" y="1308164"/>
            <a:ext cx="1706252" cy="313418"/>
          </a:xfrm>
          <a:prstGeom prst="rect">
            <a:avLst/>
          </a:prstGeom>
          <a:solidFill>
            <a:schemeClr val="accent1">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25000"/>
                  </a:schemeClr>
                </a:solidFill>
              </a:rPr>
              <a:t>Texto</a:t>
            </a:r>
          </a:p>
        </p:txBody>
      </p:sp>
      <p:sp>
        <p:nvSpPr>
          <p:cNvPr id="25" name="Rectángulo 24">
            <a:extLst>
              <a:ext uri="{FF2B5EF4-FFF2-40B4-BE49-F238E27FC236}">
                <a16:creationId xmlns:a16="http://schemas.microsoft.com/office/drawing/2014/main" id="{95D3FAFF-0511-4190-A2C8-B215994897D9}"/>
              </a:ext>
            </a:extLst>
          </p:cNvPr>
          <p:cNvSpPr/>
          <p:nvPr/>
        </p:nvSpPr>
        <p:spPr>
          <a:xfrm>
            <a:off x="5922636" y="1610474"/>
            <a:ext cx="1706252" cy="277000"/>
          </a:xfrm>
          <a:prstGeom prst="rect">
            <a:avLst/>
          </a:prstGeom>
          <a:solidFill>
            <a:schemeClr val="accent1">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25000"/>
                  </a:schemeClr>
                </a:solidFill>
              </a:rPr>
              <a:t>Variables</a:t>
            </a:r>
          </a:p>
        </p:txBody>
      </p:sp>
      <p:sp>
        <p:nvSpPr>
          <p:cNvPr id="27" name="Rectángulo 26">
            <a:extLst>
              <a:ext uri="{FF2B5EF4-FFF2-40B4-BE49-F238E27FC236}">
                <a16:creationId xmlns:a16="http://schemas.microsoft.com/office/drawing/2014/main" id="{534F6556-1903-4D95-88AE-E5640886942E}"/>
              </a:ext>
            </a:extLst>
          </p:cNvPr>
          <p:cNvSpPr/>
          <p:nvPr/>
        </p:nvSpPr>
        <p:spPr>
          <a:xfrm>
            <a:off x="5922634" y="2207539"/>
            <a:ext cx="1706252" cy="458652"/>
          </a:xfrm>
          <a:prstGeom prst="rect">
            <a:avLst/>
          </a:prstGeom>
          <a:solidFill>
            <a:schemeClr val="accent1">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bg2">
                    <a:lumMod val="25000"/>
                  </a:schemeClr>
                </a:solidFill>
              </a:rPr>
              <a:t>Heap</a:t>
            </a:r>
            <a:endParaRPr lang="es-ES" dirty="0">
              <a:solidFill>
                <a:schemeClr val="bg2">
                  <a:lumMod val="25000"/>
                </a:schemeClr>
              </a:solidFill>
            </a:endParaRPr>
          </a:p>
        </p:txBody>
      </p:sp>
      <p:sp>
        <p:nvSpPr>
          <p:cNvPr id="29" name="Rectángulo 28">
            <a:extLst>
              <a:ext uri="{FF2B5EF4-FFF2-40B4-BE49-F238E27FC236}">
                <a16:creationId xmlns:a16="http://schemas.microsoft.com/office/drawing/2014/main" id="{A793D98A-6D3E-4E69-8022-68A6D4DF735F}"/>
              </a:ext>
            </a:extLst>
          </p:cNvPr>
          <p:cNvSpPr/>
          <p:nvPr/>
        </p:nvSpPr>
        <p:spPr>
          <a:xfrm>
            <a:off x="5922634" y="4380756"/>
            <a:ext cx="1706252" cy="277000"/>
          </a:xfrm>
          <a:prstGeom prst="rect">
            <a:avLst/>
          </a:prstGeom>
          <a:solidFill>
            <a:schemeClr val="accent1">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bg2">
                    <a:lumMod val="25000"/>
                  </a:schemeClr>
                </a:solidFill>
              </a:rPr>
              <a:t>Stack</a:t>
            </a:r>
            <a:endParaRPr lang="es-ES" dirty="0">
              <a:solidFill>
                <a:schemeClr val="bg2">
                  <a:lumMod val="25000"/>
                </a:schemeClr>
              </a:solidFill>
            </a:endParaRPr>
          </a:p>
        </p:txBody>
      </p:sp>
      <p:sp>
        <p:nvSpPr>
          <p:cNvPr id="31" name="Flecha: hacia abajo 30">
            <a:extLst>
              <a:ext uri="{FF2B5EF4-FFF2-40B4-BE49-F238E27FC236}">
                <a16:creationId xmlns:a16="http://schemas.microsoft.com/office/drawing/2014/main" id="{58634CAF-FC52-4DAC-A032-0929511EB248}"/>
              </a:ext>
            </a:extLst>
          </p:cNvPr>
          <p:cNvSpPr/>
          <p:nvPr/>
        </p:nvSpPr>
        <p:spPr>
          <a:xfrm>
            <a:off x="6685198" y="2682278"/>
            <a:ext cx="181123" cy="1559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Flecha: hacia abajo 32">
            <a:extLst>
              <a:ext uri="{FF2B5EF4-FFF2-40B4-BE49-F238E27FC236}">
                <a16:creationId xmlns:a16="http://schemas.microsoft.com/office/drawing/2014/main" id="{9142FDBA-6D34-47BB-B591-F71AE7163462}"/>
              </a:ext>
            </a:extLst>
          </p:cNvPr>
          <p:cNvSpPr/>
          <p:nvPr/>
        </p:nvSpPr>
        <p:spPr>
          <a:xfrm rot="10800000">
            <a:off x="6685197" y="4224500"/>
            <a:ext cx="181123" cy="155907"/>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CuadroTexto 34">
            <a:extLst>
              <a:ext uri="{FF2B5EF4-FFF2-40B4-BE49-F238E27FC236}">
                <a16:creationId xmlns:a16="http://schemas.microsoft.com/office/drawing/2014/main" id="{E0C6061B-A67A-4B48-B582-40F5E16F176D}"/>
              </a:ext>
            </a:extLst>
          </p:cNvPr>
          <p:cNvSpPr txBox="1"/>
          <p:nvPr/>
        </p:nvSpPr>
        <p:spPr>
          <a:xfrm>
            <a:off x="6160279" y="4742690"/>
            <a:ext cx="1468607" cy="276999"/>
          </a:xfrm>
          <a:prstGeom prst="rect">
            <a:avLst/>
          </a:prstGeom>
          <a:noFill/>
        </p:spPr>
        <p:txBody>
          <a:bodyPr wrap="none" rtlCol="0">
            <a:spAutoFit/>
          </a:bodyPr>
          <a:lstStyle/>
          <a:p>
            <a:r>
              <a:rPr lang="es-ES" sz="1200" b="1" dirty="0"/>
              <a:t>Imagen de memoria</a:t>
            </a:r>
          </a:p>
        </p:txBody>
      </p:sp>
      <p:sp>
        <p:nvSpPr>
          <p:cNvPr id="37" name="Rectángulo 36">
            <a:extLst>
              <a:ext uri="{FF2B5EF4-FFF2-40B4-BE49-F238E27FC236}">
                <a16:creationId xmlns:a16="http://schemas.microsoft.com/office/drawing/2014/main" id="{24B22A99-ED71-462D-A0E9-928EAF20C816}"/>
              </a:ext>
            </a:extLst>
          </p:cNvPr>
          <p:cNvSpPr/>
          <p:nvPr/>
        </p:nvSpPr>
        <p:spPr>
          <a:xfrm>
            <a:off x="5922634" y="3084385"/>
            <a:ext cx="1706252" cy="313418"/>
          </a:xfrm>
          <a:prstGeom prst="rect">
            <a:avLst/>
          </a:prstGeom>
          <a:solidFill>
            <a:schemeClr val="bg2"/>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25000"/>
                  </a:schemeClr>
                </a:solidFill>
              </a:rPr>
              <a:t>Texto Librería</a:t>
            </a:r>
          </a:p>
        </p:txBody>
      </p:sp>
      <p:sp>
        <p:nvSpPr>
          <p:cNvPr id="39" name="Rectángulo 38">
            <a:extLst>
              <a:ext uri="{FF2B5EF4-FFF2-40B4-BE49-F238E27FC236}">
                <a16:creationId xmlns:a16="http://schemas.microsoft.com/office/drawing/2014/main" id="{6EA5DBF6-7E7A-4D70-883B-73D64CF57222}"/>
              </a:ext>
            </a:extLst>
          </p:cNvPr>
          <p:cNvSpPr/>
          <p:nvPr/>
        </p:nvSpPr>
        <p:spPr>
          <a:xfrm>
            <a:off x="5922634" y="3505503"/>
            <a:ext cx="1706252" cy="277000"/>
          </a:xfrm>
          <a:prstGeom prst="rect">
            <a:avLst/>
          </a:prstGeom>
          <a:solidFill>
            <a:schemeClr val="bg2"/>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25000"/>
                  </a:schemeClr>
                </a:solidFill>
              </a:rPr>
              <a:t>Variables</a:t>
            </a:r>
          </a:p>
        </p:txBody>
      </p:sp>
      <p:cxnSp>
        <p:nvCxnSpPr>
          <p:cNvPr id="42" name="Conector recto de flecha 41">
            <a:extLst>
              <a:ext uri="{FF2B5EF4-FFF2-40B4-BE49-F238E27FC236}">
                <a16:creationId xmlns:a16="http://schemas.microsoft.com/office/drawing/2014/main" id="{990746CD-D622-47FE-8B41-B929A80CF52C}"/>
              </a:ext>
            </a:extLst>
          </p:cNvPr>
          <p:cNvCxnSpPr>
            <a:stCxn id="7" idx="3"/>
          </p:cNvCxnSpPr>
          <p:nvPr/>
        </p:nvCxnSpPr>
        <p:spPr>
          <a:xfrm flipV="1">
            <a:off x="3519337" y="1775937"/>
            <a:ext cx="2271863" cy="352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6165318E-C65F-4E9C-BA45-D3DF78B0F4E2}"/>
              </a:ext>
            </a:extLst>
          </p:cNvPr>
          <p:cNvCxnSpPr>
            <a:endCxn id="37" idx="1"/>
          </p:cNvCxnSpPr>
          <p:nvPr/>
        </p:nvCxnSpPr>
        <p:spPr>
          <a:xfrm flipV="1">
            <a:off x="5085806" y="3241094"/>
            <a:ext cx="836828" cy="954554"/>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5221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Gestión de la imagen de memoria</a:t>
            </a:r>
          </a:p>
        </p:txBody>
      </p:sp>
      <p:sp>
        <p:nvSpPr>
          <p:cNvPr id="9" name="CuadroTexto 8">
            <a:extLst>
              <a:ext uri="{FF2B5EF4-FFF2-40B4-BE49-F238E27FC236}">
                <a16:creationId xmlns:a16="http://schemas.microsoft.com/office/drawing/2014/main" id="{DADB2D58-6043-4E7D-B562-89E4E07F9F16}"/>
              </a:ext>
            </a:extLst>
          </p:cNvPr>
          <p:cNvSpPr txBox="1"/>
          <p:nvPr/>
        </p:nvSpPr>
        <p:spPr>
          <a:xfrm>
            <a:off x="1898468" y="1132114"/>
            <a:ext cx="2673531" cy="3624069"/>
          </a:xfrm>
          <a:prstGeom prst="rect">
            <a:avLst/>
          </a:prstGeom>
          <a:noFill/>
        </p:spPr>
        <p:txBody>
          <a:bodyPr wrap="square" rtlCol="0">
            <a:spAutoFit/>
          </a:bodyPr>
          <a:lstStyle/>
          <a:p>
            <a:pPr algn="just"/>
            <a:r>
              <a:rPr lang="es-ES" dirty="0"/>
              <a:t>El </a:t>
            </a:r>
            <a:r>
              <a:rPr lang="es-ES" dirty="0" err="1"/>
              <a:t>kernel</a:t>
            </a:r>
            <a:r>
              <a:rPr lang="es-ES" dirty="0"/>
              <a:t> está permanentemente cargado en memoria RAM. En todos los procesos se mapea en la tabla de memoria individual de cada proceso. Esto puede parecer que no tiene mucho sentido puesto que el software de usuario no tiene acceso al </a:t>
            </a:r>
            <a:r>
              <a:rPr lang="es-ES" dirty="0" err="1"/>
              <a:t>kernel</a:t>
            </a:r>
            <a:r>
              <a:rPr lang="es-ES" dirty="0"/>
              <a:t>. Sin embargo, hacerlo así permite evitar cambiar la tabla de memoria virtual cada vez que se produce una interrupción y se pasa de modo usuario a modo supervisor.</a:t>
            </a:r>
          </a:p>
          <a:p>
            <a:pPr algn="just"/>
            <a:endParaRPr lang="es-ES" dirty="0"/>
          </a:p>
          <a:p>
            <a:pPr algn="just"/>
            <a:r>
              <a:rPr lang="es-ES" dirty="0"/>
              <a:t>En los sistemas de 64 bits, el </a:t>
            </a:r>
            <a:r>
              <a:rPr lang="es-ES" dirty="0" err="1"/>
              <a:t>kernel</a:t>
            </a:r>
            <a:r>
              <a:rPr lang="es-ES" dirty="0"/>
              <a:t> ocupa la mitad superior de la memoria virtual del proceso.</a:t>
            </a:r>
          </a:p>
        </p:txBody>
      </p:sp>
      <p:pic>
        <p:nvPicPr>
          <p:cNvPr id="1026" name="Picture 2">
            <a:extLst>
              <a:ext uri="{FF2B5EF4-FFF2-40B4-BE49-F238E27FC236}">
                <a16:creationId xmlns:a16="http://schemas.microsoft.com/office/drawing/2014/main" id="{F9C11C59-4A4C-4ACD-B86D-AFB9702F4D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3322" y="1132114"/>
            <a:ext cx="3931376" cy="3734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35089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Gestión de la imagen de memoria</a:t>
            </a:r>
          </a:p>
        </p:txBody>
      </p:sp>
      <p:sp>
        <p:nvSpPr>
          <p:cNvPr id="9" name="CuadroTexto 8">
            <a:extLst>
              <a:ext uri="{FF2B5EF4-FFF2-40B4-BE49-F238E27FC236}">
                <a16:creationId xmlns:a16="http://schemas.microsoft.com/office/drawing/2014/main" id="{DADB2D58-6043-4E7D-B562-89E4E07F9F16}"/>
              </a:ext>
            </a:extLst>
          </p:cNvPr>
          <p:cNvSpPr txBox="1"/>
          <p:nvPr/>
        </p:nvSpPr>
        <p:spPr>
          <a:xfrm>
            <a:off x="1898468" y="1132114"/>
            <a:ext cx="6470469" cy="3539430"/>
          </a:xfrm>
          <a:prstGeom prst="rect">
            <a:avLst/>
          </a:prstGeom>
          <a:noFill/>
        </p:spPr>
        <p:txBody>
          <a:bodyPr wrap="square" rtlCol="0">
            <a:spAutoFit/>
          </a:bodyPr>
          <a:lstStyle/>
          <a:p>
            <a:pPr algn="just"/>
            <a:r>
              <a:rPr lang="es-ES" sz="1600" dirty="0"/>
              <a:t>El </a:t>
            </a:r>
            <a:r>
              <a:rPr lang="es-ES" sz="1600" dirty="0" err="1"/>
              <a:t>kernel</a:t>
            </a:r>
            <a:r>
              <a:rPr lang="es-ES" sz="1600" dirty="0"/>
              <a:t> funciona también con memoria virtual, salvo para llamadas muy específicas que requieran acceso a una dirección física. La razón de este comportamiento es porque si no lo hiciera, cada vez que se pasa de modo usuario a supervisor (o viceversa) habría que anular el funcionamiento de la TLB y pasarla a modo real. Esta operación llevaría mucho tiempo y no aportaría ninguna ventaja.</a:t>
            </a:r>
          </a:p>
          <a:p>
            <a:pPr algn="just"/>
            <a:endParaRPr lang="es-ES" sz="1600" dirty="0"/>
          </a:p>
          <a:p>
            <a:pPr algn="just"/>
            <a:r>
              <a:rPr lang="es-ES" sz="1600" dirty="0"/>
              <a:t>Hay una diferencia importante con los procesos de usuario y es que las páginas del núcleo no son expulsadas a la zona de swap, están cargadas en memoria desde que termina el proceso de arranque de la máquina.</a:t>
            </a:r>
          </a:p>
          <a:p>
            <a:pPr algn="just"/>
            <a:endParaRPr lang="es-ES" sz="1600" dirty="0"/>
          </a:p>
          <a:p>
            <a:pPr algn="just"/>
            <a:r>
              <a:rPr lang="es-ES" sz="1600" dirty="0"/>
              <a:t>Al ser el propio </a:t>
            </a:r>
            <a:r>
              <a:rPr lang="es-ES" sz="1600" dirty="0" err="1"/>
              <a:t>kernel</a:t>
            </a:r>
            <a:r>
              <a:rPr lang="es-ES" sz="1600" dirty="0"/>
              <a:t> el encargado de la gestión de la memoria virtual, tiene que construir su propia tabla de mapeo antes de arrancar los procesos en modo usuario.</a:t>
            </a:r>
          </a:p>
        </p:txBody>
      </p:sp>
    </p:spTree>
    <p:extLst>
      <p:ext uri="{BB962C8B-B14F-4D97-AF65-F5344CB8AC3E}">
        <p14:creationId xmlns:p14="http://schemas.microsoft.com/office/powerpoint/2010/main" val="31221893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Gestión de la imagen de memoria</a:t>
            </a:r>
          </a:p>
        </p:txBody>
      </p:sp>
      <p:sp>
        <p:nvSpPr>
          <p:cNvPr id="9" name="CuadroTexto 8">
            <a:extLst>
              <a:ext uri="{FF2B5EF4-FFF2-40B4-BE49-F238E27FC236}">
                <a16:creationId xmlns:a16="http://schemas.microsoft.com/office/drawing/2014/main" id="{DADB2D58-6043-4E7D-B562-89E4E07F9F16}"/>
              </a:ext>
            </a:extLst>
          </p:cNvPr>
          <p:cNvSpPr txBox="1"/>
          <p:nvPr/>
        </p:nvSpPr>
        <p:spPr>
          <a:xfrm>
            <a:off x="1898468" y="1132114"/>
            <a:ext cx="6348549" cy="2169825"/>
          </a:xfrm>
          <a:prstGeom prst="rect">
            <a:avLst/>
          </a:prstGeom>
          <a:noFill/>
        </p:spPr>
        <p:txBody>
          <a:bodyPr wrap="square" rtlCol="0">
            <a:spAutoFit/>
          </a:bodyPr>
          <a:lstStyle/>
          <a:p>
            <a:pPr algn="just"/>
            <a:r>
              <a:rPr lang="es-ES" dirty="0"/>
              <a:t>Una técnica muy útil para ahorrar memoria es la llamada  </a:t>
            </a:r>
            <a:r>
              <a:rPr lang="es-ES" b="1" dirty="0" err="1"/>
              <a:t>Copy</a:t>
            </a:r>
            <a:r>
              <a:rPr lang="es-ES" b="1" dirty="0"/>
              <a:t> </a:t>
            </a:r>
            <a:r>
              <a:rPr lang="es-ES" b="1" dirty="0" err="1"/>
              <a:t>On</a:t>
            </a:r>
            <a:r>
              <a:rPr lang="es-ES" b="1" dirty="0"/>
              <a:t> </a:t>
            </a:r>
            <a:r>
              <a:rPr lang="es-ES" b="1" dirty="0" err="1"/>
              <a:t>Write</a:t>
            </a:r>
            <a:r>
              <a:rPr lang="es-ES" b="1" dirty="0"/>
              <a:t> (COW)</a:t>
            </a:r>
            <a:r>
              <a:rPr lang="es-ES" dirty="0"/>
              <a:t>. Si tenemos dos instancias del mismo ejecutable, por ejemplo como resultado de un </a:t>
            </a:r>
            <a:r>
              <a:rPr lang="es-ES" sz="1200" dirty="0" err="1">
                <a:latin typeface="Lucida Console" panose="020B0609040504020204" pitchFamily="49" charset="0"/>
              </a:rPr>
              <a:t>fork</a:t>
            </a:r>
            <a:r>
              <a:rPr lang="es-ES" sz="1200" dirty="0">
                <a:latin typeface="Lucida Console" panose="020B0609040504020204" pitchFamily="49" charset="0"/>
              </a:rPr>
              <a:t>()</a:t>
            </a:r>
            <a:r>
              <a:rPr lang="es-ES" dirty="0"/>
              <a:t>, no tiene sentido que se el mismo código máquina se cargue dos veces.  Las páginas de memoria virtual del ejecutable se mapean en los mismos marcos.</a:t>
            </a:r>
          </a:p>
          <a:p>
            <a:pPr algn="just"/>
            <a:endParaRPr lang="es-ES" dirty="0"/>
          </a:p>
          <a:p>
            <a:pPr algn="just"/>
            <a:r>
              <a:rPr lang="es-ES" dirty="0"/>
              <a:t>Esto parece obvio puesto que el ejecutable no cambia, pero ¿qué ocurre con las páginas de datos cuándo se hace un </a:t>
            </a:r>
            <a:r>
              <a:rPr lang="es-ES" dirty="0" err="1"/>
              <a:t>fork</a:t>
            </a:r>
            <a:r>
              <a:rPr lang="es-ES" dirty="0"/>
              <a:t>? En lugar de duplicarlas se mapean de la misma manera que el código. Si durante la ejecución esos datos se alteran como consecuencia de la actualización de una variable, entonces la página afectada se copia en un marco nuevo, de ahí el nombre de la técnica </a:t>
            </a:r>
            <a:r>
              <a:rPr lang="es-ES" b="1" dirty="0" err="1"/>
              <a:t>Copy</a:t>
            </a:r>
            <a:r>
              <a:rPr lang="es-ES" b="1" dirty="0"/>
              <a:t> </a:t>
            </a:r>
            <a:r>
              <a:rPr lang="es-ES" b="1" dirty="0" err="1"/>
              <a:t>on</a:t>
            </a:r>
            <a:r>
              <a:rPr lang="es-ES" b="1" dirty="0"/>
              <a:t> </a:t>
            </a:r>
            <a:r>
              <a:rPr lang="es-ES" b="1" dirty="0" err="1"/>
              <a:t>Write</a:t>
            </a:r>
            <a:r>
              <a:rPr lang="es-ES" dirty="0"/>
              <a:t>.</a:t>
            </a:r>
          </a:p>
        </p:txBody>
      </p:sp>
      <p:pic>
        <p:nvPicPr>
          <p:cNvPr id="2050" name="Picture 2" descr="Operating Systems: Virtual Memory">
            <a:extLst>
              <a:ext uri="{FF2B5EF4-FFF2-40B4-BE49-F238E27FC236}">
                <a16:creationId xmlns:a16="http://schemas.microsoft.com/office/drawing/2014/main" id="{6378AA61-3A6C-4C3D-BF42-EB2AE7DD0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714" y="3301939"/>
            <a:ext cx="3579223" cy="1703454"/>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D884FC51-554B-487C-BDED-486B6805BB6F}"/>
              </a:ext>
            </a:extLst>
          </p:cNvPr>
          <p:cNvSpPr txBox="1"/>
          <p:nvPr/>
        </p:nvSpPr>
        <p:spPr>
          <a:xfrm>
            <a:off x="6844937" y="4791789"/>
            <a:ext cx="2098651" cy="246221"/>
          </a:xfrm>
          <a:prstGeom prst="rect">
            <a:avLst/>
          </a:prstGeom>
          <a:noFill/>
        </p:spPr>
        <p:txBody>
          <a:bodyPr wrap="none" rtlCol="0">
            <a:spAutoFit/>
          </a:bodyPr>
          <a:lstStyle/>
          <a:p>
            <a:pPr algn="r"/>
            <a:r>
              <a:rPr lang="es-ES" sz="1000" dirty="0" err="1"/>
              <a:t>Silberschatz</a:t>
            </a:r>
            <a:r>
              <a:rPr lang="es-ES" sz="1000" dirty="0"/>
              <a:t>, </a:t>
            </a:r>
            <a:r>
              <a:rPr lang="es-ES" sz="1000" dirty="0" err="1"/>
              <a:t>Galvin</a:t>
            </a:r>
            <a:r>
              <a:rPr lang="es-ES" sz="1000" dirty="0"/>
              <a:t> &amp; </a:t>
            </a:r>
            <a:r>
              <a:rPr lang="es-ES" sz="1000" dirty="0" err="1"/>
              <a:t>Gagne</a:t>
            </a:r>
            <a:r>
              <a:rPr lang="es-ES" sz="1000" dirty="0"/>
              <a:t> (2013)</a:t>
            </a:r>
          </a:p>
        </p:txBody>
      </p:sp>
    </p:spTree>
    <p:extLst>
      <p:ext uri="{BB962C8B-B14F-4D97-AF65-F5344CB8AC3E}">
        <p14:creationId xmlns:p14="http://schemas.microsoft.com/office/powerpoint/2010/main" val="19072296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Gestión de memoria en xv6</a:t>
            </a:r>
          </a:p>
        </p:txBody>
      </p:sp>
      <p:pic>
        <p:nvPicPr>
          <p:cNvPr id="3" name="Imagen 2">
            <a:extLst>
              <a:ext uri="{FF2B5EF4-FFF2-40B4-BE49-F238E27FC236}">
                <a16:creationId xmlns:a16="http://schemas.microsoft.com/office/drawing/2014/main" id="{F1385B6E-67C6-44D8-9983-1F23CAC4D491}"/>
              </a:ext>
            </a:extLst>
          </p:cNvPr>
          <p:cNvPicPr>
            <a:picLocks noChangeAspect="1"/>
          </p:cNvPicPr>
          <p:nvPr/>
        </p:nvPicPr>
        <p:blipFill>
          <a:blip r:embed="rId3"/>
          <a:stretch>
            <a:fillRect/>
          </a:stretch>
        </p:blipFill>
        <p:spPr>
          <a:xfrm>
            <a:off x="4923024" y="938349"/>
            <a:ext cx="3685422" cy="3976551"/>
          </a:xfrm>
          <a:prstGeom prst="rect">
            <a:avLst/>
          </a:prstGeom>
        </p:spPr>
      </p:pic>
      <p:sp>
        <p:nvSpPr>
          <p:cNvPr id="5" name="CuadroTexto 4">
            <a:extLst>
              <a:ext uri="{FF2B5EF4-FFF2-40B4-BE49-F238E27FC236}">
                <a16:creationId xmlns:a16="http://schemas.microsoft.com/office/drawing/2014/main" id="{9047C1C3-1E11-4157-A09A-DD4C56D9D4EA}"/>
              </a:ext>
            </a:extLst>
          </p:cNvPr>
          <p:cNvSpPr txBox="1"/>
          <p:nvPr/>
        </p:nvSpPr>
        <p:spPr>
          <a:xfrm>
            <a:off x="1558834" y="957943"/>
            <a:ext cx="2682240" cy="3624069"/>
          </a:xfrm>
          <a:prstGeom prst="rect">
            <a:avLst/>
          </a:prstGeom>
          <a:noFill/>
        </p:spPr>
        <p:txBody>
          <a:bodyPr wrap="square" rtlCol="0">
            <a:spAutoFit/>
          </a:bodyPr>
          <a:lstStyle/>
          <a:p>
            <a:pPr algn="just"/>
            <a:r>
              <a:rPr lang="es-ES" dirty="0"/>
              <a:t>El núcleo se instancia en todas las instancias de memoria virtual a partir de la dirección </a:t>
            </a:r>
            <a:r>
              <a:rPr lang="es-ES" sz="1200" dirty="0">
                <a:latin typeface="Lucida Console" panose="020B0609040504020204" pitchFamily="49" charset="0"/>
              </a:rPr>
              <a:t>KERNBASE</a:t>
            </a:r>
            <a:r>
              <a:rPr lang="es-ES" dirty="0"/>
              <a:t>. En la RAM, ocupa la zona baja, justo por encima de donde terminaba la zona I/O de la arquitectura del 80286. En modo real, mientras se produce el arranque, es el propio </a:t>
            </a:r>
            <a:r>
              <a:rPr lang="es-ES" dirty="0" err="1"/>
              <a:t>kernel</a:t>
            </a:r>
            <a:r>
              <a:rPr lang="es-ES" dirty="0"/>
              <a:t> el que traduce de memoria virtual a física simplemente sumando o restando la cantidad </a:t>
            </a:r>
            <a:r>
              <a:rPr lang="es-ES" sz="1200" dirty="0">
                <a:latin typeface="Lucida Console" panose="020B0609040504020204" pitchFamily="49" charset="0"/>
              </a:rPr>
              <a:t>KERNBASE</a:t>
            </a:r>
            <a:r>
              <a:rPr lang="es-ES" dirty="0"/>
              <a:t>, una vez que funciona la TLB ya no tiene que hacerlo. </a:t>
            </a:r>
          </a:p>
          <a:p>
            <a:endParaRPr lang="es-ES" dirty="0"/>
          </a:p>
          <a:p>
            <a:pPr algn="just"/>
            <a:r>
              <a:rPr lang="es-ES" dirty="0"/>
              <a:t>Los procesos de usuario se instancian en la parte inferior de la memoria virtual.</a:t>
            </a:r>
          </a:p>
        </p:txBody>
      </p:sp>
    </p:spTree>
    <p:extLst>
      <p:ext uri="{BB962C8B-B14F-4D97-AF65-F5344CB8AC3E}">
        <p14:creationId xmlns:p14="http://schemas.microsoft.com/office/powerpoint/2010/main" val="40568831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Gestión de memoria en xv6</a:t>
            </a:r>
          </a:p>
        </p:txBody>
      </p:sp>
      <p:sp>
        <p:nvSpPr>
          <p:cNvPr id="5" name="CuadroTexto 4">
            <a:extLst>
              <a:ext uri="{FF2B5EF4-FFF2-40B4-BE49-F238E27FC236}">
                <a16:creationId xmlns:a16="http://schemas.microsoft.com/office/drawing/2014/main" id="{9047C1C3-1E11-4157-A09A-DD4C56D9D4EA}"/>
              </a:ext>
            </a:extLst>
          </p:cNvPr>
          <p:cNvSpPr txBox="1"/>
          <p:nvPr/>
        </p:nvSpPr>
        <p:spPr>
          <a:xfrm>
            <a:off x="1558834" y="957943"/>
            <a:ext cx="3744686" cy="3624069"/>
          </a:xfrm>
          <a:prstGeom prst="rect">
            <a:avLst/>
          </a:prstGeom>
          <a:noFill/>
        </p:spPr>
        <p:txBody>
          <a:bodyPr wrap="square" rtlCol="0">
            <a:spAutoFit/>
          </a:bodyPr>
          <a:lstStyle/>
          <a:p>
            <a:pPr algn="just"/>
            <a:r>
              <a:rPr lang="es-ES" dirty="0"/>
              <a:t>Las direcciones de memoria virtual se traducen mediante una tabla de dos niveles y las páginas son de 4 kB. </a:t>
            </a:r>
          </a:p>
          <a:p>
            <a:pPr algn="just"/>
            <a:endParaRPr lang="es-ES" dirty="0"/>
          </a:p>
          <a:p>
            <a:pPr algn="just"/>
            <a:r>
              <a:rPr lang="es-ES" dirty="0"/>
              <a:t>El registro CR3 (Control </a:t>
            </a:r>
            <a:r>
              <a:rPr lang="es-ES" dirty="0" err="1"/>
              <a:t>Register</a:t>
            </a:r>
            <a:r>
              <a:rPr lang="es-ES" dirty="0"/>
              <a:t> 3) de la arquitectura x86 es el que se funciona como PTBR (Page Table Base </a:t>
            </a:r>
            <a:r>
              <a:rPr lang="es-ES" dirty="0" err="1"/>
              <a:t>Register</a:t>
            </a:r>
            <a:r>
              <a:rPr lang="es-ES" dirty="0"/>
              <a:t>).</a:t>
            </a:r>
          </a:p>
          <a:p>
            <a:pPr algn="just"/>
            <a:endParaRPr lang="es-ES" dirty="0"/>
          </a:p>
          <a:p>
            <a:pPr algn="just"/>
            <a:r>
              <a:rPr lang="es-ES" dirty="0"/>
              <a:t>El sistema xv6 utiliza una lista encadenada de páginas físicas libres para contabilizar qué memoria adicional puede conceder a un proceso durante su ejecución.</a:t>
            </a:r>
          </a:p>
          <a:p>
            <a:pPr algn="just"/>
            <a:endParaRPr lang="es-ES" dirty="0"/>
          </a:p>
          <a:p>
            <a:pPr algn="just"/>
            <a:r>
              <a:rPr lang="es-ES" dirty="0"/>
              <a:t>Debido a que se trata de una implementación extraordinariamente sencilla, xv6 no dispone de mecanismo de swap a disco.</a:t>
            </a:r>
          </a:p>
          <a:p>
            <a:pPr algn="just"/>
            <a:endParaRPr lang="es-ES" dirty="0"/>
          </a:p>
        </p:txBody>
      </p:sp>
      <p:pic>
        <p:nvPicPr>
          <p:cNvPr id="10" name="Imagen 9">
            <a:extLst>
              <a:ext uri="{FF2B5EF4-FFF2-40B4-BE49-F238E27FC236}">
                <a16:creationId xmlns:a16="http://schemas.microsoft.com/office/drawing/2014/main" id="{D774D31E-5DB7-4346-AFAC-887B02FBB0EC}"/>
              </a:ext>
            </a:extLst>
          </p:cNvPr>
          <p:cNvPicPr>
            <a:picLocks noChangeAspect="1"/>
          </p:cNvPicPr>
          <p:nvPr/>
        </p:nvPicPr>
        <p:blipFill>
          <a:blip r:embed="rId3"/>
          <a:stretch>
            <a:fillRect/>
          </a:stretch>
        </p:blipFill>
        <p:spPr>
          <a:xfrm>
            <a:off x="5534683" y="1154142"/>
            <a:ext cx="2986268" cy="2835215"/>
          </a:xfrm>
          <a:prstGeom prst="rect">
            <a:avLst/>
          </a:prstGeom>
        </p:spPr>
      </p:pic>
    </p:spTree>
    <p:extLst>
      <p:ext uri="{BB962C8B-B14F-4D97-AF65-F5344CB8AC3E}">
        <p14:creationId xmlns:p14="http://schemas.microsoft.com/office/powerpoint/2010/main" val="2207469995"/>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3AC239DE-4495-45AB-A642-84873D6EC143}" vid="{ADDCAA0F-EA35-422D-841E-59E8EF71B2C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E6A9B1AE3C694449E1CBECB26767C28" ma:contentTypeVersion="0" ma:contentTypeDescription="Crear nuevo documento." ma:contentTypeScope="" ma:versionID="f939733f7a29ff16f56243c74c11c85c">
  <xsd:schema xmlns:xsd="http://www.w3.org/2001/XMLSchema" xmlns:xs="http://www.w3.org/2001/XMLSchema" xmlns:p="http://schemas.microsoft.com/office/2006/metadata/properties" targetNamespace="http://schemas.microsoft.com/office/2006/metadata/properties" ma:root="true" ma:fieldsID="ebba8a198e9bb40c3eeca6d0bd4125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AB788B-E2DA-4E16-B351-E0EC0D46F47D}">
  <ds:schemaRefs>
    <ds:schemaRef ds:uri="http://schemas.microsoft.com/sharepoint/v3/contenttype/forms"/>
  </ds:schemaRefs>
</ds:datastoreItem>
</file>

<file path=customXml/itemProps2.xml><?xml version="1.0" encoding="utf-8"?>
<ds:datastoreItem xmlns:ds="http://schemas.openxmlformats.org/officeDocument/2006/customXml" ds:itemID="{C2331040-8433-4BD1-90D6-FEBE17A71FCC}">
  <ds:schemaRefs>
    <ds:schemaRef ds:uri="http://purl.org/dc/terms/"/>
    <ds:schemaRef ds:uri="http://schemas.microsoft.com/office/infopath/2007/PartnerControls"/>
    <ds:schemaRef ds:uri="http://purl.org/dc/dcmitype/"/>
    <ds:schemaRef ds:uri="http://www.w3.org/XML/1998/namespace"/>
    <ds:schemaRef ds:uri="http://purl.org/dc/elements/1.1/"/>
    <ds:schemaRef ds:uri="http://schemas.microsoft.com/office/2006/documentManagement/type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6FA80CCC-508F-47A8-A8E6-442477940E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10185</Words>
  <Application>Microsoft Office PowerPoint</Application>
  <PresentationFormat>Presentación en pantalla (16:9)</PresentationFormat>
  <Paragraphs>909</Paragraphs>
  <Slides>70</Slides>
  <Notes>70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70</vt:i4>
      </vt:variant>
    </vt:vector>
  </HeadingPairs>
  <TitlesOfParts>
    <vt:vector size="78" baseType="lpstr">
      <vt:lpstr>Arial</vt:lpstr>
      <vt:lpstr>Calibri</vt:lpstr>
      <vt:lpstr>Calibri Light</vt:lpstr>
      <vt:lpstr>Ink Free</vt:lpstr>
      <vt:lpstr>Lucida Console</vt:lpstr>
      <vt:lpstr>Lucida Sans Typewriter</vt:lpstr>
      <vt:lpstr>Times New Roman</vt:lpstr>
      <vt:lpstr>Tema de Office</vt:lpstr>
      <vt:lpstr>     Sistemas Operativos  4. Gestión de memoria</vt:lpstr>
      <vt:lpstr>Presentación de PowerPoint</vt:lpstr>
      <vt:lpstr>Jerarquía de memoria</vt:lpstr>
      <vt:lpstr>Jerarquía de memoria</vt:lpstr>
      <vt:lpstr>Jerarquía de memoria</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caché</vt:lpstr>
      <vt:lpstr>Memoria real</vt:lpstr>
      <vt:lpstr>Memoria real</vt:lpstr>
      <vt:lpstr>Memoria real</vt:lpstr>
      <vt:lpstr>Memoria real</vt:lpstr>
      <vt:lpstr>Memoria real</vt:lpstr>
      <vt:lpstr>Memoria real</vt:lpstr>
      <vt:lpstr>Memoria real</vt:lpstr>
      <vt:lpstr>Segmentación</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Memoria virtual</vt:lpstr>
      <vt:lpstr>Gestión de la imagen de memoria</vt:lpstr>
      <vt:lpstr>Gestión de la imagen de memoria</vt:lpstr>
      <vt:lpstr>Gestión de la imagen de memoria</vt:lpstr>
      <vt:lpstr>Gestión de la imagen de memoria</vt:lpstr>
      <vt:lpstr>Gestión de la imagen de memoria</vt:lpstr>
      <vt:lpstr>Gestión de la imagen de memoria</vt:lpstr>
      <vt:lpstr>Gestión de la imagen de memoria</vt:lpstr>
      <vt:lpstr>Gestión de memoria en xv6</vt:lpstr>
      <vt:lpstr>Gestión de memoria en xv6</vt:lpstr>
    </vt:vector>
  </TitlesOfParts>
  <Company>Universidad Pontificia Comillas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 la presentación</dc:title>
  <dc:creator>Carmen Escudero Guirado</dc:creator>
  <cp:lastModifiedBy>Miguel Angel Mesas Uzal</cp:lastModifiedBy>
  <cp:revision>538</cp:revision>
  <dcterms:created xsi:type="dcterms:W3CDTF">2017-07-19T07:53:01Z</dcterms:created>
  <dcterms:modified xsi:type="dcterms:W3CDTF">2023-11-03T17:50:35Z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0x010100AE6A9B1AE3C694449E1CBECB26767C28</vt:lpwstr>
  </property>
</Properties>
</file>