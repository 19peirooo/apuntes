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1"/>
  </p:notesMasterIdLst>
  <p:handoutMasterIdLst>
    <p:handoutMasterId r:id="rId42"/>
  </p:handoutMasterIdLst>
  <p:sldIdLst>
    <p:sldId id="256" r:id="rId5"/>
    <p:sldId id="331" r:id="rId6"/>
    <p:sldId id="332" r:id="rId7"/>
    <p:sldId id="333" r:id="rId8"/>
    <p:sldId id="330" r:id="rId9"/>
    <p:sldId id="260" r:id="rId10"/>
    <p:sldId id="301" r:id="rId11"/>
    <p:sldId id="261" r:id="rId12"/>
    <p:sldId id="324" r:id="rId13"/>
    <p:sldId id="325" r:id="rId14"/>
    <p:sldId id="326" r:id="rId15"/>
    <p:sldId id="327" r:id="rId16"/>
    <p:sldId id="302" r:id="rId17"/>
    <p:sldId id="303" r:id="rId18"/>
    <p:sldId id="304" r:id="rId19"/>
    <p:sldId id="305" r:id="rId20"/>
    <p:sldId id="321" r:id="rId21"/>
    <p:sldId id="306" r:id="rId22"/>
    <p:sldId id="319" r:id="rId23"/>
    <p:sldId id="307" r:id="rId24"/>
    <p:sldId id="309" r:id="rId25"/>
    <p:sldId id="308" r:id="rId26"/>
    <p:sldId id="310" r:id="rId27"/>
    <p:sldId id="312" r:id="rId28"/>
    <p:sldId id="320" r:id="rId29"/>
    <p:sldId id="323" r:id="rId30"/>
    <p:sldId id="318" r:id="rId31"/>
    <p:sldId id="311" r:id="rId32"/>
    <p:sldId id="335" r:id="rId33"/>
    <p:sldId id="313" r:id="rId34"/>
    <p:sldId id="314" r:id="rId35"/>
    <p:sldId id="316" r:id="rId36"/>
    <p:sldId id="315" r:id="rId37"/>
    <p:sldId id="334" r:id="rId38"/>
    <p:sldId id="317" r:id="rId39"/>
    <p:sldId id="328" r:id="rId40"/>
  </p:sldIdLst>
  <p:sldSz cx="9144000" cy="5143500" type="screen16x9"/>
  <p:notesSz cx="6858000" cy="9144000"/>
  <p:defaultTex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4B92"/>
    <a:srgbClr val="0D4C92"/>
    <a:srgbClr val="0C4B91"/>
    <a:srgbClr val="2C34A3"/>
    <a:srgbClr val="ED7D31"/>
    <a:srgbClr val="E8BA00"/>
    <a:srgbClr val="E79DE2"/>
    <a:srgbClr val="F6B7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EDCB5C-585D-4527-B449-EE1ED881D223}" v="3" dt="2019-09-14T13:44:41.89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3907" autoAdjust="0"/>
  </p:normalViewPr>
  <p:slideViewPr>
    <p:cSldViewPr snapToGrid="0" showGuides="1">
      <p:cViewPr varScale="1">
        <p:scale>
          <a:sx n="106" d="100"/>
          <a:sy n="106" d="100"/>
        </p:scale>
        <p:origin x="806" y="96"/>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52" d="100"/>
          <a:sy n="52" d="100"/>
        </p:scale>
        <p:origin x="2608" y="-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8110F86B-BA5B-456A-9F15-1001DA431A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4" name="Marcador de pie de página 3">
            <a:extLst>
              <a:ext uri="{FF2B5EF4-FFF2-40B4-BE49-F238E27FC236}">
                <a16:creationId xmlns:a16="http://schemas.microsoft.com/office/drawing/2014/main" id="{8D0B463B-5C76-4972-A160-AB124013E3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A52D53BC-EDAA-4129-A929-3C6EABA6580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09F88C2-1804-4662-92F3-C7C5F0CE9812}" type="slidenum">
              <a:rPr lang="es-ES" smtClean="0"/>
              <a:t>‹Nº›</a:t>
            </a:fld>
            <a:endParaRPr lang="es-ES"/>
          </a:p>
        </p:txBody>
      </p:sp>
    </p:spTree>
    <p:extLst>
      <p:ext uri="{BB962C8B-B14F-4D97-AF65-F5344CB8AC3E}">
        <p14:creationId xmlns:p14="http://schemas.microsoft.com/office/powerpoint/2010/main" val="28215942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B4FE8B-16C8-4AC4-B2E8-25ABD55C296B}" type="datetimeFigureOut">
              <a:rPr lang="es-ES" smtClean="0"/>
              <a:t>16/09/2021</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525962-8DFE-4459-9D66-AC5413CC5D6A}" type="slidenum">
              <a:rPr lang="es-ES" smtClean="0"/>
              <a:t>‹Nº›</a:t>
            </a:fld>
            <a:endParaRPr lang="es-ES"/>
          </a:p>
        </p:txBody>
      </p:sp>
    </p:spTree>
    <p:extLst>
      <p:ext uri="{BB962C8B-B14F-4D97-AF65-F5344CB8AC3E}">
        <p14:creationId xmlns:p14="http://schemas.microsoft.com/office/powerpoint/2010/main" val="483859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s.wikipedia.org/wiki/Archivo:Casio_F-91W_digital_watch.jpg"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commons.wikimedia.org/wiki/User:PetarM"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pxhere.com/es/photo/909559"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www.jpl.nasa.gov/spaceimages/details.php?id=PIA22960"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needpix.com/photo/1806274/clock-30-min-wait-countdown-plan-cooking-time-half-an-hour"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zxasm.wordpress.com/2016/05/28/zx-spectrum-screen-memory-layout/"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99525962-8DFE-4459-9D66-AC5413CC5D6A}" type="slidenum">
              <a:rPr lang="es-ES" smtClean="0"/>
              <a:t>1</a:t>
            </a:fld>
            <a:endParaRPr lang="es-ES"/>
          </a:p>
        </p:txBody>
      </p:sp>
    </p:spTree>
    <p:extLst>
      <p:ext uri="{BB962C8B-B14F-4D97-AF65-F5344CB8AC3E}">
        <p14:creationId xmlns:p14="http://schemas.microsoft.com/office/powerpoint/2010/main" val="989733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a:t>
            </a:fld>
            <a:endParaRPr lang="es-ES"/>
          </a:p>
        </p:txBody>
      </p:sp>
    </p:spTree>
    <p:extLst>
      <p:ext uri="{BB962C8B-B14F-4D97-AF65-F5344CB8AC3E}">
        <p14:creationId xmlns:p14="http://schemas.microsoft.com/office/powerpoint/2010/main" val="22597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a:t>
            </a:fld>
            <a:endParaRPr lang="es-ES"/>
          </a:p>
        </p:txBody>
      </p:sp>
    </p:spTree>
    <p:extLst>
      <p:ext uri="{BB962C8B-B14F-4D97-AF65-F5344CB8AC3E}">
        <p14:creationId xmlns:p14="http://schemas.microsoft.com/office/powerpoint/2010/main" val="1419437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4</a:t>
            </a:fld>
            <a:endParaRPr lang="es-ES"/>
          </a:p>
        </p:txBody>
      </p:sp>
    </p:spTree>
    <p:extLst>
      <p:ext uri="{BB962C8B-B14F-4D97-AF65-F5344CB8AC3E}">
        <p14:creationId xmlns:p14="http://schemas.microsoft.com/office/powerpoint/2010/main" val="273643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5</a:t>
            </a:fld>
            <a:endParaRPr lang="es-ES"/>
          </a:p>
        </p:txBody>
      </p:sp>
    </p:spTree>
    <p:extLst>
      <p:ext uri="{BB962C8B-B14F-4D97-AF65-F5344CB8AC3E}">
        <p14:creationId xmlns:p14="http://schemas.microsoft.com/office/powerpoint/2010/main" val="1128151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reloj: </a:t>
            </a:r>
            <a:r>
              <a:rPr lang="es-ES" dirty="0">
                <a:hlinkClick r:id="rId3"/>
              </a:rPr>
              <a:t>https://es.wikipedia.org/wiki/Archivo:Casio_F-91W_digital_watch.jpg</a:t>
            </a:r>
            <a:endParaRPr lang="es-ES" dirty="0"/>
          </a:p>
          <a:p>
            <a:r>
              <a:rPr lang="es-ES" b="1" dirty="0">
                <a:effectLst/>
              </a:rPr>
              <a:t>Autor </a:t>
            </a:r>
            <a:r>
              <a:rPr lang="es-ES" u="none" strike="noStrike" dirty="0">
                <a:solidFill>
                  <a:srgbClr val="0B0080"/>
                </a:solidFill>
                <a:effectLst/>
                <a:hlinkClick r:id="rId4" tooltip="User:PetarM"/>
              </a:rPr>
              <a:t>Petar </a:t>
            </a:r>
            <a:r>
              <a:rPr lang="es-ES" u="none" strike="noStrike" dirty="0" err="1">
                <a:solidFill>
                  <a:srgbClr val="0B0080"/>
                </a:solidFill>
                <a:effectLst/>
                <a:hlinkClick r:id="rId4" tooltip="User:PetarM"/>
              </a:rPr>
              <a:t>Milošević</a:t>
            </a:r>
            <a:endParaRPr lang="es-ES" u="none" strike="noStrike" dirty="0">
              <a:solidFill>
                <a:srgbClr val="0B0080"/>
              </a:solidFill>
              <a:effectLst/>
            </a:endParaRPr>
          </a:p>
          <a:p>
            <a:r>
              <a:rPr lang="es-ES" u="none" strike="noStrike" dirty="0">
                <a:solidFill>
                  <a:srgbClr val="0B0080"/>
                </a:solidFill>
                <a:effectLst/>
              </a:rPr>
              <a:t>Imagen Arduino: https://commons.wikimedia.org/wiki/File:Genuino_uno.jpg</a:t>
            </a:r>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6</a:t>
            </a:fld>
            <a:endParaRPr lang="es-ES"/>
          </a:p>
        </p:txBody>
      </p:sp>
    </p:spTree>
    <p:extLst>
      <p:ext uri="{BB962C8B-B14F-4D97-AF65-F5344CB8AC3E}">
        <p14:creationId xmlns:p14="http://schemas.microsoft.com/office/powerpoint/2010/main" val="2079552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TV: </a:t>
            </a:r>
            <a:r>
              <a:rPr lang="es-ES" dirty="0">
                <a:hlinkClick r:id="rId3"/>
              </a:rPr>
              <a:t>https://pxhere.com/es/photo/909559</a:t>
            </a:r>
            <a:endParaRPr lang="es-ES" dirty="0"/>
          </a:p>
          <a:p>
            <a:r>
              <a:rPr lang="es-ES" b="0" dirty="0">
                <a:effectLst/>
              </a:rPr>
              <a:t>Imagen Mars </a:t>
            </a:r>
            <a:r>
              <a:rPr lang="es-ES" b="0" dirty="0" err="1">
                <a:effectLst/>
              </a:rPr>
              <a:t>Curiosity</a:t>
            </a:r>
            <a:r>
              <a:rPr lang="es-ES" b="0" dirty="0">
                <a:effectLst/>
              </a:rPr>
              <a:t>: </a:t>
            </a:r>
            <a:r>
              <a:rPr lang="es-ES" dirty="0">
                <a:hlinkClick r:id="rId4"/>
              </a:rPr>
              <a:t>https://www.jpl.nasa.gov/spaceimages/details.php?id=PIA22960</a:t>
            </a:r>
            <a:endParaRPr lang="es-ES" dirty="0"/>
          </a:p>
          <a:p>
            <a:r>
              <a:rPr lang="es-ES" b="0" dirty="0"/>
              <a:t>Imagen Pebble </a:t>
            </a:r>
            <a:r>
              <a:rPr lang="es-ES" b="0" dirty="0" err="1"/>
              <a:t>watch</a:t>
            </a:r>
            <a:r>
              <a:rPr lang="es-ES" b="0" dirty="0"/>
              <a:t>: https://commons.wikimedia.org/wiki/File:Pebble_watch_trio_group_04_square_crop.png</a:t>
            </a:r>
          </a:p>
          <a:p>
            <a:endParaRPr lang="es-ES" b="0" dirty="0"/>
          </a:p>
          <a:p>
            <a:r>
              <a:rPr lang="es-ES" b="0" dirty="0"/>
              <a:t>La mayoría de los equipos electrónicos de la actualidad utilizan sistemas operativos, aunque no sean de propósito general. Los televisores utilizan una versión especial de Android sobre la que se desarrollan las aplicaciones para sus microprocesadores ARM. Los sistemas operativos de tiempo real son también muy comunes, en equipos tan sofisticados como un explorador autónomo como Mars </a:t>
            </a:r>
            <a:r>
              <a:rPr lang="es-ES" b="0" dirty="0" err="1"/>
              <a:t>Curiosity</a:t>
            </a:r>
            <a:r>
              <a:rPr lang="es-ES" b="0" dirty="0"/>
              <a:t> que usa el sistema </a:t>
            </a:r>
            <a:r>
              <a:rPr lang="es-ES" b="0" dirty="0" err="1"/>
              <a:t>VxWorks</a:t>
            </a:r>
            <a:r>
              <a:rPr lang="es-ES" b="0" dirty="0"/>
              <a:t> de </a:t>
            </a:r>
            <a:r>
              <a:rPr lang="es-ES" b="0" dirty="0" err="1"/>
              <a:t>Wind</a:t>
            </a:r>
            <a:r>
              <a:rPr lang="es-ES" b="0" dirty="0"/>
              <a:t> </a:t>
            </a:r>
            <a:r>
              <a:rPr lang="es-ES" b="0" dirty="0" err="1"/>
              <a:t>River</a:t>
            </a:r>
            <a:r>
              <a:rPr lang="es-ES" b="0" dirty="0"/>
              <a:t> o en sencillos relojes como los Pebble </a:t>
            </a:r>
            <a:r>
              <a:rPr lang="es-ES" b="0" dirty="0" err="1"/>
              <a:t>watch</a:t>
            </a:r>
            <a:r>
              <a:rPr lang="es-ES" b="0" dirty="0"/>
              <a:t> que emplean Free RTOS un sistema operativo mínimo habitual en electrónica de consumo e </a:t>
            </a:r>
            <a:r>
              <a:rPr lang="es-ES" b="0" dirty="0" err="1"/>
              <a:t>IoT</a:t>
            </a:r>
            <a:r>
              <a:rPr lang="es-ES" b="0" dirty="0"/>
              <a:t>.</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7</a:t>
            </a:fld>
            <a:endParaRPr lang="es-ES"/>
          </a:p>
        </p:txBody>
      </p:sp>
    </p:spTree>
    <p:extLst>
      <p:ext uri="{BB962C8B-B14F-4D97-AF65-F5344CB8AC3E}">
        <p14:creationId xmlns:p14="http://schemas.microsoft.com/office/powerpoint/2010/main" val="268257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8</a:t>
            </a:fld>
            <a:endParaRPr lang="es-ES"/>
          </a:p>
        </p:txBody>
      </p:sp>
    </p:spTree>
    <p:extLst>
      <p:ext uri="{BB962C8B-B14F-4D97-AF65-F5344CB8AC3E}">
        <p14:creationId xmlns:p14="http://schemas.microsoft.com/office/powerpoint/2010/main" val="23690220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9</a:t>
            </a:fld>
            <a:endParaRPr lang="es-ES"/>
          </a:p>
        </p:txBody>
      </p:sp>
    </p:spTree>
    <p:extLst>
      <p:ext uri="{BB962C8B-B14F-4D97-AF65-F5344CB8AC3E}">
        <p14:creationId xmlns:p14="http://schemas.microsoft.com/office/powerpoint/2010/main" val="577087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10</a:t>
            </a:fld>
            <a:endParaRPr lang="es-ES"/>
          </a:p>
        </p:txBody>
      </p:sp>
    </p:spTree>
    <p:extLst>
      <p:ext uri="{BB962C8B-B14F-4D97-AF65-F5344CB8AC3E}">
        <p14:creationId xmlns:p14="http://schemas.microsoft.com/office/powerpoint/2010/main" val="24370013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11</a:t>
            </a:fld>
            <a:endParaRPr lang="es-ES"/>
          </a:p>
        </p:txBody>
      </p:sp>
    </p:spTree>
    <p:extLst>
      <p:ext uri="{BB962C8B-B14F-4D97-AF65-F5344CB8AC3E}">
        <p14:creationId xmlns:p14="http://schemas.microsoft.com/office/powerpoint/2010/main" val="1490658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12</a:t>
            </a:fld>
            <a:endParaRPr lang="es-ES"/>
          </a:p>
        </p:txBody>
      </p:sp>
    </p:spTree>
    <p:extLst>
      <p:ext uri="{BB962C8B-B14F-4D97-AF65-F5344CB8AC3E}">
        <p14:creationId xmlns:p14="http://schemas.microsoft.com/office/powerpoint/2010/main" val="3473141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13</a:t>
            </a:fld>
            <a:endParaRPr lang="es-ES"/>
          </a:p>
        </p:txBody>
      </p:sp>
    </p:spTree>
    <p:extLst>
      <p:ext uri="{BB962C8B-B14F-4D97-AF65-F5344CB8AC3E}">
        <p14:creationId xmlns:p14="http://schemas.microsoft.com/office/powerpoint/2010/main" val="32717973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14</a:t>
            </a:fld>
            <a:endParaRPr lang="es-ES"/>
          </a:p>
        </p:txBody>
      </p:sp>
    </p:spTree>
    <p:extLst>
      <p:ext uri="{BB962C8B-B14F-4D97-AF65-F5344CB8AC3E}">
        <p14:creationId xmlns:p14="http://schemas.microsoft.com/office/powerpoint/2010/main" val="32121994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reloj: </a:t>
            </a:r>
            <a:r>
              <a:rPr lang="es-ES" dirty="0">
                <a:hlinkClick r:id="rId3"/>
              </a:rPr>
              <a:t>https://www.needpix.com/photo/1806274/clock-30-min-wait-countdown-plan-cooking-time-half-an-hour</a:t>
            </a:r>
            <a:endParaRPr lang="es-ES" dirty="0"/>
          </a:p>
          <a:p>
            <a:r>
              <a:rPr lang="es-ES" dirty="0"/>
              <a:t>Imagen de la pantalla de </a:t>
            </a:r>
            <a:r>
              <a:rPr lang="es-ES" dirty="0" err="1"/>
              <a:t>Spectrum</a:t>
            </a:r>
            <a:r>
              <a:rPr lang="es-ES" dirty="0"/>
              <a:t>: </a:t>
            </a:r>
            <a:r>
              <a:rPr lang="es-ES" dirty="0">
                <a:hlinkClick r:id="rId4"/>
              </a:rPr>
              <a:t>https://zxasm.wordpress.com/2016/05/28/zx-spectrum-screen-memory-layout/</a:t>
            </a:r>
            <a:endParaRPr lang="es-ES" dirty="0"/>
          </a:p>
          <a:p>
            <a:endParaRPr lang="es-ES" dirty="0"/>
          </a:p>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15</a:t>
            </a:fld>
            <a:endParaRPr lang="es-ES"/>
          </a:p>
        </p:txBody>
      </p:sp>
    </p:spTree>
    <p:extLst>
      <p:ext uri="{BB962C8B-B14F-4D97-AF65-F5344CB8AC3E}">
        <p14:creationId xmlns:p14="http://schemas.microsoft.com/office/powerpoint/2010/main" val="19439664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https://pt.wikipedia.org/wiki/Escalonamento_de_processos#/media/Ficheiro:Algoritmo_Round_Robin_feito_no_Excel.png</a:t>
            </a:r>
          </a:p>
          <a:p>
            <a:endParaRPr lang="es-ES" dirty="0"/>
          </a:p>
          <a:p>
            <a:r>
              <a:rPr lang="es-ES" dirty="0"/>
              <a:t>La CPU es el recurso más limitante, porque solo puede ejecutar un proceso. El Sistema Operativo va concediendo el control a los distintos procesos que están listos para ejecutarse, usando algoritmos de planificación (</a:t>
            </a:r>
            <a:r>
              <a:rPr lang="es-ES" dirty="0" err="1"/>
              <a:t>scheduling</a:t>
            </a:r>
            <a:r>
              <a:rPr lang="es-ES" dirty="0"/>
              <a:t>).</a:t>
            </a:r>
          </a:p>
          <a:p>
            <a:endParaRPr lang="es-ES" dirty="0"/>
          </a:p>
          <a:p>
            <a:r>
              <a:rPr lang="es-ES" dirty="0"/>
              <a:t>¿Cuándo se ejecuta el planificador?. Con la interrupción periódica llamada </a:t>
            </a:r>
            <a:r>
              <a:rPr lang="es-ES" dirty="0" err="1"/>
              <a:t>tick</a:t>
            </a:r>
            <a:r>
              <a:rPr lang="es-ES" dirty="0"/>
              <a:t> (varía de unos sistemas operativos a otros, del orden de 10 ms), cuando un proceso termina o cuando un proceso llama a una primitiva bloqueante (por ejemplo, lectura de un fichero).</a:t>
            </a:r>
          </a:p>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16</a:t>
            </a:fld>
            <a:endParaRPr lang="es-ES"/>
          </a:p>
        </p:txBody>
      </p:sp>
    </p:spTree>
    <p:extLst>
      <p:ext uri="{BB962C8B-B14F-4D97-AF65-F5344CB8AC3E}">
        <p14:creationId xmlns:p14="http://schemas.microsoft.com/office/powerpoint/2010/main" val="34581231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17</a:t>
            </a:fld>
            <a:endParaRPr lang="es-ES"/>
          </a:p>
        </p:txBody>
      </p:sp>
    </p:spTree>
    <p:extLst>
      <p:ext uri="{BB962C8B-B14F-4D97-AF65-F5344CB8AC3E}">
        <p14:creationId xmlns:p14="http://schemas.microsoft.com/office/powerpoint/2010/main" val="25392618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https://en.m.wikipedia.org/wiki/File:ComputerMemoryHierarchy.svg</a:t>
            </a:r>
          </a:p>
          <a:p>
            <a:endParaRPr lang="es-ES" dirty="0"/>
          </a:p>
          <a:p>
            <a:r>
              <a:rPr lang="es-ES" dirty="0"/>
              <a:t>En la máquina de </a:t>
            </a:r>
            <a:r>
              <a:rPr lang="es-ES" dirty="0" err="1"/>
              <a:t>von</a:t>
            </a:r>
            <a:r>
              <a:rPr lang="es-ES" dirty="0"/>
              <a:t> Neumann, la CPU accede a la memoria RAM directamente, escribiendo la dirección física de la palabra que quiere leer o escribir.</a:t>
            </a:r>
          </a:p>
          <a:p>
            <a:r>
              <a:rPr lang="es-ES" dirty="0"/>
              <a:t>En los microprocesadores de 8 bits, el bus de direcciones tenía 16 bits y el máximo de memoria era 2</a:t>
            </a:r>
            <a:r>
              <a:rPr lang="es-ES" baseline="30000" dirty="0"/>
              <a:t>16</a:t>
            </a:r>
            <a:r>
              <a:rPr lang="es-ES" dirty="0"/>
              <a:t> = 2</a:t>
            </a:r>
            <a:r>
              <a:rPr lang="es-ES" baseline="30000" dirty="0"/>
              <a:t>6</a:t>
            </a:r>
            <a:r>
              <a:rPr lang="es-ES" dirty="0"/>
              <a:t> x 2</a:t>
            </a:r>
            <a:r>
              <a:rPr lang="es-ES" baseline="30000" dirty="0"/>
              <a:t>10</a:t>
            </a:r>
            <a:r>
              <a:rPr lang="es-ES" dirty="0"/>
              <a:t> = 64 kB </a:t>
            </a:r>
          </a:p>
          <a:p>
            <a:r>
              <a:rPr lang="es-ES" dirty="0"/>
              <a:t>En la arquitectura de 32 bits (por ejemplo Intel 386), el máximo tamaño de la RAM era 2</a:t>
            </a:r>
            <a:r>
              <a:rPr lang="es-ES" baseline="30000" dirty="0"/>
              <a:t>32</a:t>
            </a:r>
            <a:r>
              <a:rPr lang="es-ES" dirty="0"/>
              <a:t>=2</a:t>
            </a:r>
            <a:r>
              <a:rPr lang="es-ES" baseline="30000" dirty="0"/>
              <a:t>2</a:t>
            </a:r>
            <a:r>
              <a:rPr lang="es-ES" dirty="0"/>
              <a:t> x 2</a:t>
            </a:r>
            <a:r>
              <a:rPr lang="es-ES" baseline="30000" dirty="0"/>
              <a:t>30</a:t>
            </a:r>
            <a:r>
              <a:rPr lang="es-ES" dirty="0"/>
              <a:t> = 4 GB</a:t>
            </a:r>
          </a:p>
          <a:p>
            <a:r>
              <a:rPr lang="es-ES" dirty="0"/>
              <a:t>En las arquitecturas de 64 bits el límite teórico son 16 EB (</a:t>
            </a:r>
            <a:r>
              <a:rPr lang="es-ES" dirty="0" err="1"/>
              <a:t>ExaBytes</a:t>
            </a:r>
            <a:r>
              <a:rPr lang="es-ES" dirty="0"/>
              <a:t>)</a:t>
            </a:r>
          </a:p>
          <a:p>
            <a:endParaRPr lang="es-ES" dirty="0"/>
          </a:p>
          <a:p>
            <a:r>
              <a:rPr lang="es-ES" dirty="0"/>
              <a:t>Si tenemos muchos procesos a la vez, el tamaño de memoria necesario excedería el máximo de RAM, pero podemos conseguir que en cada momento solo estén cargados los fragmentos de código y datos necesarios para la ejecución. Esto se logra con la memoria virtual y el método de paginación. Aquello que no puede estar en RAM, está en disco, en una zona especial llamada “de intercambio” (</a:t>
            </a:r>
            <a:r>
              <a:rPr lang="es-ES" dirty="0" err="1"/>
              <a:t>swapping</a:t>
            </a:r>
            <a:r>
              <a:rPr lang="es-ES" dirty="0"/>
              <a:t>). La lectura desde disco es muy lenta comparada con la lectura de memoria por lo que habrá que limitar al máximo esos accesos.</a:t>
            </a:r>
          </a:p>
          <a:p>
            <a:endParaRPr lang="es-ES" dirty="0"/>
          </a:p>
          <a:p>
            <a:r>
              <a:rPr lang="es-ES" dirty="0"/>
              <a:t>Dentro de la CPU hay unos registros de propósito general, que son muy rápidos. Los compiladores optimizan el código máquina para hacer uso intensivo de estos registros, pero son insuficientes. Como la lectura de la RAM es muchísimo más lenta, los microprocesadores modernos llevan memoria caché. Es un buffer de memoria, construido en el propio sustrato de silicio del microprocesador, de acceso rapidísimo. Como los programas tienden a repetir instrucciones (localidad temporal), y a ejecutar de forma lineal (localidad especial), si tenemos cargados esos fragmentos en la caché la velocidad de ejecución se acelera mucho. Cuando no es así, se produce un “fallo de página” y la caché debe actualizarse desde la RAM. Todo esto se hace por hardware, el SSOO no interviene. Puede haber varios niveles de caché.</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18</a:t>
            </a:fld>
            <a:endParaRPr lang="es-ES"/>
          </a:p>
        </p:txBody>
      </p:sp>
    </p:spTree>
    <p:extLst>
      <p:ext uri="{BB962C8B-B14F-4D97-AF65-F5344CB8AC3E}">
        <p14:creationId xmlns:p14="http://schemas.microsoft.com/office/powerpoint/2010/main" val="36012208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19</a:t>
            </a:fld>
            <a:endParaRPr lang="es-ES"/>
          </a:p>
        </p:txBody>
      </p:sp>
    </p:spTree>
    <p:extLst>
      <p:ext uri="{BB962C8B-B14F-4D97-AF65-F5344CB8AC3E}">
        <p14:creationId xmlns:p14="http://schemas.microsoft.com/office/powerpoint/2010/main" val="21728689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HDD: </a:t>
            </a:r>
            <a:r>
              <a:rPr lang="en-US" dirty="0"/>
              <a:t>By Eric Gaba, Wikimedia Commons user Sting, CC BY-SA 3.0, https://commons.wikimedia.org/w/index.php?curid=11278668</a:t>
            </a:r>
          </a:p>
          <a:p>
            <a:r>
              <a:rPr lang="en-US" dirty="0"/>
              <a:t>Imagen USB: https://www.pxfuel.com/en/free-photo-xpafu</a:t>
            </a:r>
            <a:endParaRPr lang="es-ES" dirty="0"/>
          </a:p>
          <a:p>
            <a:endParaRPr lang="es-ES" dirty="0"/>
          </a:p>
          <a:p>
            <a:r>
              <a:rPr lang="es-ES" dirty="0"/>
              <a:t>La memoria RAM se llama también almacenamiento primario. El almacenamiento secundario lo forman aquellos dispositivos de memoria no volátil como discos magnéticos, cintas y “discos” SSD (Solid </a:t>
            </a:r>
            <a:r>
              <a:rPr lang="es-ES" dirty="0" err="1"/>
              <a:t>State</a:t>
            </a:r>
            <a:r>
              <a:rPr lang="es-ES" dirty="0"/>
              <a:t> Disk).</a:t>
            </a:r>
          </a:p>
          <a:p>
            <a:endParaRPr lang="es-ES" dirty="0"/>
          </a:p>
          <a:p>
            <a:r>
              <a:rPr lang="es-ES" dirty="0"/>
              <a:t>En la actualidad, el precio de los </a:t>
            </a:r>
            <a:r>
              <a:rPr lang="es-ES" dirty="0" err="1"/>
              <a:t>SSDs</a:t>
            </a:r>
            <a:r>
              <a:rPr lang="es-ES" dirty="0"/>
              <a:t> ha hecho que desplacen a los discos magnéticos en los equipos personales, porque son muchos más rápidos, ligeros y eficientes energéticamente. Los discos magnéticos siguen usándose de forma masiva en centros de procesos de datos, en armarios de discos, generalmente con redundancia (RAID). La cinta magnética se utiliza</a:t>
            </a:r>
          </a:p>
          <a:p>
            <a:r>
              <a:rPr lang="es-ES" dirty="0"/>
              <a:t>como soporte de </a:t>
            </a:r>
            <a:r>
              <a:rPr lang="es-ES" dirty="0" err="1"/>
              <a:t>backup</a:t>
            </a:r>
            <a:r>
              <a:rPr lang="es-ES" dirty="0"/>
              <a:t>. </a:t>
            </a:r>
          </a:p>
          <a:p>
            <a:endParaRPr lang="es-ES" dirty="0"/>
          </a:p>
          <a:p>
            <a:r>
              <a:rPr lang="es-ES" dirty="0"/>
              <a:t>El sistema operativo oculta todos los detalles físicos de estos dispositivos al programador ofreciendo una interfaz de acceso a la abstracción “fichero”.</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20</a:t>
            </a:fld>
            <a:endParaRPr lang="es-ES"/>
          </a:p>
        </p:txBody>
      </p:sp>
    </p:spTree>
    <p:extLst>
      <p:ext uri="{BB962C8B-B14F-4D97-AF65-F5344CB8AC3E}">
        <p14:creationId xmlns:p14="http://schemas.microsoft.com/office/powerpoint/2010/main" val="30512120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HDD: https://commons.wikimedia.org/wiki/File:Computer1.png</a:t>
            </a:r>
          </a:p>
          <a:p>
            <a:r>
              <a:rPr lang="es-ES" dirty="0"/>
              <a:t>Autor: </a:t>
            </a:r>
            <a:r>
              <a:rPr lang="es-ES" dirty="0" err="1"/>
              <a:t>Hr.Hanafi</a:t>
            </a:r>
            <a:endParaRPr lang="es-ES" dirty="0"/>
          </a:p>
          <a:p>
            <a:endParaRPr lang="es-ES" dirty="0"/>
          </a:p>
          <a:p>
            <a:r>
              <a:rPr lang="es-ES" dirty="0"/>
              <a:t>Los dispositivos de Entrada/Salida introducen una gran complejidad que el sistema operativo oculta al programador. Los “drivers” son programas especiales que permiten al sistema operativo conectarse con cada dispositivo específico.</a:t>
            </a:r>
          </a:p>
          <a:p>
            <a:endParaRPr lang="es-ES" dirty="0"/>
          </a:p>
          <a:p>
            <a:r>
              <a:rPr lang="es-ES" dirty="0"/>
              <a:t>Todos los dispositivos tienen una dirección de memoria. El espacio de direcciones de E/S puede ser independiente del</a:t>
            </a:r>
          </a:p>
          <a:p>
            <a:r>
              <a:rPr lang="es-ES" dirty="0"/>
              <a:t>de memoria, si hay un bus independiente y operaciones específicas. Así lo hacían los microprocesadores más antiguos</a:t>
            </a:r>
          </a:p>
          <a:p>
            <a:r>
              <a:rPr lang="es-ES" dirty="0"/>
              <a:t>como el z80. En los procesadores modernos en los que no hay problemas de escasez de direcciones de memoria, las</a:t>
            </a:r>
          </a:p>
          <a:p>
            <a:r>
              <a:rPr lang="es-ES" dirty="0"/>
              <a:t>direcciones de los dispositivos de E/S están mapeadas en memoria (I/O </a:t>
            </a:r>
            <a:r>
              <a:rPr lang="es-ES" dirty="0" err="1"/>
              <a:t>mapped</a:t>
            </a:r>
            <a:r>
              <a:rPr lang="es-ES" dirty="0"/>
              <a:t>) y se utilizan las mismas instrucciones que</a:t>
            </a:r>
          </a:p>
          <a:p>
            <a:r>
              <a:rPr lang="es-ES" dirty="0"/>
              <a:t>para leer o escribir en la RAM. Los microprocesadores Intel tienen los dos mecanismos, aunque el I/O </a:t>
            </a:r>
            <a:r>
              <a:rPr lang="es-ES" dirty="0" err="1"/>
              <a:t>mapped</a:t>
            </a:r>
            <a:r>
              <a:rPr lang="es-ES" dirty="0"/>
              <a:t> es arcaico y se mantiene por compatibilidad hacia atrás.</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21</a:t>
            </a:fld>
            <a:endParaRPr lang="es-ES"/>
          </a:p>
        </p:txBody>
      </p:sp>
    </p:spTree>
    <p:extLst>
      <p:ext uri="{BB962C8B-B14F-4D97-AF65-F5344CB8AC3E}">
        <p14:creationId xmlns:p14="http://schemas.microsoft.com/office/powerpoint/2010/main" val="3027286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socket: https://commons.wikimedia.org/wiki/File:TIPC_links.png</a:t>
            </a:r>
          </a:p>
          <a:p>
            <a:r>
              <a:rPr lang="es-ES" dirty="0"/>
              <a:t>Imagen </a:t>
            </a:r>
            <a:r>
              <a:rPr lang="es-ES" dirty="0" err="1"/>
              <a:t>mutex</a:t>
            </a:r>
            <a:r>
              <a:rPr lang="es-ES" dirty="0"/>
              <a:t>: https://oer.gitlab.io/OS/Operating-Systems-MX-Challenges.html</a:t>
            </a:r>
          </a:p>
          <a:p>
            <a:endParaRPr lang="es-ES" dirty="0"/>
          </a:p>
          <a:p>
            <a:r>
              <a:rPr lang="es-ES" dirty="0"/>
              <a:t>El Sistema Operativo proporciona mecanismos de comunicación entre los distintos procesos y también medios para que se sincronicen y no accedan de forma simultánea a zonas de código críticas.</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22</a:t>
            </a:fld>
            <a:endParaRPr lang="es-ES"/>
          </a:p>
        </p:txBody>
      </p:sp>
    </p:spTree>
    <p:extLst>
      <p:ext uri="{BB962C8B-B14F-4D97-AF65-F5344CB8AC3E}">
        <p14:creationId xmlns:p14="http://schemas.microsoft.com/office/powerpoint/2010/main" val="30529527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23</a:t>
            </a:fld>
            <a:endParaRPr lang="es-ES"/>
          </a:p>
        </p:txBody>
      </p:sp>
    </p:spTree>
    <p:extLst>
      <p:ext uri="{BB962C8B-B14F-4D97-AF65-F5344CB8AC3E}">
        <p14:creationId xmlns:p14="http://schemas.microsoft.com/office/powerpoint/2010/main" val="14581531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a:t>
            </a:r>
            <a:r>
              <a:rPr lang="es-ES" dirty="0" err="1"/>
              <a:t>protection</a:t>
            </a:r>
            <a:r>
              <a:rPr lang="es-ES" dirty="0"/>
              <a:t> ring: https://commons.wikimedia.org/wiki/File:Priv_rings.svg</a:t>
            </a:r>
          </a:p>
          <a:p>
            <a:r>
              <a:rPr lang="es-ES" dirty="0"/>
              <a:t>Autor: </a:t>
            </a:r>
            <a:r>
              <a:rPr lang="es-ES" dirty="0" err="1"/>
              <a:t>Hertzsprung</a:t>
            </a:r>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24</a:t>
            </a:fld>
            <a:endParaRPr lang="es-ES"/>
          </a:p>
        </p:txBody>
      </p:sp>
    </p:spTree>
    <p:extLst>
      <p:ext uri="{BB962C8B-B14F-4D97-AF65-F5344CB8AC3E}">
        <p14:creationId xmlns:p14="http://schemas.microsoft.com/office/powerpoint/2010/main" val="1403362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25</a:t>
            </a:fld>
            <a:endParaRPr lang="es-ES"/>
          </a:p>
        </p:txBody>
      </p:sp>
    </p:spTree>
    <p:extLst>
      <p:ext uri="{BB962C8B-B14F-4D97-AF65-F5344CB8AC3E}">
        <p14:creationId xmlns:p14="http://schemas.microsoft.com/office/powerpoint/2010/main" val="10432350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este diagrama podemos apreciar los principales componentes del </a:t>
            </a:r>
            <a:r>
              <a:rPr lang="es-ES" dirty="0" err="1"/>
              <a:t>kernel</a:t>
            </a:r>
            <a:r>
              <a:rPr lang="es-ES" dirty="0"/>
              <a:t> de Linux y cómo se relacionan con la gestión de recursos que acabamos de enumerar.</a:t>
            </a:r>
          </a:p>
          <a:p>
            <a:r>
              <a:rPr lang="es-ES" dirty="0"/>
              <a:t>Mascota </a:t>
            </a:r>
            <a:r>
              <a:rPr lang="es-ES" dirty="0" err="1"/>
              <a:t>Tux</a:t>
            </a:r>
            <a:r>
              <a:rPr lang="es-ES" dirty="0"/>
              <a:t> de Linux</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26</a:t>
            </a:fld>
            <a:endParaRPr lang="es-ES"/>
          </a:p>
        </p:txBody>
      </p:sp>
    </p:spTree>
    <p:extLst>
      <p:ext uri="{BB962C8B-B14F-4D97-AF65-F5344CB8AC3E}">
        <p14:creationId xmlns:p14="http://schemas.microsoft.com/office/powerpoint/2010/main" val="9199447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https://pixabay.com/illustrations/moe-woman-girl-manga-anime-cartoon-595959/</a:t>
            </a:r>
          </a:p>
          <a:p>
            <a:endParaRPr lang="es-ES" dirty="0"/>
          </a:p>
          <a:p>
            <a:endParaRPr lang="es-ES" dirty="0"/>
          </a:p>
          <a:p>
            <a:r>
              <a:rPr lang="es-ES" dirty="0"/>
              <a:t>Los sistemas de propósito general son aquellos cuya característica fundamental es la flexibilidad. Están pensados para que el usuario pueda desarrollar o ejecutar programas de muy distintas características. Por ejemplo, un navegador web es una aplicación que utiliza la CPU a ráfagas mientras que pasa la mayor parte del tiempo bloqueada a la espera de una interacción de usuario. Un reproductor de vídeo, por el contrario, es muy intensiva en el uso de CPU, GPU y memoria y muy poco interactiva. Hacer compatibles los requisitos de aplicaciones tan variadas es muy complejo. Si a esto añadimos que un mismo sistema es la base para aplicaciones de escritorio de uso individual y los grandes servidores de Internet, se entenderá que el desarrollo de Sistemas Operativos es una de las tareas más complicadas de la ingeniería SW.</a:t>
            </a:r>
          </a:p>
          <a:p>
            <a:endParaRPr lang="es-ES" dirty="0"/>
          </a:p>
          <a:p>
            <a:r>
              <a:rPr lang="es-ES" dirty="0"/>
              <a:t>Los sistemas operativos móviles nacieron como su nombre indica para teléfonos móviles, con requisitos muy estrictos de consumo de batería, baja latencia en la interacción con el usuario y seguridad. Android, iOS y Ubuntu </a:t>
            </a:r>
            <a:r>
              <a:rPr lang="es-ES" dirty="0" err="1"/>
              <a:t>Touch</a:t>
            </a:r>
            <a:r>
              <a:rPr lang="es-ES" dirty="0"/>
              <a:t> son derivados de Unix. Android ha evolucionado hacia un sistema operativo multipropósito. Lo tenemos en aplicaciones empotradas como Android TV o Android Auto y hay equipos de sobremesa Android donde cumple el papel de SSOO de escritorio.</a:t>
            </a:r>
          </a:p>
          <a:p>
            <a:endParaRPr lang="es-ES" dirty="0"/>
          </a:p>
          <a:p>
            <a:r>
              <a:rPr lang="es-ES" dirty="0"/>
              <a:t>Los SSOO empotrados son aquellos que funcionan en equipos de propósito específico y generalmente con recursos limitados. RTOS es uno de los más simples, en esta categoría también podemos incluir Windows </a:t>
            </a:r>
            <a:r>
              <a:rPr lang="es-ES" dirty="0" err="1"/>
              <a:t>IoT</a:t>
            </a:r>
            <a:r>
              <a:rPr lang="es-ES" dirty="0"/>
              <a:t> o Raspbian, versiones de sus hermanos mayores de propósito general para dispositivos como </a:t>
            </a:r>
            <a:r>
              <a:rPr lang="es-ES" dirty="0" err="1"/>
              <a:t>RaspBerry</a:t>
            </a:r>
            <a:r>
              <a:rPr lang="es-ES" dirty="0"/>
              <a:t>. Tendrán mucha importancia en el desarrollo de </a:t>
            </a:r>
            <a:r>
              <a:rPr lang="es-ES" dirty="0" err="1"/>
              <a:t>IoT</a:t>
            </a:r>
            <a:r>
              <a:rPr lang="es-ES" dirty="0"/>
              <a:t>.</a:t>
            </a:r>
          </a:p>
          <a:p>
            <a:endParaRPr lang="es-ES" dirty="0"/>
          </a:p>
          <a:p>
            <a:r>
              <a:rPr lang="es-ES" dirty="0"/>
              <a:t>Los SSOO de tiempo real son aquellos que tienen que garantizar que se cumplen unos requisitos de tiempo (</a:t>
            </a:r>
            <a:r>
              <a:rPr lang="es-ES" dirty="0" err="1"/>
              <a:t>deadlines</a:t>
            </a:r>
            <a:r>
              <a:rPr lang="es-ES" dirty="0"/>
              <a:t>)</a:t>
            </a:r>
          </a:p>
          <a:p>
            <a:r>
              <a:rPr lang="es-ES" dirty="0"/>
              <a:t>muy estrictos. Imaginemos un sistema de piloto automático que tuviese que corregir el rumbo de un avión y no pudiera</a:t>
            </a:r>
          </a:p>
          <a:p>
            <a:r>
              <a:rPr lang="es-ES" dirty="0"/>
              <a:t>hacerlo porque se estaba produciendo una tarea de baja prioridad como la instalación de una actualización o un </a:t>
            </a:r>
            <a:r>
              <a:rPr lang="es-ES" dirty="0" err="1"/>
              <a:t>backup</a:t>
            </a:r>
            <a:endParaRPr lang="es-ES" dirty="0"/>
          </a:p>
          <a:p>
            <a:r>
              <a:rPr lang="es-ES" dirty="0"/>
              <a:t>diario. Estos sistemas permiten al usuario manejar las prioridades para lograr que las acciones críticas se puedan ejecutar</a:t>
            </a:r>
          </a:p>
          <a:p>
            <a:r>
              <a:rPr lang="es-ES" dirty="0"/>
              <a:t>sin retraso con independencia de la carga del sistema en ese momento.</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27</a:t>
            </a:fld>
            <a:endParaRPr lang="es-ES"/>
          </a:p>
        </p:txBody>
      </p:sp>
    </p:spTree>
    <p:extLst>
      <p:ext uri="{BB962C8B-B14F-4D97-AF65-F5344CB8AC3E}">
        <p14:creationId xmlns:p14="http://schemas.microsoft.com/office/powerpoint/2010/main" val="8253116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28</a:t>
            </a:fld>
            <a:endParaRPr lang="es-ES"/>
          </a:p>
        </p:txBody>
      </p:sp>
    </p:spTree>
    <p:extLst>
      <p:ext uri="{BB962C8B-B14F-4D97-AF65-F5344CB8AC3E}">
        <p14:creationId xmlns:p14="http://schemas.microsoft.com/office/powerpoint/2010/main" val="33326607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29</a:t>
            </a:fld>
            <a:endParaRPr lang="es-ES"/>
          </a:p>
        </p:txBody>
      </p:sp>
    </p:spTree>
    <p:extLst>
      <p:ext uri="{BB962C8B-B14F-4D97-AF65-F5344CB8AC3E}">
        <p14:creationId xmlns:p14="http://schemas.microsoft.com/office/powerpoint/2010/main" val="11030839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Vídeo en el que Fernando </a:t>
            </a:r>
            <a:r>
              <a:rPr lang="es-ES" dirty="0" err="1"/>
              <a:t>Corbató</a:t>
            </a:r>
            <a:r>
              <a:rPr lang="es-ES" dirty="0"/>
              <a:t> (1926, 2019), premio Turing 1990, explica los principios de CTSS.</a:t>
            </a:r>
          </a:p>
          <a:p>
            <a:r>
              <a:rPr lang="es-ES" dirty="0"/>
              <a:t>Es muy recomendable verlo completo y si es posible en clase para abrir un debate</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30</a:t>
            </a:fld>
            <a:endParaRPr lang="es-ES"/>
          </a:p>
        </p:txBody>
      </p:sp>
    </p:spTree>
    <p:extLst>
      <p:ext uri="{BB962C8B-B14F-4D97-AF65-F5344CB8AC3E}">
        <p14:creationId xmlns:p14="http://schemas.microsoft.com/office/powerpoint/2010/main" val="12461879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31</a:t>
            </a:fld>
            <a:endParaRPr lang="es-ES"/>
          </a:p>
        </p:txBody>
      </p:sp>
    </p:spTree>
    <p:extLst>
      <p:ext uri="{BB962C8B-B14F-4D97-AF65-F5344CB8AC3E}">
        <p14:creationId xmlns:p14="http://schemas.microsoft.com/office/powerpoint/2010/main" val="11344573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UNIX: https://commons.wikimedia.org/wiki/File:Unix_history-simple.svg</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32</a:t>
            </a:fld>
            <a:endParaRPr lang="es-ES"/>
          </a:p>
        </p:txBody>
      </p:sp>
    </p:spTree>
    <p:extLst>
      <p:ext uri="{BB962C8B-B14F-4D97-AF65-F5344CB8AC3E}">
        <p14:creationId xmlns:p14="http://schemas.microsoft.com/office/powerpoint/2010/main" val="32057028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UNIX: https://commons.wikimedia.org/wiki/File:Unix_history-simple.svg</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33</a:t>
            </a:fld>
            <a:endParaRPr lang="es-ES"/>
          </a:p>
        </p:txBody>
      </p:sp>
    </p:spTree>
    <p:extLst>
      <p:ext uri="{BB962C8B-B14F-4D97-AF65-F5344CB8AC3E}">
        <p14:creationId xmlns:p14="http://schemas.microsoft.com/office/powerpoint/2010/main" val="25745570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UNIX: https://commons.wikimedia.org/wiki/File:Unix_history-simple.svg</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34</a:t>
            </a:fld>
            <a:endParaRPr lang="es-ES"/>
          </a:p>
        </p:txBody>
      </p:sp>
    </p:spTree>
    <p:extLst>
      <p:ext uri="{BB962C8B-B14F-4D97-AF65-F5344CB8AC3E}">
        <p14:creationId xmlns:p14="http://schemas.microsoft.com/office/powerpoint/2010/main" val="14666640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35</a:t>
            </a:fld>
            <a:endParaRPr lang="es-ES"/>
          </a:p>
        </p:txBody>
      </p:sp>
    </p:spTree>
    <p:extLst>
      <p:ext uri="{BB962C8B-B14F-4D97-AF65-F5344CB8AC3E}">
        <p14:creationId xmlns:p14="http://schemas.microsoft.com/office/powerpoint/2010/main" val="17214474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36</a:t>
            </a:fld>
            <a:endParaRPr lang="es-ES"/>
          </a:p>
        </p:txBody>
      </p:sp>
    </p:spTree>
    <p:extLst>
      <p:ext uri="{BB962C8B-B14F-4D97-AF65-F5344CB8AC3E}">
        <p14:creationId xmlns:p14="http://schemas.microsoft.com/office/powerpoint/2010/main" val="41134747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762396" y="1454706"/>
            <a:ext cx="6115731" cy="2139553"/>
          </a:xfrm>
        </p:spPr>
        <p:txBody>
          <a:bodyPr anchor="b"/>
          <a:lstStyle>
            <a:lvl1pPr>
              <a:defRPr sz="4800">
                <a:solidFill>
                  <a:schemeClr val="accent1">
                    <a:lumMod val="50000"/>
                  </a:schemeClr>
                </a:solidFill>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1762396" y="3614500"/>
            <a:ext cx="6115732" cy="1125140"/>
          </a:xfrm>
        </p:spPr>
        <p:txBody>
          <a:bodyPr>
            <a:normAutofit/>
          </a:bodyPr>
          <a:lstStyle>
            <a:lvl1pPr marL="0" indent="0">
              <a:buNone/>
              <a:defRPr sz="24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el estilo de texto del patrón</a:t>
            </a:r>
          </a:p>
        </p:txBody>
      </p:sp>
      <p:pic>
        <p:nvPicPr>
          <p:cNvPr id="2050" name="Picture 2" descr="Imagen relacionada">
            <a:extLst>
              <a:ext uri="{FF2B5EF4-FFF2-40B4-BE49-F238E27FC236}">
                <a16:creationId xmlns:a16="http://schemas.microsoft.com/office/drawing/2014/main" id="{DE157B29-00A7-4167-8C14-2765A1C6B71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675112" y="170447"/>
            <a:ext cx="3169752" cy="633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7755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3 Marcador de pie de página">
            <a:extLst>
              <a:ext uri="{FF2B5EF4-FFF2-40B4-BE49-F238E27FC236}">
                <a16:creationId xmlns:a16="http://schemas.microsoft.com/office/drawing/2014/main" id="{749EC5CE-810F-4117-BBA0-B107EC391EF1}"/>
              </a:ext>
            </a:extLst>
          </p:cNvPr>
          <p:cNvSpPr>
            <a:spLocks noGrp="1"/>
          </p:cNvSpPr>
          <p:nvPr>
            <p:ph type="ftr" sz="quarter" idx="4294967295"/>
          </p:nvPr>
        </p:nvSpPr>
        <p:spPr>
          <a:xfrm>
            <a:off x="6589986" y="1588"/>
            <a:ext cx="2340883" cy="366274"/>
          </a:xfrm>
          <a:prstGeom prst="rect">
            <a:avLst/>
          </a:prstGeom>
        </p:spPr>
        <p:txBody>
          <a:bodyPr/>
          <a:lstStyle>
            <a:lvl1pPr algn="r">
              <a:defRPr sz="1050" b="1">
                <a:solidFill>
                  <a:schemeClr val="bg2">
                    <a:lumMod val="75000"/>
                  </a:schemeClr>
                </a:solidFill>
              </a:defRPr>
            </a:lvl1pPr>
          </a:lstStyle>
          <a:p>
            <a:r>
              <a:rPr lang="es-ES"/>
              <a:t>SSOO 2020-2021 Javier Gª Algarra</a:t>
            </a:r>
            <a:endParaRPr lang="es-ES" dirty="0"/>
          </a:p>
        </p:txBody>
      </p:sp>
    </p:spTree>
    <p:extLst>
      <p:ext uri="{BB962C8B-B14F-4D97-AF65-F5344CB8AC3E}">
        <p14:creationId xmlns:p14="http://schemas.microsoft.com/office/powerpoint/2010/main" val="1673075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En blanco">
    <p:bg>
      <p:bgPr>
        <a:solidFill>
          <a:schemeClr val="bg1"/>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CB7F4CB-D1D8-4D85-8594-EC8EE5026D45}"/>
              </a:ext>
            </a:extLst>
          </p:cNvPr>
          <p:cNvSpPr txBox="1"/>
          <p:nvPr userDrawn="1"/>
        </p:nvSpPr>
        <p:spPr>
          <a:xfrm rot="16200000">
            <a:off x="-605643" y="230543"/>
            <a:ext cx="1380564" cy="169277"/>
          </a:xfrm>
          <a:prstGeom prst="rect">
            <a:avLst/>
          </a:prstGeom>
          <a:noFill/>
        </p:spPr>
        <p:txBody>
          <a:bodyPr wrap="square" rtlCol="0">
            <a:spAutoFit/>
          </a:bodyPr>
          <a:lstStyle/>
          <a:p>
            <a:r>
              <a:rPr lang="es-ES" sz="500" dirty="0">
                <a:solidFill>
                  <a:schemeClr val="bg2">
                    <a:lumMod val="90000"/>
                  </a:schemeClr>
                </a:solidFill>
              </a:rPr>
              <a:t>SSOO Javier García Algarra 2020</a:t>
            </a:r>
          </a:p>
        </p:txBody>
      </p:sp>
    </p:spTree>
    <p:extLst>
      <p:ext uri="{BB962C8B-B14F-4D97-AF65-F5344CB8AC3E}">
        <p14:creationId xmlns:p14="http://schemas.microsoft.com/office/powerpoint/2010/main" val="1916647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ítulo y objetos">
    <p:spTree>
      <p:nvGrpSpPr>
        <p:cNvPr id="1" name=""/>
        <p:cNvGrpSpPr/>
        <p:nvPr/>
      </p:nvGrpSpPr>
      <p:grpSpPr>
        <a:xfrm>
          <a:off x="0" y="0"/>
          <a:ext cx="0" cy="0"/>
          <a:chOff x="0" y="0"/>
          <a:chExt cx="0" cy="0"/>
        </a:xfrm>
      </p:grpSpPr>
      <p:sp>
        <p:nvSpPr>
          <p:cNvPr id="20" name="Rectangle 9"/>
          <p:cNvSpPr/>
          <p:nvPr userDrawn="1"/>
        </p:nvSpPr>
        <p:spPr>
          <a:xfrm>
            <a:off x="8435268" y="160384"/>
            <a:ext cx="86236" cy="5940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1" name="Rectangle 10"/>
          <p:cNvSpPr/>
          <p:nvPr userDrawn="1"/>
        </p:nvSpPr>
        <p:spPr>
          <a:xfrm>
            <a:off x="8569419" y="160384"/>
            <a:ext cx="576072" cy="5940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0" name="Footer Placeholder 4"/>
          <p:cNvSpPr>
            <a:spLocks noGrp="1"/>
          </p:cNvSpPr>
          <p:nvPr>
            <p:ph type="ftr" sz="quarter" idx="3"/>
          </p:nvPr>
        </p:nvSpPr>
        <p:spPr>
          <a:xfrm>
            <a:off x="4554487" y="357504"/>
            <a:ext cx="3600400" cy="225920"/>
          </a:xfrm>
          <a:prstGeom prst="rect">
            <a:avLst/>
          </a:prstGeom>
        </p:spPr>
        <p:txBody>
          <a:bodyPr vert="horz" lIns="91440" tIns="0" rIns="91440" bIns="45720" rtlCol="0" anchor="ctr"/>
          <a:lstStyle>
            <a:lvl1pPr algn="r">
              <a:defRPr sz="900">
                <a:solidFill>
                  <a:schemeClr val="tx2">
                    <a:lumMod val="75000"/>
                  </a:schemeClr>
                </a:solidFill>
              </a:defRPr>
            </a:lvl1pPr>
          </a:lstStyle>
          <a:p>
            <a:r>
              <a:rPr lang="es-ES" dirty="0"/>
              <a:t>Python Elemental </a:t>
            </a:r>
          </a:p>
        </p:txBody>
      </p:sp>
      <p:sp>
        <p:nvSpPr>
          <p:cNvPr id="16" name="15 Título"/>
          <p:cNvSpPr>
            <a:spLocks noGrp="1"/>
          </p:cNvSpPr>
          <p:nvPr>
            <p:ph type="title"/>
          </p:nvPr>
        </p:nvSpPr>
        <p:spPr/>
        <p:txBody>
          <a:bodyPr/>
          <a:lstStyle>
            <a:lvl1pPr>
              <a:defRPr>
                <a:solidFill>
                  <a:schemeClr val="tx2">
                    <a:lumMod val="75000"/>
                  </a:schemeClr>
                </a:solidFill>
              </a:defRPr>
            </a:lvl1pPr>
          </a:lstStyle>
          <a:p>
            <a:r>
              <a:rPr lang="es-ES" dirty="0"/>
              <a:t>Haga clic para modificar el estilo de título del patrón</a:t>
            </a:r>
          </a:p>
        </p:txBody>
      </p:sp>
      <p:sp>
        <p:nvSpPr>
          <p:cNvPr id="18" name="5 Marcador de número de diapositiva"/>
          <p:cNvSpPr txBox="1">
            <a:spLocks/>
          </p:cNvSpPr>
          <p:nvPr userDrawn="1"/>
        </p:nvSpPr>
        <p:spPr>
          <a:xfrm>
            <a:off x="8532439" y="303498"/>
            <a:ext cx="596305" cy="273844"/>
          </a:xfrm>
          <a:prstGeom prst="rect">
            <a:avLst/>
          </a:prstGeom>
        </p:spPr>
        <p:txBody>
          <a:bodyPr anchor="ctr"/>
          <a:lstStyle>
            <a:defPPr>
              <a:defRPr lang="es-ES"/>
            </a:defPPr>
            <a:lvl1pPr marL="0" algn="l" defTabSz="914400" rtl="0" eaLnBrk="1" latinLnBrk="0" hangingPunct="1">
              <a:defRPr sz="1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BD5034FA-E3E3-464F-AB21-ECE51F6ED024}" type="slidenum">
              <a:rPr lang="es-ES" sz="1050" b="0" smtClean="0"/>
              <a:pPr algn="ctr"/>
              <a:t>‹Nº›</a:t>
            </a:fld>
            <a:endParaRPr lang="es-ES" sz="1050" b="0" dirty="0"/>
          </a:p>
        </p:txBody>
      </p:sp>
      <p:pic>
        <p:nvPicPr>
          <p:cNvPr id="11" name="Picture 2" descr="C:\Users\eva.perandones\Downloads\Logo azul.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7505" y="224440"/>
            <a:ext cx="1654895" cy="465953"/>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11 Conector recto"/>
          <p:cNvCxnSpPr/>
          <p:nvPr userDrawn="1"/>
        </p:nvCxnSpPr>
        <p:spPr>
          <a:xfrm>
            <a:off x="251521" y="1491630"/>
            <a:ext cx="8605935" cy="0"/>
          </a:xfrm>
          <a:prstGeom prst="line">
            <a:avLst/>
          </a:prstGeom>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5123179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742270A-C90A-439D-BA55-8EC057654CEF}"/>
              </a:ext>
            </a:extLst>
          </p:cNvPr>
          <p:cNvSpPr/>
          <p:nvPr userDrawn="1"/>
        </p:nvSpPr>
        <p:spPr>
          <a:xfrm>
            <a:off x="-8120" y="0"/>
            <a:ext cx="1211493" cy="5143499"/>
          </a:xfrm>
          <a:prstGeom prst="rect">
            <a:avLst/>
          </a:prstGeom>
          <a:solidFill>
            <a:srgbClr val="0D4B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bg1"/>
              </a:solidFill>
            </a:endParaRPr>
          </a:p>
        </p:txBody>
      </p:sp>
      <p:sp>
        <p:nvSpPr>
          <p:cNvPr id="2" name="Title Placeholder 1"/>
          <p:cNvSpPr>
            <a:spLocks noGrp="1"/>
          </p:cNvSpPr>
          <p:nvPr>
            <p:ph type="title"/>
          </p:nvPr>
        </p:nvSpPr>
        <p:spPr>
          <a:xfrm>
            <a:off x="1521110" y="228599"/>
            <a:ext cx="7367620" cy="1053399"/>
          </a:xfrm>
          <a:prstGeom prst="rect">
            <a:avLst/>
          </a:prstGeom>
        </p:spPr>
        <p:txBody>
          <a:bodyPr vert="horz" lIns="91440" tIns="45720" rIns="91440" bIns="45720" rtlCol="0" anchor="b" anchorCtr="0">
            <a:no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1521110" y="1369219"/>
            <a:ext cx="7367620" cy="3263504"/>
          </a:xfrm>
          <a:prstGeom prst="rect">
            <a:avLst/>
          </a:prstGeom>
        </p:spPr>
        <p:txBody>
          <a:bodyPr vert="horz" lIns="91440" tIns="45720" rIns="91440" bIns="45720" rtlCol="0">
            <a:normAutofit/>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pic>
        <p:nvPicPr>
          <p:cNvPr id="8" name="Picture 2" descr="Resultado de imagen de u-tad logo png">
            <a:extLst>
              <a:ext uri="{FF2B5EF4-FFF2-40B4-BE49-F238E27FC236}">
                <a16:creationId xmlns:a16="http://schemas.microsoft.com/office/drawing/2014/main" id="{99A48252-F53C-4310-A655-6882B7787FD7}"/>
              </a:ext>
            </a:extLst>
          </p:cNvPr>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l="-1" t="10627" r="4269" b="35524"/>
          <a:stretch/>
        </p:blipFill>
        <p:spPr bwMode="auto">
          <a:xfrm>
            <a:off x="-8121" y="4398808"/>
            <a:ext cx="1211493" cy="681465"/>
          </a:xfrm>
          <a:prstGeom prst="rect">
            <a:avLst/>
          </a:prstGeom>
          <a:solidFill>
            <a:srgbClr val="0C4B91"/>
          </a:solidFill>
        </p:spPr>
      </p:pic>
    </p:spTree>
    <p:extLst>
      <p:ext uri="{BB962C8B-B14F-4D97-AF65-F5344CB8AC3E}">
        <p14:creationId xmlns:p14="http://schemas.microsoft.com/office/powerpoint/2010/main" val="3893326617"/>
      </p:ext>
    </p:extLst>
  </p:cSld>
  <p:clrMap bg1="lt1" tx1="dk1" bg2="lt2" tx2="dk2" accent1="accent1" accent2="accent2" accent3="accent3" accent4="accent4" accent5="accent5" accent6="accent6" hlink="hlink" folHlink="folHlink"/>
  <p:sldLayoutIdLst>
    <p:sldLayoutId id="2147483663" r:id="rId1"/>
    <p:sldLayoutId id="2147483666" r:id="rId2"/>
    <p:sldLayoutId id="2147483667" r:id="rId3"/>
    <p:sldLayoutId id="2147483668" r:id="rId4"/>
  </p:sldLayoutIdLst>
  <p:txStyles>
    <p:title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j-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j-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j-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avier.algarra@u-tad.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hyperlink" Target="http://creativecommons.org/licenses/by/4.0/" TargetMode="External"/><Relationship Id="rId4" Type="http://schemas.openxmlformats.org/officeDocument/2006/relationships/hyperlink" Target="mailto:miguel.mesas@u-tad.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hyperlink" Target="https://www.youtube.com/watch?v=ti-GJsJ8oxQ" TargetMode="External"/><Relationship Id="rId4" Type="http://schemas.openxmlformats.org/officeDocument/2006/relationships/hyperlink" Target="https://www.youtube.com/watch?v=0RP4c98iPjs"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jpeg"/><Relationship Id="rId7"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4.jpe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29.gif"/></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jpe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hyperlink" Target="https://www.youtube.com/watch?v=Q07PhW5sCEk&amp;t=278s"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multicians.org/history.html" TargetMode="External"/><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42.jpeg"/></Relationships>
</file>

<file path=ppt/slides/_rels/slide32.xml.rels><?xml version="1.0" encoding="UTF-8" standalone="yes"?>
<Relationships xmlns="http://schemas.openxmlformats.org/package/2006/relationships"><Relationship Id="rId3" Type="http://schemas.openxmlformats.org/officeDocument/2006/relationships/hyperlink" Target="https://www.youtube.com/watch?v=DXh2_CTJW9w" TargetMode="External"/><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hyperlink" Target="https://www.youtube.com/watch?v=9iwIN8E94VQ" TargetMode="External"/><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6" name="Título 5"/>
          <p:cNvSpPr>
            <a:spLocks noGrp="1"/>
          </p:cNvSpPr>
          <p:nvPr>
            <p:ph type="title"/>
          </p:nvPr>
        </p:nvSpPr>
        <p:spPr>
          <a:xfrm>
            <a:off x="1569019" y="1400462"/>
            <a:ext cx="7104201" cy="1520969"/>
          </a:xfrm>
        </p:spPr>
        <p:txBody>
          <a:bodyPr/>
          <a:lstStyle/>
          <a:p>
            <a:pPr algn="ctr"/>
            <a:br>
              <a:rPr lang="es-ES" sz="1200" dirty="0"/>
            </a:br>
            <a:br>
              <a:rPr lang="es-ES" sz="4000" dirty="0"/>
            </a:br>
            <a:br>
              <a:rPr lang="es-ES" sz="4000" dirty="0"/>
            </a:br>
            <a:br>
              <a:rPr lang="es-ES" sz="4000" dirty="0"/>
            </a:br>
            <a:br>
              <a:rPr lang="es-ES" sz="4000" dirty="0"/>
            </a:br>
            <a:r>
              <a:rPr lang="es-ES" sz="2000" dirty="0"/>
              <a:t>Sistemas Operativos</a:t>
            </a:r>
            <a:br>
              <a:rPr lang="es-ES" sz="4000" dirty="0"/>
            </a:br>
            <a:br>
              <a:rPr lang="es-ES" sz="4000" dirty="0"/>
            </a:br>
            <a:r>
              <a:rPr lang="es-ES" sz="4000" dirty="0"/>
              <a:t>1. Introducción</a:t>
            </a:r>
            <a:endParaRPr lang="es-ES" sz="4000" b="1" dirty="0"/>
          </a:p>
        </p:txBody>
      </p:sp>
      <p:sp>
        <p:nvSpPr>
          <p:cNvPr id="7" name="Marcador de texto 6"/>
          <p:cNvSpPr>
            <a:spLocks noGrp="1"/>
          </p:cNvSpPr>
          <p:nvPr>
            <p:ph type="body" idx="1"/>
          </p:nvPr>
        </p:nvSpPr>
        <p:spPr>
          <a:xfrm>
            <a:off x="1762396" y="2977432"/>
            <a:ext cx="6910824" cy="1418043"/>
          </a:xfrm>
        </p:spPr>
        <p:txBody>
          <a:bodyPr>
            <a:normAutofit fontScale="62500" lnSpcReduction="20000"/>
          </a:bodyPr>
          <a:lstStyle/>
          <a:p>
            <a:pPr algn="r"/>
            <a:endParaRPr lang="es-ES" sz="1800" dirty="0"/>
          </a:p>
          <a:p>
            <a:pPr algn="r"/>
            <a:r>
              <a:rPr lang="es-ES" sz="1800" dirty="0"/>
              <a:t>Javier García Algarra</a:t>
            </a:r>
          </a:p>
          <a:p>
            <a:pPr algn="r"/>
            <a:r>
              <a:rPr lang="es-ES" sz="1800" dirty="0">
                <a:hlinkClick r:id="rId3"/>
              </a:rPr>
              <a:t>javier.algarra@u-tad.com</a:t>
            </a:r>
            <a:endParaRPr lang="es-ES" sz="1800" dirty="0"/>
          </a:p>
          <a:p>
            <a:pPr algn="r"/>
            <a:r>
              <a:rPr lang="es-ES" sz="1800" dirty="0"/>
              <a:t>Miguel Ángel Mesas </a:t>
            </a:r>
          </a:p>
          <a:p>
            <a:pPr algn="r"/>
            <a:r>
              <a:rPr lang="es-ES" sz="1800" dirty="0">
                <a:hlinkClick r:id="rId4"/>
              </a:rPr>
              <a:t>miguel.mesas@u-tad.com</a:t>
            </a:r>
            <a:endParaRPr lang="es-ES" sz="1800" dirty="0"/>
          </a:p>
          <a:p>
            <a:pPr algn="r"/>
            <a:r>
              <a:rPr lang="es-ES" sz="1800" dirty="0"/>
              <a:t>2021-2022</a:t>
            </a:r>
          </a:p>
        </p:txBody>
      </p:sp>
      <p:sp>
        <p:nvSpPr>
          <p:cNvPr id="9" name="Rectangle 1">
            <a:extLst>
              <a:ext uri="{FF2B5EF4-FFF2-40B4-BE49-F238E27FC236}">
                <a16:creationId xmlns:a16="http://schemas.microsoft.com/office/drawing/2014/main" id="{2067DBC0-8C2B-4E0B-BE3C-2840A2E7DFA9}"/>
              </a:ext>
            </a:extLst>
          </p:cNvPr>
          <p:cNvSpPr>
            <a:spLocks noChangeArrowheads="1"/>
          </p:cNvSpPr>
          <p:nvPr/>
        </p:nvSpPr>
        <p:spPr bwMode="auto">
          <a:xfrm>
            <a:off x="1174205" y="4666446"/>
            <a:ext cx="9144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u="sng" dirty="0">
                <a:solidFill>
                  <a:srgbClr val="0066CC"/>
                </a:solidFill>
                <a:latin typeface="Times New Roman" panose="02020603050405020304" pitchFamily="18" charset="0"/>
                <a:cs typeface="Times New Roman" panose="02020603050405020304" pitchFamily="18" charset="0"/>
              </a:rPr>
              <a:t> </a:t>
            </a:r>
            <a:br>
              <a:rPr kumimoji="0" lang="es-ES" altLang="es-ES" sz="600" b="0" i="0" u="none" strike="noStrike" cap="none" normalizeH="0" baseline="0" dirty="0">
                <a:ln>
                  <a:noFill/>
                </a:ln>
                <a:solidFill>
                  <a:schemeClr val="tx1"/>
                </a:solidFill>
                <a:effectLst/>
              </a:rPr>
            </a:br>
            <a:r>
              <a:rPr lang="es-ES" altLang="es-ES" sz="800" dirty="0">
                <a:solidFill>
                  <a:srgbClr val="000000"/>
                </a:solidFill>
                <a:latin typeface="+mj-lt"/>
                <a:cs typeface="Times New Roman" panose="02020603050405020304" pitchFamily="18" charset="0"/>
              </a:rPr>
              <a:t>Sistemas Operativos </a:t>
            </a:r>
            <a:r>
              <a:rPr kumimoji="0" lang="es-ES" altLang="es-ES" sz="800" b="0" i="0" u="none" strike="noStrike" cap="none" normalizeH="0" baseline="0" dirty="0" err="1">
                <a:ln>
                  <a:noFill/>
                </a:ln>
                <a:solidFill>
                  <a:srgbClr val="000000"/>
                </a:solidFill>
                <a:effectLst/>
                <a:latin typeface="+mj-lt"/>
                <a:cs typeface="Times New Roman" panose="02020603050405020304" pitchFamily="18" charset="0"/>
              </a:rPr>
              <a:t>by</a:t>
            </a:r>
            <a:r>
              <a:rPr kumimoji="0" lang="es-ES" altLang="es-ES" sz="800" b="0" i="0" u="none" strike="noStrike" cap="none" normalizeH="0" baseline="0" dirty="0">
                <a:ln>
                  <a:noFill/>
                </a:ln>
                <a:solidFill>
                  <a:srgbClr val="000000"/>
                </a:solidFill>
                <a:effectLst/>
                <a:latin typeface="+mj-lt"/>
                <a:cs typeface="Times New Roman" panose="02020603050405020304" pitchFamily="18" charset="0"/>
              </a:rPr>
              <a:t> Javier García Algarra </a:t>
            </a:r>
            <a:r>
              <a:rPr kumimoji="0" lang="es-ES" altLang="es-ES" sz="800" b="0" i="0" u="none" strike="noStrike" cap="none" normalizeH="0" baseline="0" dirty="0" err="1">
                <a:ln>
                  <a:noFill/>
                </a:ln>
                <a:solidFill>
                  <a:srgbClr val="000000"/>
                </a:solidFill>
                <a:effectLst/>
                <a:latin typeface="+mj-lt"/>
                <a:cs typeface="Times New Roman" panose="02020603050405020304" pitchFamily="18" charset="0"/>
              </a:rPr>
              <a:t>is</a:t>
            </a:r>
            <a:r>
              <a:rPr kumimoji="0" lang="es-ES" altLang="es-ES" sz="800" b="0" i="0" u="none" strike="noStrike" cap="none" normalizeH="0" baseline="0" dirty="0">
                <a:ln>
                  <a:noFill/>
                </a:ln>
                <a:solidFill>
                  <a:srgbClr val="000000"/>
                </a:solidFill>
                <a:effectLst/>
                <a:latin typeface="+mj-lt"/>
                <a:cs typeface="Times New Roman" panose="02020603050405020304" pitchFamily="18" charset="0"/>
              </a:rPr>
              <a:t> </a:t>
            </a:r>
            <a:r>
              <a:rPr kumimoji="0" lang="es-ES" altLang="es-ES" sz="800" b="0" i="0" u="none" strike="noStrike" cap="none" normalizeH="0" baseline="0" dirty="0" err="1">
                <a:ln>
                  <a:noFill/>
                </a:ln>
                <a:solidFill>
                  <a:srgbClr val="000000"/>
                </a:solidFill>
                <a:effectLst/>
                <a:latin typeface="+mj-lt"/>
                <a:cs typeface="Times New Roman" panose="02020603050405020304" pitchFamily="18" charset="0"/>
              </a:rPr>
              <a:t>licensed</a:t>
            </a:r>
            <a:r>
              <a:rPr kumimoji="0" lang="es-ES" altLang="es-ES" sz="800" b="0" i="0" u="none" strike="noStrike" cap="none" normalizeH="0" baseline="0" dirty="0">
                <a:ln>
                  <a:noFill/>
                </a:ln>
                <a:solidFill>
                  <a:srgbClr val="000000"/>
                </a:solidFill>
                <a:effectLst/>
                <a:latin typeface="+mj-lt"/>
                <a:cs typeface="Times New Roman" panose="02020603050405020304" pitchFamily="18" charset="0"/>
              </a:rPr>
              <a:t> </a:t>
            </a:r>
            <a:r>
              <a:rPr kumimoji="0" lang="es-ES" altLang="es-ES" sz="800" b="0" i="0" u="none" strike="noStrike" cap="none" normalizeH="0" baseline="0" dirty="0" err="1">
                <a:ln>
                  <a:noFill/>
                </a:ln>
                <a:solidFill>
                  <a:srgbClr val="000000"/>
                </a:solidFill>
                <a:effectLst/>
                <a:latin typeface="+mj-lt"/>
                <a:cs typeface="Times New Roman" panose="02020603050405020304" pitchFamily="18" charset="0"/>
              </a:rPr>
              <a:t>under</a:t>
            </a:r>
            <a:r>
              <a:rPr kumimoji="0" lang="es-ES" altLang="es-ES" sz="800" b="0" i="0" u="none" strike="noStrike" cap="none" normalizeH="0" baseline="0" dirty="0">
                <a:ln>
                  <a:noFill/>
                </a:ln>
                <a:solidFill>
                  <a:srgbClr val="000000"/>
                </a:solidFill>
                <a:effectLst/>
                <a:latin typeface="+mj-lt"/>
                <a:cs typeface="Times New Roman" panose="02020603050405020304" pitchFamily="18" charset="0"/>
              </a:rPr>
              <a:t> a </a:t>
            </a:r>
            <a:r>
              <a:rPr kumimoji="0" lang="es-ES" altLang="es-ES" sz="800" b="0" i="0" u="sng" strike="noStrike" cap="none" normalizeH="0" baseline="0" dirty="0" err="1">
                <a:ln>
                  <a:noFill/>
                </a:ln>
                <a:solidFill>
                  <a:srgbClr val="0066CC"/>
                </a:solidFill>
                <a:effectLst/>
                <a:latin typeface="+mj-lt"/>
                <a:cs typeface="Times New Roman" panose="02020603050405020304" pitchFamily="18" charset="0"/>
                <a:hlinkClick r:id="rId5"/>
              </a:rPr>
              <a:t>Creative</a:t>
            </a:r>
            <a:r>
              <a:rPr kumimoji="0" lang="es-ES" altLang="es-ES" sz="800" b="0" i="0" u="sng" strike="noStrike" cap="none" normalizeH="0" baseline="0" dirty="0">
                <a:ln>
                  <a:noFill/>
                </a:ln>
                <a:solidFill>
                  <a:srgbClr val="0066CC"/>
                </a:solidFill>
                <a:effectLst/>
                <a:latin typeface="+mj-lt"/>
                <a:cs typeface="Times New Roman" panose="02020603050405020304" pitchFamily="18" charset="0"/>
                <a:hlinkClick r:id="rId5"/>
              </a:rPr>
              <a:t> </a:t>
            </a:r>
            <a:r>
              <a:rPr kumimoji="0" lang="es-ES" altLang="es-ES" sz="800" b="0" i="0" u="sng" strike="noStrike" cap="none" normalizeH="0" baseline="0" dirty="0" err="1">
                <a:ln>
                  <a:noFill/>
                </a:ln>
                <a:solidFill>
                  <a:srgbClr val="0066CC"/>
                </a:solidFill>
                <a:effectLst/>
                <a:latin typeface="+mj-lt"/>
                <a:cs typeface="Times New Roman" panose="02020603050405020304" pitchFamily="18" charset="0"/>
                <a:hlinkClick r:id="rId5"/>
              </a:rPr>
              <a:t>Commons</a:t>
            </a:r>
            <a:r>
              <a:rPr kumimoji="0" lang="es-ES" altLang="es-ES" sz="800" b="0" i="0" u="sng" strike="noStrike" cap="none" normalizeH="0" baseline="0" dirty="0">
                <a:ln>
                  <a:noFill/>
                </a:ln>
                <a:solidFill>
                  <a:srgbClr val="0066CC"/>
                </a:solidFill>
                <a:effectLst/>
                <a:latin typeface="+mj-lt"/>
                <a:cs typeface="Times New Roman" panose="02020603050405020304" pitchFamily="18" charset="0"/>
                <a:hlinkClick r:id="rId5"/>
              </a:rPr>
              <a:t> Reconocimiento 4.0 Internacional </a:t>
            </a:r>
            <a:r>
              <a:rPr kumimoji="0" lang="es-ES" altLang="es-ES" sz="800" b="0" i="0" u="sng" strike="noStrike" cap="none" normalizeH="0" baseline="0" dirty="0" err="1">
                <a:ln>
                  <a:noFill/>
                </a:ln>
                <a:solidFill>
                  <a:srgbClr val="0066CC"/>
                </a:solidFill>
                <a:effectLst/>
                <a:latin typeface="+mj-lt"/>
                <a:cs typeface="Times New Roman" panose="02020603050405020304" pitchFamily="18" charset="0"/>
                <a:hlinkClick r:id="rId5"/>
              </a:rPr>
              <a:t>License</a:t>
            </a:r>
            <a:r>
              <a:rPr kumimoji="0" lang="es-ES" altLang="es-ES" sz="800" b="0" i="0" u="none" strike="noStrike" cap="none" normalizeH="0" baseline="0" dirty="0">
                <a:ln>
                  <a:noFill/>
                </a:ln>
                <a:solidFill>
                  <a:srgbClr val="000000"/>
                </a:solidFill>
                <a:effectLst/>
                <a:latin typeface="+mj-lt"/>
                <a:cs typeface="Times New Roman" panose="02020603050405020304" pitchFamily="18" charset="0"/>
              </a:rPr>
              <a:t>. </a:t>
            </a:r>
            <a:endParaRPr kumimoji="0" lang="es-ES" altLang="es-ES" sz="900" b="0" i="0" u="sng" strike="noStrike" cap="none" normalizeH="0" baseline="0" dirty="0">
              <a:ln>
                <a:noFill/>
              </a:ln>
              <a:solidFill>
                <a:srgbClr val="0066CC"/>
              </a:solidFill>
              <a:effectLst/>
              <a:latin typeface="+mj-lt"/>
              <a:cs typeface="Times New Roman" panose="02020603050405020304" pitchFamily="18" charset="0"/>
            </a:endParaRPr>
          </a:p>
        </p:txBody>
      </p:sp>
      <p:pic>
        <p:nvPicPr>
          <p:cNvPr id="10" name="Picture 2" descr="Licencia de Creative Commons">
            <a:hlinkClick r:id="rId5"/>
            <a:extLst>
              <a:ext uri="{FF2B5EF4-FFF2-40B4-BE49-F238E27FC236}">
                <a16:creationId xmlns:a16="http://schemas.microsoft.com/office/drawing/2014/main" id="{B07F3E68-2BCF-4EC0-B981-29542191BC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5898" y="4722447"/>
            <a:ext cx="762000" cy="142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2158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Kernel">
            <a:extLst>
              <a:ext uri="{FF2B5EF4-FFF2-40B4-BE49-F238E27FC236}">
                <a16:creationId xmlns:a16="http://schemas.microsoft.com/office/drawing/2014/main" id="{F7559D8B-CEB9-4A67-AF96-5CDEC44A7ED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8035296" y="3103200"/>
            <a:ext cx="1108704" cy="925844"/>
          </a:xfrm>
          <a:prstGeom prst="rect">
            <a:avLst/>
          </a:prstGeom>
          <a:noFill/>
          <a:ln>
            <a:noFill/>
          </a:ln>
        </p:spPr>
      </p:pic>
      <p:sp>
        <p:nvSpPr>
          <p:cNvPr id="4" name="3 Título"/>
          <p:cNvSpPr>
            <a:spLocks noGrp="1"/>
          </p:cNvSpPr>
          <p:nvPr>
            <p:ph type="title" idx="4294967295"/>
          </p:nvPr>
        </p:nvSpPr>
        <p:spPr>
          <a:xfrm>
            <a:off x="1388050" y="101555"/>
            <a:ext cx="7626350" cy="515938"/>
          </a:xfrm>
        </p:spPr>
        <p:txBody>
          <a:bodyPr/>
          <a:lstStyle/>
          <a:p>
            <a:r>
              <a:rPr lang="es-ES" dirty="0"/>
              <a:t>¿Por qué estudiar SSOO?</a:t>
            </a:r>
          </a:p>
        </p:txBody>
      </p:sp>
      <p:sp>
        <p:nvSpPr>
          <p:cNvPr id="5" name="CuadroTexto 4">
            <a:extLst>
              <a:ext uri="{FF2B5EF4-FFF2-40B4-BE49-F238E27FC236}">
                <a16:creationId xmlns:a16="http://schemas.microsoft.com/office/drawing/2014/main" id="{CB5B9BCC-4C2D-4D54-88ED-081E7284FD5B}"/>
              </a:ext>
            </a:extLst>
          </p:cNvPr>
          <p:cNvSpPr txBox="1"/>
          <p:nvPr/>
        </p:nvSpPr>
        <p:spPr>
          <a:xfrm>
            <a:off x="1251250" y="530699"/>
            <a:ext cx="6981998" cy="4612801"/>
          </a:xfrm>
          <a:prstGeom prst="rect">
            <a:avLst/>
          </a:prstGeom>
          <a:noFill/>
        </p:spPr>
        <p:txBody>
          <a:bodyPr wrap="square" rtlCol="0">
            <a:spAutoFit/>
          </a:bodyPr>
          <a:lstStyle/>
          <a:p>
            <a:pPr marL="342900" indent="-342900" algn="just">
              <a:buAutoNum type="arabicPeriod"/>
            </a:pPr>
            <a:r>
              <a:rPr lang="es-ES" sz="1600" dirty="0"/>
              <a:t>Porque son una obra cumbre de la ingeniería software. Es difícil encontrar un software más complejo, que atienda tantas necesidades, que sea producto de la colaboración de miles de ingenieros y que haya atraído tanto talento. Otras obras de ingeniería (Caminos, Canales y Puertos):</a:t>
            </a:r>
          </a:p>
          <a:p>
            <a:pPr marL="685800" lvl="1" indent="-342900" algn="just">
              <a:lnSpc>
                <a:spcPct val="107000"/>
              </a:lnSpc>
              <a:buFont typeface="Symbol" panose="05050102010706020507" pitchFamily="18" charset="2"/>
              <a:buChar char=""/>
            </a:pPr>
            <a:r>
              <a:rPr lang="es-ES" sz="1100" dirty="0">
                <a:effectLst/>
                <a:latin typeface="Calibri" panose="020F0502020204030204" pitchFamily="34" charset="0"/>
                <a:ea typeface="Calibri" panose="020F0502020204030204" pitchFamily="34" charset="0"/>
                <a:cs typeface="Times New Roman" panose="02020603050405020304" pitchFamily="18" charset="0"/>
              </a:rPr>
              <a:t>Puente de la bahía de </a:t>
            </a:r>
            <a:r>
              <a:rPr lang="es-ES" sz="1100" dirty="0" err="1">
                <a:effectLst/>
                <a:latin typeface="Calibri" panose="020F0502020204030204" pitchFamily="34" charset="0"/>
                <a:ea typeface="Calibri" panose="020F0502020204030204" pitchFamily="34" charset="0"/>
                <a:cs typeface="Times New Roman" panose="02020603050405020304" pitchFamily="18" charset="0"/>
              </a:rPr>
              <a:t>Jiaozhou</a:t>
            </a:r>
            <a:r>
              <a:rPr lang="es-ES" sz="1100" dirty="0">
                <a:effectLst/>
                <a:latin typeface="Calibri" panose="020F0502020204030204" pitchFamily="34" charset="0"/>
                <a:ea typeface="Calibri" panose="020F0502020204030204" pitchFamily="34" charset="0"/>
                <a:cs typeface="Times New Roman" panose="02020603050405020304" pitchFamily="18" charset="0"/>
              </a:rPr>
              <a:t>, China (Puente más largo del mundo, 41 km)</a:t>
            </a:r>
          </a:p>
          <a:p>
            <a:pPr marL="1028700" lvl="1" algn="just">
              <a:lnSpc>
                <a:spcPct val="107000"/>
              </a:lnSpc>
            </a:pPr>
            <a:r>
              <a:rPr lang="es-ES" sz="11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Puente </a:t>
            </a:r>
            <a:r>
              <a:rPr lang="es-ES" sz="1100" u="sng" dirty="0" err="1">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Bahía</a:t>
            </a:r>
            <a:r>
              <a:rPr lang="es-ES" sz="11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 </a:t>
            </a:r>
            <a:r>
              <a:rPr lang="es-ES" sz="1100" u="sng" dirty="0" err="1">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Jiaozhou</a:t>
            </a:r>
            <a:r>
              <a:rPr lang="es-ES" sz="11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 / Enlaces de la construcción - YouTube</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p>
            <a:pPr marL="685800" lvl="1" indent="-342900" algn="just">
              <a:lnSpc>
                <a:spcPct val="107000"/>
              </a:lnSpc>
              <a:buFont typeface="Symbol" panose="05050102010706020507" pitchFamily="18" charset="2"/>
              <a:buChar char=""/>
            </a:pPr>
            <a:r>
              <a:rPr lang="es-ES" sz="1100" dirty="0">
                <a:effectLst/>
                <a:latin typeface="Calibri" panose="020F0502020204030204" pitchFamily="34" charset="0"/>
                <a:ea typeface="Calibri" panose="020F0502020204030204" pitchFamily="34" charset="0"/>
                <a:cs typeface="Times New Roman" panose="02020603050405020304" pitchFamily="18" charset="0"/>
              </a:rPr>
              <a:t>Puente del agua de </a:t>
            </a:r>
            <a:r>
              <a:rPr lang="es-ES" sz="1100" dirty="0" err="1">
                <a:effectLst/>
                <a:latin typeface="Calibri" panose="020F0502020204030204" pitchFamily="34" charset="0"/>
                <a:ea typeface="Calibri" panose="020F0502020204030204" pitchFamily="34" charset="0"/>
                <a:cs typeface="Times New Roman" panose="02020603050405020304" pitchFamily="18" charset="0"/>
              </a:rPr>
              <a:t>Magdeburg</a:t>
            </a:r>
            <a:r>
              <a:rPr lang="es-ES" sz="1100" dirty="0">
                <a:effectLst/>
                <a:latin typeface="Calibri" panose="020F0502020204030204" pitchFamily="34" charset="0"/>
                <a:ea typeface="Calibri" panose="020F0502020204030204" pitchFamily="34" charset="0"/>
                <a:cs typeface="Times New Roman" panose="02020603050405020304" pitchFamily="18" charset="0"/>
              </a:rPr>
              <a:t>, Alemania (ayuda a cruzar el río Elba sin salirse del canal </a:t>
            </a:r>
            <a:r>
              <a:rPr lang="es-ES" sz="1100" dirty="0" err="1">
                <a:effectLst/>
                <a:latin typeface="Calibri" panose="020F0502020204030204" pitchFamily="34" charset="0"/>
                <a:ea typeface="Calibri" panose="020F0502020204030204" pitchFamily="34" charset="0"/>
                <a:cs typeface="Times New Roman" panose="02020603050405020304" pitchFamily="18" charset="0"/>
              </a:rPr>
              <a:t>Elbe</a:t>
            </a:r>
            <a:r>
              <a:rPr lang="es-ES" sz="1100" dirty="0">
                <a:effectLst/>
                <a:latin typeface="Calibri" panose="020F0502020204030204" pitchFamily="34" charset="0"/>
                <a:ea typeface="Calibri" panose="020F0502020204030204" pitchFamily="34" charset="0"/>
                <a:cs typeface="Times New Roman" panose="02020603050405020304" pitchFamily="18" charset="0"/>
              </a:rPr>
              <a:t>-Havel)</a:t>
            </a:r>
          </a:p>
          <a:p>
            <a:pPr marL="1028700" lvl="1" algn="just">
              <a:lnSpc>
                <a:spcPct val="107000"/>
              </a:lnSpc>
              <a:spcAft>
                <a:spcPts val="800"/>
              </a:spcAft>
            </a:pPr>
            <a:r>
              <a:rPr lang="es-ES" sz="11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5"/>
              </a:rPr>
              <a:t>Puente canal de Magdeburgo (Alemania) - YouTube</a:t>
            </a:r>
            <a:endParaRPr lang="es-ES" sz="1600" dirty="0"/>
          </a:p>
          <a:p>
            <a:pPr marL="342900" indent="-342900" algn="just">
              <a:buAutoNum type="arabicPeriod"/>
            </a:pPr>
            <a:r>
              <a:rPr lang="es-ES" sz="1600" dirty="0"/>
              <a:t>Porque alguna vez os habréis preguntado por qué haciendo </a:t>
            </a:r>
            <a:r>
              <a:rPr lang="es-ES" sz="1600" dirty="0" err="1"/>
              <a:t>click</a:t>
            </a:r>
            <a:r>
              <a:rPr lang="es-ES" sz="1600" dirty="0"/>
              <a:t> en un dibujito de repente se ejecuta algo tan complicado como un navegador web.</a:t>
            </a:r>
          </a:p>
          <a:p>
            <a:pPr marL="342900" indent="-342900" algn="just">
              <a:buAutoNum type="arabicPeriod"/>
            </a:pPr>
            <a:endParaRPr lang="es-ES" sz="1600" dirty="0"/>
          </a:p>
          <a:p>
            <a:pPr marL="342900" indent="-342900" algn="just">
              <a:buFontTx/>
              <a:buAutoNum type="arabicPeriod"/>
            </a:pPr>
            <a:r>
              <a:rPr lang="es-ES" sz="1600" dirty="0"/>
              <a:t>Porque son la plataforma sobre la que se ejecutarán todas las aplicaciones que haréis en vuestra vida. Si no sabéis cómo funcionan nunca llegareis a entender qué distingue el software profesional de un programa aficionado.</a:t>
            </a:r>
          </a:p>
          <a:p>
            <a:pPr marL="342900" indent="-342900" algn="just">
              <a:buAutoNum type="arabicPeriod"/>
            </a:pPr>
            <a:endParaRPr lang="es-ES" sz="1600" dirty="0"/>
          </a:p>
          <a:p>
            <a:pPr marL="342900" indent="-342900" algn="just">
              <a:buAutoNum type="arabicPeriod"/>
            </a:pPr>
            <a:r>
              <a:rPr lang="es-ES" sz="1600" dirty="0"/>
              <a:t>Porque el día que os jubiléis ahí seguirá algún derivado de Unix dando servicio. Es uno de los pocos elementos que permanecen en el tiempo. Las máquinas y los lenguajes de programación de 1980 son dinosaurios, pero la arquitectura de Linux no se diferencia en esencia de la de Unix de ese año.</a:t>
            </a:r>
          </a:p>
        </p:txBody>
      </p:sp>
    </p:spTree>
    <p:extLst>
      <p:ext uri="{BB962C8B-B14F-4D97-AF65-F5344CB8AC3E}">
        <p14:creationId xmlns:p14="http://schemas.microsoft.com/office/powerpoint/2010/main" val="4050285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517650" y="228600"/>
            <a:ext cx="7626350" cy="515938"/>
          </a:xfrm>
        </p:spPr>
        <p:txBody>
          <a:bodyPr/>
          <a:lstStyle/>
          <a:p>
            <a:r>
              <a:rPr lang="es-ES" dirty="0"/>
              <a:t>Este curso NO es…</a:t>
            </a:r>
          </a:p>
        </p:txBody>
      </p:sp>
      <p:sp>
        <p:nvSpPr>
          <p:cNvPr id="5" name="CuadroTexto 4">
            <a:extLst>
              <a:ext uri="{FF2B5EF4-FFF2-40B4-BE49-F238E27FC236}">
                <a16:creationId xmlns:a16="http://schemas.microsoft.com/office/drawing/2014/main" id="{CB5B9BCC-4C2D-4D54-88ED-081E7284FD5B}"/>
              </a:ext>
            </a:extLst>
          </p:cNvPr>
          <p:cNvSpPr txBox="1"/>
          <p:nvPr/>
        </p:nvSpPr>
        <p:spPr>
          <a:xfrm>
            <a:off x="1720042" y="955893"/>
            <a:ext cx="6981998" cy="4031873"/>
          </a:xfrm>
          <a:prstGeom prst="rect">
            <a:avLst/>
          </a:prstGeom>
          <a:noFill/>
        </p:spPr>
        <p:txBody>
          <a:bodyPr wrap="square" rtlCol="0">
            <a:spAutoFit/>
          </a:bodyPr>
          <a:lstStyle/>
          <a:p>
            <a:pPr marL="342900" indent="-342900" algn="just">
              <a:buAutoNum type="arabicPeriod"/>
            </a:pPr>
            <a:r>
              <a:rPr lang="es-ES" sz="1600" dirty="0"/>
              <a:t>Una introducción al uso de comandos o programación </a:t>
            </a:r>
            <a:r>
              <a:rPr lang="es-ES" sz="1600" dirty="0" err="1"/>
              <a:t>shell</a:t>
            </a:r>
            <a:r>
              <a:rPr lang="es-ES" sz="1600" dirty="0"/>
              <a:t> script. Eso ya lo aprendisteis en primero y si no lo recordáis conviene refrescarlo.</a:t>
            </a:r>
          </a:p>
          <a:p>
            <a:pPr marL="342900" indent="-342900" algn="just">
              <a:buAutoNum type="arabicPeriod"/>
            </a:pPr>
            <a:endParaRPr lang="es-ES" sz="1600" dirty="0"/>
          </a:p>
          <a:p>
            <a:pPr marL="342900" indent="-342900" algn="just">
              <a:buAutoNum type="arabicPeriod"/>
            </a:pPr>
            <a:r>
              <a:rPr lang="es-ES" sz="1600" dirty="0"/>
              <a:t>Un curso de administración Unix/Linux o Windows. La figura del administrador de sistemas es muy importante y es un rol bien definido. El administrador tiene que conocer cómo funciona el Sistema Operativo para configurarlo y gestionarlo en condiciones, pero no es el objeto de este curso (aunque veremos alguna herramienta de </a:t>
            </a:r>
            <a:r>
              <a:rPr lang="es-ES" sz="1600" dirty="0" err="1"/>
              <a:t>sysadmin</a:t>
            </a:r>
            <a:r>
              <a:rPr lang="es-ES" sz="1600" dirty="0"/>
              <a:t>)</a:t>
            </a:r>
          </a:p>
          <a:p>
            <a:pPr marL="342900" indent="-342900" algn="just">
              <a:buAutoNum type="arabicPeriod"/>
            </a:pPr>
            <a:endParaRPr lang="es-ES" sz="1600" dirty="0"/>
          </a:p>
          <a:p>
            <a:pPr marL="342900" indent="-342900" algn="just">
              <a:buFontTx/>
              <a:buAutoNum type="arabicPeriod"/>
            </a:pPr>
            <a:r>
              <a:rPr lang="es-ES" sz="1600" dirty="0"/>
              <a:t>Un curso de programación de sistemas, para construir drivers o diseñar nuevos sistemas de ficheros. Eso no está a nuestro alcance …por ahora. Sin embargo, haremos bastante uso de la programación de sistemas.</a:t>
            </a:r>
          </a:p>
          <a:p>
            <a:pPr marL="342900" indent="-342900" algn="just">
              <a:buAutoNum type="arabicPeriod"/>
            </a:pPr>
            <a:endParaRPr lang="es-ES" sz="1600" dirty="0"/>
          </a:p>
          <a:p>
            <a:pPr marL="342900" indent="-342900" algn="just">
              <a:buAutoNum type="arabicPeriod"/>
            </a:pPr>
            <a:r>
              <a:rPr lang="es-ES" sz="1600" dirty="0"/>
              <a:t>Un concurso de belleza para ver si Windows es mejor que macOS o Linux que FreeBSD. Todos tienen su campo de aplicación, un ingeniero SW debe saber cuales son los puntos fuertes y débiles de cada uno.</a:t>
            </a:r>
          </a:p>
        </p:txBody>
      </p:sp>
    </p:spTree>
    <p:extLst>
      <p:ext uri="{BB962C8B-B14F-4D97-AF65-F5344CB8AC3E}">
        <p14:creationId xmlns:p14="http://schemas.microsoft.com/office/powerpoint/2010/main" val="2484223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517650" y="228600"/>
            <a:ext cx="7626350" cy="515938"/>
          </a:xfrm>
        </p:spPr>
        <p:txBody>
          <a:bodyPr/>
          <a:lstStyle/>
          <a:p>
            <a:r>
              <a:rPr lang="es-ES" dirty="0"/>
              <a:t>¿Cómo aprenderemos SSOO?</a:t>
            </a:r>
          </a:p>
        </p:txBody>
      </p:sp>
      <p:sp>
        <p:nvSpPr>
          <p:cNvPr id="5" name="CuadroTexto 4">
            <a:extLst>
              <a:ext uri="{FF2B5EF4-FFF2-40B4-BE49-F238E27FC236}">
                <a16:creationId xmlns:a16="http://schemas.microsoft.com/office/drawing/2014/main" id="{CB5B9BCC-4C2D-4D54-88ED-081E7284FD5B}"/>
              </a:ext>
            </a:extLst>
          </p:cNvPr>
          <p:cNvSpPr txBox="1"/>
          <p:nvPr/>
        </p:nvSpPr>
        <p:spPr>
          <a:xfrm>
            <a:off x="1720042" y="955893"/>
            <a:ext cx="6981998" cy="4031873"/>
          </a:xfrm>
          <a:prstGeom prst="rect">
            <a:avLst/>
          </a:prstGeom>
          <a:noFill/>
        </p:spPr>
        <p:txBody>
          <a:bodyPr wrap="square" rtlCol="0">
            <a:spAutoFit/>
          </a:bodyPr>
          <a:lstStyle/>
          <a:p>
            <a:pPr marL="342900" indent="-342900" algn="just">
              <a:buAutoNum type="arabicPeriod"/>
            </a:pPr>
            <a:r>
              <a:rPr lang="es-ES" sz="1600" dirty="0"/>
              <a:t>Asimilaremos la teoría, como en los libros de introducción general a Sistemas Operativos. Esto solo no basta.</a:t>
            </a:r>
          </a:p>
          <a:p>
            <a:pPr marL="342900" indent="-342900" algn="just">
              <a:buAutoNum type="arabicPeriod"/>
            </a:pPr>
            <a:endParaRPr lang="es-ES" sz="1600" dirty="0"/>
          </a:p>
          <a:p>
            <a:pPr marL="342900" indent="-342900" algn="just">
              <a:buAutoNum type="arabicPeriod"/>
            </a:pPr>
            <a:r>
              <a:rPr lang="es-ES" sz="1600" dirty="0"/>
              <a:t>Para aprender de Sistemas Operativos hay que ver código. El problema es que el código de Linux o FreeBSD puede provocar convulsiones a un programador novel por su dificultad. Usaremos el sistema xv6, un “juguete” desarrollado por el MIT que, sin embargo, contiene los elementos esenciales. Lo instalaremos, lo usaremos y lo modificaremos.</a:t>
            </a:r>
          </a:p>
          <a:p>
            <a:pPr marL="342900" indent="-342900" algn="just">
              <a:buAutoNum type="arabicPeriod"/>
            </a:pPr>
            <a:endParaRPr lang="es-ES" sz="1600" dirty="0"/>
          </a:p>
          <a:p>
            <a:pPr marL="342900" indent="-342900" algn="just">
              <a:buFontTx/>
              <a:buAutoNum type="arabicPeriod"/>
            </a:pPr>
            <a:r>
              <a:rPr lang="es-ES" sz="1600" dirty="0"/>
              <a:t>Programando. Un virtuoso del violín o la guitarra eléctrica no aprende leyendo historia de la música. Programaremos en Linux sobre una máquina virtual y sobre el citado xv6. Aprenderemos a hacer un mínimo driver Linux.</a:t>
            </a:r>
          </a:p>
          <a:p>
            <a:pPr marL="342900" indent="-342900" algn="just">
              <a:buAutoNum type="arabicPeriod"/>
            </a:pPr>
            <a:endParaRPr lang="es-ES" sz="1600" dirty="0"/>
          </a:p>
          <a:p>
            <a:pPr marL="342900" indent="-342900" algn="just">
              <a:buAutoNum type="arabicPeriod"/>
            </a:pPr>
            <a:r>
              <a:rPr lang="es-ES" sz="1600" dirty="0"/>
              <a:t>Compilando e instalando un sistema operativo desde cero. Bajaremos una distribución Linux y la haremos arrancar configurando y compilando. Usaremos herramientas de traza propias de un </a:t>
            </a:r>
            <a:r>
              <a:rPr lang="es-ES" sz="1600" dirty="0" err="1"/>
              <a:t>sysadmin</a:t>
            </a:r>
            <a:r>
              <a:rPr lang="es-ES" sz="1600" dirty="0"/>
              <a:t> profesional.</a:t>
            </a:r>
          </a:p>
        </p:txBody>
      </p:sp>
    </p:spTree>
    <p:extLst>
      <p:ext uri="{BB962C8B-B14F-4D97-AF65-F5344CB8AC3E}">
        <p14:creationId xmlns:p14="http://schemas.microsoft.com/office/powerpoint/2010/main" val="373910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287192" y="109684"/>
            <a:ext cx="7626350" cy="515938"/>
          </a:xfrm>
        </p:spPr>
        <p:txBody>
          <a:bodyPr/>
          <a:lstStyle/>
          <a:p>
            <a:r>
              <a:rPr lang="es-ES" dirty="0"/>
              <a:t>¿Qué es un Sistema Operativo?</a:t>
            </a:r>
          </a:p>
        </p:txBody>
      </p:sp>
      <p:sp>
        <p:nvSpPr>
          <p:cNvPr id="2" name="CuadroTexto 1">
            <a:extLst>
              <a:ext uri="{FF2B5EF4-FFF2-40B4-BE49-F238E27FC236}">
                <a16:creationId xmlns:a16="http://schemas.microsoft.com/office/drawing/2014/main" id="{DFBA855A-1CA3-4612-ADF1-BF74CC32831F}"/>
              </a:ext>
            </a:extLst>
          </p:cNvPr>
          <p:cNvSpPr txBox="1"/>
          <p:nvPr/>
        </p:nvSpPr>
        <p:spPr>
          <a:xfrm>
            <a:off x="1227513" y="602588"/>
            <a:ext cx="5276959" cy="338554"/>
          </a:xfrm>
          <a:prstGeom prst="rect">
            <a:avLst/>
          </a:prstGeom>
          <a:noFill/>
        </p:spPr>
        <p:txBody>
          <a:bodyPr wrap="square" rtlCol="0">
            <a:spAutoFit/>
          </a:bodyPr>
          <a:lstStyle/>
          <a:p>
            <a:pPr algn="ctr"/>
            <a:r>
              <a:rPr lang="es-ES" sz="1600" dirty="0"/>
              <a:t>Es el programa más importante que se ejecuta en la máquina</a:t>
            </a:r>
          </a:p>
        </p:txBody>
      </p:sp>
      <p:sp>
        <p:nvSpPr>
          <p:cNvPr id="5" name="CuadroTexto 4">
            <a:extLst>
              <a:ext uri="{FF2B5EF4-FFF2-40B4-BE49-F238E27FC236}">
                <a16:creationId xmlns:a16="http://schemas.microsoft.com/office/drawing/2014/main" id="{CB5B9BCC-4C2D-4D54-88ED-081E7284FD5B}"/>
              </a:ext>
            </a:extLst>
          </p:cNvPr>
          <p:cNvSpPr txBox="1"/>
          <p:nvPr/>
        </p:nvSpPr>
        <p:spPr>
          <a:xfrm>
            <a:off x="1051688" y="1426976"/>
            <a:ext cx="3155358" cy="3046988"/>
          </a:xfrm>
          <a:prstGeom prst="rect">
            <a:avLst/>
          </a:prstGeom>
          <a:noFill/>
        </p:spPr>
        <p:txBody>
          <a:bodyPr wrap="square" rtlCol="0">
            <a:spAutoFit/>
          </a:bodyPr>
          <a:lstStyle/>
          <a:p>
            <a:pPr algn="ctr"/>
            <a:r>
              <a:rPr lang="es-ES" sz="1600" dirty="0"/>
              <a:t>Proporciona dos funciones básicas</a:t>
            </a:r>
          </a:p>
          <a:p>
            <a:pPr algn="ctr"/>
            <a:endParaRPr lang="es-ES" sz="1600" dirty="0"/>
          </a:p>
          <a:p>
            <a:pPr marL="342900" indent="-342900" algn="ctr">
              <a:buAutoNum type="arabicPeriod"/>
            </a:pPr>
            <a:r>
              <a:rPr lang="es-ES" sz="1600" dirty="0"/>
              <a:t>Abstracción de los detalles físicos. Los procesos se ejecutan en un entorno virtual y acceden a los recursos usando primitivas del sistema</a:t>
            </a:r>
          </a:p>
          <a:p>
            <a:pPr marL="342900" indent="-342900" algn="ctr">
              <a:buAutoNum type="arabicPeriod"/>
            </a:pPr>
            <a:endParaRPr lang="es-ES" sz="1600" dirty="0"/>
          </a:p>
          <a:p>
            <a:pPr marL="342900" indent="-342900" algn="ctr">
              <a:buAutoNum type="arabicPeriod"/>
            </a:pPr>
            <a:r>
              <a:rPr lang="es-ES" sz="1600" dirty="0"/>
              <a:t>Permite que múltiples aplicaciones y usuarios compartan el mismo equipo de forma segura.</a:t>
            </a:r>
          </a:p>
        </p:txBody>
      </p:sp>
      <p:sp>
        <p:nvSpPr>
          <p:cNvPr id="7" name="Rectángulo 6">
            <a:extLst>
              <a:ext uri="{FF2B5EF4-FFF2-40B4-BE49-F238E27FC236}">
                <a16:creationId xmlns:a16="http://schemas.microsoft.com/office/drawing/2014/main" id="{151A777D-ECB8-4EE8-B6A2-0ECB74482A53}"/>
              </a:ext>
            </a:extLst>
          </p:cNvPr>
          <p:cNvSpPr/>
          <p:nvPr/>
        </p:nvSpPr>
        <p:spPr>
          <a:xfrm>
            <a:off x="4230978" y="4202709"/>
            <a:ext cx="872836" cy="174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t>Controlador</a:t>
            </a:r>
          </a:p>
        </p:txBody>
      </p:sp>
      <p:sp>
        <p:nvSpPr>
          <p:cNvPr id="13" name="Rectángulo 12">
            <a:extLst>
              <a:ext uri="{FF2B5EF4-FFF2-40B4-BE49-F238E27FC236}">
                <a16:creationId xmlns:a16="http://schemas.microsoft.com/office/drawing/2014/main" id="{C0225C66-209E-43F3-A71A-5B657A9444DA}"/>
              </a:ext>
            </a:extLst>
          </p:cNvPr>
          <p:cNvSpPr/>
          <p:nvPr/>
        </p:nvSpPr>
        <p:spPr>
          <a:xfrm>
            <a:off x="4230978" y="4377276"/>
            <a:ext cx="872836" cy="33250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solidFill>
                  <a:schemeClr val="tx1"/>
                </a:solidFill>
              </a:rPr>
              <a:t>SSD</a:t>
            </a:r>
          </a:p>
        </p:txBody>
      </p:sp>
      <p:sp>
        <p:nvSpPr>
          <p:cNvPr id="15" name="Rectángulo 14">
            <a:extLst>
              <a:ext uri="{FF2B5EF4-FFF2-40B4-BE49-F238E27FC236}">
                <a16:creationId xmlns:a16="http://schemas.microsoft.com/office/drawing/2014/main" id="{53B33411-F987-4D25-9466-4DA473D42C10}"/>
              </a:ext>
            </a:extLst>
          </p:cNvPr>
          <p:cNvSpPr/>
          <p:nvPr/>
        </p:nvSpPr>
        <p:spPr>
          <a:xfrm>
            <a:off x="5230194" y="4202709"/>
            <a:ext cx="872836" cy="174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t>Controlador</a:t>
            </a:r>
          </a:p>
        </p:txBody>
      </p:sp>
      <p:sp>
        <p:nvSpPr>
          <p:cNvPr id="17" name="Rectángulo 16">
            <a:extLst>
              <a:ext uri="{FF2B5EF4-FFF2-40B4-BE49-F238E27FC236}">
                <a16:creationId xmlns:a16="http://schemas.microsoft.com/office/drawing/2014/main" id="{3D6BA25A-D673-456F-89C1-57FE3DF42FC0}"/>
              </a:ext>
            </a:extLst>
          </p:cNvPr>
          <p:cNvSpPr/>
          <p:nvPr/>
        </p:nvSpPr>
        <p:spPr>
          <a:xfrm>
            <a:off x="5230194" y="4377276"/>
            <a:ext cx="872836" cy="33250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solidFill>
                  <a:schemeClr val="tx1"/>
                </a:solidFill>
              </a:rPr>
              <a:t>Ethernet</a:t>
            </a:r>
          </a:p>
        </p:txBody>
      </p:sp>
      <p:sp>
        <p:nvSpPr>
          <p:cNvPr id="19" name="Rectángulo 18">
            <a:extLst>
              <a:ext uri="{FF2B5EF4-FFF2-40B4-BE49-F238E27FC236}">
                <a16:creationId xmlns:a16="http://schemas.microsoft.com/office/drawing/2014/main" id="{4F73661C-9D8D-4E22-A367-E31241768D9B}"/>
              </a:ext>
            </a:extLst>
          </p:cNvPr>
          <p:cNvSpPr/>
          <p:nvPr/>
        </p:nvSpPr>
        <p:spPr>
          <a:xfrm>
            <a:off x="6438310" y="4202709"/>
            <a:ext cx="872836" cy="174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t>Controlador</a:t>
            </a:r>
          </a:p>
        </p:txBody>
      </p:sp>
      <p:sp>
        <p:nvSpPr>
          <p:cNvPr id="21" name="Rectángulo 20">
            <a:extLst>
              <a:ext uri="{FF2B5EF4-FFF2-40B4-BE49-F238E27FC236}">
                <a16:creationId xmlns:a16="http://schemas.microsoft.com/office/drawing/2014/main" id="{F206FBD9-C565-41BB-A11D-7C73D6F80E50}"/>
              </a:ext>
            </a:extLst>
          </p:cNvPr>
          <p:cNvSpPr/>
          <p:nvPr/>
        </p:nvSpPr>
        <p:spPr>
          <a:xfrm>
            <a:off x="6438310" y="4377276"/>
            <a:ext cx="872836" cy="33250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solidFill>
                  <a:schemeClr val="tx1"/>
                </a:solidFill>
              </a:rPr>
              <a:t>USB</a:t>
            </a:r>
          </a:p>
        </p:txBody>
      </p:sp>
      <p:sp>
        <p:nvSpPr>
          <p:cNvPr id="23" name="Rectángulo 22">
            <a:extLst>
              <a:ext uri="{FF2B5EF4-FFF2-40B4-BE49-F238E27FC236}">
                <a16:creationId xmlns:a16="http://schemas.microsoft.com/office/drawing/2014/main" id="{E072C6A5-8DFB-4D3A-9EC4-6828BF3468A1}"/>
              </a:ext>
            </a:extLst>
          </p:cNvPr>
          <p:cNvSpPr/>
          <p:nvPr/>
        </p:nvSpPr>
        <p:spPr>
          <a:xfrm>
            <a:off x="4230978" y="1983210"/>
            <a:ext cx="3080168" cy="188699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4" name="Rectángulo 23">
            <a:extLst>
              <a:ext uri="{FF2B5EF4-FFF2-40B4-BE49-F238E27FC236}">
                <a16:creationId xmlns:a16="http://schemas.microsoft.com/office/drawing/2014/main" id="{E58660E7-C346-4E9F-81F3-93FA5160B4BB}"/>
              </a:ext>
            </a:extLst>
          </p:cNvPr>
          <p:cNvSpPr/>
          <p:nvPr/>
        </p:nvSpPr>
        <p:spPr>
          <a:xfrm>
            <a:off x="4230978" y="3695633"/>
            <a:ext cx="872836" cy="174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t>Driver SATA</a:t>
            </a:r>
          </a:p>
        </p:txBody>
      </p:sp>
      <p:sp>
        <p:nvSpPr>
          <p:cNvPr id="26" name="Rectángulo 25">
            <a:extLst>
              <a:ext uri="{FF2B5EF4-FFF2-40B4-BE49-F238E27FC236}">
                <a16:creationId xmlns:a16="http://schemas.microsoft.com/office/drawing/2014/main" id="{40CCCD64-C9AF-4118-A6EF-CD44EBD0DE5A}"/>
              </a:ext>
            </a:extLst>
          </p:cNvPr>
          <p:cNvSpPr/>
          <p:nvPr/>
        </p:nvSpPr>
        <p:spPr>
          <a:xfrm>
            <a:off x="5230194" y="3695632"/>
            <a:ext cx="872836" cy="174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t>Driver </a:t>
            </a:r>
            <a:r>
              <a:rPr lang="es-ES" sz="1100" dirty="0" err="1"/>
              <a:t>Eth</a:t>
            </a:r>
            <a:endParaRPr lang="es-ES" sz="1100" dirty="0"/>
          </a:p>
        </p:txBody>
      </p:sp>
      <p:sp>
        <p:nvSpPr>
          <p:cNvPr id="28" name="Rectángulo 27">
            <a:extLst>
              <a:ext uri="{FF2B5EF4-FFF2-40B4-BE49-F238E27FC236}">
                <a16:creationId xmlns:a16="http://schemas.microsoft.com/office/drawing/2014/main" id="{66592367-68A4-4128-9F37-345A137218CD}"/>
              </a:ext>
            </a:extLst>
          </p:cNvPr>
          <p:cNvSpPr/>
          <p:nvPr/>
        </p:nvSpPr>
        <p:spPr>
          <a:xfrm>
            <a:off x="6438310" y="3695632"/>
            <a:ext cx="872836" cy="174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t>Driver PCI</a:t>
            </a:r>
          </a:p>
        </p:txBody>
      </p:sp>
      <p:sp>
        <p:nvSpPr>
          <p:cNvPr id="30" name="Rectángulo 29">
            <a:extLst>
              <a:ext uri="{FF2B5EF4-FFF2-40B4-BE49-F238E27FC236}">
                <a16:creationId xmlns:a16="http://schemas.microsoft.com/office/drawing/2014/main" id="{1BA09393-08BC-4D2D-98FA-33ADF9D68687}"/>
              </a:ext>
            </a:extLst>
          </p:cNvPr>
          <p:cNvSpPr/>
          <p:nvPr/>
        </p:nvSpPr>
        <p:spPr>
          <a:xfrm>
            <a:off x="4232666" y="3433780"/>
            <a:ext cx="3080168" cy="261851"/>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err="1">
                <a:solidFill>
                  <a:schemeClr val="tx1"/>
                </a:solidFill>
              </a:rPr>
              <a:t>Susbsistema</a:t>
            </a:r>
            <a:r>
              <a:rPr lang="es-ES" sz="1400" dirty="0">
                <a:solidFill>
                  <a:schemeClr val="tx1"/>
                </a:solidFill>
              </a:rPr>
              <a:t> E/S</a:t>
            </a:r>
          </a:p>
        </p:txBody>
      </p:sp>
      <p:sp>
        <p:nvSpPr>
          <p:cNvPr id="31" name="Rectángulo 30">
            <a:extLst>
              <a:ext uri="{FF2B5EF4-FFF2-40B4-BE49-F238E27FC236}">
                <a16:creationId xmlns:a16="http://schemas.microsoft.com/office/drawing/2014/main" id="{FA243F22-4033-4164-AE1D-3A5DE1C48007}"/>
              </a:ext>
            </a:extLst>
          </p:cNvPr>
          <p:cNvSpPr/>
          <p:nvPr/>
        </p:nvSpPr>
        <p:spPr>
          <a:xfrm>
            <a:off x="4296398" y="2935016"/>
            <a:ext cx="872836" cy="33250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solidFill>
                  <a:schemeClr val="tx1"/>
                </a:solidFill>
              </a:rPr>
              <a:t>Gestor de procesos</a:t>
            </a:r>
          </a:p>
        </p:txBody>
      </p:sp>
      <p:sp>
        <p:nvSpPr>
          <p:cNvPr id="33" name="Rectángulo 32">
            <a:extLst>
              <a:ext uri="{FF2B5EF4-FFF2-40B4-BE49-F238E27FC236}">
                <a16:creationId xmlns:a16="http://schemas.microsoft.com/office/drawing/2014/main" id="{B4D142D2-4D5D-476D-938E-3DF42852E56E}"/>
              </a:ext>
            </a:extLst>
          </p:cNvPr>
          <p:cNvSpPr/>
          <p:nvPr/>
        </p:nvSpPr>
        <p:spPr>
          <a:xfrm>
            <a:off x="4296398" y="2542241"/>
            <a:ext cx="872836" cy="33250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solidFill>
                  <a:schemeClr val="tx1"/>
                </a:solidFill>
              </a:rPr>
              <a:t>Gestor de memoria</a:t>
            </a:r>
          </a:p>
        </p:txBody>
      </p:sp>
      <p:sp>
        <p:nvSpPr>
          <p:cNvPr id="35" name="Rectángulo 34">
            <a:extLst>
              <a:ext uri="{FF2B5EF4-FFF2-40B4-BE49-F238E27FC236}">
                <a16:creationId xmlns:a16="http://schemas.microsoft.com/office/drawing/2014/main" id="{2B8A5FF1-C7FA-4CE3-AC01-4AB17FA9499B}"/>
              </a:ext>
            </a:extLst>
          </p:cNvPr>
          <p:cNvSpPr/>
          <p:nvPr/>
        </p:nvSpPr>
        <p:spPr>
          <a:xfrm>
            <a:off x="5230194" y="2540852"/>
            <a:ext cx="872836" cy="33250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solidFill>
                  <a:schemeClr val="tx1"/>
                </a:solidFill>
              </a:rPr>
              <a:t>Gestor de ficheros</a:t>
            </a:r>
          </a:p>
        </p:txBody>
      </p:sp>
      <p:sp>
        <p:nvSpPr>
          <p:cNvPr id="37" name="Rectángulo 36">
            <a:extLst>
              <a:ext uri="{FF2B5EF4-FFF2-40B4-BE49-F238E27FC236}">
                <a16:creationId xmlns:a16="http://schemas.microsoft.com/office/drawing/2014/main" id="{CBA38DDA-F03D-4CE1-9D5D-7DD9417FACBB}"/>
              </a:ext>
            </a:extLst>
          </p:cNvPr>
          <p:cNvSpPr/>
          <p:nvPr/>
        </p:nvSpPr>
        <p:spPr>
          <a:xfrm>
            <a:off x="5230194" y="2936394"/>
            <a:ext cx="872836" cy="33250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solidFill>
                  <a:schemeClr val="tx1"/>
                </a:solidFill>
              </a:rPr>
              <a:t>Gestor de seguridad</a:t>
            </a:r>
          </a:p>
        </p:txBody>
      </p:sp>
      <p:sp>
        <p:nvSpPr>
          <p:cNvPr id="39" name="Rectángulo 38">
            <a:extLst>
              <a:ext uri="{FF2B5EF4-FFF2-40B4-BE49-F238E27FC236}">
                <a16:creationId xmlns:a16="http://schemas.microsoft.com/office/drawing/2014/main" id="{DEF78A65-9DEE-49E2-B18D-CEA2CD50DA22}"/>
              </a:ext>
            </a:extLst>
          </p:cNvPr>
          <p:cNvSpPr/>
          <p:nvPr/>
        </p:nvSpPr>
        <p:spPr>
          <a:xfrm>
            <a:off x="6438310" y="2540852"/>
            <a:ext cx="872836" cy="33250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solidFill>
                  <a:schemeClr val="tx1"/>
                </a:solidFill>
              </a:rPr>
              <a:t>Gestor de red</a:t>
            </a:r>
          </a:p>
        </p:txBody>
      </p:sp>
      <p:sp>
        <p:nvSpPr>
          <p:cNvPr id="41" name="Rectángulo 40">
            <a:extLst>
              <a:ext uri="{FF2B5EF4-FFF2-40B4-BE49-F238E27FC236}">
                <a16:creationId xmlns:a16="http://schemas.microsoft.com/office/drawing/2014/main" id="{1959BD6B-4F0B-422A-96A4-0F2B5E9C8B5F}"/>
              </a:ext>
            </a:extLst>
          </p:cNvPr>
          <p:cNvSpPr/>
          <p:nvPr/>
        </p:nvSpPr>
        <p:spPr>
          <a:xfrm>
            <a:off x="6438310" y="2950953"/>
            <a:ext cx="872836" cy="33250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solidFill>
                  <a:schemeClr val="tx1"/>
                </a:solidFill>
              </a:rPr>
              <a:t>Gestor de usuarios</a:t>
            </a:r>
          </a:p>
        </p:txBody>
      </p:sp>
      <p:sp>
        <p:nvSpPr>
          <p:cNvPr id="43" name="Rectángulo 42">
            <a:extLst>
              <a:ext uri="{FF2B5EF4-FFF2-40B4-BE49-F238E27FC236}">
                <a16:creationId xmlns:a16="http://schemas.microsoft.com/office/drawing/2014/main" id="{73A7B880-256A-4798-9D35-CF490F31B2DD}"/>
              </a:ext>
            </a:extLst>
          </p:cNvPr>
          <p:cNvSpPr/>
          <p:nvPr/>
        </p:nvSpPr>
        <p:spPr>
          <a:xfrm>
            <a:off x="4229290" y="1983207"/>
            <a:ext cx="3080168" cy="261851"/>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tx1"/>
                </a:solidFill>
              </a:rPr>
              <a:t>API POSIX/Win32</a:t>
            </a:r>
          </a:p>
        </p:txBody>
      </p:sp>
      <p:sp>
        <p:nvSpPr>
          <p:cNvPr id="45" name="CuadroTexto 44">
            <a:extLst>
              <a:ext uri="{FF2B5EF4-FFF2-40B4-BE49-F238E27FC236}">
                <a16:creationId xmlns:a16="http://schemas.microsoft.com/office/drawing/2014/main" id="{82E7F618-C72D-4DDC-9652-256632DA6D5C}"/>
              </a:ext>
            </a:extLst>
          </p:cNvPr>
          <p:cNvSpPr txBox="1"/>
          <p:nvPr/>
        </p:nvSpPr>
        <p:spPr>
          <a:xfrm>
            <a:off x="4206600" y="2243342"/>
            <a:ext cx="636777" cy="300082"/>
          </a:xfrm>
          <a:prstGeom prst="rect">
            <a:avLst/>
          </a:prstGeom>
          <a:noFill/>
        </p:spPr>
        <p:txBody>
          <a:bodyPr wrap="none" rtlCol="0">
            <a:spAutoFit/>
          </a:bodyPr>
          <a:lstStyle/>
          <a:p>
            <a:r>
              <a:rPr lang="es-ES" dirty="0" err="1"/>
              <a:t>Kernel</a:t>
            </a:r>
            <a:endParaRPr lang="es-ES" dirty="0"/>
          </a:p>
        </p:txBody>
      </p:sp>
      <p:sp>
        <p:nvSpPr>
          <p:cNvPr id="47" name="Rectángulo 46">
            <a:extLst>
              <a:ext uri="{FF2B5EF4-FFF2-40B4-BE49-F238E27FC236}">
                <a16:creationId xmlns:a16="http://schemas.microsoft.com/office/drawing/2014/main" id="{AE1382FA-40C1-4300-8E94-6BD8D688E9EB}"/>
              </a:ext>
            </a:extLst>
          </p:cNvPr>
          <p:cNvSpPr/>
          <p:nvPr/>
        </p:nvSpPr>
        <p:spPr>
          <a:xfrm>
            <a:off x="4259227" y="1144001"/>
            <a:ext cx="816335" cy="5221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Proceso A</a:t>
            </a:r>
          </a:p>
        </p:txBody>
      </p:sp>
      <p:sp>
        <p:nvSpPr>
          <p:cNvPr id="48" name="Rectángulo 47">
            <a:extLst>
              <a:ext uri="{FF2B5EF4-FFF2-40B4-BE49-F238E27FC236}">
                <a16:creationId xmlns:a16="http://schemas.microsoft.com/office/drawing/2014/main" id="{96E299E5-3FFE-4305-8CF2-D9F9EC391D64}"/>
              </a:ext>
            </a:extLst>
          </p:cNvPr>
          <p:cNvSpPr/>
          <p:nvPr/>
        </p:nvSpPr>
        <p:spPr>
          <a:xfrm>
            <a:off x="5250131" y="1144001"/>
            <a:ext cx="816335" cy="522182"/>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Proceso B</a:t>
            </a:r>
          </a:p>
        </p:txBody>
      </p:sp>
      <p:sp>
        <p:nvSpPr>
          <p:cNvPr id="50" name="Rectángulo 49">
            <a:extLst>
              <a:ext uri="{FF2B5EF4-FFF2-40B4-BE49-F238E27FC236}">
                <a16:creationId xmlns:a16="http://schemas.microsoft.com/office/drawing/2014/main" id="{1654A202-05C5-4779-8F31-20A83FBB4826}"/>
              </a:ext>
            </a:extLst>
          </p:cNvPr>
          <p:cNvSpPr/>
          <p:nvPr/>
        </p:nvSpPr>
        <p:spPr>
          <a:xfrm>
            <a:off x="6407765" y="1148022"/>
            <a:ext cx="816335" cy="5221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Proceso Z</a:t>
            </a:r>
          </a:p>
        </p:txBody>
      </p:sp>
      <p:sp>
        <p:nvSpPr>
          <p:cNvPr id="52" name="Flecha: arriba y abajo 51">
            <a:extLst>
              <a:ext uri="{FF2B5EF4-FFF2-40B4-BE49-F238E27FC236}">
                <a16:creationId xmlns:a16="http://schemas.microsoft.com/office/drawing/2014/main" id="{E40FCFB7-710F-46C7-A794-2A7C5A81006D}"/>
              </a:ext>
            </a:extLst>
          </p:cNvPr>
          <p:cNvSpPr/>
          <p:nvPr/>
        </p:nvSpPr>
        <p:spPr>
          <a:xfrm>
            <a:off x="5606734" y="1701169"/>
            <a:ext cx="191193" cy="269466"/>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3" name="Flecha: arriba y abajo 52">
            <a:extLst>
              <a:ext uri="{FF2B5EF4-FFF2-40B4-BE49-F238E27FC236}">
                <a16:creationId xmlns:a16="http://schemas.microsoft.com/office/drawing/2014/main" id="{8BDF4A25-F7C1-4110-B5C5-8D19A257D97A}"/>
              </a:ext>
            </a:extLst>
          </p:cNvPr>
          <p:cNvSpPr/>
          <p:nvPr/>
        </p:nvSpPr>
        <p:spPr>
          <a:xfrm>
            <a:off x="4571799" y="3897917"/>
            <a:ext cx="191193" cy="269466"/>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5" name="Flecha: arriba y abajo 54">
            <a:extLst>
              <a:ext uri="{FF2B5EF4-FFF2-40B4-BE49-F238E27FC236}">
                <a16:creationId xmlns:a16="http://schemas.microsoft.com/office/drawing/2014/main" id="{8ECCD167-F2F9-43D8-A987-93B037C54529}"/>
              </a:ext>
            </a:extLst>
          </p:cNvPr>
          <p:cNvSpPr/>
          <p:nvPr/>
        </p:nvSpPr>
        <p:spPr>
          <a:xfrm>
            <a:off x="5562701" y="3910033"/>
            <a:ext cx="191193" cy="269466"/>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7" name="Flecha: arriba y abajo 56">
            <a:extLst>
              <a:ext uri="{FF2B5EF4-FFF2-40B4-BE49-F238E27FC236}">
                <a16:creationId xmlns:a16="http://schemas.microsoft.com/office/drawing/2014/main" id="{08E0D7F9-D588-46E0-AE57-15064808B6E2}"/>
              </a:ext>
            </a:extLst>
          </p:cNvPr>
          <p:cNvSpPr/>
          <p:nvPr/>
        </p:nvSpPr>
        <p:spPr>
          <a:xfrm>
            <a:off x="6826153" y="3898847"/>
            <a:ext cx="191193" cy="269466"/>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9" name="CuadroTexto 58">
            <a:extLst>
              <a:ext uri="{FF2B5EF4-FFF2-40B4-BE49-F238E27FC236}">
                <a16:creationId xmlns:a16="http://schemas.microsoft.com/office/drawing/2014/main" id="{B7758848-5EDE-430E-94A6-7D944B400957}"/>
              </a:ext>
            </a:extLst>
          </p:cNvPr>
          <p:cNvSpPr txBox="1"/>
          <p:nvPr/>
        </p:nvSpPr>
        <p:spPr>
          <a:xfrm rot="16200000">
            <a:off x="7066791" y="1276934"/>
            <a:ext cx="797013" cy="300082"/>
          </a:xfrm>
          <a:prstGeom prst="rect">
            <a:avLst/>
          </a:prstGeom>
          <a:noFill/>
        </p:spPr>
        <p:txBody>
          <a:bodyPr wrap="none" rtlCol="0">
            <a:spAutoFit/>
          </a:bodyPr>
          <a:lstStyle/>
          <a:p>
            <a:r>
              <a:rPr lang="es-ES" dirty="0">
                <a:solidFill>
                  <a:schemeClr val="bg2">
                    <a:lumMod val="75000"/>
                  </a:schemeClr>
                </a:solidFill>
              </a:rPr>
              <a:t>Usuarios</a:t>
            </a:r>
          </a:p>
        </p:txBody>
      </p:sp>
      <p:sp>
        <p:nvSpPr>
          <p:cNvPr id="60" name="CuadroTexto 59">
            <a:extLst>
              <a:ext uri="{FF2B5EF4-FFF2-40B4-BE49-F238E27FC236}">
                <a16:creationId xmlns:a16="http://schemas.microsoft.com/office/drawing/2014/main" id="{06DB86D0-D57E-4A02-B87C-6959D2196C65}"/>
              </a:ext>
            </a:extLst>
          </p:cNvPr>
          <p:cNvSpPr txBox="1"/>
          <p:nvPr/>
        </p:nvSpPr>
        <p:spPr>
          <a:xfrm rot="16200000">
            <a:off x="6729808" y="2744946"/>
            <a:ext cx="1470980" cy="300082"/>
          </a:xfrm>
          <a:prstGeom prst="rect">
            <a:avLst/>
          </a:prstGeom>
          <a:noFill/>
        </p:spPr>
        <p:txBody>
          <a:bodyPr wrap="none" rtlCol="0">
            <a:spAutoFit/>
          </a:bodyPr>
          <a:lstStyle/>
          <a:p>
            <a:r>
              <a:rPr lang="es-ES" dirty="0">
                <a:solidFill>
                  <a:schemeClr val="bg2">
                    <a:lumMod val="75000"/>
                  </a:schemeClr>
                </a:solidFill>
              </a:rPr>
              <a:t>Sistema Operativo</a:t>
            </a:r>
          </a:p>
        </p:txBody>
      </p:sp>
      <p:sp>
        <p:nvSpPr>
          <p:cNvPr id="62" name="CuadroTexto 61">
            <a:extLst>
              <a:ext uri="{FF2B5EF4-FFF2-40B4-BE49-F238E27FC236}">
                <a16:creationId xmlns:a16="http://schemas.microsoft.com/office/drawing/2014/main" id="{08EF8C3D-8298-4627-8CE0-5194E94F9F6A}"/>
              </a:ext>
            </a:extLst>
          </p:cNvPr>
          <p:cNvSpPr txBox="1"/>
          <p:nvPr/>
        </p:nvSpPr>
        <p:spPr>
          <a:xfrm rot="16200000">
            <a:off x="7242319" y="4322143"/>
            <a:ext cx="445956" cy="300082"/>
          </a:xfrm>
          <a:prstGeom prst="rect">
            <a:avLst/>
          </a:prstGeom>
          <a:noFill/>
        </p:spPr>
        <p:txBody>
          <a:bodyPr wrap="none" rtlCol="0">
            <a:spAutoFit/>
          </a:bodyPr>
          <a:lstStyle/>
          <a:p>
            <a:r>
              <a:rPr lang="es-ES" dirty="0">
                <a:solidFill>
                  <a:schemeClr val="bg2">
                    <a:lumMod val="75000"/>
                  </a:schemeClr>
                </a:solidFill>
              </a:rPr>
              <a:t>HW</a:t>
            </a:r>
          </a:p>
        </p:txBody>
      </p:sp>
      <p:graphicFrame>
        <p:nvGraphicFramePr>
          <p:cNvPr id="3" name="Tabla 2">
            <a:extLst>
              <a:ext uri="{FF2B5EF4-FFF2-40B4-BE49-F238E27FC236}">
                <a16:creationId xmlns:a16="http://schemas.microsoft.com/office/drawing/2014/main" id="{4D38154D-F1C5-4368-B0A7-12580DD4A695}"/>
              </a:ext>
            </a:extLst>
          </p:cNvPr>
          <p:cNvGraphicFramePr>
            <a:graphicFrameLocks noGrp="1"/>
          </p:cNvGraphicFramePr>
          <p:nvPr>
            <p:extLst>
              <p:ext uri="{D42A27DB-BD31-4B8C-83A1-F6EECF244321}">
                <p14:modId xmlns:p14="http://schemas.microsoft.com/office/powerpoint/2010/main" val="3871644256"/>
              </p:ext>
            </p:extLst>
          </p:nvPr>
        </p:nvGraphicFramePr>
        <p:xfrm>
          <a:off x="7548345" y="672177"/>
          <a:ext cx="1510808" cy="4319411"/>
        </p:xfrm>
        <a:graphic>
          <a:graphicData uri="http://schemas.openxmlformats.org/drawingml/2006/table">
            <a:tbl>
              <a:tblPr firstRow="1" firstCol="1" bandRow="1">
                <a:tableStyleId>{5C22544A-7EE6-4342-B048-85BDC9FD1C3A}</a:tableStyleId>
              </a:tblPr>
              <a:tblGrid>
                <a:gridCol w="876295">
                  <a:extLst>
                    <a:ext uri="{9D8B030D-6E8A-4147-A177-3AD203B41FA5}">
                      <a16:colId xmlns:a16="http://schemas.microsoft.com/office/drawing/2014/main" val="251290885"/>
                    </a:ext>
                  </a:extLst>
                </a:gridCol>
                <a:gridCol w="503360">
                  <a:extLst>
                    <a:ext uri="{9D8B030D-6E8A-4147-A177-3AD203B41FA5}">
                      <a16:colId xmlns:a16="http://schemas.microsoft.com/office/drawing/2014/main" val="2243986972"/>
                    </a:ext>
                  </a:extLst>
                </a:gridCol>
                <a:gridCol w="131153">
                  <a:extLst>
                    <a:ext uri="{9D8B030D-6E8A-4147-A177-3AD203B41FA5}">
                      <a16:colId xmlns:a16="http://schemas.microsoft.com/office/drawing/2014/main" val="3995469925"/>
                    </a:ext>
                  </a:extLst>
                </a:gridCol>
              </a:tblGrid>
              <a:tr h="370473">
                <a:tc gridSpan="3">
                  <a:txBody>
                    <a:bodyPr/>
                    <a:lstStyle/>
                    <a:p>
                      <a:pPr algn="ctr">
                        <a:lnSpc>
                          <a:spcPct val="107000"/>
                        </a:lnSpc>
                        <a:spcAft>
                          <a:spcPts val="800"/>
                        </a:spcAft>
                      </a:pPr>
                      <a:r>
                        <a:rPr lang="es-ES" sz="1050" b="0" dirty="0">
                          <a:effectLst/>
                        </a:rPr>
                        <a:t>Usuarios</a:t>
                      </a:r>
                      <a:endParaRPr lang="es-ES"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328702846"/>
                  </a:ext>
                </a:extLst>
              </a:tr>
              <a:tr h="890228">
                <a:tc>
                  <a:txBody>
                    <a:bodyPr/>
                    <a:lstStyle/>
                    <a:p>
                      <a:pPr algn="ctr">
                        <a:lnSpc>
                          <a:spcPct val="107000"/>
                        </a:lnSpc>
                        <a:spcAft>
                          <a:spcPts val="800"/>
                        </a:spcAft>
                      </a:pPr>
                      <a:r>
                        <a:rPr lang="es-ES" sz="1050" b="0" dirty="0">
                          <a:effectLst/>
                        </a:rPr>
                        <a:t>Programas </a:t>
                      </a:r>
                    </a:p>
                    <a:p>
                      <a:pPr algn="ctr">
                        <a:lnSpc>
                          <a:spcPct val="107000"/>
                        </a:lnSpc>
                        <a:spcAft>
                          <a:spcPts val="800"/>
                        </a:spcAft>
                      </a:pPr>
                      <a:r>
                        <a:rPr lang="es-ES" sz="1050" b="0" dirty="0">
                          <a:effectLst/>
                        </a:rPr>
                        <a:t>de Usuario</a:t>
                      </a:r>
                      <a:endParaRPr lang="es-ES"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gridSpan="2">
                  <a:txBody>
                    <a:bodyPr/>
                    <a:lstStyle/>
                    <a:p>
                      <a:pPr algn="ctr">
                        <a:lnSpc>
                          <a:spcPct val="107000"/>
                        </a:lnSpc>
                        <a:spcAft>
                          <a:spcPts val="800"/>
                        </a:spcAft>
                      </a:pPr>
                      <a:r>
                        <a:rPr lang="es-ES" sz="900" dirty="0">
                          <a:effectLst/>
                        </a:rPr>
                        <a:t>Intérprete de comandos</a:t>
                      </a:r>
                      <a:r>
                        <a:rPr lang="es-ES" sz="1000" dirty="0">
                          <a:effectLst/>
                        </a:rPr>
                        <a:t> o Shell</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hMerge="1">
                  <a:txBody>
                    <a:bodyPr/>
                    <a:lstStyle/>
                    <a:p>
                      <a:endParaRPr lang="es-ES"/>
                    </a:p>
                  </a:txBody>
                  <a:tcPr/>
                </a:tc>
                <a:extLst>
                  <a:ext uri="{0D108BD9-81ED-4DB2-BD59-A6C34878D82A}">
                    <a16:rowId xmlns:a16="http://schemas.microsoft.com/office/drawing/2014/main" val="280623935"/>
                  </a:ext>
                </a:extLst>
              </a:tr>
              <a:tr h="414322">
                <a:tc gridSpan="3">
                  <a:txBody>
                    <a:bodyPr/>
                    <a:lstStyle/>
                    <a:p>
                      <a:pPr algn="ctr">
                        <a:lnSpc>
                          <a:spcPct val="107000"/>
                        </a:lnSpc>
                        <a:spcAft>
                          <a:spcPts val="800"/>
                        </a:spcAft>
                      </a:pPr>
                      <a:r>
                        <a:rPr lang="es-ES" sz="1050" b="0" dirty="0">
                          <a:effectLst/>
                        </a:rPr>
                        <a:t>Capa de Servicios</a:t>
                      </a:r>
                    </a:p>
                    <a:p>
                      <a:pPr algn="ctr">
                        <a:lnSpc>
                          <a:spcPct val="107000"/>
                        </a:lnSpc>
                        <a:spcAft>
                          <a:spcPts val="800"/>
                        </a:spcAft>
                      </a:pPr>
                      <a:r>
                        <a:rPr lang="es-ES" sz="1050" b="0" dirty="0">
                          <a:effectLst/>
                        </a:rPr>
                        <a:t> (llamas al sistema)</a:t>
                      </a:r>
                      <a:endParaRPr lang="es-ES"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553237963"/>
                  </a:ext>
                </a:extLst>
              </a:tr>
              <a:tr h="1756350">
                <a:tc gridSpan="3">
                  <a:txBody>
                    <a:bodyPr/>
                    <a:lstStyle/>
                    <a:p>
                      <a:pPr algn="ctr">
                        <a:lnSpc>
                          <a:spcPct val="107000"/>
                        </a:lnSpc>
                        <a:spcAft>
                          <a:spcPts val="800"/>
                        </a:spcAft>
                      </a:pPr>
                      <a:r>
                        <a:rPr lang="es-ES" sz="1050" b="0">
                          <a:effectLst/>
                        </a:rPr>
                        <a:t>Núcleo o Kernel</a:t>
                      </a:r>
                      <a:endParaRPr lang="es-ES" sz="1050" b="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672122049"/>
                  </a:ext>
                </a:extLst>
              </a:tr>
              <a:tr h="482400">
                <a:tc gridSpan="3">
                  <a:txBody>
                    <a:bodyPr/>
                    <a:lstStyle/>
                    <a:p>
                      <a:pPr algn="ctr">
                        <a:lnSpc>
                          <a:spcPct val="107000"/>
                        </a:lnSpc>
                        <a:spcAft>
                          <a:spcPts val="800"/>
                        </a:spcAft>
                      </a:pPr>
                      <a:r>
                        <a:rPr lang="es-ES" sz="1050" b="0">
                          <a:effectLst/>
                        </a:rPr>
                        <a:t>Hardware</a:t>
                      </a:r>
                      <a:endParaRPr lang="es-ES" sz="1050" b="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833098868"/>
                  </a:ext>
                </a:extLst>
              </a:tr>
              <a:tr h="383588">
                <a:tc gridSpan="2">
                  <a:txBody>
                    <a:bodyPr/>
                    <a:lstStyle/>
                    <a:p>
                      <a:pPr>
                        <a:lnSpc>
                          <a:spcPct val="107000"/>
                        </a:lnSpc>
                        <a:spcAft>
                          <a:spcPts val="800"/>
                        </a:spcAft>
                      </a:pPr>
                      <a:r>
                        <a:rPr lang="es-ES" sz="1050" b="0" dirty="0">
                          <a:effectLst/>
                        </a:rPr>
                        <a:t>Niveles del SO.</a:t>
                      </a:r>
                      <a:endParaRPr lang="es-ES"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hMerge="1">
                  <a:txBody>
                    <a:bodyPr/>
                    <a:lstStyle/>
                    <a:p>
                      <a:pPr>
                        <a:lnSpc>
                          <a:spcPct val="107000"/>
                        </a:lnSpc>
                      </a:pPr>
                      <a:endParaRPr lang="es-ES" sz="1100" dirty="0">
                        <a:effectLst/>
                        <a:latin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pPr>
                      <a:endParaRPr lang="es-ES" sz="1100" dirty="0">
                        <a:effectLst/>
                        <a:latin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254238073"/>
                  </a:ext>
                </a:extLst>
              </a:tr>
            </a:tbl>
          </a:graphicData>
        </a:graphic>
      </p:graphicFrame>
    </p:spTree>
    <p:extLst>
      <p:ext uri="{BB962C8B-B14F-4D97-AF65-F5344CB8AC3E}">
        <p14:creationId xmlns:p14="http://schemas.microsoft.com/office/powerpoint/2010/main" val="774540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654BE3C9-6149-4C4B-B81B-3387E3937E53}"/>
              </a:ext>
            </a:extLst>
          </p:cNvPr>
          <p:cNvSpPr txBox="1"/>
          <p:nvPr/>
        </p:nvSpPr>
        <p:spPr>
          <a:xfrm>
            <a:off x="1757843" y="1268616"/>
            <a:ext cx="6862455" cy="1077218"/>
          </a:xfrm>
          <a:prstGeom prst="rect">
            <a:avLst/>
          </a:prstGeom>
          <a:noFill/>
        </p:spPr>
        <p:txBody>
          <a:bodyPr wrap="square" rtlCol="0">
            <a:spAutoFit/>
          </a:bodyPr>
          <a:lstStyle/>
          <a:p>
            <a:pPr algn="just"/>
            <a:r>
              <a:rPr lang="es-ES" sz="1600" dirty="0"/>
              <a:t>Se denomina máquina desnuda a un ordenador sin sistema operativo. Un reloj digital sencillo, una lavadora de hace dos décadas, equipos basados en microcontrolador como Arduino, los ordenadores personales de los 80, son ejemplos de máquina desnuda.</a:t>
            </a:r>
          </a:p>
        </p:txBody>
      </p:sp>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La máquina desnuda </a:t>
            </a:r>
          </a:p>
        </p:txBody>
      </p:sp>
      <p:pic>
        <p:nvPicPr>
          <p:cNvPr id="6146" name="Picture 2">
            <a:extLst>
              <a:ext uri="{FF2B5EF4-FFF2-40B4-BE49-F238E27FC236}">
                <a16:creationId xmlns:a16="http://schemas.microsoft.com/office/drawing/2014/main" id="{4D647576-A67C-4E43-96C8-94571F1256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18961" y="2503409"/>
            <a:ext cx="1735424" cy="2074824"/>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13916651-D005-4852-90C7-D57615DCB9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1420" y="2415217"/>
            <a:ext cx="2943155" cy="2330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6614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654BE3C9-6149-4C4B-B81B-3387E3937E53}"/>
              </a:ext>
            </a:extLst>
          </p:cNvPr>
          <p:cNvSpPr txBox="1"/>
          <p:nvPr/>
        </p:nvSpPr>
        <p:spPr>
          <a:xfrm>
            <a:off x="1699654" y="1085736"/>
            <a:ext cx="6862455" cy="584775"/>
          </a:xfrm>
          <a:prstGeom prst="rect">
            <a:avLst/>
          </a:prstGeom>
          <a:noFill/>
        </p:spPr>
        <p:txBody>
          <a:bodyPr wrap="square" rtlCol="0">
            <a:spAutoFit/>
          </a:bodyPr>
          <a:lstStyle/>
          <a:p>
            <a:pPr algn="just"/>
            <a:r>
              <a:rPr lang="es-ES" sz="1600" dirty="0"/>
              <a:t>Por el contrario, no son máquinas desnudas, porque incluyen un sistema operativo, las siguientes:</a:t>
            </a:r>
          </a:p>
        </p:txBody>
      </p:sp>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La máquina desnuda</a:t>
            </a:r>
          </a:p>
        </p:txBody>
      </p:sp>
      <p:pic>
        <p:nvPicPr>
          <p:cNvPr id="7172" name="Picture 4" descr="Fotos gratis : Smartphone, tecnología, artilugio, televisión ...">
            <a:extLst>
              <a:ext uri="{FF2B5EF4-FFF2-40B4-BE49-F238E27FC236}">
                <a16:creationId xmlns:a16="http://schemas.microsoft.com/office/drawing/2014/main" id="{E773CDE1-8B44-444E-B90B-1F64F67CDD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8080" y="1919559"/>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Android rediseña su imagen y dice adiós a los nombres de postres ...">
            <a:extLst>
              <a:ext uri="{FF2B5EF4-FFF2-40B4-BE49-F238E27FC236}">
                <a16:creationId xmlns:a16="http://schemas.microsoft.com/office/drawing/2014/main" id="{B8CC2EE6-9485-436B-9F66-36DA3C686D74}"/>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21650" y="3555611"/>
            <a:ext cx="1725237" cy="1210241"/>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descr="Wind River VxWorks: Update/Clarification">
            <a:extLst>
              <a:ext uri="{FF2B5EF4-FFF2-40B4-BE49-F238E27FC236}">
                <a16:creationId xmlns:a16="http://schemas.microsoft.com/office/drawing/2014/main" id="{2D948B9F-ECD6-403E-8C6B-184B1DEF00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59562" y="2346718"/>
            <a:ext cx="2065882" cy="896629"/>
          </a:xfrm>
          <a:prstGeom prst="rect">
            <a:avLst/>
          </a:prstGeom>
          <a:noFill/>
          <a:extLst>
            <a:ext uri="{909E8E84-426E-40DD-AFC4-6F175D3DCCD1}">
              <a14:hiddenFill xmlns:a14="http://schemas.microsoft.com/office/drawing/2010/main">
                <a:solidFill>
                  <a:srgbClr val="FFFFFF"/>
                </a:solidFill>
              </a14:hiddenFill>
            </a:ext>
          </a:extLst>
        </p:spPr>
      </p:pic>
      <p:pic>
        <p:nvPicPr>
          <p:cNvPr id="7180" name="Picture 12" descr="News | Curiosity Says Farewell to Mars' Vera Rubin Ridge">
            <a:extLst>
              <a:ext uri="{FF2B5EF4-FFF2-40B4-BE49-F238E27FC236}">
                <a16:creationId xmlns:a16="http://schemas.microsoft.com/office/drawing/2014/main" id="{BFCE5779-0A91-4926-AAAB-00DE238F924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91502" y="3386551"/>
            <a:ext cx="2150045" cy="1210241"/>
          </a:xfrm>
          <a:prstGeom prst="rect">
            <a:avLst/>
          </a:prstGeom>
          <a:noFill/>
          <a:extLst>
            <a:ext uri="{909E8E84-426E-40DD-AFC4-6F175D3DCCD1}">
              <a14:hiddenFill xmlns:a14="http://schemas.microsoft.com/office/drawing/2010/main">
                <a:solidFill>
                  <a:srgbClr val="FFFFFF"/>
                </a:solidFill>
              </a14:hiddenFill>
            </a:ext>
          </a:extLst>
        </p:spPr>
      </p:pic>
      <p:pic>
        <p:nvPicPr>
          <p:cNvPr id="7182" name="Picture 14">
            <a:extLst>
              <a:ext uri="{FF2B5EF4-FFF2-40B4-BE49-F238E27FC236}">
                <a16:creationId xmlns:a16="http://schemas.microsoft.com/office/drawing/2014/main" id="{3FA9714E-F847-4EAE-93E5-FD2C4AF77C5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905594" y="1817340"/>
            <a:ext cx="1945107" cy="1947511"/>
          </a:xfrm>
          <a:prstGeom prst="rect">
            <a:avLst/>
          </a:prstGeom>
          <a:noFill/>
          <a:extLst>
            <a:ext uri="{909E8E84-426E-40DD-AFC4-6F175D3DCCD1}">
              <a14:hiddenFill xmlns:a14="http://schemas.microsoft.com/office/drawing/2010/main">
                <a:solidFill>
                  <a:srgbClr val="FFFFFF"/>
                </a:solidFill>
              </a14:hiddenFill>
            </a:ext>
          </a:extLst>
        </p:spPr>
      </p:pic>
      <p:pic>
        <p:nvPicPr>
          <p:cNvPr id="7184" name="Picture 16" descr="IOT with FreeRTOS">
            <a:extLst>
              <a:ext uri="{FF2B5EF4-FFF2-40B4-BE49-F238E27FC236}">
                <a16:creationId xmlns:a16="http://schemas.microsoft.com/office/drawing/2014/main" id="{95F449DC-665A-4A95-AA02-9CC43CFCF3C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390275" y="3911680"/>
            <a:ext cx="1171834" cy="448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4867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199" y="228600"/>
            <a:ext cx="7050087" cy="530225"/>
          </a:xfrm>
        </p:spPr>
        <p:txBody>
          <a:bodyPr/>
          <a:lstStyle/>
          <a:p>
            <a:r>
              <a:rPr lang="es-ES" dirty="0"/>
              <a:t>La máquina desnuda</a:t>
            </a:r>
          </a:p>
        </p:txBody>
      </p:sp>
      <p:pic>
        <p:nvPicPr>
          <p:cNvPr id="3" name="Picture 2">
            <a:extLst>
              <a:ext uri="{FF2B5EF4-FFF2-40B4-BE49-F238E27FC236}">
                <a16:creationId xmlns:a16="http://schemas.microsoft.com/office/drawing/2014/main" id="{A25B7E80-BA26-4521-BD34-169308E4E7B2}"/>
              </a:ext>
            </a:extLst>
          </p:cNvPr>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776414" y="1153168"/>
            <a:ext cx="3992889" cy="3603790"/>
          </a:xfrm>
          <a:prstGeom prst="rect">
            <a:avLst/>
          </a:prstGeom>
          <a:noFill/>
          <a:ln w="9525">
            <a:noFill/>
            <a:miter lim="800000"/>
            <a:headEnd/>
            <a:tailEnd/>
          </a:ln>
        </p:spPr>
      </p:pic>
      <p:sp>
        <p:nvSpPr>
          <p:cNvPr id="5" name="CuadroTexto 4">
            <a:extLst>
              <a:ext uri="{FF2B5EF4-FFF2-40B4-BE49-F238E27FC236}">
                <a16:creationId xmlns:a16="http://schemas.microsoft.com/office/drawing/2014/main" id="{B105408D-FF22-4107-9924-58928B8B7725}"/>
              </a:ext>
            </a:extLst>
          </p:cNvPr>
          <p:cNvSpPr txBox="1"/>
          <p:nvPr/>
        </p:nvSpPr>
        <p:spPr>
          <a:xfrm>
            <a:off x="5831149" y="628681"/>
            <a:ext cx="2915937" cy="3624069"/>
          </a:xfrm>
          <a:prstGeom prst="rect">
            <a:avLst/>
          </a:prstGeom>
          <a:noFill/>
        </p:spPr>
        <p:txBody>
          <a:bodyPr wrap="square" rtlCol="0">
            <a:spAutoFit/>
          </a:bodyPr>
          <a:lstStyle/>
          <a:p>
            <a:pPr algn="just"/>
            <a:r>
              <a:rPr lang="es-ES" dirty="0"/>
              <a:t>La máquina desnuda es la arquitectura propuesta por </a:t>
            </a:r>
            <a:r>
              <a:rPr lang="es-ES" dirty="0" err="1"/>
              <a:t>Von</a:t>
            </a:r>
            <a:r>
              <a:rPr lang="es-ES" dirty="0"/>
              <a:t> Neumann.</a:t>
            </a:r>
          </a:p>
          <a:p>
            <a:endParaRPr lang="es-ES" dirty="0"/>
          </a:p>
          <a:p>
            <a:pPr algn="just"/>
            <a:r>
              <a:rPr lang="es-ES" dirty="0"/>
              <a:t>El cerebro del ordenador es la CPU (Central Processing </a:t>
            </a:r>
            <a:r>
              <a:rPr lang="es-ES" dirty="0" err="1"/>
              <a:t>Unit</a:t>
            </a:r>
            <a:r>
              <a:rPr lang="es-ES" dirty="0"/>
              <a:t>) que consta de la unidad aritmético-lógica (ALU), la unidad de control y una serie de registros, de propósito general y de propósito especial.</a:t>
            </a:r>
          </a:p>
          <a:p>
            <a:endParaRPr lang="es-ES" dirty="0"/>
          </a:p>
          <a:p>
            <a:pPr algn="just"/>
            <a:r>
              <a:rPr lang="es-ES" dirty="0"/>
              <a:t>Los programas y datos residen en la memoria. La CPU funciona según un ciclo de lectura, decodificación y ejecución de cada instrucción de código máquina. El contador de programa PC apunta siempre a la siguiente instrucción a ejecutar</a:t>
            </a:r>
          </a:p>
        </p:txBody>
      </p:sp>
      <p:pic>
        <p:nvPicPr>
          <p:cNvPr id="6" name="Imagen 5" descr="Diagrama&#10;&#10;Descripción generada automáticamente">
            <a:extLst>
              <a:ext uri="{FF2B5EF4-FFF2-40B4-BE49-F238E27FC236}">
                <a16:creationId xmlns:a16="http://schemas.microsoft.com/office/drawing/2014/main" id="{FD1B8224-ED21-4AB7-B5F6-82B57328017F}"/>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69900" y="4215396"/>
            <a:ext cx="1137300" cy="874870"/>
          </a:xfrm>
          <a:prstGeom prst="rect">
            <a:avLst/>
          </a:prstGeom>
          <a:noFill/>
          <a:ln>
            <a:noFill/>
          </a:ln>
        </p:spPr>
      </p:pic>
    </p:spTree>
    <p:extLst>
      <p:ext uri="{BB962C8B-B14F-4D97-AF65-F5344CB8AC3E}">
        <p14:creationId xmlns:p14="http://schemas.microsoft.com/office/powerpoint/2010/main" val="2194470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La máquina desnuda</a:t>
            </a:r>
          </a:p>
        </p:txBody>
      </p:sp>
      <p:sp>
        <p:nvSpPr>
          <p:cNvPr id="6" name="Rectangle 25">
            <a:extLst>
              <a:ext uri="{FF2B5EF4-FFF2-40B4-BE49-F238E27FC236}">
                <a16:creationId xmlns:a16="http://schemas.microsoft.com/office/drawing/2014/main" id="{97384053-1C62-4217-AA10-520875EC4593}"/>
              </a:ext>
            </a:extLst>
          </p:cNvPr>
          <p:cNvSpPr/>
          <p:nvPr/>
        </p:nvSpPr>
        <p:spPr>
          <a:xfrm>
            <a:off x="1607474" y="2957170"/>
            <a:ext cx="7392510" cy="738664"/>
          </a:xfrm>
          <a:prstGeom prst="rect">
            <a:avLst/>
          </a:prstGeom>
        </p:spPr>
        <p:txBody>
          <a:bodyPr wrap="square">
            <a:spAutoFit/>
          </a:bodyPr>
          <a:lstStyle/>
          <a:p>
            <a:pPr>
              <a:spcBef>
                <a:spcPts val="600"/>
              </a:spcBef>
            </a:pPr>
            <a:r>
              <a:rPr lang="es-ES" sz="1400" dirty="0"/>
              <a:t>Tiene un PC, un IR (Registro de Instrucción, en el que la Unidad de Control decodifica la instrucción leída de memoria), y un único registro para almacenar datos llamado AC (acumulador).</a:t>
            </a:r>
            <a:br>
              <a:rPr lang="es-ES" sz="1400" dirty="0"/>
            </a:br>
            <a:r>
              <a:rPr lang="es-ES" sz="1400" dirty="0"/>
              <a:t>Las tres primeras operaciones realizables por el procesador son</a:t>
            </a:r>
          </a:p>
        </p:txBody>
      </p:sp>
      <p:sp>
        <p:nvSpPr>
          <p:cNvPr id="7" name="Rectangle 7">
            <a:extLst>
              <a:ext uri="{FF2B5EF4-FFF2-40B4-BE49-F238E27FC236}">
                <a16:creationId xmlns:a16="http://schemas.microsoft.com/office/drawing/2014/main" id="{15CCF6AB-4FDD-4F4F-A492-44AACD874ED9}"/>
              </a:ext>
            </a:extLst>
          </p:cNvPr>
          <p:cNvSpPr/>
          <p:nvPr/>
        </p:nvSpPr>
        <p:spPr>
          <a:xfrm>
            <a:off x="1638767" y="888382"/>
            <a:ext cx="2522713" cy="1892826"/>
          </a:xfrm>
          <a:prstGeom prst="rect">
            <a:avLst/>
          </a:prstGeom>
        </p:spPr>
        <p:txBody>
          <a:bodyPr wrap="square">
            <a:spAutoFit/>
          </a:bodyPr>
          <a:lstStyle/>
          <a:p>
            <a:pPr algn="just">
              <a:spcBef>
                <a:spcPts val="600"/>
              </a:spcBef>
            </a:pPr>
            <a:r>
              <a:rPr lang="es-ES" sz="1400" dirty="0"/>
              <a:t>Tenemos una máquina cuya memoria se organiza en posiciones de 16 bits.</a:t>
            </a:r>
          </a:p>
          <a:p>
            <a:pPr algn="just">
              <a:spcBef>
                <a:spcPts val="600"/>
              </a:spcBef>
            </a:pPr>
            <a:r>
              <a:rPr lang="es-ES" sz="1400" dirty="0"/>
              <a:t>Las instrucciones del lenguaje máquina son de 16 bits. Los 4 de más peso son el código de operación (</a:t>
            </a:r>
            <a:r>
              <a:rPr lang="es-ES" sz="1400" dirty="0" err="1"/>
              <a:t>Codop</a:t>
            </a:r>
            <a:r>
              <a:rPr lang="es-ES" sz="1400" dirty="0"/>
              <a:t>) los 12 restantes la dirección implicada.</a:t>
            </a:r>
          </a:p>
        </p:txBody>
      </p:sp>
      <p:graphicFrame>
        <p:nvGraphicFramePr>
          <p:cNvPr id="8" name="Table 22">
            <a:extLst>
              <a:ext uri="{FF2B5EF4-FFF2-40B4-BE49-F238E27FC236}">
                <a16:creationId xmlns:a16="http://schemas.microsoft.com/office/drawing/2014/main" id="{8B6A133F-9783-45A3-982D-517343AFB602}"/>
              </a:ext>
            </a:extLst>
          </p:cNvPr>
          <p:cNvGraphicFramePr>
            <a:graphicFrameLocks noGrp="1"/>
          </p:cNvGraphicFramePr>
          <p:nvPr>
            <p:extLst>
              <p:ext uri="{D42A27DB-BD31-4B8C-83A1-F6EECF244321}">
                <p14:modId xmlns:p14="http://schemas.microsoft.com/office/powerpoint/2010/main" val="2176550327"/>
              </p:ext>
            </p:extLst>
          </p:nvPr>
        </p:nvGraphicFramePr>
        <p:xfrm>
          <a:off x="1681656" y="3759407"/>
          <a:ext cx="5594724" cy="1280160"/>
        </p:xfrm>
        <a:graphic>
          <a:graphicData uri="http://schemas.openxmlformats.org/drawingml/2006/table">
            <a:tbl>
              <a:tblPr firstRow="1" bandRow="1">
                <a:tableStyleId>{5940675A-B579-460E-94D1-54222C63F5DA}</a:tableStyleId>
              </a:tblPr>
              <a:tblGrid>
                <a:gridCol w="1267361">
                  <a:extLst>
                    <a:ext uri="{9D8B030D-6E8A-4147-A177-3AD203B41FA5}">
                      <a16:colId xmlns:a16="http://schemas.microsoft.com/office/drawing/2014/main" val="20000"/>
                    </a:ext>
                  </a:extLst>
                </a:gridCol>
                <a:gridCol w="1356008">
                  <a:extLst>
                    <a:ext uri="{9D8B030D-6E8A-4147-A177-3AD203B41FA5}">
                      <a16:colId xmlns:a16="http://schemas.microsoft.com/office/drawing/2014/main" val="20001"/>
                    </a:ext>
                  </a:extLst>
                </a:gridCol>
                <a:gridCol w="2971355">
                  <a:extLst>
                    <a:ext uri="{9D8B030D-6E8A-4147-A177-3AD203B41FA5}">
                      <a16:colId xmlns:a16="http://schemas.microsoft.com/office/drawing/2014/main" val="20002"/>
                    </a:ext>
                  </a:extLst>
                </a:gridCol>
              </a:tblGrid>
              <a:tr h="368904">
                <a:tc>
                  <a:txBody>
                    <a:bodyPr/>
                    <a:lstStyle/>
                    <a:p>
                      <a:pPr algn="ctr"/>
                      <a:r>
                        <a:rPr lang="es-ES" sz="1200" b="1" dirty="0"/>
                        <a:t>Código de operación</a:t>
                      </a:r>
                    </a:p>
                  </a:txBody>
                  <a:tcPr>
                    <a:solidFill>
                      <a:schemeClr val="bg1">
                        <a:lumMod val="85000"/>
                      </a:schemeClr>
                    </a:solidFill>
                  </a:tcPr>
                </a:tc>
                <a:tc>
                  <a:txBody>
                    <a:bodyPr/>
                    <a:lstStyle/>
                    <a:p>
                      <a:pPr algn="ctr"/>
                      <a:r>
                        <a:rPr lang="es-ES" sz="1200" b="1" dirty="0" err="1"/>
                        <a:t>Codop</a:t>
                      </a:r>
                      <a:r>
                        <a:rPr lang="es-ES" sz="1200" b="1" dirty="0"/>
                        <a:t> (</a:t>
                      </a:r>
                      <a:r>
                        <a:rPr lang="es-ES" sz="1200" b="1" dirty="0" err="1"/>
                        <a:t>hexa</a:t>
                      </a:r>
                      <a:r>
                        <a:rPr lang="es-ES" sz="1200" b="1" dirty="0"/>
                        <a:t>)</a:t>
                      </a:r>
                    </a:p>
                  </a:txBody>
                  <a:tcPr>
                    <a:solidFill>
                      <a:schemeClr val="bg1">
                        <a:lumMod val="85000"/>
                      </a:schemeClr>
                    </a:solidFill>
                  </a:tcPr>
                </a:tc>
                <a:tc>
                  <a:txBody>
                    <a:bodyPr/>
                    <a:lstStyle/>
                    <a:p>
                      <a:pPr algn="ctr"/>
                      <a:r>
                        <a:rPr lang="es-ES" sz="1200" b="1" dirty="0"/>
                        <a:t>Instrucción</a:t>
                      </a:r>
                      <a:endParaRPr lang="es-ES" sz="1600" b="1" dirty="0"/>
                    </a:p>
                  </a:txBody>
                  <a:tcPr>
                    <a:solidFill>
                      <a:schemeClr val="bg1">
                        <a:lumMod val="85000"/>
                      </a:schemeClr>
                    </a:solidFill>
                  </a:tcPr>
                </a:tc>
                <a:extLst>
                  <a:ext uri="{0D108BD9-81ED-4DB2-BD59-A6C34878D82A}">
                    <a16:rowId xmlns:a16="http://schemas.microsoft.com/office/drawing/2014/main" val="10000"/>
                  </a:ext>
                </a:extLst>
              </a:tr>
              <a:tr h="221342">
                <a:tc>
                  <a:txBody>
                    <a:bodyPr/>
                    <a:lstStyle/>
                    <a:p>
                      <a:pPr algn="ctr"/>
                      <a:r>
                        <a:rPr lang="es-ES" sz="1200" dirty="0"/>
                        <a:t>0001</a:t>
                      </a:r>
                    </a:p>
                  </a:txBody>
                  <a:tcPr/>
                </a:tc>
                <a:tc>
                  <a:txBody>
                    <a:bodyPr/>
                    <a:lstStyle/>
                    <a:p>
                      <a:pPr algn="ctr"/>
                      <a:r>
                        <a:rPr lang="es-ES" sz="1200" dirty="0"/>
                        <a:t>1</a:t>
                      </a:r>
                    </a:p>
                  </a:txBody>
                  <a:tcPr/>
                </a:tc>
                <a:tc>
                  <a:txBody>
                    <a:bodyPr/>
                    <a:lstStyle/>
                    <a:p>
                      <a:pPr algn="ctr"/>
                      <a:r>
                        <a:rPr lang="es-ES" sz="1200" dirty="0"/>
                        <a:t>Cargar AC desde memoria</a:t>
                      </a:r>
                    </a:p>
                  </a:txBody>
                  <a:tcPr/>
                </a:tc>
                <a:extLst>
                  <a:ext uri="{0D108BD9-81ED-4DB2-BD59-A6C34878D82A}">
                    <a16:rowId xmlns:a16="http://schemas.microsoft.com/office/drawing/2014/main" val="10001"/>
                  </a:ext>
                </a:extLst>
              </a:tr>
              <a:tr h="221342">
                <a:tc>
                  <a:txBody>
                    <a:bodyPr/>
                    <a:lstStyle/>
                    <a:p>
                      <a:pPr algn="ctr"/>
                      <a:r>
                        <a:rPr lang="es-ES" sz="1200" dirty="0"/>
                        <a:t>0010</a:t>
                      </a:r>
                    </a:p>
                  </a:txBody>
                  <a:tcPr/>
                </a:tc>
                <a:tc>
                  <a:txBody>
                    <a:bodyPr/>
                    <a:lstStyle/>
                    <a:p>
                      <a:pPr algn="ctr"/>
                      <a:r>
                        <a:rPr lang="es-ES" sz="1200" dirty="0"/>
                        <a:t>2</a:t>
                      </a:r>
                    </a:p>
                  </a:txBody>
                  <a:tcPr/>
                </a:tc>
                <a:tc>
                  <a:txBody>
                    <a:bodyPr/>
                    <a:lstStyle/>
                    <a:p>
                      <a:pPr algn="ctr"/>
                      <a:r>
                        <a:rPr lang="es-ES" sz="1200" dirty="0"/>
                        <a:t>Guardar</a:t>
                      </a:r>
                      <a:r>
                        <a:rPr lang="es-ES" sz="1200" baseline="0" dirty="0"/>
                        <a:t> AC en memoria</a:t>
                      </a:r>
                      <a:endParaRPr lang="es-ES" sz="1200" dirty="0"/>
                    </a:p>
                  </a:txBody>
                  <a:tcPr/>
                </a:tc>
                <a:extLst>
                  <a:ext uri="{0D108BD9-81ED-4DB2-BD59-A6C34878D82A}">
                    <a16:rowId xmlns:a16="http://schemas.microsoft.com/office/drawing/2014/main" val="10002"/>
                  </a:ext>
                </a:extLst>
              </a:tr>
              <a:tr h="221342">
                <a:tc>
                  <a:txBody>
                    <a:bodyPr/>
                    <a:lstStyle/>
                    <a:p>
                      <a:pPr algn="ctr"/>
                      <a:r>
                        <a:rPr lang="es-ES" sz="1200" dirty="0"/>
                        <a:t>0101</a:t>
                      </a:r>
                    </a:p>
                  </a:txBody>
                  <a:tcPr/>
                </a:tc>
                <a:tc>
                  <a:txBody>
                    <a:bodyPr/>
                    <a:lstStyle/>
                    <a:p>
                      <a:pPr algn="ctr"/>
                      <a:r>
                        <a:rPr lang="es-ES" sz="1200" dirty="0"/>
                        <a:t>5</a:t>
                      </a:r>
                    </a:p>
                  </a:txBody>
                  <a:tcPr/>
                </a:tc>
                <a:tc>
                  <a:txBody>
                    <a:bodyPr/>
                    <a:lstStyle/>
                    <a:p>
                      <a:pPr algn="ctr"/>
                      <a:r>
                        <a:rPr lang="es-ES" sz="1200" dirty="0"/>
                        <a:t>Sumar al AC un dato de la memoria</a:t>
                      </a:r>
                    </a:p>
                  </a:txBody>
                  <a:tcPr/>
                </a:tc>
                <a:extLst>
                  <a:ext uri="{0D108BD9-81ED-4DB2-BD59-A6C34878D82A}">
                    <a16:rowId xmlns:a16="http://schemas.microsoft.com/office/drawing/2014/main" val="10003"/>
                  </a:ext>
                </a:extLst>
              </a:tr>
            </a:tbl>
          </a:graphicData>
        </a:graphic>
      </p:graphicFrame>
      <p:graphicFrame>
        <p:nvGraphicFramePr>
          <p:cNvPr id="9" name="Table 26">
            <a:extLst>
              <a:ext uri="{FF2B5EF4-FFF2-40B4-BE49-F238E27FC236}">
                <a16:creationId xmlns:a16="http://schemas.microsoft.com/office/drawing/2014/main" id="{3BE66B8A-6A6C-4DD6-BB79-7664747452A0}"/>
              </a:ext>
            </a:extLst>
          </p:cNvPr>
          <p:cNvGraphicFramePr>
            <a:graphicFrameLocks noGrp="1"/>
          </p:cNvGraphicFramePr>
          <p:nvPr/>
        </p:nvGraphicFramePr>
        <p:xfrm>
          <a:off x="4860032" y="1196752"/>
          <a:ext cx="2088232" cy="1706880"/>
        </p:xfrm>
        <a:graphic>
          <a:graphicData uri="http://schemas.openxmlformats.org/drawingml/2006/table">
            <a:tbl>
              <a:tblPr firstRow="1" bandRow="1">
                <a:tableStyleId>{5940675A-B579-460E-94D1-54222C63F5DA}</a:tableStyleId>
              </a:tblPr>
              <a:tblGrid>
                <a:gridCol w="2088232">
                  <a:extLst>
                    <a:ext uri="{9D8B030D-6E8A-4147-A177-3AD203B41FA5}">
                      <a16:colId xmlns:a16="http://schemas.microsoft.com/office/drawing/2014/main" val="20000"/>
                    </a:ext>
                  </a:extLst>
                </a:gridCol>
              </a:tblGrid>
              <a:tr h="198022">
                <a:tc>
                  <a:txBody>
                    <a:bodyPr/>
                    <a:lstStyle/>
                    <a:p>
                      <a:pPr algn="ctr"/>
                      <a:r>
                        <a:rPr lang="es-ES" sz="1000" dirty="0"/>
                        <a:t>Instrucción</a:t>
                      </a:r>
                    </a:p>
                  </a:txBody>
                  <a:tcPr>
                    <a:solidFill>
                      <a:schemeClr val="bg1"/>
                    </a:solidFill>
                  </a:tcPr>
                </a:tc>
                <a:extLst>
                  <a:ext uri="{0D108BD9-81ED-4DB2-BD59-A6C34878D82A}">
                    <a16:rowId xmlns:a16="http://schemas.microsoft.com/office/drawing/2014/main" val="10000"/>
                  </a:ext>
                </a:extLst>
              </a:tr>
              <a:tr h="198022">
                <a:tc>
                  <a:txBody>
                    <a:bodyPr/>
                    <a:lstStyle/>
                    <a:p>
                      <a:pPr algn="ctr"/>
                      <a:r>
                        <a:rPr lang="es-ES" sz="1000" dirty="0"/>
                        <a:t>Instrucción</a:t>
                      </a:r>
                    </a:p>
                  </a:txBody>
                  <a:tcPr/>
                </a:tc>
                <a:extLst>
                  <a:ext uri="{0D108BD9-81ED-4DB2-BD59-A6C34878D82A}">
                    <a16:rowId xmlns:a16="http://schemas.microsoft.com/office/drawing/2014/main" val="10001"/>
                  </a:ext>
                </a:extLst>
              </a:tr>
              <a:tr h="198022">
                <a:tc>
                  <a:txBody>
                    <a:bodyPr/>
                    <a:lstStyle/>
                    <a:p>
                      <a:pPr algn="ctr"/>
                      <a:r>
                        <a:rPr lang="es-ES" sz="1000" dirty="0"/>
                        <a:t>Instrucción</a:t>
                      </a:r>
                    </a:p>
                  </a:txBody>
                  <a:tcPr/>
                </a:tc>
                <a:extLst>
                  <a:ext uri="{0D108BD9-81ED-4DB2-BD59-A6C34878D82A}">
                    <a16:rowId xmlns:a16="http://schemas.microsoft.com/office/drawing/2014/main" val="10002"/>
                  </a:ext>
                </a:extLst>
              </a:tr>
              <a:tr h="198022">
                <a:tc>
                  <a:txBody>
                    <a:bodyPr/>
                    <a:lstStyle/>
                    <a:p>
                      <a:pPr algn="ctr"/>
                      <a:r>
                        <a:rPr lang="es-ES" sz="1000" dirty="0"/>
                        <a:t>…</a:t>
                      </a:r>
                    </a:p>
                  </a:txBody>
                  <a:tcPr/>
                </a:tc>
                <a:extLst>
                  <a:ext uri="{0D108BD9-81ED-4DB2-BD59-A6C34878D82A}">
                    <a16:rowId xmlns:a16="http://schemas.microsoft.com/office/drawing/2014/main" val="10003"/>
                  </a:ext>
                </a:extLst>
              </a:tr>
              <a:tr h="198022">
                <a:tc>
                  <a:txBody>
                    <a:bodyPr/>
                    <a:lstStyle/>
                    <a:p>
                      <a:pPr algn="ctr"/>
                      <a:r>
                        <a:rPr lang="es-ES" sz="1000" dirty="0"/>
                        <a:t>...</a:t>
                      </a:r>
                    </a:p>
                  </a:txBody>
                  <a:tcPr/>
                </a:tc>
                <a:extLst>
                  <a:ext uri="{0D108BD9-81ED-4DB2-BD59-A6C34878D82A}">
                    <a16:rowId xmlns:a16="http://schemas.microsoft.com/office/drawing/2014/main" val="10004"/>
                  </a:ext>
                </a:extLst>
              </a:tr>
              <a:tr h="198022">
                <a:tc>
                  <a:txBody>
                    <a:bodyPr/>
                    <a:lstStyle/>
                    <a:p>
                      <a:pPr algn="ctr"/>
                      <a:r>
                        <a:rPr lang="es-ES" sz="1000" dirty="0"/>
                        <a:t>Dato</a:t>
                      </a:r>
                    </a:p>
                  </a:txBody>
                  <a:tcPr/>
                </a:tc>
                <a:extLst>
                  <a:ext uri="{0D108BD9-81ED-4DB2-BD59-A6C34878D82A}">
                    <a16:rowId xmlns:a16="http://schemas.microsoft.com/office/drawing/2014/main" val="10005"/>
                  </a:ext>
                </a:extLst>
              </a:tr>
              <a:tr h="198022">
                <a:tc>
                  <a:txBody>
                    <a:bodyPr/>
                    <a:lstStyle/>
                    <a:p>
                      <a:pPr algn="ctr"/>
                      <a:r>
                        <a:rPr lang="es-ES" sz="1000" dirty="0"/>
                        <a:t>Dato</a:t>
                      </a:r>
                    </a:p>
                  </a:txBody>
                  <a:tcPr/>
                </a:tc>
                <a:extLst>
                  <a:ext uri="{0D108BD9-81ED-4DB2-BD59-A6C34878D82A}">
                    <a16:rowId xmlns:a16="http://schemas.microsoft.com/office/drawing/2014/main" val="10006"/>
                  </a:ext>
                </a:extLst>
              </a:tr>
            </a:tbl>
          </a:graphicData>
        </a:graphic>
      </p:graphicFrame>
      <p:sp>
        <p:nvSpPr>
          <p:cNvPr id="10" name="TextBox 27">
            <a:extLst>
              <a:ext uri="{FF2B5EF4-FFF2-40B4-BE49-F238E27FC236}">
                <a16:creationId xmlns:a16="http://schemas.microsoft.com/office/drawing/2014/main" id="{0ED4DED1-B69B-4F5E-9722-26287C7CA571}"/>
              </a:ext>
            </a:extLst>
          </p:cNvPr>
          <p:cNvSpPr txBox="1"/>
          <p:nvPr/>
        </p:nvSpPr>
        <p:spPr>
          <a:xfrm>
            <a:off x="5425651" y="819509"/>
            <a:ext cx="936104" cy="307777"/>
          </a:xfrm>
          <a:prstGeom prst="rect">
            <a:avLst/>
          </a:prstGeom>
          <a:noFill/>
        </p:spPr>
        <p:txBody>
          <a:bodyPr wrap="square" rtlCol="0">
            <a:spAutoFit/>
          </a:bodyPr>
          <a:lstStyle/>
          <a:p>
            <a:pPr algn="ctr"/>
            <a:r>
              <a:rPr lang="es-ES" sz="1400" b="1" dirty="0"/>
              <a:t>memoria</a:t>
            </a:r>
            <a:endParaRPr lang="es-ES" sz="1200" b="1" dirty="0"/>
          </a:p>
        </p:txBody>
      </p:sp>
      <p:sp>
        <p:nvSpPr>
          <p:cNvPr id="11" name="TextBox 28">
            <a:extLst>
              <a:ext uri="{FF2B5EF4-FFF2-40B4-BE49-F238E27FC236}">
                <a16:creationId xmlns:a16="http://schemas.microsoft.com/office/drawing/2014/main" id="{D1437561-23FC-4EFB-BDB3-415DF49285F9}"/>
              </a:ext>
            </a:extLst>
          </p:cNvPr>
          <p:cNvSpPr txBox="1"/>
          <p:nvPr/>
        </p:nvSpPr>
        <p:spPr>
          <a:xfrm>
            <a:off x="4716016" y="908720"/>
            <a:ext cx="216024" cy="307777"/>
          </a:xfrm>
          <a:prstGeom prst="rect">
            <a:avLst/>
          </a:prstGeom>
          <a:noFill/>
        </p:spPr>
        <p:txBody>
          <a:bodyPr wrap="square" rtlCol="0">
            <a:spAutoFit/>
          </a:bodyPr>
          <a:lstStyle/>
          <a:p>
            <a:r>
              <a:rPr lang="es-ES" sz="1400" dirty="0"/>
              <a:t>0</a:t>
            </a:r>
          </a:p>
        </p:txBody>
      </p:sp>
      <p:sp>
        <p:nvSpPr>
          <p:cNvPr id="12" name="TextBox 29">
            <a:extLst>
              <a:ext uri="{FF2B5EF4-FFF2-40B4-BE49-F238E27FC236}">
                <a16:creationId xmlns:a16="http://schemas.microsoft.com/office/drawing/2014/main" id="{B0A080AC-A6B5-4955-9D64-ECFD5B7F40D9}"/>
              </a:ext>
            </a:extLst>
          </p:cNvPr>
          <p:cNvSpPr txBox="1"/>
          <p:nvPr/>
        </p:nvSpPr>
        <p:spPr>
          <a:xfrm>
            <a:off x="6660232" y="908720"/>
            <a:ext cx="447207" cy="307777"/>
          </a:xfrm>
          <a:prstGeom prst="rect">
            <a:avLst/>
          </a:prstGeom>
          <a:noFill/>
        </p:spPr>
        <p:txBody>
          <a:bodyPr wrap="square" rtlCol="0">
            <a:spAutoFit/>
          </a:bodyPr>
          <a:lstStyle/>
          <a:p>
            <a:pPr algn="r"/>
            <a:r>
              <a:rPr lang="es-ES" sz="1400" dirty="0"/>
              <a:t>15</a:t>
            </a:r>
          </a:p>
        </p:txBody>
      </p:sp>
      <p:sp>
        <p:nvSpPr>
          <p:cNvPr id="13" name="TextBox 30">
            <a:extLst>
              <a:ext uri="{FF2B5EF4-FFF2-40B4-BE49-F238E27FC236}">
                <a16:creationId xmlns:a16="http://schemas.microsoft.com/office/drawing/2014/main" id="{047E03B8-C435-4138-9519-6D6F34F1D0E7}"/>
              </a:ext>
            </a:extLst>
          </p:cNvPr>
          <p:cNvSpPr txBox="1"/>
          <p:nvPr/>
        </p:nvSpPr>
        <p:spPr>
          <a:xfrm>
            <a:off x="6966056" y="1164203"/>
            <a:ext cx="720080" cy="1107996"/>
          </a:xfrm>
          <a:prstGeom prst="rect">
            <a:avLst/>
          </a:prstGeom>
          <a:noFill/>
        </p:spPr>
        <p:txBody>
          <a:bodyPr wrap="square" rtlCol="0">
            <a:spAutoFit/>
          </a:bodyPr>
          <a:lstStyle/>
          <a:p>
            <a:r>
              <a:rPr lang="es-ES" sz="1200" dirty="0"/>
              <a:t>300</a:t>
            </a:r>
          </a:p>
          <a:p>
            <a:pPr>
              <a:lnSpc>
                <a:spcPct val="150000"/>
              </a:lnSpc>
            </a:pPr>
            <a:r>
              <a:rPr lang="es-ES" sz="1200" dirty="0"/>
              <a:t>301</a:t>
            </a:r>
          </a:p>
          <a:p>
            <a:pPr>
              <a:lnSpc>
                <a:spcPct val="150000"/>
              </a:lnSpc>
            </a:pPr>
            <a:r>
              <a:rPr lang="es-ES" sz="1200" dirty="0"/>
              <a:t>302</a:t>
            </a:r>
          </a:p>
          <a:p>
            <a:pPr>
              <a:lnSpc>
                <a:spcPct val="150000"/>
              </a:lnSpc>
            </a:pPr>
            <a:r>
              <a:rPr lang="es-ES" sz="1200" dirty="0"/>
              <a:t>…</a:t>
            </a:r>
          </a:p>
        </p:txBody>
      </p:sp>
      <p:sp>
        <p:nvSpPr>
          <p:cNvPr id="14" name="Rectangle 32">
            <a:extLst>
              <a:ext uri="{FF2B5EF4-FFF2-40B4-BE49-F238E27FC236}">
                <a16:creationId xmlns:a16="http://schemas.microsoft.com/office/drawing/2014/main" id="{089282B3-34E6-4BC8-8F7A-67EAC6847CE5}"/>
              </a:ext>
            </a:extLst>
          </p:cNvPr>
          <p:cNvSpPr/>
          <p:nvPr/>
        </p:nvSpPr>
        <p:spPr>
          <a:xfrm>
            <a:off x="6960426" y="2057626"/>
            <a:ext cx="648072" cy="894732"/>
          </a:xfrm>
          <a:prstGeom prst="rect">
            <a:avLst/>
          </a:prstGeom>
        </p:spPr>
        <p:txBody>
          <a:bodyPr wrap="square">
            <a:spAutoFit/>
          </a:bodyPr>
          <a:lstStyle/>
          <a:p>
            <a:pPr>
              <a:lnSpc>
                <a:spcPct val="150000"/>
              </a:lnSpc>
            </a:pPr>
            <a:r>
              <a:rPr lang="es-ES" sz="1200" dirty="0"/>
              <a:t>…</a:t>
            </a:r>
          </a:p>
          <a:p>
            <a:pPr>
              <a:lnSpc>
                <a:spcPct val="150000"/>
              </a:lnSpc>
            </a:pPr>
            <a:r>
              <a:rPr lang="es-ES" sz="1200" dirty="0"/>
              <a:t>940</a:t>
            </a:r>
          </a:p>
          <a:p>
            <a:pPr>
              <a:lnSpc>
                <a:spcPct val="150000"/>
              </a:lnSpc>
            </a:pPr>
            <a:r>
              <a:rPr lang="es-ES" sz="1200" dirty="0"/>
              <a:t>941</a:t>
            </a:r>
          </a:p>
        </p:txBody>
      </p:sp>
      <p:sp>
        <p:nvSpPr>
          <p:cNvPr id="15" name="TextBox 33">
            <a:extLst>
              <a:ext uri="{FF2B5EF4-FFF2-40B4-BE49-F238E27FC236}">
                <a16:creationId xmlns:a16="http://schemas.microsoft.com/office/drawing/2014/main" id="{F50BE54A-55A4-49C6-AF80-51579FDC159D}"/>
              </a:ext>
            </a:extLst>
          </p:cNvPr>
          <p:cNvSpPr txBox="1"/>
          <p:nvPr/>
        </p:nvSpPr>
        <p:spPr>
          <a:xfrm>
            <a:off x="7668344" y="908720"/>
            <a:ext cx="1331640" cy="30777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s-ES" sz="1400" dirty="0"/>
              <a:t>direcciones</a:t>
            </a:r>
          </a:p>
        </p:txBody>
      </p:sp>
      <p:cxnSp>
        <p:nvCxnSpPr>
          <p:cNvPr id="16" name="Straight Arrow Connector 35">
            <a:extLst>
              <a:ext uri="{FF2B5EF4-FFF2-40B4-BE49-F238E27FC236}">
                <a16:creationId xmlns:a16="http://schemas.microsoft.com/office/drawing/2014/main" id="{FDFB0394-C61A-4377-8BB1-FA39F8CE8307}"/>
              </a:ext>
            </a:extLst>
          </p:cNvPr>
          <p:cNvCxnSpPr>
            <a:stCxn id="15" idx="1"/>
          </p:cNvCxnSpPr>
          <p:nvPr/>
        </p:nvCxnSpPr>
        <p:spPr>
          <a:xfrm flipH="1">
            <a:off x="7380312" y="1062609"/>
            <a:ext cx="288032" cy="206151"/>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graphicFrame>
        <p:nvGraphicFramePr>
          <p:cNvPr id="17" name="Table 36">
            <a:extLst>
              <a:ext uri="{FF2B5EF4-FFF2-40B4-BE49-F238E27FC236}">
                <a16:creationId xmlns:a16="http://schemas.microsoft.com/office/drawing/2014/main" id="{ED444D1E-F1F9-453F-AF49-32F6EF397E4C}"/>
              </a:ext>
            </a:extLst>
          </p:cNvPr>
          <p:cNvGraphicFramePr>
            <a:graphicFrameLocks noGrp="1"/>
          </p:cNvGraphicFramePr>
          <p:nvPr>
            <p:extLst>
              <p:ext uri="{D42A27DB-BD31-4B8C-83A1-F6EECF244321}">
                <p14:modId xmlns:p14="http://schemas.microsoft.com/office/powerpoint/2010/main" val="3103791035"/>
              </p:ext>
            </p:extLst>
          </p:nvPr>
        </p:nvGraphicFramePr>
        <p:xfrm>
          <a:off x="7890284" y="4003130"/>
          <a:ext cx="887760" cy="870473"/>
        </p:xfrm>
        <a:graphic>
          <a:graphicData uri="http://schemas.openxmlformats.org/drawingml/2006/table">
            <a:tbl>
              <a:tblPr firstRow="1" bandRow="1">
                <a:tableStyleId>{5940675A-B579-460E-94D1-54222C63F5DA}</a:tableStyleId>
              </a:tblPr>
              <a:tblGrid>
                <a:gridCol w="887760">
                  <a:extLst>
                    <a:ext uri="{9D8B030D-6E8A-4147-A177-3AD203B41FA5}">
                      <a16:colId xmlns:a16="http://schemas.microsoft.com/office/drawing/2014/main" val="20000"/>
                    </a:ext>
                  </a:extLst>
                </a:gridCol>
              </a:tblGrid>
              <a:tr h="261042">
                <a:tc>
                  <a:txBody>
                    <a:bodyPr/>
                    <a:lstStyle/>
                    <a:p>
                      <a:pPr algn="ctr"/>
                      <a:r>
                        <a:rPr lang="es-ES" sz="1200" dirty="0"/>
                        <a:t>1940</a:t>
                      </a:r>
                    </a:p>
                  </a:txBody>
                  <a:tcPr/>
                </a:tc>
                <a:extLst>
                  <a:ext uri="{0D108BD9-81ED-4DB2-BD59-A6C34878D82A}">
                    <a16:rowId xmlns:a16="http://schemas.microsoft.com/office/drawing/2014/main" val="10000"/>
                  </a:ext>
                </a:extLst>
              </a:tr>
              <a:tr h="261042">
                <a:tc>
                  <a:txBody>
                    <a:bodyPr/>
                    <a:lstStyle/>
                    <a:p>
                      <a:pPr algn="ctr"/>
                      <a:r>
                        <a:rPr lang="es-ES" sz="1200" dirty="0"/>
                        <a:t>5941</a:t>
                      </a:r>
                    </a:p>
                  </a:txBody>
                  <a:tcPr/>
                </a:tc>
                <a:extLst>
                  <a:ext uri="{0D108BD9-81ED-4DB2-BD59-A6C34878D82A}">
                    <a16:rowId xmlns:a16="http://schemas.microsoft.com/office/drawing/2014/main" val="10001"/>
                  </a:ext>
                </a:extLst>
              </a:tr>
              <a:tr h="321833">
                <a:tc>
                  <a:txBody>
                    <a:bodyPr/>
                    <a:lstStyle/>
                    <a:p>
                      <a:pPr algn="ctr"/>
                      <a:r>
                        <a:rPr lang="es-ES" sz="1200" dirty="0"/>
                        <a:t>2941</a:t>
                      </a:r>
                    </a:p>
                  </a:txBody>
                  <a:tcPr/>
                </a:tc>
                <a:extLst>
                  <a:ext uri="{0D108BD9-81ED-4DB2-BD59-A6C34878D82A}">
                    <a16:rowId xmlns:a16="http://schemas.microsoft.com/office/drawing/2014/main" val="10002"/>
                  </a:ext>
                </a:extLst>
              </a:tr>
            </a:tbl>
          </a:graphicData>
        </a:graphic>
      </p:graphicFrame>
      <p:sp>
        <p:nvSpPr>
          <p:cNvPr id="2" name="CuadroTexto 1">
            <a:extLst>
              <a:ext uri="{FF2B5EF4-FFF2-40B4-BE49-F238E27FC236}">
                <a16:creationId xmlns:a16="http://schemas.microsoft.com/office/drawing/2014/main" id="{B646BED4-6070-4F62-A0EA-FF63CE11EF9A}"/>
              </a:ext>
            </a:extLst>
          </p:cNvPr>
          <p:cNvSpPr txBox="1"/>
          <p:nvPr/>
        </p:nvSpPr>
        <p:spPr>
          <a:xfrm>
            <a:off x="7894157" y="3693013"/>
            <a:ext cx="906274" cy="307777"/>
          </a:xfrm>
          <a:prstGeom prst="rect">
            <a:avLst/>
          </a:prstGeom>
          <a:noFill/>
        </p:spPr>
        <p:txBody>
          <a:bodyPr wrap="none" rtlCol="0">
            <a:spAutoFit/>
          </a:bodyPr>
          <a:lstStyle/>
          <a:p>
            <a:r>
              <a:rPr lang="es-ES" sz="1400" b="1" dirty="0"/>
              <a:t>Programa</a:t>
            </a:r>
          </a:p>
        </p:txBody>
      </p:sp>
    </p:spTree>
    <p:extLst>
      <p:ext uri="{BB962C8B-B14F-4D97-AF65-F5344CB8AC3E}">
        <p14:creationId xmlns:p14="http://schemas.microsoft.com/office/powerpoint/2010/main" val="3058061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La máquina desnuda</a:t>
            </a:r>
          </a:p>
        </p:txBody>
      </p:sp>
      <p:pic>
        <p:nvPicPr>
          <p:cNvPr id="18" name="Picture 2">
            <a:extLst>
              <a:ext uri="{FF2B5EF4-FFF2-40B4-BE49-F238E27FC236}">
                <a16:creationId xmlns:a16="http://schemas.microsoft.com/office/drawing/2014/main" id="{D6407EDA-98C4-4B1D-A601-AF8FB8B27665}"/>
              </a:ext>
            </a:extLst>
          </p:cNvPr>
          <p:cNvPicPr>
            <a:picLocks noChangeAspect="1" noChangeArrowheads="1"/>
          </p:cNvPicPr>
          <p:nvPr/>
        </p:nvPicPr>
        <p:blipFill rotWithShape="1">
          <a:blip r:embed="rId3" cstate="print"/>
          <a:srcRect t="-6" b="66403"/>
          <a:stretch/>
        </p:blipFill>
        <p:spPr bwMode="auto">
          <a:xfrm>
            <a:off x="2726252" y="1621300"/>
            <a:ext cx="6228184" cy="2124000"/>
          </a:xfrm>
          <a:prstGeom prst="rect">
            <a:avLst/>
          </a:prstGeom>
          <a:noFill/>
          <a:ln w="9525">
            <a:noFill/>
            <a:miter lim="800000"/>
            <a:headEnd/>
            <a:tailEnd/>
          </a:ln>
        </p:spPr>
      </p:pic>
      <p:sp>
        <p:nvSpPr>
          <p:cNvPr id="19" name="Rectangle 4">
            <a:extLst>
              <a:ext uri="{FF2B5EF4-FFF2-40B4-BE49-F238E27FC236}">
                <a16:creationId xmlns:a16="http://schemas.microsoft.com/office/drawing/2014/main" id="{A636FE9A-0C37-4CFB-A844-818E027C3542}"/>
              </a:ext>
            </a:extLst>
          </p:cNvPr>
          <p:cNvSpPr/>
          <p:nvPr/>
        </p:nvSpPr>
        <p:spPr>
          <a:xfrm>
            <a:off x="3145465" y="1915925"/>
            <a:ext cx="1008112" cy="7920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Rectangle 5">
            <a:extLst>
              <a:ext uri="{FF2B5EF4-FFF2-40B4-BE49-F238E27FC236}">
                <a16:creationId xmlns:a16="http://schemas.microsoft.com/office/drawing/2014/main" id="{2B1C1F1D-FA74-4524-906A-3EAA5E45B3C5}"/>
              </a:ext>
            </a:extLst>
          </p:cNvPr>
          <p:cNvSpPr/>
          <p:nvPr/>
        </p:nvSpPr>
        <p:spPr>
          <a:xfrm>
            <a:off x="3145465" y="2852029"/>
            <a:ext cx="1008112" cy="576064"/>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TextBox 6">
            <a:extLst>
              <a:ext uri="{FF2B5EF4-FFF2-40B4-BE49-F238E27FC236}">
                <a16:creationId xmlns:a16="http://schemas.microsoft.com/office/drawing/2014/main" id="{30178B88-BFCB-4559-8656-8FE51E196903}"/>
              </a:ext>
            </a:extLst>
          </p:cNvPr>
          <p:cNvSpPr txBox="1"/>
          <p:nvPr/>
        </p:nvSpPr>
        <p:spPr>
          <a:xfrm>
            <a:off x="1417273" y="2131949"/>
            <a:ext cx="1224136" cy="307777"/>
          </a:xfrm>
          <a:prstGeom prst="rect">
            <a:avLst/>
          </a:prstGeom>
          <a:noFill/>
        </p:spPr>
        <p:txBody>
          <a:bodyPr wrap="square" rtlCol="0">
            <a:spAutoFit/>
          </a:bodyPr>
          <a:lstStyle/>
          <a:p>
            <a:r>
              <a:rPr lang="es-ES" sz="1400" b="1" dirty="0">
                <a:solidFill>
                  <a:srgbClr val="FF0000"/>
                </a:solidFill>
              </a:rPr>
              <a:t>Instrucciones</a:t>
            </a:r>
          </a:p>
        </p:txBody>
      </p:sp>
      <p:sp>
        <p:nvSpPr>
          <p:cNvPr id="22" name="TextBox 7">
            <a:extLst>
              <a:ext uri="{FF2B5EF4-FFF2-40B4-BE49-F238E27FC236}">
                <a16:creationId xmlns:a16="http://schemas.microsoft.com/office/drawing/2014/main" id="{B7255193-1177-4366-9ECD-0851FAB2B6C3}"/>
              </a:ext>
            </a:extLst>
          </p:cNvPr>
          <p:cNvSpPr txBox="1"/>
          <p:nvPr/>
        </p:nvSpPr>
        <p:spPr>
          <a:xfrm>
            <a:off x="1417273" y="2996045"/>
            <a:ext cx="1224136" cy="307777"/>
          </a:xfrm>
          <a:prstGeom prst="rect">
            <a:avLst/>
          </a:prstGeom>
          <a:noFill/>
        </p:spPr>
        <p:txBody>
          <a:bodyPr wrap="square" rtlCol="0">
            <a:spAutoFit/>
          </a:bodyPr>
          <a:lstStyle/>
          <a:p>
            <a:r>
              <a:rPr lang="es-ES" sz="1400" b="1" dirty="0">
                <a:solidFill>
                  <a:schemeClr val="tx2"/>
                </a:solidFill>
              </a:rPr>
              <a:t>Datos</a:t>
            </a:r>
          </a:p>
        </p:txBody>
      </p:sp>
      <p:sp>
        <p:nvSpPr>
          <p:cNvPr id="23" name="TextBox 8">
            <a:extLst>
              <a:ext uri="{FF2B5EF4-FFF2-40B4-BE49-F238E27FC236}">
                <a16:creationId xmlns:a16="http://schemas.microsoft.com/office/drawing/2014/main" id="{7A0B0DCF-C3F0-468A-A795-350CC36B4D4E}"/>
              </a:ext>
            </a:extLst>
          </p:cNvPr>
          <p:cNvSpPr txBox="1"/>
          <p:nvPr/>
        </p:nvSpPr>
        <p:spPr>
          <a:xfrm>
            <a:off x="4441609" y="2924037"/>
            <a:ext cx="3456384"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s-ES" sz="1400" b="1" dirty="0">
                <a:solidFill>
                  <a:schemeClr val="tx1"/>
                </a:solidFill>
              </a:rPr>
              <a:t>El contador de programa se inicia con la dirección donde empieza el programa</a:t>
            </a:r>
          </a:p>
        </p:txBody>
      </p:sp>
      <p:cxnSp>
        <p:nvCxnSpPr>
          <p:cNvPr id="24" name="Straight Arrow Connector 10">
            <a:extLst>
              <a:ext uri="{FF2B5EF4-FFF2-40B4-BE49-F238E27FC236}">
                <a16:creationId xmlns:a16="http://schemas.microsoft.com/office/drawing/2014/main" id="{4A861461-C573-444F-89DD-1E1658B86B4F}"/>
              </a:ext>
            </a:extLst>
          </p:cNvPr>
          <p:cNvCxnSpPr/>
          <p:nvPr/>
        </p:nvCxnSpPr>
        <p:spPr>
          <a:xfrm flipV="1">
            <a:off x="4657633" y="2203957"/>
            <a:ext cx="0" cy="72008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
        <p:nvSpPr>
          <p:cNvPr id="3" name="CuadroTexto 2">
            <a:extLst>
              <a:ext uri="{FF2B5EF4-FFF2-40B4-BE49-F238E27FC236}">
                <a16:creationId xmlns:a16="http://schemas.microsoft.com/office/drawing/2014/main" id="{F331A68B-1ED0-425A-9DE8-82B0E7A994F0}"/>
              </a:ext>
            </a:extLst>
          </p:cNvPr>
          <p:cNvSpPr txBox="1"/>
          <p:nvPr/>
        </p:nvSpPr>
        <p:spPr>
          <a:xfrm>
            <a:off x="3536957" y="4437906"/>
            <a:ext cx="4606774" cy="338554"/>
          </a:xfrm>
          <a:prstGeom prst="rect">
            <a:avLst/>
          </a:prstGeom>
          <a:noFill/>
        </p:spPr>
        <p:txBody>
          <a:bodyPr wrap="none" rtlCol="0">
            <a:spAutoFit/>
          </a:bodyPr>
          <a:lstStyle/>
          <a:p>
            <a:r>
              <a:rPr lang="es-ES" sz="1600" dirty="0"/>
              <a:t>1940  = Cargar en AC el contenido de la dirección 940</a:t>
            </a:r>
          </a:p>
        </p:txBody>
      </p:sp>
    </p:spTree>
    <p:extLst>
      <p:ext uri="{BB962C8B-B14F-4D97-AF65-F5344CB8AC3E}">
        <p14:creationId xmlns:p14="http://schemas.microsoft.com/office/powerpoint/2010/main" val="1604981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La máquina desnuda</a:t>
            </a:r>
          </a:p>
        </p:txBody>
      </p:sp>
      <p:pic>
        <p:nvPicPr>
          <p:cNvPr id="17" name="Picture 2">
            <a:extLst>
              <a:ext uri="{FF2B5EF4-FFF2-40B4-BE49-F238E27FC236}">
                <a16:creationId xmlns:a16="http://schemas.microsoft.com/office/drawing/2014/main" id="{C29F0828-F013-4ABC-B267-501FDCAB948D}"/>
              </a:ext>
            </a:extLst>
          </p:cNvPr>
          <p:cNvPicPr>
            <a:picLocks noChangeAspect="1" noChangeArrowheads="1"/>
          </p:cNvPicPr>
          <p:nvPr/>
        </p:nvPicPr>
        <p:blipFill rotWithShape="1">
          <a:blip r:embed="rId3" cstate="print"/>
          <a:srcRect t="32864" b="33537"/>
          <a:stretch/>
        </p:blipFill>
        <p:spPr bwMode="auto">
          <a:xfrm>
            <a:off x="2028318" y="1433883"/>
            <a:ext cx="6228184" cy="2124000"/>
          </a:xfrm>
          <a:prstGeom prst="rect">
            <a:avLst/>
          </a:prstGeom>
          <a:noFill/>
          <a:ln w="9525">
            <a:noFill/>
            <a:miter lim="800000"/>
            <a:headEnd/>
            <a:tailEnd/>
          </a:ln>
        </p:spPr>
      </p:pic>
      <p:sp>
        <p:nvSpPr>
          <p:cNvPr id="25" name="Oval 8">
            <a:extLst>
              <a:ext uri="{FF2B5EF4-FFF2-40B4-BE49-F238E27FC236}">
                <a16:creationId xmlns:a16="http://schemas.microsoft.com/office/drawing/2014/main" id="{87A2C3D8-31BD-45C9-A90D-6759A17FD621}"/>
              </a:ext>
            </a:extLst>
          </p:cNvPr>
          <p:cNvSpPr/>
          <p:nvPr/>
        </p:nvSpPr>
        <p:spPr>
          <a:xfrm>
            <a:off x="3785143" y="2191734"/>
            <a:ext cx="360040" cy="3600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Oval 9">
            <a:extLst>
              <a:ext uri="{FF2B5EF4-FFF2-40B4-BE49-F238E27FC236}">
                <a16:creationId xmlns:a16="http://schemas.microsoft.com/office/drawing/2014/main" id="{87BE4502-355F-4B4C-81A9-3C67C53A6844}"/>
              </a:ext>
            </a:extLst>
          </p:cNvPr>
          <p:cNvSpPr/>
          <p:nvPr/>
        </p:nvSpPr>
        <p:spPr>
          <a:xfrm>
            <a:off x="4116307" y="2191734"/>
            <a:ext cx="648072" cy="36004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TextBox 10">
            <a:extLst>
              <a:ext uri="{FF2B5EF4-FFF2-40B4-BE49-F238E27FC236}">
                <a16:creationId xmlns:a16="http://schemas.microsoft.com/office/drawing/2014/main" id="{DD8F8C09-DBA8-4652-BB77-F7212BA3045D}"/>
              </a:ext>
            </a:extLst>
          </p:cNvPr>
          <p:cNvSpPr txBox="1"/>
          <p:nvPr/>
        </p:nvSpPr>
        <p:spPr>
          <a:xfrm>
            <a:off x="3542061" y="2521130"/>
            <a:ext cx="648072" cy="307777"/>
          </a:xfrm>
          <a:prstGeom prst="rect">
            <a:avLst/>
          </a:prstGeom>
          <a:noFill/>
        </p:spPr>
        <p:txBody>
          <a:bodyPr wrap="square" rtlCol="0">
            <a:spAutoFit/>
          </a:bodyPr>
          <a:lstStyle/>
          <a:p>
            <a:r>
              <a:rPr lang="es-ES" sz="1400" b="1" dirty="0" err="1">
                <a:solidFill>
                  <a:srgbClr val="FF0000"/>
                </a:solidFill>
              </a:rPr>
              <a:t>codop</a:t>
            </a:r>
            <a:endParaRPr lang="es-ES" b="1" dirty="0">
              <a:solidFill>
                <a:srgbClr val="FF0000"/>
              </a:solidFill>
            </a:endParaRPr>
          </a:p>
        </p:txBody>
      </p:sp>
      <p:sp>
        <p:nvSpPr>
          <p:cNvPr id="28" name="TextBox 12">
            <a:extLst>
              <a:ext uri="{FF2B5EF4-FFF2-40B4-BE49-F238E27FC236}">
                <a16:creationId xmlns:a16="http://schemas.microsoft.com/office/drawing/2014/main" id="{B01DDCED-B37C-4D39-9E73-1DBB6614DB3D}"/>
              </a:ext>
            </a:extLst>
          </p:cNvPr>
          <p:cNvSpPr txBox="1"/>
          <p:nvPr/>
        </p:nvSpPr>
        <p:spPr>
          <a:xfrm>
            <a:off x="4139222" y="2528611"/>
            <a:ext cx="968308" cy="307777"/>
          </a:xfrm>
          <a:prstGeom prst="rect">
            <a:avLst/>
          </a:prstGeom>
          <a:noFill/>
        </p:spPr>
        <p:txBody>
          <a:bodyPr wrap="square" rtlCol="0">
            <a:spAutoFit/>
          </a:bodyPr>
          <a:lstStyle/>
          <a:p>
            <a:r>
              <a:rPr lang="es-ES" sz="1400" b="1" dirty="0">
                <a:solidFill>
                  <a:srgbClr val="00B050"/>
                </a:solidFill>
              </a:rPr>
              <a:t>dirección</a:t>
            </a:r>
            <a:endParaRPr lang="es-ES" b="1" dirty="0">
              <a:solidFill>
                <a:srgbClr val="00B050"/>
              </a:solidFill>
            </a:endParaRPr>
          </a:p>
        </p:txBody>
      </p:sp>
      <p:sp>
        <p:nvSpPr>
          <p:cNvPr id="2" name="CuadroTexto 1">
            <a:extLst>
              <a:ext uri="{FF2B5EF4-FFF2-40B4-BE49-F238E27FC236}">
                <a16:creationId xmlns:a16="http://schemas.microsoft.com/office/drawing/2014/main" id="{2478A146-542C-4D1E-82CC-D8447539AD6B}"/>
              </a:ext>
            </a:extLst>
          </p:cNvPr>
          <p:cNvSpPr txBox="1"/>
          <p:nvPr/>
        </p:nvSpPr>
        <p:spPr>
          <a:xfrm>
            <a:off x="2896634" y="4315734"/>
            <a:ext cx="4491551" cy="338554"/>
          </a:xfrm>
          <a:prstGeom prst="rect">
            <a:avLst/>
          </a:prstGeom>
          <a:noFill/>
        </p:spPr>
        <p:txBody>
          <a:bodyPr wrap="none" rtlCol="0">
            <a:spAutoFit/>
          </a:bodyPr>
          <a:lstStyle/>
          <a:p>
            <a:r>
              <a:rPr lang="es-ES" sz="1600" dirty="0"/>
              <a:t>5941  = Sumar a AC el contenido de la dirección 941</a:t>
            </a:r>
          </a:p>
        </p:txBody>
      </p:sp>
    </p:spTree>
    <p:extLst>
      <p:ext uri="{BB962C8B-B14F-4D97-AF65-F5344CB8AC3E}">
        <p14:creationId xmlns:p14="http://schemas.microsoft.com/office/powerpoint/2010/main" val="2397405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La máquina desnuda</a:t>
            </a:r>
          </a:p>
        </p:txBody>
      </p:sp>
      <p:sp>
        <p:nvSpPr>
          <p:cNvPr id="2" name="CuadroTexto 1">
            <a:extLst>
              <a:ext uri="{FF2B5EF4-FFF2-40B4-BE49-F238E27FC236}">
                <a16:creationId xmlns:a16="http://schemas.microsoft.com/office/drawing/2014/main" id="{2478A146-542C-4D1E-82CC-D8447539AD6B}"/>
              </a:ext>
            </a:extLst>
          </p:cNvPr>
          <p:cNvSpPr txBox="1"/>
          <p:nvPr/>
        </p:nvSpPr>
        <p:spPr>
          <a:xfrm>
            <a:off x="2896634" y="4315734"/>
            <a:ext cx="4750018" cy="338554"/>
          </a:xfrm>
          <a:prstGeom prst="rect">
            <a:avLst/>
          </a:prstGeom>
          <a:noFill/>
        </p:spPr>
        <p:txBody>
          <a:bodyPr wrap="none" rtlCol="0">
            <a:spAutoFit/>
          </a:bodyPr>
          <a:lstStyle/>
          <a:p>
            <a:r>
              <a:rPr lang="es-ES" sz="1600" dirty="0"/>
              <a:t>2941  = Guardar el contenido de AC en la dirección 941</a:t>
            </a:r>
          </a:p>
        </p:txBody>
      </p:sp>
      <p:pic>
        <p:nvPicPr>
          <p:cNvPr id="5" name="Picture 2">
            <a:extLst>
              <a:ext uri="{FF2B5EF4-FFF2-40B4-BE49-F238E27FC236}">
                <a16:creationId xmlns:a16="http://schemas.microsoft.com/office/drawing/2014/main" id="{8BFCCB10-6DC1-4A5C-82C4-632AB8E67AD9}"/>
              </a:ext>
            </a:extLst>
          </p:cNvPr>
          <p:cNvPicPr>
            <a:picLocks noChangeAspect="1" noChangeArrowheads="1"/>
          </p:cNvPicPr>
          <p:nvPr/>
        </p:nvPicPr>
        <p:blipFill rotWithShape="1">
          <a:blip r:embed="rId3" cstate="print"/>
          <a:srcRect t="65901" b="503"/>
          <a:stretch/>
        </p:blipFill>
        <p:spPr bwMode="auto">
          <a:xfrm>
            <a:off x="1876868" y="1594288"/>
            <a:ext cx="6228184" cy="2124000"/>
          </a:xfrm>
          <a:prstGeom prst="rect">
            <a:avLst/>
          </a:prstGeom>
          <a:noFill/>
          <a:ln w="9525">
            <a:noFill/>
            <a:miter lim="800000"/>
            <a:headEnd/>
            <a:tailEnd/>
          </a:ln>
        </p:spPr>
      </p:pic>
      <p:sp>
        <p:nvSpPr>
          <p:cNvPr id="6" name="Oval 8">
            <a:extLst>
              <a:ext uri="{FF2B5EF4-FFF2-40B4-BE49-F238E27FC236}">
                <a16:creationId xmlns:a16="http://schemas.microsoft.com/office/drawing/2014/main" id="{110E43BA-B0FA-4935-A840-7C389C9D5922}"/>
              </a:ext>
            </a:extLst>
          </p:cNvPr>
          <p:cNvSpPr/>
          <p:nvPr/>
        </p:nvSpPr>
        <p:spPr>
          <a:xfrm>
            <a:off x="3633693" y="2346675"/>
            <a:ext cx="360040" cy="3600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Oval 9">
            <a:extLst>
              <a:ext uri="{FF2B5EF4-FFF2-40B4-BE49-F238E27FC236}">
                <a16:creationId xmlns:a16="http://schemas.microsoft.com/office/drawing/2014/main" id="{CEEED87A-2767-4646-901B-687D9A911FA6}"/>
              </a:ext>
            </a:extLst>
          </p:cNvPr>
          <p:cNvSpPr/>
          <p:nvPr/>
        </p:nvSpPr>
        <p:spPr>
          <a:xfrm>
            <a:off x="3964857" y="2346675"/>
            <a:ext cx="648072" cy="36004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TextBox 10">
            <a:extLst>
              <a:ext uri="{FF2B5EF4-FFF2-40B4-BE49-F238E27FC236}">
                <a16:creationId xmlns:a16="http://schemas.microsoft.com/office/drawing/2014/main" id="{65234829-46AF-42E5-9F3E-F03647608532}"/>
              </a:ext>
            </a:extLst>
          </p:cNvPr>
          <p:cNvSpPr txBox="1"/>
          <p:nvPr/>
        </p:nvSpPr>
        <p:spPr>
          <a:xfrm>
            <a:off x="3390611" y="2676071"/>
            <a:ext cx="648072" cy="307777"/>
          </a:xfrm>
          <a:prstGeom prst="rect">
            <a:avLst/>
          </a:prstGeom>
          <a:noFill/>
        </p:spPr>
        <p:txBody>
          <a:bodyPr wrap="square" rtlCol="0">
            <a:spAutoFit/>
          </a:bodyPr>
          <a:lstStyle/>
          <a:p>
            <a:r>
              <a:rPr lang="es-ES" sz="1400" b="1" dirty="0" err="1">
                <a:solidFill>
                  <a:srgbClr val="FF0000"/>
                </a:solidFill>
              </a:rPr>
              <a:t>codop</a:t>
            </a:r>
            <a:endParaRPr lang="es-ES" b="1" dirty="0">
              <a:solidFill>
                <a:srgbClr val="FF0000"/>
              </a:solidFill>
            </a:endParaRPr>
          </a:p>
        </p:txBody>
      </p:sp>
      <p:sp>
        <p:nvSpPr>
          <p:cNvPr id="9" name="TextBox 12">
            <a:extLst>
              <a:ext uri="{FF2B5EF4-FFF2-40B4-BE49-F238E27FC236}">
                <a16:creationId xmlns:a16="http://schemas.microsoft.com/office/drawing/2014/main" id="{D9ED4B9F-8ACA-482E-B06A-7B7C6638F7C7}"/>
              </a:ext>
            </a:extLst>
          </p:cNvPr>
          <p:cNvSpPr txBox="1"/>
          <p:nvPr/>
        </p:nvSpPr>
        <p:spPr>
          <a:xfrm>
            <a:off x="3987772" y="2683552"/>
            <a:ext cx="968308" cy="307777"/>
          </a:xfrm>
          <a:prstGeom prst="rect">
            <a:avLst/>
          </a:prstGeom>
          <a:noFill/>
        </p:spPr>
        <p:txBody>
          <a:bodyPr wrap="square" rtlCol="0">
            <a:spAutoFit/>
          </a:bodyPr>
          <a:lstStyle/>
          <a:p>
            <a:r>
              <a:rPr lang="es-ES" sz="1400" b="1" dirty="0">
                <a:solidFill>
                  <a:srgbClr val="00B050"/>
                </a:solidFill>
              </a:rPr>
              <a:t>dirección</a:t>
            </a:r>
            <a:endParaRPr lang="es-ES" b="1" dirty="0">
              <a:solidFill>
                <a:srgbClr val="00B050"/>
              </a:solidFill>
            </a:endParaRPr>
          </a:p>
        </p:txBody>
      </p:sp>
    </p:spTree>
    <p:extLst>
      <p:ext uri="{BB962C8B-B14F-4D97-AF65-F5344CB8AC3E}">
        <p14:creationId xmlns:p14="http://schemas.microsoft.com/office/powerpoint/2010/main" val="25371145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La máquina desnuda</a:t>
            </a:r>
          </a:p>
        </p:txBody>
      </p:sp>
      <p:sp>
        <p:nvSpPr>
          <p:cNvPr id="5" name="CuadroTexto 4">
            <a:extLst>
              <a:ext uri="{FF2B5EF4-FFF2-40B4-BE49-F238E27FC236}">
                <a16:creationId xmlns:a16="http://schemas.microsoft.com/office/drawing/2014/main" id="{B105408D-FF22-4107-9924-58928B8B7725}"/>
              </a:ext>
            </a:extLst>
          </p:cNvPr>
          <p:cNvSpPr txBox="1"/>
          <p:nvPr/>
        </p:nvSpPr>
        <p:spPr>
          <a:xfrm>
            <a:off x="1776414" y="1178107"/>
            <a:ext cx="7049872" cy="4039567"/>
          </a:xfrm>
          <a:prstGeom prst="rect">
            <a:avLst/>
          </a:prstGeom>
          <a:noFill/>
        </p:spPr>
        <p:txBody>
          <a:bodyPr wrap="square" rtlCol="0">
            <a:spAutoFit/>
          </a:bodyPr>
          <a:lstStyle/>
          <a:p>
            <a:pPr algn="just"/>
            <a:r>
              <a:rPr lang="es-ES" dirty="0"/>
              <a:t>El flujo de ejecución lineal puede alterarse mediante instrucciones de salto o llamadas a subrutina, en cuyo caso se utiliza una zona especial de la memoria (pila o </a:t>
            </a:r>
            <a:r>
              <a:rPr lang="es-ES" dirty="0" err="1"/>
              <a:t>stack</a:t>
            </a:r>
            <a:r>
              <a:rPr lang="es-ES" dirty="0"/>
              <a:t>) para guardar la dirección de la instrucción de retorno y pasar los parámetros. El registro SP (</a:t>
            </a:r>
            <a:r>
              <a:rPr lang="es-ES" dirty="0" err="1"/>
              <a:t>stack</a:t>
            </a:r>
            <a:r>
              <a:rPr lang="es-ES" dirty="0"/>
              <a:t> pointer) guarda la dirección de la última palabra del </a:t>
            </a:r>
            <a:r>
              <a:rPr lang="es-ES" dirty="0" err="1"/>
              <a:t>stack</a:t>
            </a:r>
            <a:r>
              <a:rPr lang="es-ES" dirty="0"/>
              <a:t> utilizada, el </a:t>
            </a:r>
            <a:r>
              <a:rPr lang="es-ES" dirty="0" err="1"/>
              <a:t>stack</a:t>
            </a:r>
            <a:r>
              <a:rPr lang="es-ES" dirty="0"/>
              <a:t> funciona como una LIFO.</a:t>
            </a:r>
          </a:p>
          <a:p>
            <a:pPr algn="just"/>
            <a:endParaRPr lang="es-ES" dirty="0"/>
          </a:p>
          <a:p>
            <a:pPr algn="just"/>
            <a:r>
              <a:rPr lang="es-ES" dirty="0"/>
              <a:t>La relación con el mundo exterior se realiza mediante el módulo de entrada/salida. Los dispositivos de entrada/salida (por ejemplo, un ratón) pueden requerir atención en cualquier momento del programa. Para ello se emplea el mecanismo de interrupción, mediante una señal eléctrica que llega a la CPU. La CPU salva el contexto de la última instrucción, ejecuta la rutina de atención de la interrupción y regresa al punto en el que el programa se interrumpió.</a:t>
            </a:r>
          </a:p>
          <a:p>
            <a:pPr algn="just"/>
            <a:endParaRPr lang="es-ES" dirty="0"/>
          </a:p>
          <a:p>
            <a:pPr algn="just"/>
            <a:r>
              <a:rPr lang="es-ES" dirty="0"/>
              <a:t>La memoria se conecta a la CPU mediante un bus de direcciones, un bus de datos y un bus de control. La velocidad de acceso a la RAM es mucho más lenta que la del acceso a los registros internos de la CPU.</a:t>
            </a:r>
          </a:p>
          <a:p>
            <a:pPr algn="just"/>
            <a:endParaRPr lang="es-ES" dirty="0"/>
          </a:p>
          <a:p>
            <a:pPr algn="just"/>
            <a:r>
              <a:rPr lang="es-ES" dirty="0"/>
              <a:t>En la máquina de </a:t>
            </a:r>
            <a:r>
              <a:rPr lang="es-ES" dirty="0" err="1"/>
              <a:t>von</a:t>
            </a:r>
            <a:r>
              <a:rPr lang="es-ES" dirty="0"/>
              <a:t> Neumann </a:t>
            </a:r>
            <a:r>
              <a:rPr lang="es-ES" b="1" dirty="0"/>
              <a:t>solo se puede ejecutar una instrucción en cada momento</a:t>
            </a:r>
            <a:r>
              <a:rPr lang="es-ES" dirty="0"/>
              <a:t>. Esto es igual en los procesadores modernos, aunque si disponen de varios </a:t>
            </a:r>
            <a:r>
              <a:rPr lang="es-ES" dirty="0" err="1"/>
              <a:t>cores</a:t>
            </a:r>
            <a:r>
              <a:rPr lang="es-ES" dirty="0"/>
              <a:t>, cada uno tendrá su propio hilo de ejecución, pero sigue siendo único por </a:t>
            </a:r>
            <a:r>
              <a:rPr lang="es-ES" dirty="0" err="1"/>
              <a:t>core</a:t>
            </a:r>
            <a:r>
              <a:rPr lang="es-ES" dirty="0"/>
              <a:t>.</a:t>
            </a:r>
          </a:p>
          <a:p>
            <a:pPr algn="just"/>
            <a:endParaRPr lang="es-ES" dirty="0"/>
          </a:p>
        </p:txBody>
      </p:sp>
    </p:spTree>
    <p:extLst>
      <p:ext uri="{BB962C8B-B14F-4D97-AF65-F5344CB8AC3E}">
        <p14:creationId xmlns:p14="http://schemas.microsoft.com/office/powerpoint/2010/main" val="951339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La máquina desnuda</a:t>
            </a:r>
          </a:p>
        </p:txBody>
      </p:sp>
      <p:pic>
        <p:nvPicPr>
          <p:cNvPr id="8194" name="Picture 2" descr="L Break Into Program - ZX Spectrum Memory Map">
            <a:extLst>
              <a:ext uri="{FF2B5EF4-FFF2-40B4-BE49-F238E27FC236}">
                <a16:creationId xmlns:a16="http://schemas.microsoft.com/office/drawing/2014/main" id="{9E00F439-0312-41EC-9A48-D06461ABD4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6608" y="1112520"/>
            <a:ext cx="2781300" cy="1638300"/>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5C318CDD-1DC2-4E62-8475-36A17D4C0EB6}"/>
              </a:ext>
            </a:extLst>
          </p:cNvPr>
          <p:cNvSpPr txBox="1"/>
          <p:nvPr/>
        </p:nvSpPr>
        <p:spPr>
          <a:xfrm>
            <a:off x="6139190" y="3034146"/>
            <a:ext cx="2036135" cy="300082"/>
          </a:xfrm>
          <a:prstGeom prst="rect">
            <a:avLst/>
          </a:prstGeom>
          <a:noFill/>
        </p:spPr>
        <p:txBody>
          <a:bodyPr wrap="none" rtlCol="0">
            <a:spAutoFit/>
          </a:bodyPr>
          <a:lstStyle/>
          <a:p>
            <a:r>
              <a:rPr lang="es-ES" dirty="0"/>
              <a:t>Mapa de memoria del Z80</a:t>
            </a:r>
          </a:p>
        </p:txBody>
      </p:sp>
      <p:sp>
        <p:nvSpPr>
          <p:cNvPr id="3" name="CuadroTexto 2">
            <a:extLst>
              <a:ext uri="{FF2B5EF4-FFF2-40B4-BE49-F238E27FC236}">
                <a16:creationId xmlns:a16="http://schemas.microsoft.com/office/drawing/2014/main" id="{CB3A3CE7-4481-42F3-998D-14986BEA501D}"/>
              </a:ext>
            </a:extLst>
          </p:cNvPr>
          <p:cNvSpPr txBox="1"/>
          <p:nvPr/>
        </p:nvSpPr>
        <p:spPr>
          <a:xfrm>
            <a:off x="1776414" y="1112520"/>
            <a:ext cx="3493855" cy="3624069"/>
          </a:xfrm>
          <a:prstGeom prst="rect">
            <a:avLst/>
          </a:prstGeom>
          <a:noFill/>
        </p:spPr>
        <p:txBody>
          <a:bodyPr wrap="square" rtlCol="0">
            <a:spAutoFit/>
          </a:bodyPr>
          <a:lstStyle/>
          <a:p>
            <a:pPr algn="just"/>
            <a:r>
              <a:rPr lang="es-ES" dirty="0"/>
              <a:t>En una máquina desnuda, se ejecuta un único programa. Al arrancarse o resetearse la CPU el PC apunta a una dirección fija, que depende el modelo de microprocesador, donde se instalaba un programa cargador. Este puede lanzar una misma aplicación siempre, como en aludido reloj digital o arrancar algún menú sencillo para que el usuario decida qué función se ejecuta a continuación</a:t>
            </a:r>
          </a:p>
          <a:p>
            <a:pPr algn="just"/>
            <a:endParaRPr lang="es-ES" dirty="0"/>
          </a:p>
          <a:p>
            <a:pPr algn="just"/>
            <a:r>
              <a:rPr lang="es-ES" dirty="0"/>
              <a:t>El programa iniciador está grabado en un soporte persistente, como ROM o Flash.</a:t>
            </a:r>
          </a:p>
          <a:p>
            <a:pPr algn="just"/>
            <a:endParaRPr lang="es-ES" dirty="0"/>
          </a:p>
          <a:p>
            <a:pPr algn="just"/>
            <a:r>
              <a:rPr lang="es-ES" dirty="0"/>
              <a:t>En los ordenadores primitivos, el programa se cableaba en memoria, el operador introducía manualmente en el contador de programa la dirección de inicio y así se lanzaba la ejecución.</a:t>
            </a:r>
          </a:p>
        </p:txBody>
      </p:sp>
    </p:spTree>
    <p:extLst>
      <p:ext uri="{BB962C8B-B14F-4D97-AF65-F5344CB8AC3E}">
        <p14:creationId xmlns:p14="http://schemas.microsoft.com/office/powerpoint/2010/main" val="2942678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Limitaciones de la máquina desnuda</a:t>
            </a:r>
          </a:p>
        </p:txBody>
      </p:sp>
      <p:sp>
        <p:nvSpPr>
          <p:cNvPr id="3" name="CuadroTexto 2">
            <a:extLst>
              <a:ext uri="{FF2B5EF4-FFF2-40B4-BE49-F238E27FC236}">
                <a16:creationId xmlns:a16="http://schemas.microsoft.com/office/drawing/2014/main" id="{CB3A3CE7-4481-42F3-998D-14986BEA501D}"/>
              </a:ext>
            </a:extLst>
          </p:cNvPr>
          <p:cNvSpPr txBox="1"/>
          <p:nvPr/>
        </p:nvSpPr>
        <p:spPr>
          <a:xfrm>
            <a:off x="3717712" y="1020872"/>
            <a:ext cx="3493855" cy="300082"/>
          </a:xfrm>
          <a:prstGeom prst="rect">
            <a:avLst/>
          </a:prstGeom>
          <a:noFill/>
        </p:spPr>
        <p:txBody>
          <a:bodyPr wrap="square" rtlCol="0">
            <a:spAutoFit/>
          </a:bodyPr>
          <a:lstStyle/>
          <a:p>
            <a:pPr algn="just"/>
            <a:r>
              <a:rPr lang="es-ES" b="1" dirty="0">
                <a:solidFill>
                  <a:schemeClr val="accent5">
                    <a:lumMod val="75000"/>
                  </a:schemeClr>
                </a:solidFill>
              </a:rPr>
              <a:t>Ineficiente gestión de los recursos</a:t>
            </a:r>
          </a:p>
        </p:txBody>
      </p:sp>
      <p:pic>
        <p:nvPicPr>
          <p:cNvPr id="9218" name="Picture 2" descr="Clock, 30 min, wait, countdown, plan - free image from needpix.com">
            <a:extLst>
              <a:ext uri="{FF2B5EF4-FFF2-40B4-BE49-F238E27FC236}">
                <a16:creationId xmlns:a16="http://schemas.microsoft.com/office/drawing/2014/main" id="{E9549BCD-8B3E-4A64-8E1C-A59057811C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4169" y="840953"/>
            <a:ext cx="1594796" cy="1594796"/>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61EB4C4E-FFB4-44F9-96FF-8F5AA0E3D0A2}"/>
              </a:ext>
            </a:extLst>
          </p:cNvPr>
          <p:cNvSpPr txBox="1"/>
          <p:nvPr/>
        </p:nvSpPr>
        <p:spPr>
          <a:xfrm>
            <a:off x="2744798" y="1408811"/>
            <a:ext cx="3654402" cy="715581"/>
          </a:xfrm>
          <a:prstGeom prst="rect">
            <a:avLst/>
          </a:prstGeom>
          <a:noFill/>
        </p:spPr>
        <p:txBody>
          <a:bodyPr wrap="square" rtlCol="0">
            <a:spAutoFit/>
          </a:bodyPr>
          <a:lstStyle/>
          <a:p>
            <a:pPr algn="r"/>
            <a:r>
              <a:rPr lang="es-ES" dirty="0"/>
              <a:t>Cuando se lanza una instrucción bloqueante,</a:t>
            </a:r>
          </a:p>
          <a:p>
            <a:pPr algn="r"/>
            <a:r>
              <a:rPr lang="es-ES" dirty="0"/>
              <a:t>por ejemplo </a:t>
            </a:r>
            <a:r>
              <a:rPr lang="es-ES" sz="1100" dirty="0" err="1">
                <a:latin typeface="Lucida Sans Typewriter" panose="020B0509030504030204" pitchFamily="49" charset="0"/>
              </a:rPr>
              <a:t>scanf</a:t>
            </a:r>
            <a:r>
              <a:rPr lang="es-ES" sz="1100" dirty="0">
                <a:latin typeface="Lucida Sans Typewriter" panose="020B0509030504030204" pitchFamily="49" charset="0"/>
              </a:rPr>
              <a:t>()</a:t>
            </a:r>
            <a:r>
              <a:rPr lang="es-ES" dirty="0"/>
              <a:t>, la CPU queda ociosa cuando podría atender a otros programas</a:t>
            </a:r>
          </a:p>
        </p:txBody>
      </p:sp>
      <p:sp>
        <p:nvSpPr>
          <p:cNvPr id="6" name="CuadroTexto 5">
            <a:extLst>
              <a:ext uri="{FF2B5EF4-FFF2-40B4-BE49-F238E27FC236}">
                <a16:creationId xmlns:a16="http://schemas.microsoft.com/office/drawing/2014/main" id="{F2BD03C5-A30A-4314-8F3A-16222DE49355}"/>
              </a:ext>
            </a:extLst>
          </p:cNvPr>
          <p:cNvSpPr txBox="1"/>
          <p:nvPr/>
        </p:nvSpPr>
        <p:spPr>
          <a:xfrm>
            <a:off x="2825072" y="2614697"/>
            <a:ext cx="3493855" cy="300082"/>
          </a:xfrm>
          <a:prstGeom prst="rect">
            <a:avLst/>
          </a:prstGeom>
          <a:noFill/>
        </p:spPr>
        <p:txBody>
          <a:bodyPr wrap="square" rtlCol="0">
            <a:spAutoFit/>
          </a:bodyPr>
          <a:lstStyle/>
          <a:p>
            <a:pPr algn="just"/>
            <a:r>
              <a:rPr lang="es-ES" b="1" dirty="0">
                <a:solidFill>
                  <a:schemeClr val="accent5">
                    <a:lumMod val="75000"/>
                  </a:schemeClr>
                </a:solidFill>
              </a:rPr>
              <a:t>Seguridad</a:t>
            </a:r>
          </a:p>
        </p:txBody>
      </p:sp>
      <p:sp>
        <p:nvSpPr>
          <p:cNvPr id="8" name="CuadroTexto 7">
            <a:extLst>
              <a:ext uri="{FF2B5EF4-FFF2-40B4-BE49-F238E27FC236}">
                <a16:creationId xmlns:a16="http://schemas.microsoft.com/office/drawing/2014/main" id="{E2087084-12EE-43CE-A00D-A2E7157D285F}"/>
              </a:ext>
            </a:extLst>
          </p:cNvPr>
          <p:cNvSpPr txBox="1"/>
          <p:nvPr/>
        </p:nvSpPr>
        <p:spPr>
          <a:xfrm>
            <a:off x="1333235" y="2989585"/>
            <a:ext cx="3654402" cy="715581"/>
          </a:xfrm>
          <a:prstGeom prst="rect">
            <a:avLst/>
          </a:prstGeom>
          <a:noFill/>
        </p:spPr>
        <p:txBody>
          <a:bodyPr wrap="square" rtlCol="0">
            <a:spAutoFit/>
          </a:bodyPr>
          <a:lstStyle/>
          <a:p>
            <a:pPr algn="ctr"/>
            <a:r>
              <a:rPr lang="es-ES" dirty="0"/>
              <a:t>El programa de usuario puede acceder a cualquier recurso de la máquina y la posibilidad de </a:t>
            </a:r>
            <a:r>
              <a:rPr lang="es-ES" i="1" dirty="0" err="1"/>
              <a:t>crash</a:t>
            </a:r>
            <a:r>
              <a:rPr lang="es-ES" dirty="0"/>
              <a:t> es muy alta. No hay protección</a:t>
            </a:r>
          </a:p>
        </p:txBody>
      </p:sp>
      <p:sp>
        <p:nvSpPr>
          <p:cNvPr id="10" name="CuadroTexto 9">
            <a:extLst>
              <a:ext uri="{FF2B5EF4-FFF2-40B4-BE49-F238E27FC236}">
                <a16:creationId xmlns:a16="http://schemas.microsoft.com/office/drawing/2014/main" id="{8D45E01E-98D3-4722-BF5D-DDEB7767CE12}"/>
              </a:ext>
            </a:extLst>
          </p:cNvPr>
          <p:cNvSpPr txBox="1"/>
          <p:nvPr/>
        </p:nvSpPr>
        <p:spPr>
          <a:xfrm>
            <a:off x="6112518" y="2614697"/>
            <a:ext cx="3493855" cy="300082"/>
          </a:xfrm>
          <a:prstGeom prst="rect">
            <a:avLst/>
          </a:prstGeom>
          <a:noFill/>
        </p:spPr>
        <p:txBody>
          <a:bodyPr wrap="square" rtlCol="0">
            <a:spAutoFit/>
          </a:bodyPr>
          <a:lstStyle/>
          <a:p>
            <a:pPr algn="just"/>
            <a:r>
              <a:rPr lang="es-ES" b="1" dirty="0">
                <a:solidFill>
                  <a:schemeClr val="accent5">
                    <a:lumMod val="75000"/>
                  </a:schemeClr>
                </a:solidFill>
              </a:rPr>
              <a:t>Nula abstracción</a:t>
            </a:r>
          </a:p>
        </p:txBody>
      </p:sp>
      <p:sp>
        <p:nvSpPr>
          <p:cNvPr id="12" name="CuadroTexto 11">
            <a:extLst>
              <a:ext uri="{FF2B5EF4-FFF2-40B4-BE49-F238E27FC236}">
                <a16:creationId xmlns:a16="http://schemas.microsoft.com/office/drawing/2014/main" id="{1DD2F4E3-3C18-49F2-AEB4-954E34B30B62}"/>
              </a:ext>
            </a:extLst>
          </p:cNvPr>
          <p:cNvSpPr txBox="1"/>
          <p:nvPr/>
        </p:nvSpPr>
        <p:spPr>
          <a:xfrm>
            <a:off x="4987637" y="2982673"/>
            <a:ext cx="3555222" cy="715581"/>
          </a:xfrm>
          <a:prstGeom prst="rect">
            <a:avLst/>
          </a:prstGeom>
          <a:noFill/>
        </p:spPr>
        <p:txBody>
          <a:bodyPr wrap="square" rtlCol="0">
            <a:spAutoFit/>
          </a:bodyPr>
          <a:lstStyle/>
          <a:p>
            <a:pPr algn="ctr"/>
            <a:r>
              <a:rPr lang="es-ES" dirty="0"/>
              <a:t>Obliga al usuario a conocer los detalles del hardware y acopla el SW de forma extraordinaria al HW de la máquina</a:t>
            </a:r>
          </a:p>
        </p:txBody>
      </p:sp>
      <p:pic>
        <p:nvPicPr>
          <p:cNvPr id="16" name="Imagen 15" descr="Captura de pantalla de un celular&#10;&#10;Descripción generada automáticamente">
            <a:extLst>
              <a:ext uri="{FF2B5EF4-FFF2-40B4-BE49-F238E27FC236}">
                <a16:creationId xmlns:a16="http://schemas.microsoft.com/office/drawing/2014/main" id="{EE0F48F1-411C-497E-AA3C-14D7C32811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11091" y="3837210"/>
            <a:ext cx="3485305" cy="1034700"/>
          </a:xfrm>
          <a:prstGeom prst="rect">
            <a:avLst/>
          </a:prstGeom>
        </p:spPr>
      </p:pic>
    </p:spTree>
    <p:extLst>
      <p:ext uri="{BB962C8B-B14F-4D97-AF65-F5344CB8AC3E}">
        <p14:creationId xmlns:p14="http://schemas.microsoft.com/office/powerpoint/2010/main" val="19232103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Recursos del ordenador</a:t>
            </a:r>
          </a:p>
        </p:txBody>
      </p:sp>
      <p:sp>
        <p:nvSpPr>
          <p:cNvPr id="8" name="CuadroTexto 7">
            <a:extLst>
              <a:ext uri="{FF2B5EF4-FFF2-40B4-BE49-F238E27FC236}">
                <a16:creationId xmlns:a16="http://schemas.microsoft.com/office/drawing/2014/main" id="{E2087084-12EE-43CE-A00D-A2E7157D285F}"/>
              </a:ext>
            </a:extLst>
          </p:cNvPr>
          <p:cNvSpPr txBox="1"/>
          <p:nvPr/>
        </p:nvSpPr>
        <p:spPr>
          <a:xfrm>
            <a:off x="1776414" y="1044407"/>
            <a:ext cx="6760757" cy="507831"/>
          </a:xfrm>
          <a:prstGeom prst="rect">
            <a:avLst/>
          </a:prstGeom>
          <a:noFill/>
        </p:spPr>
        <p:txBody>
          <a:bodyPr wrap="square" rtlCol="0">
            <a:spAutoFit/>
          </a:bodyPr>
          <a:lstStyle/>
          <a:p>
            <a:r>
              <a:rPr lang="es-ES" dirty="0"/>
              <a:t>El Sistema Operativo consigue que cada proceso (programa) funcione como si tuviese una máquina entera a su disposición (Lección 3)</a:t>
            </a:r>
          </a:p>
        </p:txBody>
      </p:sp>
      <p:pic>
        <p:nvPicPr>
          <p:cNvPr id="10242" name="Picture 2">
            <a:extLst>
              <a:ext uri="{FF2B5EF4-FFF2-40B4-BE49-F238E27FC236}">
                <a16:creationId xmlns:a16="http://schemas.microsoft.com/office/drawing/2014/main" id="{8DA1C1C1-01B9-470A-A396-52E97C98B9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6792" y="2232713"/>
            <a:ext cx="2924175" cy="2124075"/>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3AE36B3D-6130-49A1-801F-B749F55764DD}"/>
              </a:ext>
            </a:extLst>
          </p:cNvPr>
          <p:cNvSpPr txBox="1"/>
          <p:nvPr/>
        </p:nvSpPr>
        <p:spPr>
          <a:xfrm>
            <a:off x="2477192" y="2232713"/>
            <a:ext cx="2402837" cy="507831"/>
          </a:xfrm>
          <a:prstGeom prst="rect">
            <a:avLst/>
          </a:prstGeom>
          <a:noFill/>
        </p:spPr>
        <p:txBody>
          <a:bodyPr wrap="none" rtlCol="0">
            <a:spAutoFit/>
          </a:bodyPr>
          <a:lstStyle/>
          <a:p>
            <a:r>
              <a:rPr lang="es-ES" dirty="0"/>
              <a:t>A. Repartiendo el uso de la CPU</a:t>
            </a:r>
          </a:p>
          <a:p>
            <a:r>
              <a:rPr lang="es-ES" dirty="0"/>
              <a:t>(</a:t>
            </a:r>
            <a:r>
              <a:rPr lang="es-ES" i="1" dirty="0" err="1"/>
              <a:t>scheduling</a:t>
            </a:r>
            <a:r>
              <a:rPr lang="es-ES" dirty="0"/>
              <a:t>)</a:t>
            </a:r>
          </a:p>
        </p:txBody>
      </p:sp>
    </p:spTree>
    <p:extLst>
      <p:ext uri="{BB962C8B-B14F-4D97-AF65-F5344CB8AC3E}">
        <p14:creationId xmlns:p14="http://schemas.microsoft.com/office/powerpoint/2010/main" val="600747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Recursos del ordenador</a:t>
            </a:r>
          </a:p>
        </p:txBody>
      </p:sp>
      <p:sp>
        <p:nvSpPr>
          <p:cNvPr id="8" name="CuadroTexto 7">
            <a:extLst>
              <a:ext uri="{FF2B5EF4-FFF2-40B4-BE49-F238E27FC236}">
                <a16:creationId xmlns:a16="http://schemas.microsoft.com/office/drawing/2014/main" id="{E2087084-12EE-43CE-A00D-A2E7157D285F}"/>
              </a:ext>
            </a:extLst>
          </p:cNvPr>
          <p:cNvSpPr txBox="1"/>
          <p:nvPr/>
        </p:nvSpPr>
        <p:spPr>
          <a:xfrm>
            <a:off x="1776414" y="1044407"/>
            <a:ext cx="6760757" cy="507831"/>
          </a:xfrm>
          <a:prstGeom prst="rect">
            <a:avLst/>
          </a:prstGeom>
          <a:noFill/>
        </p:spPr>
        <p:txBody>
          <a:bodyPr wrap="square" rtlCol="0">
            <a:spAutoFit/>
          </a:bodyPr>
          <a:lstStyle/>
          <a:p>
            <a:r>
              <a:rPr lang="es-ES" dirty="0"/>
              <a:t>Cuando el sistema tiene múltiples </a:t>
            </a:r>
            <a:r>
              <a:rPr lang="es-ES" dirty="0" err="1"/>
              <a:t>cores</a:t>
            </a:r>
            <a:r>
              <a:rPr lang="es-ES" dirty="0"/>
              <a:t> cada uno puede atender una secuencia independiente de programas, pero solo uno por </a:t>
            </a:r>
            <a:r>
              <a:rPr lang="es-ES" dirty="0" err="1"/>
              <a:t>core</a:t>
            </a:r>
            <a:r>
              <a:rPr lang="es-ES" dirty="0"/>
              <a:t> en cada instante</a:t>
            </a:r>
          </a:p>
        </p:txBody>
      </p:sp>
      <p:sp>
        <p:nvSpPr>
          <p:cNvPr id="3" name="Rectángulo 2">
            <a:extLst>
              <a:ext uri="{FF2B5EF4-FFF2-40B4-BE49-F238E27FC236}">
                <a16:creationId xmlns:a16="http://schemas.microsoft.com/office/drawing/2014/main" id="{15612817-C487-41EE-B617-075745A9FF7D}"/>
              </a:ext>
            </a:extLst>
          </p:cNvPr>
          <p:cNvSpPr/>
          <p:nvPr/>
        </p:nvSpPr>
        <p:spPr>
          <a:xfrm>
            <a:off x="1881352" y="1954924"/>
            <a:ext cx="987972" cy="8408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dirty="0"/>
              <a:t>Core 1</a:t>
            </a:r>
          </a:p>
        </p:txBody>
      </p:sp>
      <p:sp>
        <p:nvSpPr>
          <p:cNvPr id="5" name="Rectángulo 4">
            <a:extLst>
              <a:ext uri="{FF2B5EF4-FFF2-40B4-BE49-F238E27FC236}">
                <a16:creationId xmlns:a16="http://schemas.microsoft.com/office/drawing/2014/main" id="{E45342BB-FE74-487D-97DA-E85DC839D15D}"/>
              </a:ext>
            </a:extLst>
          </p:cNvPr>
          <p:cNvSpPr/>
          <p:nvPr/>
        </p:nvSpPr>
        <p:spPr>
          <a:xfrm>
            <a:off x="1881352" y="3258265"/>
            <a:ext cx="987972" cy="84082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dirty="0"/>
              <a:t>Core 2</a:t>
            </a:r>
          </a:p>
        </p:txBody>
      </p:sp>
      <p:sp>
        <p:nvSpPr>
          <p:cNvPr id="6" name="Rectángulo 5">
            <a:extLst>
              <a:ext uri="{FF2B5EF4-FFF2-40B4-BE49-F238E27FC236}">
                <a16:creationId xmlns:a16="http://schemas.microsoft.com/office/drawing/2014/main" id="{F98DE2E9-75DA-4BB5-884D-565778CD8633}"/>
              </a:ext>
            </a:extLst>
          </p:cNvPr>
          <p:cNvSpPr/>
          <p:nvPr/>
        </p:nvSpPr>
        <p:spPr>
          <a:xfrm>
            <a:off x="3499945" y="2102069"/>
            <a:ext cx="483476" cy="2942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P2</a:t>
            </a:r>
          </a:p>
        </p:txBody>
      </p:sp>
      <p:sp>
        <p:nvSpPr>
          <p:cNvPr id="9" name="Rectángulo 8">
            <a:extLst>
              <a:ext uri="{FF2B5EF4-FFF2-40B4-BE49-F238E27FC236}">
                <a16:creationId xmlns:a16="http://schemas.microsoft.com/office/drawing/2014/main" id="{2520EF20-E4B8-422F-AD8F-35717EA6FFA4}"/>
              </a:ext>
            </a:extLst>
          </p:cNvPr>
          <p:cNvSpPr/>
          <p:nvPr/>
        </p:nvSpPr>
        <p:spPr>
          <a:xfrm>
            <a:off x="3983420" y="2102069"/>
            <a:ext cx="1439917" cy="29429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P8</a:t>
            </a:r>
          </a:p>
        </p:txBody>
      </p:sp>
      <p:sp>
        <p:nvSpPr>
          <p:cNvPr id="11" name="Rectángulo 10">
            <a:extLst>
              <a:ext uri="{FF2B5EF4-FFF2-40B4-BE49-F238E27FC236}">
                <a16:creationId xmlns:a16="http://schemas.microsoft.com/office/drawing/2014/main" id="{E3E3F5CE-0BB4-4C37-BF4A-83F15CA61019}"/>
              </a:ext>
            </a:extLst>
          </p:cNvPr>
          <p:cNvSpPr/>
          <p:nvPr/>
        </p:nvSpPr>
        <p:spPr>
          <a:xfrm>
            <a:off x="3457906" y="3384389"/>
            <a:ext cx="987972" cy="294290"/>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P1</a:t>
            </a:r>
          </a:p>
        </p:txBody>
      </p:sp>
      <p:sp>
        <p:nvSpPr>
          <p:cNvPr id="13" name="Rectángulo 12">
            <a:extLst>
              <a:ext uri="{FF2B5EF4-FFF2-40B4-BE49-F238E27FC236}">
                <a16:creationId xmlns:a16="http://schemas.microsoft.com/office/drawing/2014/main" id="{20733D9F-39AB-430C-A486-73D3754FFDF4}"/>
              </a:ext>
            </a:extLst>
          </p:cNvPr>
          <p:cNvSpPr/>
          <p:nvPr/>
        </p:nvSpPr>
        <p:spPr>
          <a:xfrm>
            <a:off x="5423337" y="2102069"/>
            <a:ext cx="483476" cy="2942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P2</a:t>
            </a:r>
          </a:p>
        </p:txBody>
      </p:sp>
      <p:sp>
        <p:nvSpPr>
          <p:cNvPr id="15" name="Rectángulo 14">
            <a:extLst>
              <a:ext uri="{FF2B5EF4-FFF2-40B4-BE49-F238E27FC236}">
                <a16:creationId xmlns:a16="http://schemas.microsoft.com/office/drawing/2014/main" id="{173425A9-74C2-42E5-85BC-B7E647E3F110}"/>
              </a:ext>
            </a:extLst>
          </p:cNvPr>
          <p:cNvSpPr/>
          <p:nvPr/>
        </p:nvSpPr>
        <p:spPr>
          <a:xfrm>
            <a:off x="5906812" y="2102069"/>
            <a:ext cx="1355835" cy="29429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P3</a:t>
            </a:r>
          </a:p>
        </p:txBody>
      </p:sp>
      <p:sp>
        <p:nvSpPr>
          <p:cNvPr id="17" name="Rectángulo 16">
            <a:extLst>
              <a:ext uri="{FF2B5EF4-FFF2-40B4-BE49-F238E27FC236}">
                <a16:creationId xmlns:a16="http://schemas.microsoft.com/office/drawing/2014/main" id="{4D9DB820-36AE-4846-99BA-DABDE5892B4E}"/>
              </a:ext>
            </a:extLst>
          </p:cNvPr>
          <p:cNvSpPr/>
          <p:nvPr/>
        </p:nvSpPr>
        <p:spPr>
          <a:xfrm>
            <a:off x="4436834" y="3384389"/>
            <a:ext cx="828850" cy="29429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P4</a:t>
            </a:r>
          </a:p>
        </p:txBody>
      </p:sp>
      <p:sp>
        <p:nvSpPr>
          <p:cNvPr id="19" name="Rectángulo 18">
            <a:extLst>
              <a:ext uri="{FF2B5EF4-FFF2-40B4-BE49-F238E27FC236}">
                <a16:creationId xmlns:a16="http://schemas.microsoft.com/office/drawing/2014/main" id="{55278FBD-68E4-4677-9A41-B757A8B3CBB9}"/>
              </a:ext>
            </a:extLst>
          </p:cNvPr>
          <p:cNvSpPr/>
          <p:nvPr/>
        </p:nvSpPr>
        <p:spPr>
          <a:xfrm>
            <a:off x="5250650" y="3384389"/>
            <a:ext cx="656162" cy="29429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P5</a:t>
            </a:r>
          </a:p>
        </p:txBody>
      </p:sp>
      <p:sp>
        <p:nvSpPr>
          <p:cNvPr id="21" name="Rectángulo 20">
            <a:extLst>
              <a:ext uri="{FF2B5EF4-FFF2-40B4-BE49-F238E27FC236}">
                <a16:creationId xmlns:a16="http://schemas.microsoft.com/office/drawing/2014/main" id="{3767750B-72CE-49BF-8141-3C5A05508739}"/>
              </a:ext>
            </a:extLst>
          </p:cNvPr>
          <p:cNvSpPr/>
          <p:nvPr/>
        </p:nvSpPr>
        <p:spPr>
          <a:xfrm>
            <a:off x="5904488" y="3384389"/>
            <a:ext cx="1355835" cy="29429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P4</a:t>
            </a:r>
          </a:p>
        </p:txBody>
      </p:sp>
      <p:sp>
        <p:nvSpPr>
          <p:cNvPr id="23" name="CuadroTexto 22">
            <a:extLst>
              <a:ext uri="{FF2B5EF4-FFF2-40B4-BE49-F238E27FC236}">
                <a16:creationId xmlns:a16="http://schemas.microsoft.com/office/drawing/2014/main" id="{C3D750ED-68EE-4338-BD37-6365B1C06499}"/>
              </a:ext>
            </a:extLst>
          </p:cNvPr>
          <p:cNvSpPr txBox="1"/>
          <p:nvPr/>
        </p:nvSpPr>
        <p:spPr>
          <a:xfrm>
            <a:off x="1755393" y="4307690"/>
            <a:ext cx="6760757" cy="507831"/>
          </a:xfrm>
          <a:prstGeom prst="rect">
            <a:avLst/>
          </a:prstGeom>
          <a:noFill/>
        </p:spPr>
        <p:txBody>
          <a:bodyPr wrap="square" rtlCol="0">
            <a:spAutoFit/>
          </a:bodyPr>
          <a:lstStyle/>
          <a:p>
            <a:r>
              <a:rPr lang="es-ES" dirty="0"/>
              <a:t>La planificación puede ser independiente por </a:t>
            </a:r>
            <a:r>
              <a:rPr lang="es-ES" dirty="0" err="1"/>
              <a:t>core</a:t>
            </a:r>
            <a:r>
              <a:rPr lang="es-ES" dirty="0"/>
              <a:t> o conjunta. La planificación </a:t>
            </a:r>
            <a:r>
              <a:rPr lang="es-ES" dirty="0" err="1"/>
              <a:t>multicore</a:t>
            </a:r>
            <a:r>
              <a:rPr lang="es-ES" dirty="0"/>
              <a:t> conjunta excede de los límites de este curso.</a:t>
            </a:r>
          </a:p>
        </p:txBody>
      </p:sp>
    </p:spTree>
    <p:extLst>
      <p:ext uri="{BB962C8B-B14F-4D97-AF65-F5344CB8AC3E}">
        <p14:creationId xmlns:p14="http://schemas.microsoft.com/office/powerpoint/2010/main" val="2684259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Recursos del ordenador</a:t>
            </a:r>
          </a:p>
        </p:txBody>
      </p:sp>
      <p:sp>
        <p:nvSpPr>
          <p:cNvPr id="8" name="CuadroTexto 7">
            <a:extLst>
              <a:ext uri="{FF2B5EF4-FFF2-40B4-BE49-F238E27FC236}">
                <a16:creationId xmlns:a16="http://schemas.microsoft.com/office/drawing/2014/main" id="{E2087084-12EE-43CE-A00D-A2E7157D285F}"/>
              </a:ext>
            </a:extLst>
          </p:cNvPr>
          <p:cNvSpPr txBox="1"/>
          <p:nvPr/>
        </p:nvSpPr>
        <p:spPr>
          <a:xfrm>
            <a:off x="1776414" y="1044407"/>
            <a:ext cx="6760757" cy="300082"/>
          </a:xfrm>
          <a:prstGeom prst="rect">
            <a:avLst/>
          </a:prstGeom>
          <a:noFill/>
        </p:spPr>
        <p:txBody>
          <a:bodyPr wrap="square" rtlCol="0">
            <a:spAutoFit/>
          </a:bodyPr>
          <a:lstStyle/>
          <a:p>
            <a:r>
              <a:rPr lang="es-ES" dirty="0"/>
              <a:t>B. Manejando una compleja jerarquía de memoria (Lección 4)</a:t>
            </a:r>
          </a:p>
        </p:txBody>
      </p:sp>
      <p:pic>
        <p:nvPicPr>
          <p:cNvPr id="11266" name="Picture 2">
            <a:extLst>
              <a:ext uri="{FF2B5EF4-FFF2-40B4-BE49-F238E27FC236}">
                <a16:creationId xmlns:a16="http://schemas.microsoft.com/office/drawing/2014/main" id="{B7138872-CBFC-4C0C-8333-F0517B72EE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050" b="-12050"/>
          <a:stretch/>
        </p:blipFill>
        <p:spPr bwMode="auto">
          <a:xfrm>
            <a:off x="2858582" y="1629479"/>
            <a:ext cx="4596419" cy="342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55636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Un Sistema Operativo sin VM</a:t>
            </a:r>
          </a:p>
        </p:txBody>
      </p:sp>
      <p:sp>
        <p:nvSpPr>
          <p:cNvPr id="2" name="CuadroTexto 1">
            <a:extLst>
              <a:ext uri="{FF2B5EF4-FFF2-40B4-BE49-F238E27FC236}">
                <a16:creationId xmlns:a16="http://schemas.microsoft.com/office/drawing/2014/main" id="{5C318CDD-1DC2-4E62-8475-36A17D4C0EB6}"/>
              </a:ext>
            </a:extLst>
          </p:cNvPr>
          <p:cNvSpPr txBox="1"/>
          <p:nvPr/>
        </p:nvSpPr>
        <p:spPr>
          <a:xfrm>
            <a:off x="6085490" y="4321091"/>
            <a:ext cx="1700516" cy="507831"/>
          </a:xfrm>
          <a:prstGeom prst="rect">
            <a:avLst/>
          </a:prstGeom>
          <a:noFill/>
        </p:spPr>
        <p:txBody>
          <a:bodyPr wrap="square" rtlCol="0">
            <a:spAutoFit/>
          </a:bodyPr>
          <a:lstStyle/>
          <a:p>
            <a:pPr algn="ctr"/>
            <a:r>
              <a:rPr lang="es-ES" dirty="0"/>
              <a:t>Mapa de memoria de un PC</a:t>
            </a:r>
          </a:p>
        </p:txBody>
      </p:sp>
      <p:sp>
        <p:nvSpPr>
          <p:cNvPr id="3" name="CuadroTexto 2">
            <a:extLst>
              <a:ext uri="{FF2B5EF4-FFF2-40B4-BE49-F238E27FC236}">
                <a16:creationId xmlns:a16="http://schemas.microsoft.com/office/drawing/2014/main" id="{CB3A3CE7-4481-42F3-998D-14986BEA501D}"/>
              </a:ext>
            </a:extLst>
          </p:cNvPr>
          <p:cNvSpPr txBox="1"/>
          <p:nvPr/>
        </p:nvSpPr>
        <p:spPr>
          <a:xfrm>
            <a:off x="1776415" y="1112520"/>
            <a:ext cx="2795586" cy="2377574"/>
          </a:xfrm>
          <a:prstGeom prst="rect">
            <a:avLst/>
          </a:prstGeom>
          <a:noFill/>
        </p:spPr>
        <p:txBody>
          <a:bodyPr wrap="square" rtlCol="0">
            <a:spAutoFit/>
          </a:bodyPr>
          <a:lstStyle/>
          <a:p>
            <a:pPr algn="just"/>
            <a:r>
              <a:rPr lang="es-ES" dirty="0"/>
              <a:t>En un PC original, la memora máxima accesible eran 2</a:t>
            </a:r>
            <a:r>
              <a:rPr lang="es-ES" baseline="30000" dirty="0"/>
              <a:t>20</a:t>
            </a:r>
            <a:r>
              <a:rPr lang="es-ES" dirty="0"/>
              <a:t> bits = 1 MB porque el 8086 tenía 20 bits de direcciones.</a:t>
            </a:r>
          </a:p>
          <a:p>
            <a:pPr algn="just"/>
            <a:endParaRPr lang="es-ES" dirty="0"/>
          </a:p>
          <a:p>
            <a:pPr algn="just"/>
            <a:r>
              <a:rPr lang="es-ES" dirty="0"/>
              <a:t>La BIOS se instalaba en las direcciones más altas. En las más bajas cargaban el MS-DOS residente y los vectores de interrupción.</a:t>
            </a:r>
          </a:p>
          <a:p>
            <a:pPr algn="just"/>
            <a:endParaRPr lang="es-ES" dirty="0"/>
          </a:p>
          <a:p>
            <a:pPr algn="just"/>
            <a:r>
              <a:rPr lang="es-ES" dirty="0"/>
              <a:t>Los programas del usuario se cargaban hasta los 640 kB.</a:t>
            </a:r>
          </a:p>
        </p:txBody>
      </p:sp>
      <p:pic>
        <p:nvPicPr>
          <p:cNvPr id="3074" name="Picture 2">
            <a:extLst>
              <a:ext uri="{FF2B5EF4-FFF2-40B4-BE49-F238E27FC236}">
                <a16:creationId xmlns:a16="http://schemas.microsoft.com/office/drawing/2014/main" id="{7F860156-895B-4A53-98EC-5AD36BB23C70}"/>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785389" y="1229070"/>
            <a:ext cx="4300718" cy="26853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3683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Recursos del ordenador</a:t>
            </a:r>
          </a:p>
        </p:txBody>
      </p:sp>
      <p:sp>
        <p:nvSpPr>
          <p:cNvPr id="8" name="CuadroTexto 7">
            <a:extLst>
              <a:ext uri="{FF2B5EF4-FFF2-40B4-BE49-F238E27FC236}">
                <a16:creationId xmlns:a16="http://schemas.microsoft.com/office/drawing/2014/main" id="{E2087084-12EE-43CE-A00D-A2E7157D285F}"/>
              </a:ext>
            </a:extLst>
          </p:cNvPr>
          <p:cNvSpPr txBox="1"/>
          <p:nvPr/>
        </p:nvSpPr>
        <p:spPr>
          <a:xfrm>
            <a:off x="1776414" y="1044407"/>
            <a:ext cx="6760757" cy="300082"/>
          </a:xfrm>
          <a:prstGeom prst="rect">
            <a:avLst/>
          </a:prstGeom>
          <a:noFill/>
        </p:spPr>
        <p:txBody>
          <a:bodyPr wrap="square" rtlCol="0">
            <a:spAutoFit/>
          </a:bodyPr>
          <a:lstStyle/>
          <a:p>
            <a:r>
              <a:rPr lang="es-ES" dirty="0"/>
              <a:t>C. Gestionando el acceso al almacenamiento secundario (Lección 5)</a:t>
            </a:r>
          </a:p>
        </p:txBody>
      </p:sp>
      <p:sp>
        <p:nvSpPr>
          <p:cNvPr id="2" name="CuadroTexto 1">
            <a:extLst>
              <a:ext uri="{FF2B5EF4-FFF2-40B4-BE49-F238E27FC236}">
                <a16:creationId xmlns:a16="http://schemas.microsoft.com/office/drawing/2014/main" id="{E4A6B454-39C5-4D11-8030-6ECB36A117BE}"/>
              </a:ext>
            </a:extLst>
          </p:cNvPr>
          <p:cNvSpPr txBox="1"/>
          <p:nvPr/>
        </p:nvSpPr>
        <p:spPr>
          <a:xfrm>
            <a:off x="2984938" y="1344489"/>
            <a:ext cx="3831498" cy="715581"/>
          </a:xfrm>
          <a:prstGeom prst="rect">
            <a:avLst/>
          </a:prstGeom>
          <a:noFill/>
        </p:spPr>
        <p:txBody>
          <a:bodyPr wrap="none" rtlCol="0">
            <a:spAutoFit/>
          </a:bodyPr>
          <a:lstStyle/>
          <a:p>
            <a:endParaRPr lang="es-ES" dirty="0"/>
          </a:p>
          <a:p>
            <a:r>
              <a:rPr lang="es-ES" dirty="0" err="1">
                <a:latin typeface="Lucida Sans Typewriter" panose="020B0509030504030204" pitchFamily="49" charset="0"/>
              </a:rPr>
              <a:t>pfile</a:t>
            </a:r>
            <a:r>
              <a:rPr lang="es-ES" dirty="0">
                <a:latin typeface="Lucida Sans Typewriter" panose="020B0509030504030204" pitchFamily="49" charset="0"/>
              </a:rPr>
              <a:t> = </a:t>
            </a:r>
            <a:r>
              <a:rPr lang="es-ES" dirty="0" err="1">
                <a:latin typeface="Lucida Sans Typewriter" panose="020B0509030504030204" pitchFamily="49" charset="0"/>
              </a:rPr>
              <a:t>fopen</a:t>
            </a:r>
            <a:r>
              <a:rPr lang="es-ES" dirty="0">
                <a:latin typeface="Lucida Sans Typewriter" panose="020B0509030504030204" pitchFamily="49" charset="0"/>
              </a:rPr>
              <a:t>(“mifichero.</a:t>
            </a:r>
            <a:r>
              <a:rPr lang="es-ES" dirty="0" err="1">
                <a:latin typeface="Lucida Sans Typewriter" panose="020B0509030504030204" pitchFamily="49" charset="0"/>
              </a:rPr>
              <a:t>txt</a:t>
            </a:r>
            <a:r>
              <a:rPr lang="es-ES" dirty="0">
                <a:latin typeface="Lucida Sans Typewriter" panose="020B0509030504030204" pitchFamily="49" charset="0"/>
              </a:rPr>
              <a:t>”,”r”);</a:t>
            </a:r>
          </a:p>
          <a:p>
            <a:endParaRPr lang="es-ES" dirty="0"/>
          </a:p>
        </p:txBody>
      </p:sp>
      <p:pic>
        <p:nvPicPr>
          <p:cNvPr id="12292" name="Picture 4">
            <a:extLst>
              <a:ext uri="{FF2B5EF4-FFF2-40B4-BE49-F238E27FC236}">
                <a16:creationId xmlns:a16="http://schemas.microsoft.com/office/drawing/2014/main" id="{1C1006D5-1B5F-4C17-A16F-A38B9FD6CF4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5839" y="2507296"/>
            <a:ext cx="4151026" cy="2064703"/>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technology, gadgets, portable, memory, banks, micro, sd, cards, usb, dongle">
            <a:extLst>
              <a:ext uri="{FF2B5EF4-FFF2-40B4-BE49-F238E27FC236}">
                <a16:creationId xmlns:a16="http://schemas.microsoft.com/office/drawing/2014/main" id="{6D66E149-A2ED-4B42-92FE-EA1965B6C6E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02014" y="2507296"/>
            <a:ext cx="3095142" cy="2064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7168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Recursos del ordenador</a:t>
            </a:r>
          </a:p>
        </p:txBody>
      </p:sp>
      <p:sp>
        <p:nvSpPr>
          <p:cNvPr id="8" name="CuadroTexto 7">
            <a:extLst>
              <a:ext uri="{FF2B5EF4-FFF2-40B4-BE49-F238E27FC236}">
                <a16:creationId xmlns:a16="http://schemas.microsoft.com/office/drawing/2014/main" id="{E2087084-12EE-43CE-A00D-A2E7157D285F}"/>
              </a:ext>
            </a:extLst>
          </p:cNvPr>
          <p:cNvSpPr txBox="1"/>
          <p:nvPr/>
        </p:nvSpPr>
        <p:spPr>
          <a:xfrm>
            <a:off x="1776414" y="1044407"/>
            <a:ext cx="6760757" cy="300082"/>
          </a:xfrm>
          <a:prstGeom prst="rect">
            <a:avLst/>
          </a:prstGeom>
          <a:noFill/>
        </p:spPr>
        <p:txBody>
          <a:bodyPr wrap="square" rtlCol="0">
            <a:spAutoFit/>
          </a:bodyPr>
          <a:lstStyle/>
          <a:p>
            <a:r>
              <a:rPr lang="es-ES" dirty="0"/>
              <a:t>D. Manejando los dispositivos de entrada salida (Lección 6)</a:t>
            </a:r>
          </a:p>
        </p:txBody>
      </p:sp>
      <p:pic>
        <p:nvPicPr>
          <p:cNvPr id="13314" name="Picture 2">
            <a:extLst>
              <a:ext uri="{FF2B5EF4-FFF2-40B4-BE49-F238E27FC236}">
                <a16:creationId xmlns:a16="http://schemas.microsoft.com/office/drawing/2014/main" id="{3882FDD9-B285-498E-9A7F-96DBD74395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3669" y="1629479"/>
            <a:ext cx="6220317" cy="2872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94173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Recursos del ordenador</a:t>
            </a:r>
          </a:p>
        </p:txBody>
      </p:sp>
      <p:sp>
        <p:nvSpPr>
          <p:cNvPr id="8" name="CuadroTexto 7">
            <a:extLst>
              <a:ext uri="{FF2B5EF4-FFF2-40B4-BE49-F238E27FC236}">
                <a16:creationId xmlns:a16="http://schemas.microsoft.com/office/drawing/2014/main" id="{E2087084-12EE-43CE-A00D-A2E7157D285F}"/>
              </a:ext>
            </a:extLst>
          </p:cNvPr>
          <p:cNvSpPr txBox="1"/>
          <p:nvPr/>
        </p:nvSpPr>
        <p:spPr>
          <a:xfrm>
            <a:off x="1776414" y="1044407"/>
            <a:ext cx="6760757" cy="300082"/>
          </a:xfrm>
          <a:prstGeom prst="rect">
            <a:avLst/>
          </a:prstGeom>
          <a:noFill/>
        </p:spPr>
        <p:txBody>
          <a:bodyPr wrap="square" rtlCol="0">
            <a:spAutoFit/>
          </a:bodyPr>
          <a:lstStyle/>
          <a:p>
            <a:r>
              <a:rPr lang="es-ES" dirty="0"/>
              <a:t>E. Permitiendo la comunicación entre procesos y su sincronización (Lección 7)</a:t>
            </a:r>
          </a:p>
        </p:txBody>
      </p:sp>
      <p:pic>
        <p:nvPicPr>
          <p:cNvPr id="13316" name="Picture 4" descr="OS07: MX Challenges">
            <a:extLst>
              <a:ext uri="{FF2B5EF4-FFF2-40B4-BE49-F238E27FC236}">
                <a16:creationId xmlns:a16="http://schemas.microsoft.com/office/drawing/2014/main" id="{D1C6BA72-3B94-49ED-8B54-4CC7D936B6E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58783" y="3552004"/>
            <a:ext cx="4067503" cy="1362896"/>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a:extLst>
              <a:ext uri="{FF2B5EF4-FFF2-40B4-BE49-F238E27FC236}">
                <a16:creationId xmlns:a16="http://schemas.microsoft.com/office/drawing/2014/main" id="{AA955AED-274C-4650-AA3A-513B4ACC2E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2953" y="1745456"/>
            <a:ext cx="4248151" cy="1652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57526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Modos usuario/supervisor</a:t>
            </a:r>
          </a:p>
        </p:txBody>
      </p:sp>
      <p:sp>
        <p:nvSpPr>
          <p:cNvPr id="3" name="CuadroTexto 2">
            <a:extLst>
              <a:ext uri="{FF2B5EF4-FFF2-40B4-BE49-F238E27FC236}">
                <a16:creationId xmlns:a16="http://schemas.microsoft.com/office/drawing/2014/main" id="{F6104740-E4A5-4C02-8802-EB03B30C793F}"/>
              </a:ext>
            </a:extLst>
          </p:cNvPr>
          <p:cNvSpPr txBox="1"/>
          <p:nvPr/>
        </p:nvSpPr>
        <p:spPr>
          <a:xfrm>
            <a:off x="1776414" y="1178107"/>
            <a:ext cx="7049872" cy="1546577"/>
          </a:xfrm>
          <a:prstGeom prst="rect">
            <a:avLst/>
          </a:prstGeom>
          <a:noFill/>
        </p:spPr>
        <p:txBody>
          <a:bodyPr wrap="square" rtlCol="0">
            <a:spAutoFit/>
          </a:bodyPr>
          <a:lstStyle/>
          <a:p>
            <a:pPr algn="just"/>
            <a:r>
              <a:rPr lang="es-ES" dirty="0"/>
              <a:t>La ejecución secuencial simultánea de varios programas plantea problemas serios de seguridad.</a:t>
            </a:r>
          </a:p>
          <a:p>
            <a:pPr algn="just"/>
            <a:endParaRPr lang="es-ES" dirty="0"/>
          </a:p>
          <a:p>
            <a:pPr marL="285750" indent="-285750" algn="just">
              <a:buFont typeface="Arial" panose="020B0604020202020204" pitchFamily="34" charset="0"/>
              <a:buChar char="•"/>
            </a:pPr>
            <a:r>
              <a:rPr lang="es-ES" dirty="0"/>
              <a:t>No queremos que un programa acceda a la memoria de otro, maliciosamente o por error.</a:t>
            </a:r>
          </a:p>
          <a:p>
            <a:pPr marL="285750" indent="-285750" algn="just">
              <a:buFont typeface="Arial" panose="020B0604020202020204" pitchFamily="34" charset="0"/>
              <a:buChar char="•"/>
            </a:pPr>
            <a:r>
              <a:rPr lang="es-ES" dirty="0"/>
              <a:t>No queremos que un </a:t>
            </a:r>
            <a:r>
              <a:rPr lang="es-ES" i="1" dirty="0" err="1"/>
              <a:t>crash</a:t>
            </a:r>
            <a:r>
              <a:rPr lang="es-ES" dirty="0"/>
              <a:t> en un programa produzca la caída de todo el sistemas.</a:t>
            </a:r>
          </a:p>
          <a:p>
            <a:pPr marL="285750" indent="-285750" algn="just">
              <a:buFont typeface="Arial" panose="020B0604020202020204" pitchFamily="34" charset="0"/>
              <a:buChar char="•"/>
            </a:pPr>
            <a:r>
              <a:rPr lang="es-ES" dirty="0"/>
              <a:t>No queremos que un programa cualquiera atienda las interrupciones.</a:t>
            </a:r>
          </a:p>
          <a:p>
            <a:pPr marL="285750" indent="-285750" algn="just">
              <a:buFont typeface="Arial" panose="020B0604020202020204" pitchFamily="34" charset="0"/>
              <a:buChar char="•"/>
            </a:pPr>
            <a:r>
              <a:rPr lang="es-ES" dirty="0"/>
              <a:t>No queremos que los dispositivos de entrada/salida y los ficheros se corrompan por accesos erróneos o indebidos.</a:t>
            </a:r>
          </a:p>
        </p:txBody>
      </p:sp>
      <p:sp>
        <p:nvSpPr>
          <p:cNvPr id="5" name="CuadroTexto 4">
            <a:extLst>
              <a:ext uri="{FF2B5EF4-FFF2-40B4-BE49-F238E27FC236}">
                <a16:creationId xmlns:a16="http://schemas.microsoft.com/office/drawing/2014/main" id="{2629E84E-F072-4594-A9D4-89D38DA36BEC}"/>
              </a:ext>
            </a:extLst>
          </p:cNvPr>
          <p:cNvSpPr txBox="1"/>
          <p:nvPr/>
        </p:nvSpPr>
        <p:spPr>
          <a:xfrm>
            <a:off x="2333461" y="2924094"/>
            <a:ext cx="6127365" cy="1754326"/>
          </a:xfrm>
          <a:prstGeom prst="rect">
            <a:avLst/>
          </a:prstGeom>
          <a:solidFill>
            <a:schemeClr val="accent1">
              <a:lumMod val="20000"/>
              <a:lumOff val="80000"/>
            </a:schemeClr>
          </a:solidFill>
        </p:spPr>
        <p:txBody>
          <a:bodyPr wrap="square" rtlCol="0">
            <a:spAutoFit/>
          </a:bodyPr>
          <a:lstStyle/>
          <a:p>
            <a:pPr algn="just"/>
            <a:r>
              <a:rPr lang="es-ES" dirty="0"/>
              <a:t>Todas las operaciones críticas se delegan al Sistema Operativo y la imposibilidad de que el usuario las ejecute se fuerza por hardware. Hay instrucciones de código máquina que solo pueden ejecutarse en modo supervisor, controlado por un bit del registro de </a:t>
            </a:r>
            <a:r>
              <a:rPr lang="es-ES" dirty="0" err="1"/>
              <a:t>flags</a:t>
            </a:r>
            <a:r>
              <a:rPr lang="es-ES" dirty="0"/>
              <a:t>. Solo el Sistema Operativo tiene privilegio para cambiar ese </a:t>
            </a:r>
            <a:r>
              <a:rPr lang="es-ES" dirty="0" err="1"/>
              <a:t>flag</a:t>
            </a:r>
            <a:r>
              <a:rPr lang="es-ES" dirty="0"/>
              <a:t> (modo supervisor/modo usuario).</a:t>
            </a:r>
          </a:p>
          <a:p>
            <a:pPr algn="just"/>
            <a:endParaRPr lang="es-ES" dirty="0"/>
          </a:p>
          <a:p>
            <a:pPr algn="just"/>
            <a:r>
              <a:rPr lang="es-ES" dirty="0"/>
              <a:t>La parte crítica del Sistema Operativo (</a:t>
            </a:r>
            <a:r>
              <a:rPr lang="es-ES" dirty="0" err="1"/>
              <a:t>kernel</a:t>
            </a:r>
            <a:r>
              <a:rPr lang="es-ES" dirty="0"/>
              <a:t>) se ejecuta siempre que se atiende una interrupción y devuelve el control al usuario al terminar la atención</a:t>
            </a:r>
          </a:p>
        </p:txBody>
      </p:sp>
    </p:spTree>
    <p:extLst>
      <p:ext uri="{BB962C8B-B14F-4D97-AF65-F5344CB8AC3E}">
        <p14:creationId xmlns:p14="http://schemas.microsoft.com/office/powerpoint/2010/main" val="35205596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Modos usuario/supervisor</a:t>
            </a:r>
          </a:p>
        </p:txBody>
      </p:sp>
      <p:pic>
        <p:nvPicPr>
          <p:cNvPr id="15362" name="Picture 2">
            <a:extLst>
              <a:ext uri="{FF2B5EF4-FFF2-40B4-BE49-F238E27FC236}">
                <a16:creationId xmlns:a16="http://schemas.microsoft.com/office/drawing/2014/main" id="{CE620536-880F-4285-AA73-B789FFB932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7041" y="1646840"/>
            <a:ext cx="3388572" cy="2443573"/>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4E51B360-E640-42B8-98FD-048C503BC2BD}"/>
              </a:ext>
            </a:extLst>
          </p:cNvPr>
          <p:cNvSpPr txBox="1"/>
          <p:nvPr/>
        </p:nvSpPr>
        <p:spPr>
          <a:xfrm>
            <a:off x="2659854" y="1053087"/>
            <a:ext cx="804516" cy="300082"/>
          </a:xfrm>
          <a:prstGeom prst="rect">
            <a:avLst/>
          </a:prstGeom>
          <a:noFill/>
        </p:spPr>
        <p:txBody>
          <a:bodyPr wrap="none" rtlCol="0">
            <a:spAutoFit/>
          </a:bodyPr>
          <a:lstStyle/>
          <a:p>
            <a:r>
              <a:rPr lang="es-ES" b="1" dirty="0"/>
              <a:t>Intel x86</a:t>
            </a:r>
          </a:p>
        </p:txBody>
      </p:sp>
      <p:sp>
        <p:nvSpPr>
          <p:cNvPr id="6" name="CuadroTexto 5">
            <a:extLst>
              <a:ext uri="{FF2B5EF4-FFF2-40B4-BE49-F238E27FC236}">
                <a16:creationId xmlns:a16="http://schemas.microsoft.com/office/drawing/2014/main" id="{F83DEAE6-DC53-4A3F-8BFD-FA5E5A8FE212}"/>
              </a:ext>
            </a:extLst>
          </p:cNvPr>
          <p:cNvSpPr txBox="1"/>
          <p:nvPr/>
        </p:nvSpPr>
        <p:spPr>
          <a:xfrm>
            <a:off x="1667040" y="4362220"/>
            <a:ext cx="3670300" cy="507831"/>
          </a:xfrm>
          <a:prstGeom prst="rect">
            <a:avLst/>
          </a:prstGeom>
          <a:noFill/>
        </p:spPr>
        <p:txBody>
          <a:bodyPr wrap="none" rtlCol="0">
            <a:spAutoFit/>
          </a:bodyPr>
          <a:lstStyle/>
          <a:p>
            <a:r>
              <a:rPr lang="es-ES" dirty="0"/>
              <a:t>Proporciona 4 niveles, pero Windows o Linux solo</a:t>
            </a:r>
          </a:p>
          <a:p>
            <a:r>
              <a:rPr lang="es-ES" dirty="0"/>
              <a:t>usan </a:t>
            </a:r>
            <a:r>
              <a:rPr lang="es-ES" dirty="0" err="1"/>
              <a:t>Kernel</a:t>
            </a:r>
            <a:r>
              <a:rPr lang="es-ES" dirty="0"/>
              <a:t>/Usuario (0 y 3)</a:t>
            </a:r>
          </a:p>
        </p:txBody>
      </p:sp>
      <p:sp>
        <p:nvSpPr>
          <p:cNvPr id="8" name="CuadroTexto 7">
            <a:extLst>
              <a:ext uri="{FF2B5EF4-FFF2-40B4-BE49-F238E27FC236}">
                <a16:creationId xmlns:a16="http://schemas.microsoft.com/office/drawing/2014/main" id="{75B20C7C-F31C-46CD-828A-90AFD557EA22}"/>
              </a:ext>
            </a:extLst>
          </p:cNvPr>
          <p:cNvSpPr txBox="1"/>
          <p:nvPr/>
        </p:nvSpPr>
        <p:spPr>
          <a:xfrm>
            <a:off x="5695353" y="4362219"/>
            <a:ext cx="3130933" cy="507831"/>
          </a:xfrm>
          <a:prstGeom prst="rect">
            <a:avLst/>
          </a:prstGeom>
          <a:noFill/>
        </p:spPr>
        <p:txBody>
          <a:bodyPr wrap="square" rtlCol="0">
            <a:spAutoFit/>
          </a:bodyPr>
          <a:lstStyle/>
          <a:p>
            <a:r>
              <a:rPr lang="es-ES" dirty="0"/>
              <a:t>Maneja un modo usuario y seis modos privilegiados</a:t>
            </a:r>
          </a:p>
        </p:txBody>
      </p:sp>
      <p:pic>
        <p:nvPicPr>
          <p:cNvPr id="15364" name="Picture 4" descr="SHORT NOTE ON PROCESSOR MODES(ARM) | letsembed">
            <a:extLst>
              <a:ext uri="{FF2B5EF4-FFF2-40B4-BE49-F238E27FC236}">
                <a16:creationId xmlns:a16="http://schemas.microsoft.com/office/drawing/2014/main" id="{F78E5DFC-E49B-410D-A9DB-00C6DD726E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5614" y="1646840"/>
            <a:ext cx="4057798" cy="2042291"/>
          </a:xfrm>
          <a:prstGeom prst="rect">
            <a:avLst/>
          </a:prstGeom>
          <a:noFill/>
          <a:extLst>
            <a:ext uri="{909E8E84-426E-40DD-AFC4-6F175D3DCCD1}">
              <a14:hiddenFill xmlns:a14="http://schemas.microsoft.com/office/drawing/2010/main">
                <a:solidFill>
                  <a:srgbClr val="FFFFFF"/>
                </a:solidFill>
              </a14:hiddenFill>
            </a:ext>
          </a:extLst>
        </p:spPr>
      </p:pic>
      <p:sp>
        <p:nvSpPr>
          <p:cNvPr id="10" name="CuadroTexto 9">
            <a:extLst>
              <a:ext uri="{FF2B5EF4-FFF2-40B4-BE49-F238E27FC236}">
                <a16:creationId xmlns:a16="http://schemas.microsoft.com/office/drawing/2014/main" id="{7B7628E3-49E7-4FBF-AA66-57BFBA419461}"/>
              </a:ext>
            </a:extLst>
          </p:cNvPr>
          <p:cNvSpPr txBox="1"/>
          <p:nvPr/>
        </p:nvSpPr>
        <p:spPr>
          <a:xfrm>
            <a:off x="6901498" y="1053087"/>
            <a:ext cx="537327" cy="300082"/>
          </a:xfrm>
          <a:prstGeom prst="rect">
            <a:avLst/>
          </a:prstGeom>
          <a:noFill/>
        </p:spPr>
        <p:txBody>
          <a:bodyPr wrap="none" rtlCol="0">
            <a:spAutoFit/>
          </a:bodyPr>
          <a:lstStyle/>
          <a:p>
            <a:r>
              <a:rPr lang="es-ES" b="1" dirty="0"/>
              <a:t>ARM</a:t>
            </a:r>
          </a:p>
        </p:txBody>
      </p:sp>
    </p:spTree>
    <p:extLst>
      <p:ext uri="{BB962C8B-B14F-4D97-AF65-F5344CB8AC3E}">
        <p14:creationId xmlns:p14="http://schemas.microsoft.com/office/powerpoint/2010/main" val="10919501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Modos usuario/supervisor</a:t>
            </a:r>
          </a:p>
        </p:txBody>
      </p:sp>
      <p:sp>
        <p:nvSpPr>
          <p:cNvPr id="3" name="CuadroTexto 2">
            <a:extLst>
              <a:ext uri="{FF2B5EF4-FFF2-40B4-BE49-F238E27FC236}">
                <a16:creationId xmlns:a16="http://schemas.microsoft.com/office/drawing/2014/main" id="{1701E8A5-17E5-4637-A5E0-520657CE3CB8}"/>
              </a:ext>
            </a:extLst>
          </p:cNvPr>
          <p:cNvSpPr txBox="1"/>
          <p:nvPr/>
        </p:nvSpPr>
        <p:spPr>
          <a:xfrm>
            <a:off x="1776413" y="947563"/>
            <a:ext cx="3426207" cy="3208571"/>
          </a:xfrm>
          <a:prstGeom prst="rect">
            <a:avLst/>
          </a:prstGeom>
          <a:noFill/>
        </p:spPr>
        <p:txBody>
          <a:bodyPr wrap="square" rtlCol="0">
            <a:spAutoFit/>
          </a:bodyPr>
          <a:lstStyle/>
          <a:p>
            <a:pPr algn="just"/>
            <a:r>
              <a:rPr lang="es-ES" dirty="0"/>
              <a:t>Si la aplicación de usuario necesita acceder a un recurso HW, tiene que hacerlo forzosamente a través del Sistema Operativo. Al abrir un fichero usamos la función </a:t>
            </a:r>
            <a:r>
              <a:rPr lang="es-ES" dirty="0" err="1"/>
              <a:t>fopen</a:t>
            </a:r>
            <a:r>
              <a:rPr lang="es-ES" dirty="0"/>
              <a:t>() de la librería </a:t>
            </a:r>
            <a:r>
              <a:rPr lang="es-ES" dirty="0" err="1"/>
              <a:t>libc</a:t>
            </a:r>
            <a:r>
              <a:rPr lang="es-ES" dirty="0"/>
              <a:t> que invoca a su vez la </a:t>
            </a:r>
            <a:r>
              <a:rPr lang="es-ES" dirty="0" err="1"/>
              <a:t>primtiva</a:t>
            </a:r>
            <a:r>
              <a:rPr lang="es-ES" dirty="0"/>
              <a:t> open() del Sistema Operativo. La primitiva no es una función normal, sino que coloca la información necesaria en su </a:t>
            </a:r>
            <a:r>
              <a:rPr lang="es-ES" dirty="0" err="1"/>
              <a:t>stack</a:t>
            </a:r>
            <a:r>
              <a:rPr lang="es-ES" dirty="0"/>
              <a:t> e inmediatamente después lanza la instrucción en ensamblador para provocar una interrupción SW (INT en Intel x86). Esta despierta al </a:t>
            </a:r>
            <a:r>
              <a:rPr lang="es-ES" dirty="0" err="1"/>
              <a:t>kernel</a:t>
            </a:r>
            <a:r>
              <a:rPr lang="es-ES" dirty="0"/>
              <a:t>, que la atiende, coloca el valor de retorno en el </a:t>
            </a:r>
            <a:r>
              <a:rPr lang="es-ES" dirty="0" err="1"/>
              <a:t>stack</a:t>
            </a:r>
            <a:r>
              <a:rPr lang="es-ES" dirty="0"/>
              <a:t> y devuelve el control al programa con la instrucción de retorno de interrupción.</a:t>
            </a:r>
          </a:p>
        </p:txBody>
      </p:sp>
      <p:pic>
        <p:nvPicPr>
          <p:cNvPr id="7" name="Imagen 6">
            <a:extLst>
              <a:ext uri="{FF2B5EF4-FFF2-40B4-BE49-F238E27FC236}">
                <a16:creationId xmlns:a16="http://schemas.microsoft.com/office/drawing/2014/main" id="{7332F1FF-5D2F-42F4-9629-51A8BBF6EA9B}"/>
              </a:ext>
            </a:extLst>
          </p:cNvPr>
          <p:cNvPicPr>
            <a:picLocks noChangeAspect="1"/>
          </p:cNvPicPr>
          <p:nvPr/>
        </p:nvPicPr>
        <p:blipFill>
          <a:blip r:embed="rId3"/>
          <a:stretch>
            <a:fillRect/>
          </a:stretch>
        </p:blipFill>
        <p:spPr>
          <a:xfrm>
            <a:off x="5494672" y="947563"/>
            <a:ext cx="3331614" cy="4048791"/>
          </a:xfrm>
          <a:prstGeom prst="rect">
            <a:avLst/>
          </a:prstGeom>
        </p:spPr>
      </p:pic>
    </p:spTree>
    <p:extLst>
      <p:ext uri="{BB962C8B-B14F-4D97-AF65-F5344CB8AC3E}">
        <p14:creationId xmlns:p14="http://schemas.microsoft.com/office/powerpoint/2010/main" val="3180332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Diagrama del </a:t>
            </a:r>
            <a:r>
              <a:rPr lang="es-ES" dirty="0" err="1"/>
              <a:t>kernel</a:t>
            </a:r>
            <a:r>
              <a:rPr lang="es-ES" dirty="0"/>
              <a:t> de Linux</a:t>
            </a:r>
          </a:p>
        </p:txBody>
      </p:sp>
      <p:pic>
        <p:nvPicPr>
          <p:cNvPr id="7170" name="Picture 2" descr="How to become a skillful linux device driver developer in 1 year ...">
            <a:extLst>
              <a:ext uri="{FF2B5EF4-FFF2-40B4-BE49-F238E27FC236}">
                <a16:creationId xmlns:a16="http://schemas.microsoft.com/office/drawing/2014/main" id="{D64665F1-012E-47FD-BBD0-E3410533404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848" b="1876"/>
          <a:stretch/>
        </p:blipFill>
        <p:spPr bwMode="auto">
          <a:xfrm>
            <a:off x="1553065" y="1143290"/>
            <a:ext cx="6037869" cy="363911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2A5F35D7-EFF0-4B23-8464-06FA8138B4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37809" y="3431245"/>
            <a:ext cx="1571625" cy="1857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42855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Imagen que contiene computadora, dibujo&#10;&#10;Descripción generada automáticamente">
            <a:extLst>
              <a:ext uri="{FF2B5EF4-FFF2-40B4-BE49-F238E27FC236}">
                <a16:creationId xmlns:a16="http://schemas.microsoft.com/office/drawing/2014/main" id="{C3122840-6048-4F94-B546-2312D28CC2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35667" y="786807"/>
            <a:ext cx="6308332" cy="4356692"/>
          </a:xfrm>
          <a:prstGeom prst="rect">
            <a:avLst/>
          </a:prstGeom>
        </p:spPr>
      </p:pic>
      <p:sp>
        <p:nvSpPr>
          <p:cNvPr id="4" name="3 Título"/>
          <p:cNvSpPr>
            <a:spLocks noGrp="1"/>
          </p:cNvSpPr>
          <p:nvPr>
            <p:ph type="title" idx="4294967295"/>
          </p:nvPr>
        </p:nvSpPr>
        <p:spPr>
          <a:xfrm>
            <a:off x="1776414" y="228600"/>
            <a:ext cx="7049872" cy="530817"/>
          </a:xfrm>
        </p:spPr>
        <p:txBody>
          <a:bodyPr/>
          <a:lstStyle/>
          <a:p>
            <a:r>
              <a:rPr lang="es-ES" dirty="0"/>
              <a:t>Tipos de Sistemas Operativos</a:t>
            </a:r>
          </a:p>
        </p:txBody>
      </p:sp>
      <p:sp>
        <p:nvSpPr>
          <p:cNvPr id="6" name="CuadroTexto 5">
            <a:extLst>
              <a:ext uri="{FF2B5EF4-FFF2-40B4-BE49-F238E27FC236}">
                <a16:creationId xmlns:a16="http://schemas.microsoft.com/office/drawing/2014/main" id="{233CB51B-ACA8-4087-B686-0E31D44D92E6}"/>
              </a:ext>
            </a:extLst>
          </p:cNvPr>
          <p:cNvSpPr txBox="1"/>
          <p:nvPr/>
        </p:nvSpPr>
        <p:spPr>
          <a:xfrm>
            <a:off x="3473580" y="1238998"/>
            <a:ext cx="6056585" cy="3108543"/>
          </a:xfrm>
          <a:prstGeom prst="rect">
            <a:avLst/>
          </a:prstGeom>
          <a:noFill/>
        </p:spPr>
        <p:txBody>
          <a:bodyPr wrap="square">
            <a:spAutoFit/>
          </a:bodyPr>
          <a:lstStyle/>
          <a:p>
            <a:r>
              <a:rPr lang="es-ES" sz="1400" b="1" dirty="0">
                <a:solidFill>
                  <a:schemeClr val="bg1"/>
                </a:solidFill>
              </a:rPr>
              <a:t>De propósito general</a:t>
            </a:r>
          </a:p>
          <a:p>
            <a:pPr marL="628650" lvl="1" indent="-285750">
              <a:buFont typeface="Arial" panose="020B0604020202020204" pitchFamily="34" charset="0"/>
              <a:buChar char="•"/>
            </a:pPr>
            <a:r>
              <a:rPr lang="es-ES" sz="1400" dirty="0">
                <a:solidFill>
                  <a:schemeClr val="bg1"/>
                </a:solidFill>
              </a:rPr>
              <a:t>Uso personal: Windows, Linux, Mac OS</a:t>
            </a:r>
          </a:p>
          <a:p>
            <a:pPr marL="628650" lvl="1" indent="-285750">
              <a:buFont typeface="Arial" panose="020B0604020202020204" pitchFamily="34" charset="0"/>
              <a:buChar char="•"/>
            </a:pPr>
            <a:r>
              <a:rPr lang="es-ES" sz="1400" dirty="0">
                <a:solidFill>
                  <a:schemeClr val="bg1"/>
                </a:solidFill>
              </a:rPr>
              <a:t>Servidores: Unix (BSD), Linux (Familia Red </a:t>
            </a:r>
            <a:r>
              <a:rPr lang="es-ES" sz="1400" dirty="0" err="1">
                <a:solidFill>
                  <a:schemeClr val="bg1"/>
                </a:solidFill>
              </a:rPr>
              <a:t>Hat</a:t>
            </a:r>
            <a:r>
              <a:rPr lang="es-ES" sz="1400" dirty="0">
                <a:solidFill>
                  <a:schemeClr val="bg1"/>
                </a:solidFill>
              </a:rPr>
              <a:t>), </a:t>
            </a:r>
          </a:p>
          <a:p>
            <a:pPr marL="628650" lvl="1" indent="-285750">
              <a:buFont typeface="Arial" panose="020B0604020202020204" pitchFamily="34" charset="0"/>
              <a:buChar char="•"/>
            </a:pPr>
            <a:r>
              <a:rPr lang="es-ES" sz="1400" dirty="0">
                <a:solidFill>
                  <a:schemeClr val="bg1"/>
                </a:solidFill>
              </a:rPr>
              <a:t>Windows Server</a:t>
            </a:r>
          </a:p>
          <a:p>
            <a:endParaRPr lang="es-ES" sz="1400" dirty="0">
              <a:solidFill>
                <a:schemeClr val="bg1"/>
              </a:solidFill>
            </a:endParaRPr>
          </a:p>
          <a:p>
            <a:r>
              <a:rPr lang="es-ES" sz="1400" b="1" dirty="0">
                <a:solidFill>
                  <a:schemeClr val="bg1"/>
                </a:solidFill>
              </a:rPr>
              <a:t>Móviles</a:t>
            </a:r>
          </a:p>
          <a:p>
            <a:pPr marL="628650" lvl="1" indent="-285750">
              <a:buFont typeface="Arial" panose="020B0604020202020204" pitchFamily="34" charset="0"/>
              <a:buChar char="•"/>
            </a:pPr>
            <a:r>
              <a:rPr lang="es-ES" sz="1400" dirty="0">
                <a:solidFill>
                  <a:schemeClr val="bg1"/>
                </a:solidFill>
              </a:rPr>
              <a:t>Android, iOS, Ubuntu </a:t>
            </a:r>
            <a:r>
              <a:rPr lang="es-ES" sz="1400" dirty="0" err="1">
                <a:solidFill>
                  <a:schemeClr val="bg1"/>
                </a:solidFill>
              </a:rPr>
              <a:t>Touch</a:t>
            </a:r>
            <a:endParaRPr lang="es-ES" sz="1400" dirty="0">
              <a:solidFill>
                <a:schemeClr val="bg1"/>
              </a:solidFill>
            </a:endParaRPr>
          </a:p>
          <a:p>
            <a:endParaRPr lang="es-ES" sz="1400" dirty="0">
              <a:solidFill>
                <a:schemeClr val="bg1"/>
              </a:solidFill>
            </a:endParaRPr>
          </a:p>
          <a:p>
            <a:r>
              <a:rPr lang="es-ES" sz="1400" b="1" dirty="0">
                <a:solidFill>
                  <a:schemeClr val="bg1"/>
                </a:solidFill>
              </a:rPr>
              <a:t>Empotrados</a:t>
            </a:r>
          </a:p>
          <a:p>
            <a:pPr marL="628650" lvl="1" indent="-285750">
              <a:buFont typeface="Arial" panose="020B0604020202020204" pitchFamily="34" charset="0"/>
              <a:buChar char="•"/>
            </a:pPr>
            <a:r>
              <a:rPr lang="es-ES" sz="1400" dirty="0">
                <a:solidFill>
                  <a:schemeClr val="bg1"/>
                </a:solidFill>
              </a:rPr>
              <a:t>RTOS, Windows </a:t>
            </a:r>
            <a:r>
              <a:rPr lang="es-ES" sz="1400" dirty="0" err="1">
                <a:solidFill>
                  <a:schemeClr val="bg1"/>
                </a:solidFill>
              </a:rPr>
              <a:t>IoT</a:t>
            </a:r>
            <a:r>
              <a:rPr lang="es-ES" sz="1400" dirty="0">
                <a:solidFill>
                  <a:schemeClr val="bg1"/>
                </a:solidFill>
              </a:rPr>
              <a:t>, Raspbian, </a:t>
            </a:r>
            <a:r>
              <a:rPr lang="es-ES" sz="1400" dirty="0" err="1">
                <a:solidFill>
                  <a:schemeClr val="bg1"/>
                </a:solidFill>
              </a:rPr>
              <a:t>Contiki</a:t>
            </a:r>
            <a:br>
              <a:rPr lang="es-ES" sz="1400" dirty="0">
                <a:solidFill>
                  <a:schemeClr val="bg1"/>
                </a:solidFill>
              </a:rPr>
            </a:br>
            <a:endParaRPr lang="es-ES" sz="1400" dirty="0">
              <a:solidFill>
                <a:schemeClr val="bg1"/>
              </a:solidFill>
            </a:endParaRPr>
          </a:p>
          <a:p>
            <a:r>
              <a:rPr lang="es-ES" sz="1400" b="1" dirty="0">
                <a:solidFill>
                  <a:schemeClr val="bg1"/>
                </a:solidFill>
              </a:rPr>
              <a:t>De tiempo real</a:t>
            </a:r>
          </a:p>
          <a:p>
            <a:pPr marL="628650" lvl="1" indent="-285750">
              <a:buFont typeface="Arial" panose="020B0604020202020204" pitchFamily="34" charset="0"/>
              <a:buChar char="•"/>
            </a:pPr>
            <a:r>
              <a:rPr lang="es-ES" sz="1400" dirty="0">
                <a:solidFill>
                  <a:schemeClr val="bg1"/>
                </a:solidFill>
              </a:rPr>
              <a:t>QNX, </a:t>
            </a:r>
            <a:r>
              <a:rPr lang="es-ES" sz="1400" dirty="0" err="1">
                <a:solidFill>
                  <a:schemeClr val="bg1"/>
                </a:solidFill>
              </a:rPr>
              <a:t>VxWorks</a:t>
            </a:r>
            <a:r>
              <a:rPr lang="es-ES" sz="1400" dirty="0">
                <a:solidFill>
                  <a:schemeClr val="bg1"/>
                </a:solidFill>
              </a:rPr>
              <a:t>, </a:t>
            </a:r>
            <a:r>
              <a:rPr lang="es-ES" sz="1400" dirty="0" err="1">
                <a:solidFill>
                  <a:schemeClr val="bg1"/>
                </a:solidFill>
              </a:rPr>
              <a:t>RTLinux</a:t>
            </a:r>
            <a:endParaRPr lang="es-ES" sz="1400" dirty="0">
              <a:solidFill>
                <a:schemeClr val="bg1"/>
              </a:solidFill>
            </a:endParaRPr>
          </a:p>
          <a:p>
            <a:pPr lvl="1"/>
            <a:endParaRPr lang="es-ES" sz="1400" dirty="0">
              <a:solidFill>
                <a:schemeClr val="bg1"/>
              </a:solidFill>
            </a:endParaRPr>
          </a:p>
        </p:txBody>
      </p:sp>
      <p:pic>
        <p:nvPicPr>
          <p:cNvPr id="5" name="Imagen 4">
            <a:extLst>
              <a:ext uri="{FF2B5EF4-FFF2-40B4-BE49-F238E27FC236}">
                <a16:creationId xmlns:a16="http://schemas.microsoft.com/office/drawing/2014/main" id="{E754D1D4-E2E4-472F-A5A2-CB8F8B9C8FFD}"/>
              </a:ext>
            </a:extLst>
          </p:cNvPr>
          <p:cNvPicPr>
            <a:picLocks noChangeAspect="1"/>
          </p:cNvPicPr>
          <p:nvPr/>
        </p:nvPicPr>
        <p:blipFill>
          <a:blip r:embed="rId4"/>
          <a:stretch>
            <a:fillRect/>
          </a:stretch>
        </p:blipFill>
        <p:spPr>
          <a:xfrm>
            <a:off x="1676096" y="1097280"/>
            <a:ext cx="1109662" cy="641845"/>
          </a:xfrm>
          <a:prstGeom prst="rect">
            <a:avLst/>
          </a:prstGeom>
        </p:spPr>
      </p:pic>
      <p:pic>
        <p:nvPicPr>
          <p:cNvPr id="8" name="Imagen 7">
            <a:extLst>
              <a:ext uri="{FF2B5EF4-FFF2-40B4-BE49-F238E27FC236}">
                <a16:creationId xmlns:a16="http://schemas.microsoft.com/office/drawing/2014/main" id="{B0C63B13-E984-41A1-B728-E501B61EBAD2}"/>
              </a:ext>
            </a:extLst>
          </p:cNvPr>
          <p:cNvPicPr>
            <a:picLocks noChangeAspect="1"/>
          </p:cNvPicPr>
          <p:nvPr/>
        </p:nvPicPr>
        <p:blipFill>
          <a:blip r:embed="rId5"/>
          <a:stretch>
            <a:fillRect/>
          </a:stretch>
        </p:blipFill>
        <p:spPr>
          <a:xfrm>
            <a:off x="1557509" y="1739125"/>
            <a:ext cx="673418" cy="544366"/>
          </a:xfrm>
          <a:prstGeom prst="rect">
            <a:avLst/>
          </a:prstGeom>
        </p:spPr>
      </p:pic>
      <p:pic>
        <p:nvPicPr>
          <p:cNvPr id="10" name="Imagen 9">
            <a:extLst>
              <a:ext uri="{FF2B5EF4-FFF2-40B4-BE49-F238E27FC236}">
                <a16:creationId xmlns:a16="http://schemas.microsoft.com/office/drawing/2014/main" id="{A3DB6EE4-A7C8-47F5-9CF3-342BDA4554E8}"/>
              </a:ext>
            </a:extLst>
          </p:cNvPr>
          <p:cNvPicPr>
            <a:picLocks noChangeAspect="1"/>
          </p:cNvPicPr>
          <p:nvPr/>
        </p:nvPicPr>
        <p:blipFill>
          <a:blip r:embed="rId6"/>
          <a:stretch>
            <a:fillRect/>
          </a:stretch>
        </p:blipFill>
        <p:spPr>
          <a:xfrm>
            <a:off x="2256318" y="1766515"/>
            <a:ext cx="579349" cy="530817"/>
          </a:xfrm>
          <a:prstGeom prst="rect">
            <a:avLst/>
          </a:prstGeom>
        </p:spPr>
      </p:pic>
      <p:pic>
        <p:nvPicPr>
          <p:cNvPr id="3076" name="Picture 4" descr="Ios and android projects for you by Ahtram_raheel">
            <a:extLst>
              <a:ext uri="{FF2B5EF4-FFF2-40B4-BE49-F238E27FC236}">
                <a16:creationId xmlns:a16="http://schemas.microsoft.com/office/drawing/2014/main" id="{DDCE06C3-96FD-4698-99EE-CCA489E7F47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76095" y="2403533"/>
            <a:ext cx="1109663" cy="68538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6974C391-8C94-419C-87A8-C39BC597576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758486" y="3208955"/>
            <a:ext cx="944880" cy="365321"/>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qnx-logo - Boundary Devices">
            <a:extLst>
              <a:ext uri="{FF2B5EF4-FFF2-40B4-BE49-F238E27FC236}">
                <a16:creationId xmlns:a16="http://schemas.microsoft.com/office/drawing/2014/main" id="{5BCE85EB-489A-42A0-BB2A-D1855FE94F6D}"/>
              </a:ext>
            </a:extLst>
          </p:cNvPr>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76095" y="3568855"/>
            <a:ext cx="1155101" cy="768667"/>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ウインドリバー、VxWorksの最新版をリリース | マイナビニュース">
            <a:extLst>
              <a:ext uri="{FF2B5EF4-FFF2-40B4-BE49-F238E27FC236}">
                <a16:creationId xmlns:a16="http://schemas.microsoft.com/office/drawing/2014/main" id="{32D4F66F-B8B3-45A9-9DC0-52A19D529DB4}"/>
              </a:ext>
            </a:extLst>
          </p:cNvPr>
          <p:cNvPicPr>
            <a:picLocks noChangeAspect="1" noChangeArrowheads="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66441" y="4169040"/>
            <a:ext cx="974407" cy="648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54562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Historia de los Sistemas Operativos</a:t>
            </a:r>
          </a:p>
        </p:txBody>
      </p:sp>
      <p:sp>
        <p:nvSpPr>
          <p:cNvPr id="2" name="CuadroTexto 1">
            <a:extLst>
              <a:ext uri="{FF2B5EF4-FFF2-40B4-BE49-F238E27FC236}">
                <a16:creationId xmlns:a16="http://schemas.microsoft.com/office/drawing/2014/main" id="{6A81CF2A-EECB-4E8B-94AF-D752FC6E7CC1}"/>
              </a:ext>
            </a:extLst>
          </p:cNvPr>
          <p:cNvSpPr txBox="1"/>
          <p:nvPr/>
        </p:nvSpPr>
        <p:spPr>
          <a:xfrm>
            <a:off x="1923393" y="1082566"/>
            <a:ext cx="6001407" cy="3208571"/>
          </a:xfrm>
          <a:prstGeom prst="rect">
            <a:avLst/>
          </a:prstGeom>
          <a:noFill/>
        </p:spPr>
        <p:txBody>
          <a:bodyPr wrap="square" rtlCol="0">
            <a:spAutoFit/>
          </a:bodyPr>
          <a:lstStyle/>
          <a:p>
            <a:pPr algn="just"/>
            <a:r>
              <a:rPr lang="es-ES" dirty="0"/>
              <a:t>Los Sistemas Operativos propiamente dichos empiezan con los ordenadores de </a:t>
            </a:r>
            <a:r>
              <a:rPr lang="es-ES" b="1" dirty="0"/>
              <a:t>segunda generación</a:t>
            </a:r>
            <a:r>
              <a:rPr lang="es-ES" dirty="0"/>
              <a:t>, los mainframe de los años 50. Inicialmente, se limitaron a sustituir a los operadores humanos.</a:t>
            </a:r>
          </a:p>
          <a:p>
            <a:pPr algn="just"/>
            <a:endParaRPr lang="es-ES" dirty="0"/>
          </a:p>
          <a:p>
            <a:pPr algn="just"/>
            <a:r>
              <a:rPr lang="es-ES" dirty="0"/>
              <a:t>El operador leía el programa y los datos desde las tarjetas perforadas, grababa el resultado en una cinta y lo cargaba y ejecutaba en el mainframe.</a:t>
            </a:r>
          </a:p>
          <a:p>
            <a:pPr algn="just"/>
            <a:endParaRPr lang="es-ES" dirty="0"/>
          </a:p>
          <a:p>
            <a:pPr algn="just"/>
            <a:r>
              <a:rPr lang="es-ES" dirty="0"/>
              <a:t>Los </a:t>
            </a:r>
            <a:r>
              <a:rPr lang="es-ES" b="1" dirty="0"/>
              <a:t>sistemas de procesamiento por lote (</a:t>
            </a:r>
            <a:r>
              <a:rPr lang="es-ES" b="1" dirty="0" err="1"/>
              <a:t>batch</a:t>
            </a:r>
            <a:r>
              <a:rPr lang="es-ES" b="1" dirty="0"/>
              <a:t>), </a:t>
            </a:r>
            <a:r>
              <a:rPr lang="es-ES" dirty="0"/>
              <a:t>eran capaces de realizar estos trabajos de forma automática y generar una única cinta con la ejecución secuencial de los programas de varios usuarios.</a:t>
            </a:r>
          </a:p>
          <a:p>
            <a:pPr algn="just"/>
            <a:endParaRPr lang="es-ES" dirty="0"/>
          </a:p>
          <a:p>
            <a:pPr algn="just"/>
            <a:r>
              <a:rPr lang="es-ES" dirty="0"/>
              <a:t>Un programa llamado </a:t>
            </a:r>
            <a:r>
              <a:rPr lang="es-ES" dirty="0" err="1"/>
              <a:t>batch</a:t>
            </a:r>
            <a:r>
              <a:rPr lang="es-ES" dirty="0"/>
              <a:t> monitor era el encargado de secuenciar y mantener esta ejecución y puede considerarse el embrión de los sistemas operativos. No había interactividad, el usuario solo conocía el resultado de la ejecución a posteriori y no podía introducir datos durante la ejecución.</a:t>
            </a:r>
          </a:p>
        </p:txBody>
      </p:sp>
    </p:spTree>
    <p:extLst>
      <p:ext uri="{BB962C8B-B14F-4D97-AF65-F5344CB8AC3E}">
        <p14:creationId xmlns:p14="http://schemas.microsoft.com/office/powerpoint/2010/main" val="27064977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589214" y="117726"/>
            <a:ext cx="7049872" cy="530817"/>
          </a:xfrm>
        </p:spPr>
        <p:txBody>
          <a:bodyPr/>
          <a:lstStyle/>
          <a:p>
            <a:r>
              <a:rPr lang="es-ES" dirty="0"/>
              <a:t>Historia de los Sistemas Operativos</a:t>
            </a:r>
          </a:p>
        </p:txBody>
      </p:sp>
      <p:sp>
        <p:nvSpPr>
          <p:cNvPr id="2" name="CuadroTexto 1">
            <a:extLst>
              <a:ext uri="{FF2B5EF4-FFF2-40B4-BE49-F238E27FC236}">
                <a16:creationId xmlns:a16="http://schemas.microsoft.com/office/drawing/2014/main" id="{6A81CF2A-EECB-4E8B-94AF-D752FC6E7CC1}"/>
              </a:ext>
            </a:extLst>
          </p:cNvPr>
          <p:cNvSpPr txBox="1"/>
          <p:nvPr/>
        </p:nvSpPr>
        <p:spPr>
          <a:xfrm>
            <a:off x="1661214" y="614566"/>
            <a:ext cx="7158786" cy="4411208"/>
          </a:xfrm>
          <a:prstGeom prst="rect">
            <a:avLst/>
          </a:prstGeom>
          <a:noFill/>
        </p:spPr>
        <p:txBody>
          <a:bodyPr wrap="square" rtlCol="0">
            <a:spAutoFit/>
          </a:bodyPr>
          <a:lstStyle/>
          <a:p>
            <a:pPr>
              <a:lnSpc>
                <a:spcPct val="107000"/>
              </a:lnSpc>
              <a:spcAft>
                <a:spcPts val="800"/>
              </a:spcAft>
            </a:pPr>
            <a:r>
              <a:rPr lang="es-ES" sz="1400" b="1"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Concepto de </a:t>
            </a:r>
            <a:r>
              <a:rPr lang="es-ES" sz="1400" b="1" dirty="0" err="1">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multiplexaje</a:t>
            </a:r>
            <a:r>
              <a:rPr lang="es-ES" sz="14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 </a:t>
            </a:r>
            <a:r>
              <a:rPr lang="es-ES" sz="1400" dirty="0">
                <a:effectLst/>
                <a:latin typeface="Calibri" panose="020F0502020204030204" pitchFamily="34" charset="0"/>
                <a:ea typeface="Calibri" panose="020F0502020204030204" pitchFamily="34" charset="0"/>
                <a:cs typeface="Times New Roman" panose="02020603050405020304" pitchFamily="18" charset="0"/>
              </a:rPr>
              <a:t>(</a:t>
            </a:r>
            <a:r>
              <a:rPr lang="es-ES" sz="1400" b="1" dirty="0">
                <a:effectLst/>
                <a:latin typeface="Calibri" panose="020F0502020204030204" pitchFamily="34" charset="0"/>
                <a:ea typeface="Calibri" panose="020F0502020204030204" pitchFamily="34" charset="0"/>
                <a:cs typeface="Times New Roman" panose="02020603050405020304" pitchFamily="18" charset="0"/>
              </a:rPr>
              <a:t>compartir</a:t>
            </a:r>
            <a:r>
              <a:rPr lang="es-ES" sz="14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s-ES" sz="1400" dirty="0" err="1">
                <a:effectLst/>
                <a:latin typeface="Calibri" panose="020F0502020204030204" pitchFamily="34" charset="0"/>
                <a:ea typeface="Calibri" panose="020F0502020204030204" pitchFamily="34" charset="0"/>
                <a:cs typeface="Times New Roman" panose="02020603050405020304" pitchFamily="18" charset="0"/>
              </a:rPr>
              <a:t>Multiplexaje</a:t>
            </a:r>
            <a:r>
              <a:rPr lang="es-ES" sz="1400" dirty="0">
                <a:effectLst/>
                <a:latin typeface="Calibri" panose="020F0502020204030204" pitchFamily="34" charset="0"/>
                <a:ea typeface="Calibri" panose="020F0502020204030204" pitchFamily="34" charset="0"/>
                <a:cs typeface="Times New Roman" panose="02020603050405020304" pitchFamily="18" charset="0"/>
              </a:rPr>
              <a:t> hace referencia a la gestión de los recursos en dos formas distintas:</a:t>
            </a:r>
          </a:p>
          <a:p>
            <a:pPr marL="342900" lvl="0" indent="-342900">
              <a:lnSpc>
                <a:spcPct val="107000"/>
              </a:lnSpc>
              <a:buFont typeface="Symbol" panose="05050102010706020507" pitchFamily="18" charset="2"/>
              <a:buChar char=""/>
            </a:pPr>
            <a:r>
              <a:rPr lang="es-ES" sz="1400" dirty="0">
                <a:effectLst/>
                <a:latin typeface="Calibri" panose="020F0502020204030204" pitchFamily="34" charset="0"/>
                <a:ea typeface="Calibri" panose="020F0502020204030204" pitchFamily="34" charset="0"/>
                <a:cs typeface="Times New Roman" panose="02020603050405020304" pitchFamily="18" charset="0"/>
              </a:rPr>
              <a:t>En el tiempo</a:t>
            </a:r>
          </a:p>
          <a:p>
            <a:pPr marL="342900" lvl="0" indent="-342900">
              <a:lnSpc>
                <a:spcPct val="107000"/>
              </a:lnSpc>
              <a:spcAft>
                <a:spcPts val="800"/>
              </a:spcAft>
              <a:buFont typeface="Symbol" panose="05050102010706020507" pitchFamily="18" charset="2"/>
              <a:buChar char=""/>
            </a:pPr>
            <a:r>
              <a:rPr lang="es-ES" sz="1400" dirty="0">
                <a:effectLst/>
                <a:latin typeface="Calibri" panose="020F0502020204030204" pitchFamily="34" charset="0"/>
                <a:ea typeface="Calibri" panose="020F0502020204030204" pitchFamily="34" charset="0"/>
                <a:cs typeface="Times New Roman" panose="02020603050405020304" pitchFamily="18" charset="0"/>
              </a:rPr>
              <a:t>En el espacio</a:t>
            </a:r>
          </a:p>
          <a:p>
            <a:pPr algn="just">
              <a:lnSpc>
                <a:spcPct val="107000"/>
              </a:lnSpc>
              <a:spcAft>
                <a:spcPts val="800"/>
              </a:spcAft>
            </a:pPr>
            <a:r>
              <a:rPr lang="es-ES" sz="1400" dirty="0">
                <a:effectLst/>
                <a:latin typeface="Calibri" panose="020F0502020204030204" pitchFamily="34" charset="0"/>
                <a:ea typeface="Calibri" panose="020F0502020204030204" pitchFamily="34" charset="0"/>
                <a:cs typeface="Times New Roman" panose="02020603050405020304" pitchFamily="18" charset="0"/>
              </a:rPr>
              <a:t>Cuando un </a:t>
            </a:r>
            <a:r>
              <a:rPr lang="es-ES" sz="1400" b="1" dirty="0">
                <a:effectLst/>
                <a:latin typeface="Calibri" panose="020F0502020204030204" pitchFamily="34" charset="0"/>
                <a:ea typeface="Calibri" panose="020F0502020204030204" pitchFamily="34" charset="0"/>
                <a:cs typeface="Times New Roman" panose="02020603050405020304" pitchFamily="18" charset="0"/>
              </a:rPr>
              <a:t>recurso se multiplexa en el tiempo</a:t>
            </a:r>
            <a:r>
              <a:rPr lang="es-ES" sz="1400" dirty="0">
                <a:effectLst/>
                <a:latin typeface="Calibri" panose="020F0502020204030204" pitchFamily="34" charset="0"/>
                <a:ea typeface="Calibri" panose="020F0502020204030204" pitchFamily="34" charset="0"/>
                <a:cs typeface="Times New Roman" panose="02020603050405020304" pitchFamily="18" charset="0"/>
              </a:rPr>
              <a:t>, los distintos programas toman turnos para utilizarlo: uno de ellos obtiene acceso al recurso, después otro y así en lo sucesivo. Por ejemplo, con sólo una CPU y varios programas que desean ejecutarse en ella, el sistema operativo primero asigna la CPU a un programa y después, una vez que se ha ejecutado el tiempo suficiente, otro programa obtiene acceso a la CPU, después otro, y un momento determinado el primer programa vuelve a obtener acceso el recurso.</a:t>
            </a:r>
          </a:p>
          <a:p>
            <a:pPr algn="just">
              <a:lnSpc>
                <a:spcPct val="107000"/>
              </a:lnSpc>
              <a:spcAft>
                <a:spcPts val="800"/>
              </a:spcAft>
            </a:pPr>
            <a:r>
              <a:rPr lang="es-ES" sz="1400" dirty="0">
                <a:effectLst/>
                <a:latin typeface="Calibri" panose="020F0502020204030204" pitchFamily="34" charset="0"/>
                <a:ea typeface="Calibri" panose="020F0502020204030204" pitchFamily="34" charset="0"/>
                <a:cs typeface="Times New Roman" panose="02020603050405020304" pitchFamily="18" charset="0"/>
              </a:rPr>
              <a:t>El otro tipo de </a:t>
            </a:r>
            <a:r>
              <a:rPr lang="es-ES" sz="1400" b="1" dirty="0" err="1">
                <a:effectLst/>
                <a:latin typeface="Calibri" panose="020F0502020204030204" pitchFamily="34" charset="0"/>
                <a:ea typeface="Calibri" panose="020F0502020204030204" pitchFamily="34" charset="0"/>
                <a:cs typeface="Times New Roman" panose="02020603050405020304" pitchFamily="18" charset="0"/>
              </a:rPr>
              <a:t>multiplexaje</a:t>
            </a:r>
            <a:r>
              <a:rPr lang="es-ES" sz="1400" b="1" dirty="0">
                <a:effectLst/>
                <a:latin typeface="Calibri" panose="020F0502020204030204" pitchFamily="34" charset="0"/>
                <a:ea typeface="Calibri" panose="020F0502020204030204" pitchFamily="34" charset="0"/>
                <a:cs typeface="Times New Roman" panose="02020603050405020304" pitchFamily="18" charset="0"/>
              </a:rPr>
              <a:t> es en el espacio</a:t>
            </a:r>
            <a:r>
              <a:rPr lang="es-ES" sz="1400" dirty="0">
                <a:effectLst/>
                <a:latin typeface="Calibri" panose="020F0502020204030204" pitchFamily="34" charset="0"/>
                <a:ea typeface="Calibri" panose="020F0502020204030204" pitchFamily="34" charset="0"/>
                <a:cs typeface="Times New Roman" panose="02020603050405020304" pitchFamily="18" charset="0"/>
              </a:rPr>
              <a:t>. En vez de que los usuarios tomen turnos, cada uno obtiene una parte del recurso. Por ejemplo, normalmente la memoria principal se divide entre varios programas en ejecución para que cada uno pueda estar residente al mismo tiempo. Otro recurso que se multiplexa en espacio es el disco duro, un solo disco puede contener archivos de muchos usuarios al mismo tiempo.  Asignar espacio en disco y llevar el registro de quién está utilizando cuáles bloques de disco es una tarea de administración de recursos común del sistema operativo.</a:t>
            </a:r>
          </a:p>
        </p:txBody>
      </p:sp>
    </p:spTree>
    <p:extLst>
      <p:ext uri="{BB962C8B-B14F-4D97-AF65-F5344CB8AC3E}">
        <p14:creationId xmlns:p14="http://schemas.microsoft.com/office/powerpoint/2010/main" val="26037158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Historia de los Sistemas Operativos</a:t>
            </a:r>
          </a:p>
        </p:txBody>
      </p:sp>
      <p:sp>
        <p:nvSpPr>
          <p:cNvPr id="2" name="CuadroTexto 1">
            <a:extLst>
              <a:ext uri="{FF2B5EF4-FFF2-40B4-BE49-F238E27FC236}">
                <a16:creationId xmlns:a16="http://schemas.microsoft.com/office/drawing/2014/main" id="{6A81CF2A-EECB-4E8B-94AF-D752FC6E7CC1}"/>
              </a:ext>
            </a:extLst>
          </p:cNvPr>
          <p:cNvSpPr txBox="1"/>
          <p:nvPr/>
        </p:nvSpPr>
        <p:spPr>
          <a:xfrm>
            <a:off x="1776414" y="1082566"/>
            <a:ext cx="2837793" cy="2377574"/>
          </a:xfrm>
          <a:prstGeom prst="rect">
            <a:avLst/>
          </a:prstGeom>
          <a:noFill/>
        </p:spPr>
        <p:txBody>
          <a:bodyPr wrap="square" rtlCol="0">
            <a:spAutoFit/>
          </a:bodyPr>
          <a:lstStyle/>
          <a:p>
            <a:pPr algn="just"/>
            <a:r>
              <a:rPr lang="es-ES" dirty="0"/>
              <a:t>En los años 60 (</a:t>
            </a:r>
            <a:r>
              <a:rPr lang="es-ES" b="1" dirty="0"/>
              <a:t>tercera generación</a:t>
            </a:r>
            <a:r>
              <a:rPr lang="es-ES" dirty="0"/>
              <a:t>), se desarrollan los primeros sistemas operativos modernos, con multiprogramación y multiusuario. IBM desarrolla su línea para mainframes DOS/360 y VM. El MIT comienza un proyecto experimental llamado CTSS (Compatible </a:t>
            </a:r>
            <a:r>
              <a:rPr lang="es-ES" b="1" dirty="0"/>
              <a:t>Time </a:t>
            </a:r>
            <a:r>
              <a:rPr lang="es-ES" b="1" dirty="0" err="1"/>
              <a:t>Sharing</a:t>
            </a:r>
            <a:r>
              <a:rPr lang="es-ES" dirty="0"/>
              <a:t> </a:t>
            </a:r>
            <a:r>
              <a:rPr lang="es-ES" dirty="0" err="1"/>
              <a:t>System</a:t>
            </a:r>
            <a:r>
              <a:rPr lang="es-ES" dirty="0"/>
              <a:t>). Este sistema fue el antecedente de </a:t>
            </a:r>
            <a:r>
              <a:rPr lang="es-ES" dirty="0" err="1"/>
              <a:t>Multics</a:t>
            </a:r>
            <a:r>
              <a:rPr lang="es-ES" dirty="0"/>
              <a:t>, a su vez, inspiración de UNIX de </a:t>
            </a:r>
            <a:r>
              <a:rPr lang="es-ES" i="1" dirty="0"/>
              <a:t>Bell </a:t>
            </a:r>
            <a:r>
              <a:rPr lang="es-ES" i="1" dirty="0" err="1"/>
              <a:t>Labs</a:t>
            </a:r>
            <a:r>
              <a:rPr lang="es-ES" dirty="0"/>
              <a:t>.</a:t>
            </a:r>
          </a:p>
        </p:txBody>
      </p:sp>
      <p:pic>
        <p:nvPicPr>
          <p:cNvPr id="7" name="Imagen 6">
            <a:extLst>
              <a:ext uri="{FF2B5EF4-FFF2-40B4-BE49-F238E27FC236}">
                <a16:creationId xmlns:a16="http://schemas.microsoft.com/office/drawing/2014/main" id="{90198028-D47E-42FC-A98C-2C9259A2C70B}"/>
              </a:ext>
            </a:extLst>
          </p:cNvPr>
          <p:cNvPicPr>
            <a:picLocks noChangeAspect="1"/>
          </p:cNvPicPr>
          <p:nvPr/>
        </p:nvPicPr>
        <p:blipFill>
          <a:blip r:embed="rId3"/>
          <a:stretch>
            <a:fillRect/>
          </a:stretch>
        </p:blipFill>
        <p:spPr>
          <a:xfrm>
            <a:off x="4917752" y="1156138"/>
            <a:ext cx="3908534" cy="3283169"/>
          </a:xfrm>
          <a:prstGeom prst="rect">
            <a:avLst/>
          </a:prstGeom>
        </p:spPr>
      </p:pic>
      <p:sp>
        <p:nvSpPr>
          <p:cNvPr id="9" name="CuadroTexto 8">
            <a:extLst>
              <a:ext uri="{FF2B5EF4-FFF2-40B4-BE49-F238E27FC236}">
                <a16:creationId xmlns:a16="http://schemas.microsoft.com/office/drawing/2014/main" id="{D43D2CE4-29F8-4AD2-9E80-501D4BCEF3D8}"/>
              </a:ext>
            </a:extLst>
          </p:cNvPr>
          <p:cNvSpPr txBox="1"/>
          <p:nvPr/>
        </p:nvSpPr>
        <p:spPr>
          <a:xfrm>
            <a:off x="4474780" y="4614818"/>
            <a:ext cx="4577254" cy="300082"/>
          </a:xfrm>
          <a:prstGeom prst="rect">
            <a:avLst/>
          </a:prstGeom>
          <a:noFill/>
        </p:spPr>
        <p:txBody>
          <a:bodyPr wrap="square">
            <a:spAutoFit/>
          </a:bodyPr>
          <a:lstStyle/>
          <a:p>
            <a:r>
              <a:rPr lang="es-ES" dirty="0">
                <a:hlinkClick r:id="rId4"/>
              </a:rPr>
              <a:t>https://www.youtube.com/watch?v=Q07PhW5sCEk&amp;t=278s</a:t>
            </a:r>
            <a:endParaRPr lang="es-ES" dirty="0"/>
          </a:p>
        </p:txBody>
      </p:sp>
    </p:spTree>
    <p:extLst>
      <p:ext uri="{BB962C8B-B14F-4D97-AF65-F5344CB8AC3E}">
        <p14:creationId xmlns:p14="http://schemas.microsoft.com/office/powerpoint/2010/main" val="21674906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Historia de los Sistemas Operativos</a:t>
            </a:r>
          </a:p>
        </p:txBody>
      </p:sp>
      <p:sp>
        <p:nvSpPr>
          <p:cNvPr id="3" name="CuadroTexto 2">
            <a:extLst>
              <a:ext uri="{FF2B5EF4-FFF2-40B4-BE49-F238E27FC236}">
                <a16:creationId xmlns:a16="http://schemas.microsoft.com/office/drawing/2014/main" id="{1F2A2595-A7CE-4163-80A3-01AF2B801716}"/>
              </a:ext>
            </a:extLst>
          </p:cNvPr>
          <p:cNvSpPr txBox="1"/>
          <p:nvPr/>
        </p:nvSpPr>
        <p:spPr>
          <a:xfrm>
            <a:off x="1776414" y="1082566"/>
            <a:ext cx="5843586" cy="584775"/>
          </a:xfrm>
          <a:prstGeom prst="rect">
            <a:avLst/>
          </a:prstGeom>
          <a:noFill/>
        </p:spPr>
        <p:txBody>
          <a:bodyPr wrap="square" rtlCol="0">
            <a:spAutoFit/>
          </a:bodyPr>
          <a:lstStyle/>
          <a:p>
            <a:pPr algn="just"/>
            <a:r>
              <a:rPr lang="es-ES" sz="1600" b="1" dirty="0" err="1"/>
              <a:t>Multics</a:t>
            </a:r>
            <a:r>
              <a:rPr lang="es-ES" sz="1600" b="1" dirty="0"/>
              <a:t> (</a:t>
            </a:r>
            <a:r>
              <a:rPr lang="en-US" sz="1600" b="1" dirty="0"/>
              <a:t>Multiplexed Information and Computing Service)</a:t>
            </a:r>
            <a:r>
              <a:rPr lang="es-ES" sz="1600" b="1" dirty="0"/>
              <a:t> 1964</a:t>
            </a:r>
          </a:p>
          <a:p>
            <a:pPr algn="just"/>
            <a:r>
              <a:rPr lang="es-ES" sz="1600" b="1" dirty="0"/>
              <a:t>MIT, Bell </a:t>
            </a:r>
            <a:r>
              <a:rPr lang="es-ES" sz="1600" b="1" dirty="0" err="1"/>
              <a:t>Labs</a:t>
            </a:r>
            <a:r>
              <a:rPr lang="es-ES" sz="1600" b="1" dirty="0"/>
              <a:t> y General Electric</a:t>
            </a:r>
          </a:p>
        </p:txBody>
      </p:sp>
      <p:sp>
        <p:nvSpPr>
          <p:cNvPr id="5" name="CuadroTexto 4">
            <a:extLst>
              <a:ext uri="{FF2B5EF4-FFF2-40B4-BE49-F238E27FC236}">
                <a16:creationId xmlns:a16="http://schemas.microsoft.com/office/drawing/2014/main" id="{4FB897BD-C945-4F98-B651-D291C4669BC1}"/>
              </a:ext>
            </a:extLst>
          </p:cNvPr>
          <p:cNvSpPr txBox="1"/>
          <p:nvPr/>
        </p:nvSpPr>
        <p:spPr>
          <a:xfrm>
            <a:off x="1912883" y="1776248"/>
            <a:ext cx="6579476" cy="1962076"/>
          </a:xfrm>
          <a:prstGeom prst="rect">
            <a:avLst/>
          </a:prstGeom>
          <a:noFill/>
        </p:spPr>
        <p:txBody>
          <a:bodyPr wrap="square" rtlCol="0">
            <a:spAutoFit/>
          </a:bodyPr>
          <a:lstStyle/>
          <a:p>
            <a:r>
              <a:rPr lang="es-ES" dirty="0"/>
              <a:t>Proyecto muy innovador que desarrolló muchos elementos de los Sistemas Operativos modernos pero que resultó un fracaso comercial, posiblemente porque estaba muy adelantado a su tiempo.</a:t>
            </a:r>
          </a:p>
          <a:p>
            <a:endParaRPr lang="es-ES" dirty="0"/>
          </a:p>
          <a:p>
            <a:pPr marL="285750" indent="-285750">
              <a:buFont typeface="Arial" panose="020B0604020202020204" pitchFamily="34" charset="0"/>
              <a:buChar char="•"/>
            </a:pPr>
            <a:r>
              <a:rPr lang="es-ES" dirty="0"/>
              <a:t>Memoria virtual y segmentada</a:t>
            </a:r>
          </a:p>
          <a:p>
            <a:pPr marL="285750" indent="-285750">
              <a:buFont typeface="Arial" panose="020B0604020202020204" pitchFamily="34" charset="0"/>
              <a:buChar char="•"/>
            </a:pPr>
            <a:r>
              <a:rPr lang="es-ES" dirty="0"/>
              <a:t>Jerarquías de ficheros</a:t>
            </a:r>
          </a:p>
          <a:p>
            <a:pPr marL="285750" indent="-285750">
              <a:buFont typeface="Arial" panose="020B0604020202020204" pitchFamily="34" charset="0"/>
              <a:buChar char="•"/>
            </a:pPr>
            <a:r>
              <a:rPr lang="es-ES" dirty="0"/>
              <a:t>Bases de datos relacionales</a:t>
            </a:r>
          </a:p>
          <a:p>
            <a:pPr marL="285750" indent="-285750">
              <a:buFont typeface="Arial" panose="020B0604020202020204" pitchFamily="34" charset="0"/>
              <a:buChar char="•"/>
            </a:pPr>
            <a:r>
              <a:rPr lang="es-ES" dirty="0" err="1"/>
              <a:t>Multicore</a:t>
            </a:r>
            <a:r>
              <a:rPr lang="es-ES" dirty="0"/>
              <a:t> con memoria compartida</a:t>
            </a:r>
          </a:p>
          <a:p>
            <a:pPr marL="285750" indent="-285750">
              <a:buFont typeface="Arial" panose="020B0604020202020204" pitchFamily="34" charset="0"/>
              <a:buChar char="•"/>
            </a:pPr>
            <a:r>
              <a:rPr lang="es-ES" dirty="0"/>
              <a:t>Seguridad</a:t>
            </a:r>
          </a:p>
        </p:txBody>
      </p:sp>
      <p:sp>
        <p:nvSpPr>
          <p:cNvPr id="10" name="CuadroTexto 9">
            <a:extLst>
              <a:ext uri="{FF2B5EF4-FFF2-40B4-BE49-F238E27FC236}">
                <a16:creationId xmlns:a16="http://schemas.microsoft.com/office/drawing/2014/main" id="{1949287D-39D4-4F12-A4D2-9021C7FEFC4E}"/>
              </a:ext>
            </a:extLst>
          </p:cNvPr>
          <p:cNvSpPr txBox="1"/>
          <p:nvPr/>
        </p:nvSpPr>
        <p:spPr>
          <a:xfrm>
            <a:off x="1776414" y="4455073"/>
            <a:ext cx="4577254" cy="300082"/>
          </a:xfrm>
          <a:prstGeom prst="rect">
            <a:avLst/>
          </a:prstGeom>
          <a:noFill/>
        </p:spPr>
        <p:txBody>
          <a:bodyPr wrap="square">
            <a:spAutoFit/>
          </a:bodyPr>
          <a:lstStyle/>
          <a:p>
            <a:r>
              <a:rPr lang="es-ES" dirty="0">
                <a:hlinkClick r:id="rId3"/>
              </a:rPr>
              <a:t>https://multicians.org/history.html</a:t>
            </a:r>
            <a:endParaRPr lang="es-ES" dirty="0"/>
          </a:p>
        </p:txBody>
      </p:sp>
      <p:pic>
        <p:nvPicPr>
          <p:cNvPr id="1026" name="Picture 2">
            <a:extLst>
              <a:ext uri="{FF2B5EF4-FFF2-40B4-BE49-F238E27FC236}">
                <a16:creationId xmlns:a16="http://schemas.microsoft.com/office/drawing/2014/main" id="{3A8B32C8-8812-473F-AE6C-CBA9660396B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85272" y="2342053"/>
            <a:ext cx="1860550" cy="2572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707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Historia de los Sistemas Operativos</a:t>
            </a:r>
          </a:p>
        </p:txBody>
      </p:sp>
      <p:sp>
        <p:nvSpPr>
          <p:cNvPr id="3" name="CuadroTexto 2">
            <a:extLst>
              <a:ext uri="{FF2B5EF4-FFF2-40B4-BE49-F238E27FC236}">
                <a16:creationId xmlns:a16="http://schemas.microsoft.com/office/drawing/2014/main" id="{1F2A2595-A7CE-4163-80A3-01AF2B801716}"/>
              </a:ext>
            </a:extLst>
          </p:cNvPr>
          <p:cNvSpPr txBox="1"/>
          <p:nvPr/>
        </p:nvSpPr>
        <p:spPr>
          <a:xfrm>
            <a:off x="1776414" y="938946"/>
            <a:ext cx="5843586" cy="338554"/>
          </a:xfrm>
          <a:prstGeom prst="rect">
            <a:avLst/>
          </a:prstGeom>
          <a:noFill/>
        </p:spPr>
        <p:txBody>
          <a:bodyPr wrap="square" rtlCol="0">
            <a:spAutoFit/>
          </a:bodyPr>
          <a:lstStyle/>
          <a:p>
            <a:pPr algn="just"/>
            <a:r>
              <a:rPr lang="es-ES" sz="1600" b="1" dirty="0"/>
              <a:t>Unix</a:t>
            </a:r>
          </a:p>
        </p:txBody>
      </p:sp>
      <p:sp>
        <p:nvSpPr>
          <p:cNvPr id="2" name="CuadroTexto 1">
            <a:extLst>
              <a:ext uri="{FF2B5EF4-FFF2-40B4-BE49-F238E27FC236}">
                <a16:creationId xmlns:a16="http://schemas.microsoft.com/office/drawing/2014/main" id="{DBB6559E-C0C2-42B8-8374-6666110E9B62}"/>
              </a:ext>
            </a:extLst>
          </p:cNvPr>
          <p:cNvSpPr txBox="1"/>
          <p:nvPr/>
        </p:nvSpPr>
        <p:spPr>
          <a:xfrm>
            <a:off x="2017986" y="1411482"/>
            <a:ext cx="7004995" cy="2793072"/>
          </a:xfrm>
          <a:prstGeom prst="rect">
            <a:avLst/>
          </a:prstGeom>
          <a:noFill/>
        </p:spPr>
        <p:txBody>
          <a:bodyPr wrap="none" rtlCol="0">
            <a:spAutoFit/>
          </a:bodyPr>
          <a:lstStyle/>
          <a:p>
            <a:r>
              <a:rPr lang="es-ES" dirty="0"/>
              <a:t>En 1969 Bell </a:t>
            </a:r>
            <a:r>
              <a:rPr lang="es-ES" dirty="0" err="1"/>
              <a:t>Labs</a:t>
            </a:r>
            <a:r>
              <a:rPr lang="es-ES" dirty="0"/>
              <a:t> se retira de </a:t>
            </a:r>
            <a:r>
              <a:rPr lang="es-ES" dirty="0" err="1"/>
              <a:t>Multics</a:t>
            </a:r>
            <a:r>
              <a:rPr lang="es-ES" dirty="0"/>
              <a:t>. Ken Thompson y Dennis Ritchie empiezan a trabajar</a:t>
            </a:r>
          </a:p>
          <a:p>
            <a:r>
              <a:rPr lang="es-ES" dirty="0"/>
              <a:t>en un Sistema Operativo propio con las ideas aprendidas en </a:t>
            </a:r>
            <a:r>
              <a:rPr lang="es-ES" dirty="0" err="1"/>
              <a:t>Multics</a:t>
            </a:r>
            <a:r>
              <a:rPr lang="es-ES" dirty="0"/>
              <a:t>, una versión reducida a</a:t>
            </a:r>
          </a:p>
          <a:p>
            <a:r>
              <a:rPr lang="es-ES" dirty="0"/>
              <a:t>la que llaman </a:t>
            </a:r>
            <a:r>
              <a:rPr lang="es-ES" dirty="0" err="1"/>
              <a:t>Unics</a:t>
            </a:r>
            <a:r>
              <a:rPr lang="es-ES" dirty="0"/>
              <a:t>, que finalmente se convierte en Unix.</a:t>
            </a:r>
          </a:p>
          <a:p>
            <a:pPr marL="285750" indent="-285750">
              <a:buFont typeface="Arial" panose="020B0604020202020204" pitchFamily="34" charset="0"/>
              <a:buChar char="•"/>
            </a:pPr>
            <a:r>
              <a:rPr lang="es-ES" dirty="0"/>
              <a:t>Es el primer Sistema Operativo escrito en un lenguaje de alto nivel, C, que se desarrolla</a:t>
            </a:r>
            <a:br>
              <a:rPr lang="es-ES" dirty="0"/>
            </a:br>
            <a:r>
              <a:rPr lang="es-ES" dirty="0"/>
              <a:t>con este propósito. Esto favoreció su portabilidad a distintas plataformas HW.</a:t>
            </a:r>
          </a:p>
          <a:p>
            <a:pPr marL="285750" indent="-285750">
              <a:buFont typeface="Arial" panose="020B0604020202020204" pitchFamily="34" charset="0"/>
              <a:buChar char="•"/>
            </a:pPr>
            <a:r>
              <a:rPr lang="es-ES" dirty="0"/>
              <a:t>Unix establece un estándar de facto que perdura hasta hoy.</a:t>
            </a:r>
          </a:p>
          <a:p>
            <a:pPr marL="285750" indent="-285750">
              <a:buFont typeface="Arial" panose="020B0604020202020204" pitchFamily="34" charset="0"/>
              <a:buChar char="•"/>
            </a:pPr>
            <a:r>
              <a:rPr lang="es-ES" dirty="0"/>
              <a:t>Bell </a:t>
            </a:r>
            <a:r>
              <a:rPr lang="es-ES" dirty="0" err="1"/>
              <a:t>Labs</a:t>
            </a:r>
            <a:r>
              <a:rPr lang="es-ES" dirty="0"/>
              <a:t> no podía legalmente vender software, por lo que empezó a ceder licencias gratuitas</a:t>
            </a:r>
            <a:br>
              <a:rPr lang="es-ES" dirty="0"/>
            </a:br>
            <a:r>
              <a:rPr lang="es-ES" dirty="0"/>
              <a:t>a universidades, incluyendo el código. En 1978 en Berkeley se desarrolla la BSD (Berkeley </a:t>
            </a:r>
            <a:br>
              <a:rPr lang="es-ES" dirty="0"/>
            </a:br>
            <a:r>
              <a:rPr lang="es-ES" dirty="0"/>
              <a:t>Software </a:t>
            </a:r>
            <a:r>
              <a:rPr lang="es-ES" dirty="0" err="1"/>
              <a:t>Distribution</a:t>
            </a:r>
            <a:r>
              <a:rPr lang="es-ES" dirty="0"/>
              <a:t>), a partir de la V6 de Unix.</a:t>
            </a:r>
          </a:p>
          <a:p>
            <a:pPr marL="285750" indent="-285750">
              <a:buFont typeface="Arial" panose="020B0604020202020204" pitchFamily="34" charset="0"/>
              <a:buChar char="•"/>
            </a:pPr>
            <a:r>
              <a:rPr lang="es-ES" dirty="0"/>
              <a:t>Bell </a:t>
            </a:r>
            <a:r>
              <a:rPr lang="es-ES" dirty="0" err="1"/>
              <a:t>Labs</a:t>
            </a:r>
            <a:r>
              <a:rPr lang="es-ES" dirty="0"/>
              <a:t> cede licencias comerciales a fabricantes como HP, </a:t>
            </a:r>
            <a:r>
              <a:rPr lang="es-ES" dirty="0" err="1"/>
              <a:t>Sun</a:t>
            </a:r>
            <a:r>
              <a:rPr lang="es-ES" dirty="0"/>
              <a:t> y Silicon </a:t>
            </a:r>
            <a:r>
              <a:rPr lang="es-ES" dirty="0" err="1"/>
              <a:t>Graphics</a:t>
            </a:r>
            <a:r>
              <a:rPr lang="es-ES" dirty="0"/>
              <a:t> que</a:t>
            </a:r>
            <a:br>
              <a:rPr lang="es-ES" dirty="0"/>
            </a:br>
            <a:r>
              <a:rPr lang="es-ES" dirty="0"/>
              <a:t>desarrollan sus propias versiones.</a:t>
            </a:r>
          </a:p>
          <a:p>
            <a:pPr marL="285750" indent="-285750">
              <a:buFont typeface="Arial" panose="020B0604020202020204" pitchFamily="34" charset="0"/>
              <a:buChar char="•"/>
            </a:pPr>
            <a:r>
              <a:rPr lang="es-ES" dirty="0"/>
              <a:t>Linux no está basado en el código de Unix sino en una versión educativa reducida, MINIX,</a:t>
            </a:r>
            <a:br>
              <a:rPr lang="es-ES" dirty="0"/>
            </a:br>
            <a:r>
              <a:rPr lang="es-ES" dirty="0"/>
              <a:t>desarrollada desde cero por Andrew Tanenbaum.</a:t>
            </a:r>
          </a:p>
        </p:txBody>
      </p:sp>
      <p:sp>
        <p:nvSpPr>
          <p:cNvPr id="7" name="CuadroTexto 6">
            <a:extLst>
              <a:ext uri="{FF2B5EF4-FFF2-40B4-BE49-F238E27FC236}">
                <a16:creationId xmlns:a16="http://schemas.microsoft.com/office/drawing/2014/main" id="{E983C2DB-8A0C-434F-9B45-4B96AB84371D}"/>
              </a:ext>
            </a:extLst>
          </p:cNvPr>
          <p:cNvSpPr txBox="1"/>
          <p:nvPr/>
        </p:nvSpPr>
        <p:spPr>
          <a:xfrm>
            <a:off x="2017986" y="4748281"/>
            <a:ext cx="4577254" cy="300082"/>
          </a:xfrm>
          <a:prstGeom prst="rect">
            <a:avLst/>
          </a:prstGeom>
          <a:noFill/>
        </p:spPr>
        <p:txBody>
          <a:bodyPr wrap="square">
            <a:spAutoFit/>
          </a:bodyPr>
          <a:lstStyle/>
          <a:p>
            <a:r>
              <a:rPr lang="es-ES" dirty="0">
                <a:hlinkClick r:id="rId3"/>
              </a:rPr>
              <a:t>https://www.youtube.com/watch?v=DXh2_CTJW9w</a:t>
            </a:r>
            <a:endParaRPr lang="es-ES" dirty="0"/>
          </a:p>
        </p:txBody>
      </p:sp>
      <p:sp>
        <p:nvSpPr>
          <p:cNvPr id="9" name="CuadroTexto 8">
            <a:extLst>
              <a:ext uri="{FF2B5EF4-FFF2-40B4-BE49-F238E27FC236}">
                <a16:creationId xmlns:a16="http://schemas.microsoft.com/office/drawing/2014/main" id="{E9979876-DE2E-49BA-BC36-8C71CF4786E4}"/>
              </a:ext>
            </a:extLst>
          </p:cNvPr>
          <p:cNvSpPr txBox="1"/>
          <p:nvPr/>
        </p:nvSpPr>
        <p:spPr>
          <a:xfrm>
            <a:off x="2017986" y="4448199"/>
            <a:ext cx="4995041" cy="300082"/>
          </a:xfrm>
          <a:prstGeom prst="rect">
            <a:avLst/>
          </a:prstGeom>
          <a:noFill/>
        </p:spPr>
        <p:txBody>
          <a:bodyPr wrap="square">
            <a:spAutoFit/>
          </a:bodyPr>
          <a:lstStyle/>
          <a:p>
            <a:r>
              <a:rPr lang="es-ES" dirty="0" err="1"/>
              <a:t>The</a:t>
            </a:r>
            <a:r>
              <a:rPr lang="es-ES" dirty="0"/>
              <a:t> Great </a:t>
            </a:r>
            <a:r>
              <a:rPr lang="es-ES" dirty="0" err="1"/>
              <a:t>History</a:t>
            </a:r>
            <a:r>
              <a:rPr lang="es-ES" dirty="0"/>
              <a:t> </a:t>
            </a:r>
            <a:r>
              <a:rPr lang="es-ES" dirty="0" err="1"/>
              <a:t>of</a:t>
            </a:r>
            <a:r>
              <a:rPr lang="es-ES" dirty="0"/>
              <a:t> UNIX (1969-1999) | 30 </a:t>
            </a:r>
            <a:r>
              <a:rPr lang="es-ES" dirty="0" err="1"/>
              <a:t>Years</a:t>
            </a:r>
            <a:r>
              <a:rPr lang="es-ES" dirty="0"/>
              <a:t> </a:t>
            </a:r>
            <a:r>
              <a:rPr lang="es-ES" dirty="0" err="1"/>
              <a:t>of</a:t>
            </a:r>
            <a:r>
              <a:rPr lang="es-ES" dirty="0"/>
              <a:t> UNIX </a:t>
            </a:r>
            <a:r>
              <a:rPr lang="es-ES" dirty="0" err="1"/>
              <a:t>History</a:t>
            </a:r>
            <a:endParaRPr lang="es-ES" dirty="0"/>
          </a:p>
        </p:txBody>
      </p:sp>
    </p:spTree>
    <p:extLst>
      <p:ext uri="{BB962C8B-B14F-4D97-AF65-F5344CB8AC3E}">
        <p14:creationId xmlns:p14="http://schemas.microsoft.com/office/powerpoint/2010/main" val="28191186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Historia de los Sistemas Operativos</a:t>
            </a:r>
          </a:p>
        </p:txBody>
      </p:sp>
      <p:sp>
        <p:nvSpPr>
          <p:cNvPr id="3" name="CuadroTexto 2">
            <a:extLst>
              <a:ext uri="{FF2B5EF4-FFF2-40B4-BE49-F238E27FC236}">
                <a16:creationId xmlns:a16="http://schemas.microsoft.com/office/drawing/2014/main" id="{1F2A2595-A7CE-4163-80A3-01AF2B801716}"/>
              </a:ext>
            </a:extLst>
          </p:cNvPr>
          <p:cNvSpPr txBox="1"/>
          <p:nvPr/>
        </p:nvSpPr>
        <p:spPr>
          <a:xfrm>
            <a:off x="1776414" y="1082566"/>
            <a:ext cx="5843586" cy="338554"/>
          </a:xfrm>
          <a:prstGeom prst="rect">
            <a:avLst/>
          </a:prstGeom>
          <a:noFill/>
        </p:spPr>
        <p:txBody>
          <a:bodyPr wrap="square" rtlCol="0">
            <a:spAutoFit/>
          </a:bodyPr>
          <a:lstStyle/>
          <a:p>
            <a:pPr algn="just"/>
            <a:r>
              <a:rPr lang="es-ES" sz="1600" b="1" dirty="0"/>
              <a:t>Unix</a:t>
            </a:r>
          </a:p>
        </p:txBody>
      </p:sp>
      <p:pic>
        <p:nvPicPr>
          <p:cNvPr id="2050" name="Picture 2">
            <a:extLst>
              <a:ext uri="{FF2B5EF4-FFF2-40B4-BE49-F238E27FC236}">
                <a16:creationId xmlns:a16="http://schemas.microsoft.com/office/drawing/2014/main" id="{5AD8AE21-C5BA-4C58-9EC7-28A6298837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7350" y="759417"/>
            <a:ext cx="5843587" cy="4244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8245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109150"/>
            <a:ext cx="7049872" cy="530817"/>
          </a:xfrm>
        </p:spPr>
        <p:txBody>
          <a:bodyPr/>
          <a:lstStyle/>
          <a:p>
            <a:r>
              <a:rPr lang="es-ES" dirty="0"/>
              <a:t>Historia de los Sistemas Operativos</a:t>
            </a:r>
          </a:p>
        </p:txBody>
      </p:sp>
      <p:sp>
        <p:nvSpPr>
          <p:cNvPr id="3" name="CuadroTexto 2">
            <a:extLst>
              <a:ext uri="{FF2B5EF4-FFF2-40B4-BE49-F238E27FC236}">
                <a16:creationId xmlns:a16="http://schemas.microsoft.com/office/drawing/2014/main" id="{1F2A2595-A7CE-4163-80A3-01AF2B801716}"/>
              </a:ext>
            </a:extLst>
          </p:cNvPr>
          <p:cNvSpPr txBox="1"/>
          <p:nvPr/>
        </p:nvSpPr>
        <p:spPr>
          <a:xfrm>
            <a:off x="1776414" y="1082566"/>
            <a:ext cx="5843586" cy="338554"/>
          </a:xfrm>
          <a:prstGeom prst="rect">
            <a:avLst/>
          </a:prstGeom>
          <a:noFill/>
        </p:spPr>
        <p:txBody>
          <a:bodyPr wrap="square" rtlCol="0">
            <a:spAutoFit/>
          </a:bodyPr>
          <a:lstStyle/>
          <a:p>
            <a:pPr algn="just"/>
            <a:r>
              <a:rPr lang="es-ES" sz="1600" b="1" dirty="0"/>
              <a:t>Unix</a:t>
            </a:r>
          </a:p>
        </p:txBody>
      </p:sp>
      <p:pic>
        <p:nvPicPr>
          <p:cNvPr id="5" name="Imagen 4" descr="Interfaz de usuario gráfica, Escala de tiempo&#10;&#10;Descripción generada automáticamente">
            <a:extLst>
              <a:ext uri="{FF2B5EF4-FFF2-40B4-BE49-F238E27FC236}">
                <a16:creationId xmlns:a16="http://schemas.microsoft.com/office/drawing/2014/main" id="{44F84AE1-737B-4C3D-B456-C3F293D9129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133350" y="787500"/>
            <a:ext cx="6336000" cy="4356000"/>
          </a:xfrm>
          <a:prstGeom prst="rect">
            <a:avLst/>
          </a:prstGeom>
          <a:noFill/>
          <a:ln>
            <a:noFill/>
          </a:ln>
        </p:spPr>
      </p:pic>
    </p:spTree>
    <p:extLst>
      <p:ext uri="{BB962C8B-B14F-4D97-AF65-F5344CB8AC3E}">
        <p14:creationId xmlns:p14="http://schemas.microsoft.com/office/powerpoint/2010/main" val="12333512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Historia de los Sistemas Operativos</a:t>
            </a:r>
          </a:p>
        </p:txBody>
      </p:sp>
      <p:sp>
        <p:nvSpPr>
          <p:cNvPr id="3" name="CuadroTexto 2">
            <a:extLst>
              <a:ext uri="{FF2B5EF4-FFF2-40B4-BE49-F238E27FC236}">
                <a16:creationId xmlns:a16="http://schemas.microsoft.com/office/drawing/2014/main" id="{1F2A2595-A7CE-4163-80A3-01AF2B801716}"/>
              </a:ext>
            </a:extLst>
          </p:cNvPr>
          <p:cNvSpPr txBox="1"/>
          <p:nvPr/>
        </p:nvSpPr>
        <p:spPr>
          <a:xfrm>
            <a:off x="1776414" y="1082566"/>
            <a:ext cx="5843586" cy="338554"/>
          </a:xfrm>
          <a:prstGeom prst="rect">
            <a:avLst/>
          </a:prstGeom>
          <a:noFill/>
        </p:spPr>
        <p:txBody>
          <a:bodyPr wrap="square" rtlCol="0">
            <a:spAutoFit/>
          </a:bodyPr>
          <a:lstStyle/>
          <a:p>
            <a:pPr algn="just"/>
            <a:r>
              <a:rPr lang="es-ES" sz="1600" b="1" dirty="0"/>
              <a:t>MS-DOS</a:t>
            </a:r>
          </a:p>
        </p:txBody>
      </p:sp>
      <p:sp>
        <p:nvSpPr>
          <p:cNvPr id="2" name="CuadroTexto 1">
            <a:extLst>
              <a:ext uri="{FF2B5EF4-FFF2-40B4-BE49-F238E27FC236}">
                <a16:creationId xmlns:a16="http://schemas.microsoft.com/office/drawing/2014/main" id="{DBB6559E-C0C2-42B8-8374-6666110E9B62}"/>
              </a:ext>
            </a:extLst>
          </p:cNvPr>
          <p:cNvSpPr txBox="1"/>
          <p:nvPr/>
        </p:nvSpPr>
        <p:spPr>
          <a:xfrm>
            <a:off x="2017986" y="1596818"/>
            <a:ext cx="7058022" cy="2793072"/>
          </a:xfrm>
          <a:prstGeom prst="rect">
            <a:avLst/>
          </a:prstGeom>
          <a:noFill/>
        </p:spPr>
        <p:txBody>
          <a:bodyPr wrap="none" rtlCol="0">
            <a:spAutoFit/>
          </a:bodyPr>
          <a:lstStyle/>
          <a:p>
            <a:r>
              <a:rPr lang="es-ES" dirty="0"/>
              <a:t>IBM encargó a una empresa desconocida, Microsoft, el desarrollo de un Sistema Operativo para</a:t>
            </a:r>
          </a:p>
          <a:p>
            <a:r>
              <a:rPr lang="es-ES" dirty="0"/>
              <a:t>su Personal </a:t>
            </a:r>
            <a:r>
              <a:rPr lang="es-ES" dirty="0" err="1"/>
              <a:t>Computer</a:t>
            </a:r>
            <a:r>
              <a:rPr lang="es-ES" dirty="0"/>
              <a:t>. Microsoft compró 86-DOS un clon de CP/M, un sistema operativo </a:t>
            </a:r>
          </a:p>
          <a:p>
            <a:r>
              <a:rPr lang="es-ES" dirty="0" err="1"/>
              <a:t>monoproceso</a:t>
            </a:r>
            <a:r>
              <a:rPr lang="es-ES" dirty="0"/>
              <a:t> de Digital </a:t>
            </a:r>
            <a:r>
              <a:rPr lang="es-ES" dirty="0" err="1"/>
              <a:t>Research</a:t>
            </a:r>
            <a:r>
              <a:rPr lang="es-ES" dirty="0"/>
              <a:t> para máquinas Z80/8080. La versión de IBM se llamaba PC-DOS</a:t>
            </a:r>
          </a:p>
          <a:p>
            <a:endParaRPr lang="es-ES" dirty="0"/>
          </a:p>
          <a:p>
            <a:r>
              <a:rPr lang="es-ES" dirty="0"/>
              <a:t>MS-DOS era monousuario, </a:t>
            </a:r>
            <a:r>
              <a:rPr lang="es-ES" dirty="0" err="1"/>
              <a:t>monoproceso</a:t>
            </a:r>
            <a:r>
              <a:rPr lang="es-ES" dirty="0"/>
              <a:t> y dominó el mercado de ordenadores personales</a:t>
            </a:r>
          </a:p>
          <a:p>
            <a:r>
              <a:rPr lang="es-ES" dirty="0"/>
              <a:t>durante la década de los 80. A finales de esa década se lanza Windows, que originalmente solo</a:t>
            </a:r>
          </a:p>
          <a:p>
            <a:r>
              <a:rPr lang="es-ES" dirty="0"/>
              <a:t>fue un recubrimiento gráfico de MS-DOS.</a:t>
            </a:r>
          </a:p>
          <a:p>
            <a:endParaRPr lang="es-ES" dirty="0"/>
          </a:p>
          <a:p>
            <a:r>
              <a:rPr lang="es-ES" dirty="0"/>
              <a:t>IBM cometió el error de no firmar exclusividad, con lo que Microsoft podía vender su Sistema</a:t>
            </a:r>
          </a:p>
          <a:p>
            <a:r>
              <a:rPr lang="es-ES" dirty="0"/>
              <a:t>Operativo a los fabricantes asiáticos de clones.</a:t>
            </a:r>
          </a:p>
          <a:p>
            <a:endParaRPr lang="es-ES" dirty="0"/>
          </a:p>
          <a:p>
            <a:r>
              <a:rPr lang="es-ES" dirty="0"/>
              <a:t>MS-DOS fue la base de los sistemas operativos Windows 9x. A partir de Windows NT, se desarrolla</a:t>
            </a:r>
          </a:p>
          <a:p>
            <a:r>
              <a:rPr lang="es-ES" dirty="0"/>
              <a:t>un </a:t>
            </a:r>
            <a:r>
              <a:rPr lang="es-ES" dirty="0" err="1"/>
              <a:t>kernel</a:t>
            </a:r>
            <a:r>
              <a:rPr lang="es-ES" dirty="0"/>
              <a:t> desde 0.</a:t>
            </a:r>
          </a:p>
        </p:txBody>
      </p:sp>
      <p:sp>
        <p:nvSpPr>
          <p:cNvPr id="8" name="CuadroTexto 7">
            <a:extLst>
              <a:ext uri="{FF2B5EF4-FFF2-40B4-BE49-F238E27FC236}">
                <a16:creationId xmlns:a16="http://schemas.microsoft.com/office/drawing/2014/main" id="{6EEDEA0F-470E-40E6-ACE7-0933372BB3E2}"/>
              </a:ext>
            </a:extLst>
          </p:cNvPr>
          <p:cNvSpPr txBox="1"/>
          <p:nvPr/>
        </p:nvSpPr>
        <p:spPr>
          <a:xfrm>
            <a:off x="2017986" y="4614818"/>
            <a:ext cx="2332878" cy="300082"/>
          </a:xfrm>
          <a:prstGeom prst="rect">
            <a:avLst/>
          </a:prstGeom>
          <a:noFill/>
        </p:spPr>
        <p:txBody>
          <a:bodyPr wrap="square">
            <a:spAutoFit/>
          </a:bodyPr>
          <a:lstStyle/>
          <a:p>
            <a:pPr algn="l"/>
            <a:r>
              <a:rPr lang="en-US" b="0" i="0" dirty="0">
                <a:effectLst/>
                <a:latin typeface="Roboto"/>
              </a:rPr>
              <a:t>Birth of the Microsoft DOS</a:t>
            </a:r>
          </a:p>
        </p:txBody>
      </p:sp>
      <p:sp>
        <p:nvSpPr>
          <p:cNvPr id="10" name="CuadroTexto 9">
            <a:extLst>
              <a:ext uri="{FF2B5EF4-FFF2-40B4-BE49-F238E27FC236}">
                <a16:creationId xmlns:a16="http://schemas.microsoft.com/office/drawing/2014/main" id="{349CC781-1CA6-4604-B44C-6DBFB7102652}"/>
              </a:ext>
            </a:extLst>
          </p:cNvPr>
          <p:cNvSpPr txBox="1"/>
          <p:nvPr/>
        </p:nvSpPr>
        <p:spPr>
          <a:xfrm>
            <a:off x="4381959" y="4614818"/>
            <a:ext cx="4577508" cy="300082"/>
          </a:xfrm>
          <a:prstGeom prst="rect">
            <a:avLst/>
          </a:prstGeom>
          <a:noFill/>
        </p:spPr>
        <p:txBody>
          <a:bodyPr wrap="square">
            <a:spAutoFit/>
          </a:bodyPr>
          <a:lstStyle/>
          <a:p>
            <a:r>
              <a:rPr lang="es-ES" dirty="0">
                <a:hlinkClick r:id="rId3"/>
              </a:rPr>
              <a:t>https://www.youtube.com/watch?v=9iwIN8E94VQ</a:t>
            </a:r>
            <a:endParaRPr lang="es-ES" dirty="0"/>
          </a:p>
        </p:txBody>
      </p:sp>
    </p:spTree>
    <p:extLst>
      <p:ext uri="{BB962C8B-B14F-4D97-AF65-F5344CB8AC3E}">
        <p14:creationId xmlns:p14="http://schemas.microsoft.com/office/powerpoint/2010/main" val="21120933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Historia de los Sistemas Operativos</a:t>
            </a:r>
          </a:p>
        </p:txBody>
      </p:sp>
      <p:sp>
        <p:nvSpPr>
          <p:cNvPr id="3" name="CuadroTexto 2">
            <a:extLst>
              <a:ext uri="{FF2B5EF4-FFF2-40B4-BE49-F238E27FC236}">
                <a16:creationId xmlns:a16="http://schemas.microsoft.com/office/drawing/2014/main" id="{1F2A2595-A7CE-4163-80A3-01AF2B801716}"/>
              </a:ext>
            </a:extLst>
          </p:cNvPr>
          <p:cNvSpPr txBox="1"/>
          <p:nvPr/>
        </p:nvSpPr>
        <p:spPr>
          <a:xfrm>
            <a:off x="1776414" y="1082566"/>
            <a:ext cx="5843586" cy="338554"/>
          </a:xfrm>
          <a:prstGeom prst="rect">
            <a:avLst/>
          </a:prstGeom>
          <a:noFill/>
        </p:spPr>
        <p:txBody>
          <a:bodyPr wrap="square" rtlCol="0">
            <a:spAutoFit/>
          </a:bodyPr>
          <a:lstStyle/>
          <a:p>
            <a:pPr algn="just"/>
            <a:r>
              <a:rPr lang="es-ES" sz="1600" b="1" dirty="0"/>
              <a:t>Windows timeline</a:t>
            </a:r>
          </a:p>
        </p:txBody>
      </p:sp>
      <p:pic>
        <p:nvPicPr>
          <p:cNvPr id="1026" name="Picture 2" descr="An image that visualizes the tables below">
            <a:extLst>
              <a:ext uri="{FF2B5EF4-FFF2-40B4-BE49-F238E27FC236}">
                <a16:creationId xmlns:a16="http://schemas.microsoft.com/office/drawing/2014/main" id="{C7A392E0-FE5E-4B07-A7AB-4009C39144C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33600" y="1511840"/>
            <a:ext cx="6319025" cy="3505084"/>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694A46FB-7683-4C18-B3D7-391F6A401340}"/>
              </a:ext>
            </a:extLst>
          </p:cNvPr>
          <p:cNvSpPr txBox="1"/>
          <p:nvPr/>
        </p:nvSpPr>
        <p:spPr>
          <a:xfrm>
            <a:off x="1776414" y="769029"/>
            <a:ext cx="5843586" cy="338554"/>
          </a:xfrm>
          <a:prstGeom prst="rect">
            <a:avLst/>
          </a:prstGeom>
          <a:noFill/>
        </p:spPr>
        <p:txBody>
          <a:bodyPr wrap="square" rtlCol="0">
            <a:spAutoFit/>
          </a:bodyPr>
          <a:lstStyle/>
          <a:p>
            <a:pPr algn="just"/>
            <a:r>
              <a:rPr lang="es-ES" sz="1600" b="1" dirty="0"/>
              <a:t>La cuarta generación (desde 1980). Los ordenadores personales.</a:t>
            </a:r>
          </a:p>
        </p:txBody>
      </p:sp>
    </p:spTree>
    <p:extLst>
      <p:ext uri="{BB962C8B-B14F-4D97-AF65-F5344CB8AC3E}">
        <p14:creationId xmlns:p14="http://schemas.microsoft.com/office/powerpoint/2010/main" val="3821418904"/>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1" id="{3AC239DE-4495-45AB-A642-84873D6EC143}" vid="{ADDCAA0F-EA35-422D-841E-59E8EF71B2C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AE6A9B1AE3C694449E1CBECB26767C28" ma:contentTypeVersion="0" ma:contentTypeDescription="Crear nuevo documento." ma:contentTypeScope="" ma:versionID="f939733f7a29ff16f56243c74c11c85c">
  <xsd:schema xmlns:xsd="http://www.w3.org/2001/XMLSchema" xmlns:xs="http://www.w3.org/2001/XMLSchema" xmlns:p="http://schemas.microsoft.com/office/2006/metadata/properties" targetNamespace="http://schemas.microsoft.com/office/2006/metadata/properties" ma:root="true" ma:fieldsID="ebba8a198e9bb40c3eeca6d0bd41257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9AB788B-E2DA-4E16-B351-E0EC0D46F47D}">
  <ds:schemaRefs>
    <ds:schemaRef ds:uri="http://schemas.microsoft.com/sharepoint/v3/contenttype/forms"/>
  </ds:schemaRefs>
</ds:datastoreItem>
</file>

<file path=customXml/itemProps2.xml><?xml version="1.0" encoding="utf-8"?>
<ds:datastoreItem xmlns:ds="http://schemas.openxmlformats.org/officeDocument/2006/customXml" ds:itemID="{C2331040-8433-4BD1-90D6-FEBE17A71FCC}">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FA80CCC-508F-47A8-A8E6-442477940E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6562</TotalTime>
  <Words>4863</Words>
  <Application>Microsoft Office PowerPoint</Application>
  <PresentationFormat>Presentación en pantalla (16:9)</PresentationFormat>
  <Paragraphs>397</Paragraphs>
  <Slides>36</Slides>
  <Notes>36</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36</vt:i4>
      </vt:variant>
    </vt:vector>
  </HeadingPairs>
  <TitlesOfParts>
    <vt:vector size="44" baseType="lpstr">
      <vt:lpstr>Arial</vt:lpstr>
      <vt:lpstr>Calibri</vt:lpstr>
      <vt:lpstr>Calibri Light</vt:lpstr>
      <vt:lpstr>Lucida Sans Typewriter</vt:lpstr>
      <vt:lpstr>Roboto</vt:lpstr>
      <vt:lpstr>Symbol</vt:lpstr>
      <vt:lpstr>Times New Roman</vt:lpstr>
      <vt:lpstr>Tema de Office</vt:lpstr>
      <vt:lpstr>     Sistemas Operativos  1. Introducción</vt:lpstr>
      <vt:lpstr>¿Por qué estudiar SSOO?</vt:lpstr>
      <vt:lpstr>Este curso NO es…</vt:lpstr>
      <vt:lpstr>¿Cómo aprenderemos SSOO?</vt:lpstr>
      <vt:lpstr>¿Qué es un Sistema Operativo?</vt:lpstr>
      <vt:lpstr>Presentación de PowerPoint</vt:lpstr>
      <vt:lpstr>Presentación de PowerPoint</vt:lpstr>
      <vt:lpstr>La máquina desnuda</vt:lpstr>
      <vt:lpstr>La máquina desnuda</vt:lpstr>
      <vt:lpstr>La máquina desnuda</vt:lpstr>
      <vt:lpstr>La máquina desnuda</vt:lpstr>
      <vt:lpstr>La máquina desnuda</vt:lpstr>
      <vt:lpstr>La máquina desnuda</vt:lpstr>
      <vt:lpstr>La máquina desnuda</vt:lpstr>
      <vt:lpstr>Limitaciones de la máquina desnuda</vt:lpstr>
      <vt:lpstr>Recursos del ordenador</vt:lpstr>
      <vt:lpstr>Recursos del ordenador</vt:lpstr>
      <vt:lpstr>Recursos del ordenador</vt:lpstr>
      <vt:lpstr>Un Sistema Operativo sin VM</vt:lpstr>
      <vt:lpstr>Recursos del ordenador</vt:lpstr>
      <vt:lpstr>Recursos del ordenador</vt:lpstr>
      <vt:lpstr>Recursos del ordenador</vt:lpstr>
      <vt:lpstr>Modos usuario/supervisor</vt:lpstr>
      <vt:lpstr>Modos usuario/supervisor</vt:lpstr>
      <vt:lpstr>Modos usuario/supervisor</vt:lpstr>
      <vt:lpstr>Diagrama del kernel de Linux</vt:lpstr>
      <vt:lpstr>Tipos de Sistemas Operativos</vt:lpstr>
      <vt:lpstr>Historia de los Sistemas Operativos</vt:lpstr>
      <vt:lpstr>Historia de los Sistemas Operativos</vt:lpstr>
      <vt:lpstr>Historia de los Sistemas Operativos</vt:lpstr>
      <vt:lpstr>Historia de los Sistemas Operativos</vt:lpstr>
      <vt:lpstr>Historia de los Sistemas Operativos</vt:lpstr>
      <vt:lpstr>Historia de los Sistemas Operativos</vt:lpstr>
      <vt:lpstr>Historia de los Sistemas Operativos</vt:lpstr>
      <vt:lpstr>Historia de los Sistemas Operativos</vt:lpstr>
      <vt:lpstr>Historia de los Sistemas Operativos</vt:lpstr>
    </vt:vector>
  </TitlesOfParts>
  <Company>Universidad Pontificia Comillas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Título de la presentación</dc:title>
  <dc:creator>Carmen Escudero Guirado</dc:creator>
  <cp:lastModifiedBy>Miguel Angel Mesas Uzal</cp:lastModifiedBy>
  <cp:revision>389</cp:revision>
  <dcterms:created xsi:type="dcterms:W3CDTF">2017-07-19T07:53:01Z</dcterms:created>
  <dcterms:modified xsi:type="dcterms:W3CDTF">2021-09-16T21:31:11Z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0x010100AE6A9B1AE3C694449E1CBECB26767C28</vt:lpwstr>
  </property>
</Properties>
</file>