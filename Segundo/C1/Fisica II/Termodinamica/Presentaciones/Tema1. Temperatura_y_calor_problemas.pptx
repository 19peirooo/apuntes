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</p:sldMasterIdLst>
  <p:notesMasterIdLst>
    <p:notesMasterId r:id="rId62"/>
  </p:notesMasterIdLst>
  <p:sldIdLst>
    <p:sldId id="259" r:id="rId2"/>
    <p:sldId id="260" r:id="rId3"/>
    <p:sldId id="268" r:id="rId4"/>
    <p:sldId id="307" r:id="rId5"/>
    <p:sldId id="308" r:id="rId6"/>
    <p:sldId id="269" r:id="rId7"/>
    <p:sldId id="270" r:id="rId8"/>
    <p:sldId id="309" r:id="rId9"/>
    <p:sldId id="271" r:id="rId10"/>
    <p:sldId id="272" r:id="rId11"/>
    <p:sldId id="310" r:id="rId12"/>
    <p:sldId id="273" r:id="rId13"/>
    <p:sldId id="311" r:id="rId14"/>
    <p:sldId id="312" r:id="rId15"/>
    <p:sldId id="274" r:id="rId16"/>
    <p:sldId id="275" r:id="rId17"/>
    <p:sldId id="313" r:id="rId18"/>
    <p:sldId id="276" r:id="rId19"/>
    <p:sldId id="314" r:id="rId20"/>
    <p:sldId id="277" r:id="rId21"/>
    <p:sldId id="278" r:id="rId22"/>
    <p:sldId id="279" r:id="rId23"/>
    <p:sldId id="280" r:id="rId24"/>
    <p:sldId id="315" r:id="rId25"/>
    <p:sldId id="281" r:id="rId26"/>
    <p:sldId id="282" r:id="rId27"/>
    <p:sldId id="283" r:id="rId28"/>
    <p:sldId id="284" r:id="rId29"/>
    <p:sldId id="285" r:id="rId30"/>
    <p:sldId id="316" r:id="rId31"/>
    <p:sldId id="286" r:id="rId32"/>
    <p:sldId id="287" r:id="rId33"/>
    <p:sldId id="317" r:id="rId34"/>
    <p:sldId id="288" r:id="rId35"/>
    <p:sldId id="318" r:id="rId36"/>
    <p:sldId id="319" r:id="rId37"/>
    <p:sldId id="289" r:id="rId38"/>
    <p:sldId id="321" r:id="rId39"/>
    <p:sldId id="320" r:id="rId40"/>
    <p:sldId id="322" r:id="rId41"/>
    <p:sldId id="290" r:id="rId42"/>
    <p:sldId id="291" r:id="rId43"/>
    <p:sldId id="295" r:id="rId44"/>
    <p:sldId id="292" r:id="rId45"/>
    <p:sldId id="293" r:id="rId46"/>
    <p:sldId id="294" r:id="rId47"/>
    <p:sldId id="296" r:id="rId48"/>
    <p:sldId id="324" r:id="rId49"/>
    <p:sldId id="323" r:id="rId50"/>
    <p:sldId id="325" r:id="rId51"/>
    <p:sldId id="297" r:id="rId52"/>
    <p:sldId id="298" r:id="rId53"/>
    <p:sldId id="299" r:id="rId54"/>
    <p:sldId id="300" r:id="rId55"/>
    <p:sldId id="301" r:id="rId56"/>
    <p:sldId id="302" r:id="rId57"/>
    <p:sldId id="327" r:id="rId58"/>
    <p:sldId id="326" r:id="rId59"/>
    <p:sldId id="303" r:id="rId60"/>
    <p:sldId id="305" r:id="rId61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3" autoAdjust="0"/>
    <p:restoredTop sz="95211" autoAdjust="0"/>
  </p:normalViewPr>
  <p:slideViewPr>
    <p:cSldViewPr>
      <p:cViewPr varScale="1">
        <p:scale>
          <a:sx n="159" d="100"/>
          <a:sy n="159" d="100"/>
        </p:scale>
        <p:origin x="2676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5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28EB8-949E-4A49-BCFC-D69CB43FA443}" type="datetimeFigureOut">
              <a:rPr lang="es-ES" smtClean="0"/>
              <a:t>16/09/2024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6A500-1DA6-4541-BE61-DEBA7B33047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611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916832"/>
            <a:ext cx="7315200" cy="1944215"/>
          </a:xfrm>
        </p:spPr>
        <p:txBody>
          <a:bodyPr>
            <a:normAutofit/>
          </a:bodyPr>
          <a:lstStyle>
            <a:lvl1pPr algn="ctr">
              <a:defRPr sz="36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TÍTULO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35796" y="5013176"/>
            <a:ext cx="3672408" cy="720080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/>
              <a:t>Profesor / Curso académico: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914400" y="4077072"/>
            <a:ext cx="7315200" cy="526424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ASIGNATURA</a:t>
            </a:r>
          </a:p>
        </p:txBody>
      </p:sp>
      <p:pic>
        <p:nvPicPr>
          <p:cNvPr id="1026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404664"/>
            <a:ext cx="3309791" cy="124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9"/>
          <p:cNvSpPr/>
          <p:nvPr userDrawn="1"/>
        </p:nvSpPr>
        <p:spPr>
          <a:xfrm>
            <a:off x="8766050" y="31235"/>
            <a:ext cx="67955" cy="3072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10"/>
          <p:cNvSpPr/>
          <p:nvPr userDrawn="1"/>
        </p:nvSpPr>
        <p:spPr>
          <a:xfrm>
            <a:off x="8857453" y="27078"/>
            <a:ext cx="258779" cy="3113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852883"/>
            <a:ext cx="8928991" cy="588848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60032" y="31429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Física General II/Tema 0</a:t>
            </a:r>
          </a:p>
        </p:txBody>
      </p:sp>
      <p:sp>
        <p:nvSpPr>
          <p:cNvPr id="16" name="15 Título"/>
          <p:cNvSpPr>
            <a:spLocks noGrp="1"/>
          </p:cNvSpPr>
          <p:nvPr>
            <p:ph type="title"/>
          </p:nvPr>
        </p:nvSpPr>
        <p:spPr>
          <a:xfrm>
            <a:off x="107504" y="398212"/>
            <a:ext cx="8726501" cy="394936"/>
          </a:xfrm>
        </p:spPr>
        <p:txBody>
          <a:bodyPr/>
          <a:lstStyle>
            <a:lvl1pPr>
              <a:defRPr sz="2000"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8" name="5 Marcador de número de diapositiva"/>
          <p:cNvSpPr txBox="1">
            <a:spLocks/>
          </p:cNvSpPr>
          <p:nvPr userDrawn="1"/>
        </p:nvSpPr>
        <p:spPr>
          <a:xfrm>
            <a:off x="8774419" y="35642"/>
            <a:ext cx="424846" cy="297901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200" b="0" smtClean="0"/>
              <a:pPr algn="ctr"/>
              <a:t>‹#›</a:t>
            </a:fld>
            <a:endParaRPr lang="es-ES" sz="1200" b="0" dirty="0"/>
          </a:p>
        </p:txBody>
      </p:sp>
      <p:pic>
        <p:nvPicPr>
          <p:cNvPr id="11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7" y="0"/>
            <a:ext cx="956343" cy="359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205178"/>
            <a:ext cx="3566160" cy="4131614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204864"/>
            <a:ext cx="3566160" cy="413402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2" name="11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Asignatura/Tema</a:t>
            </a:r>
          </a:p>
        </p:txBody>
      </p:sp>
      <p:sp>
        <p:nvSpPr>
          <p:cNvPr id="2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‹#›</a:t>
            </a:fld>
            <a:endParaRPr lang="es-ES" sz="1400" b="0" dirty="0"/>
          </a:p>
        </p:txBody>
      </p:sp>
      <p:pic>
        <p:nvPicPr>
          <p:cNvPr id="13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cxnSp>
        <p:nvCxnSpPr>
          <p:cNvPr id="10" name="9 Conector recto"/>
          <p:cNvCxnSpPr/>
          <p:nvPr userDrawn="1"/>
        </p:nvCxnSpPr>
        <p:spPr>
          <a:xfrm>
            <a:off x="251520" y="1988840"/>
            <a:ext cx="8605935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Asignatura/Tema</a:t>
            </a:r>
          </a:p>
        </p:txBody>
      </p:sp>
      <p:sp>
        <p:nvSpPr>
          <p:cNvPr id="15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‹#›</a:t>
            </a:fld>
            <a:endParaRPr lang="es-ES" sz="1400" b="0" dirty="0"/>
          </a:p>
        </p:txBody>
      </p:sp>
      <p:pic>
        <p:nvPicPr>
          <p:cNvPr id="9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/>
          <p:nvPr userDrawn="1"/>
        </p:nvSpPr>
        <p:spPr>
          <a:xfrm>
            <a:off x="8435268" y="213845"/>
            <a:ext cx="86236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0"/>
          <p:cNvSpPr/>
          <p:nvPr userDrawn="1"/>
        </p:nvSpPr>
        <p:spPr>
          <a:xfrm>
            <a:off x="8569419" y="213845"/>
            <a:ext cx="576072" cy="7920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s-ES" dirty="0"/>
              <a:t>Asignatura/Tema</a:t>
            </a:r>
          </a:p>
        </p:txBody>
      </p:sp>
      <p:sp>
        <p:nvSpPr>
          <p:cNvPr id="11" name="5 Marcador de número de diapositiva"/>
          <p:cNvSpPr txBox="1">
            <a:spLocks/>
          </p:cNvSpPr>
          <p:nvPr userDrawn="1"/>
        </p:nvSpPr>
        <p:spPr>
          <a:xfrm>
            <a:off x="8532438" y="404664"/>
            <a:ext cx="596305" cy="365125"/>
          </a:xfrm>
          <a:prstGeom prst="rect">
            <a:avLst/>
          </a:prstGeom>
        </p:spPr>
        <p:txBody>
          <a:bodyPr anchor="ctr"/>
          <a:lstStyle>
            <a:defPPr>
              <a:defRPr lang="es-E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BD5034FA-E3E3-464F-AB21-ECE51F6ED024}" type="slidenum">
              <a:rPr lang="es-ES" sz="1400" b="0" smtClean="0"/>
              <a:pPr algn="ctr"/>
              <a:t>‹#›</a:t>
            </a:fld>
            <a:endParaRPr lang="es-ES" sz="1400" b="0" dirty="0"/>
          </a:p>
        </p:txBody>
      </p:sp>
      <p:pic>
        <p:nvPicPr>
          <p:cNvPr id="7" name="Picture 2" descr="C:\Users\eva.perandones\Downloads\Logo azu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9254"/>
            <a:ext cx="1654895" cy="621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19" y="1268760"/>
            <a:ext cx="8605935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19" y="2276873"/>
            <a:ext cx="8605935" cy="403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54487" y="476672"/>
            <a:ext cx="3600400" cy="301227"/>
          </a:xfrm>
          <a:prstGeom prst="rect">
            <a:avLst/>
          </a:prstGeom>
        </p:spPr>
        <p:txBody>
          <a:bodyPr vert="horz" lIns="91440" tIns="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Asignatura/Tema</a:t>
            </a:r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567936" y="476672"/>
            <a:ext cx="576064" cy="3017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s-ES"/>
              <a:t>Nº</a:t>
            </a:r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6" r:id="rId3"/>
    <p:sldLayoutId id="2147483798" r:id="rId4"/>
    <p:sldLayoutId id="2147483799" r:id="rId5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het.colorado.edu/sims/html/states-of-matter/latest/states-of-matter_all.html?locale=es" TargetMode="External"/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7" Type="http://schemas.openxmlformats.org/officeDocument/2006/relationships/image" Target="../media/image78.emf"/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emf"/><Relationship Id="rId5" Type="http://schemas.openxmlformats.org/officeDocument/2006/relationships/image" Target="../media/image76.emf"/><Relationship Id="rId4" Type="http://schemas.openxmlformats.org/officeDocument/2006/relationships/image" Target="../media/image75.e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ctrTitle"/>
          </p:nvPr>
        </p:nvSpPr>
        <p:spPr>
          <a:xfrm>
            <a:off x="971600" y="2120306"/>
            <a:ext cx="7315200" cy="1944215"/>
          </a:xfrm>
        </p:spPr>
        <p:txBody>
          <a:bodyPr/>
          <a:lstStyle/>
          <a:p>
            <a:r>
              <a:rPr lang="es-ES" dirty="0"/>
              <a:t>Física General II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idx="11"/>
          </p:nvPr>
        </p:nvSpPr>
        <p:spPr>
          <a:xfrm>
            <a:off x="755576" y="4077072"/>
            <a:ext cx="7978080" cy="17281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chemeClr val="bg1">
                    <a:lumMod val="65000"/>
                  </a:schemeClr>
                </a:solidFill>
              </a:rPr>
              <a:t>Doble Grado en Ingeniería de Software y Física Computacional</a:t>
            </a:r>
          </a:p>
          <a:p>
            <a:pPr>
              <a:lnSpc>
                <a:spcPct val="150000"/>
              </a:lnSpc>
            </a:pPr>
            <a:r>
              <a:rPr lang="es-ES_tradnl" sz="1800" i="1" dirty="0">
                <a:solidFill>
                  <a:schemeClr val="bg1">
                    <a:lumMod val="65000"/>
                  </a:schemeClr>
                </a:solidFill>
              </a:rPr>
              <a:t>Curso 2024 – 2025</a:t>
            </a:r>
          </a:p>
          <a:p>
            <a:pPr>
              <a:lnSpc>
                <a:spcPct val="150000"/>
              </a:lnSpc>
            </a:pPr>
            <a:r>
              <a:rPr lang="es-ES_tradnl" sz="1800" i="1" dirty="0">
                <a:solidFill>
                  <a:schemeClr val="accent5">
                    <a:lumMod val="50000"/>
                  </a:schemeClr>
                </a:solidFill>
              </a:rPr>
              <a:t>Jorge Fernandez Hernandez</a:t>
            </a:r>
          </a:p>
          <a:p>
            <a:endParaRPr lang="es-ES_tradnl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6989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32AEA3-0DEB-3E24-F792-935B06E458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Física General II/Unidades</a:t>
            </a:r>
            <a:endParaRPr lang="es-E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C1BFC71-4E90-2383-8616-591CCE9C4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Temperatura</a:t>
            </a:r>
            <a:r>
              <a:rPr lang="en-GB" dirty="0"/>
              <a:t> y </a:t>
            </a:r>
            <a:r>
              <a:rPr lang="en-GB" dirty="0" err="1"/>
              <a:t>calor</a:t>
            </a:r>
            <a:endParaRPr lang="es-E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03ED54-D21E-2C7F-991F-4BAABFC24291}"/>
              </a:ext>
            </a:extLst>
          </p:cNvPr>
          <p:cNvSpPr txBox="1"/>
          <p:nvPr/>
        </p:nvSpPr>
        <p:spPr>
          <a:xfrm>
            <a:off x="323528" y="1916832"/>
            <a:ext cx="8640960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El significado de equilibrio térmico y lo que realmente miden los termómetros.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Cómo funcionan los diferentes tipos de termómetro.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La física que hay detrás de la escala de temperatura absoluta, o Kelvin.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Cómo cambian las dimensiones de un objeto, como resultado del cambio de temperatura.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El significado de calor, y cómo difiere del de la temperatura.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Cómo efectuar cálculos que incluyan flujo de calor, cambios de temperatura y cambios de fase.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600" dirty="0"/>
              <a:t>Cómo se transfiere calor mediante conducción, convección y radiación.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0B970DE-72D2-08B7-A597-CC79AFC4C2D5}"/>
              </a:ext>
            </a:extLst>
          </p:cNvPr>
          <p:cNvSpPr txBox="1">
            <a:spLocks/>
          </p:cNvSpPr>
          <p:nvPr/>
        </p:nvSpPr>
        <p:spPr>
          <a:xfrm>
            <a:off x="358889" y="1340768"/>
            <a:ext cx="2563051" cy="3949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 err="1"/>
              <a:t>Objetivos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97178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022D3E-F8CB-E8D4-C13A-7E08A292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TEMPERATURA Y EQUILIBRIO TÉRMICO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DD665C-7199-086A-C3A7-BBAC1735029E}"/>
              </a:ext>
            </a:extLst>
          </p:cNvPr>
          <p:cNvSpPr txBox="1"/>
          <p:nvPr/>
        </p:nvSpPr>
        <p:spPr>
          <a:xfrm>
            <a:off x="107504" y="980728"/>
            <a:ext cx="885698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En el habla cotidiana es común usar indistintamente los términos temperatura y calor.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Los dos términos tienen significado muy distinto:</a:t>
            </a:r>
          </a:p>
          <a:p>
            <a:endParaRPr lang="es-ES" sz="1600" dirty="0"/>
          </a:p>
          <a:p>
            <a:endParaRPr lang="es-ES" sz="1600" dirty="0"/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Definimos la temperatura en términos de su medición. </a:t>
            </a:r>
          </a:p>
          <a:p>
            <a:pPr marL="342900" indent="-342900">
              <a:buFont typeface="+mj-lt"/>
              <a:buAutoNum type="arabicPeriod"/>
            </a:pPr>
            <a:endParaRPr lang="es-ES" sz="1600" dirty="0"/>
          </a:p>
          <a:p>
            <a:pPr marL="342900" indent="-342900">
              <a:buFont typeface="+mj-lt"/>
              <a:buAutoNum type="arabicPeriod"/>
            </a:pPr>
            <a:endParaRPr lang="es-ES" sz="1600" dirty="0"/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El calor se refiere a la transferencia de energía causada por las diferencias de temperatura.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Estudiaremos como se relacionan los conceptos de temperatura y calor con objetos macroscópicos como cilindros de gas, cubos de hielo y el cuerpo humano.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En próximos capítulos revisaremos estos mismos conceptos desde una perspectiva microscópica, en términos del comportamiento de los átomos y las moléculas individuales. </a:t>
            </a:r>
          </a:p>
          <a:p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318172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A3AEE9-67C7-08DB-70EB-542A3D36B80F}"/>
              </a:ext>
            </a:extLst>
          </p:cNvPr>
          <p:cNvSpPr txBox="1"/>
          <p:nvPr/>
        </p:nvSpPr>
        <p:spPr>
          <a:xfrm>
            <a:off x="107300" y="477478"/>
            <a:ext cx="90012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El concepto de temperatura se origina en las ideas cualitativas de “caliente” y “frío” basadas en nuestro sentido del tacto. </a:t>
            </a:r>
          </a:p>
          <a:p>
            <a:endParaRPr lang="es-ES" sz="1600" dirty="0"/>
          </a:p>
          <a:p>
            <a:r>
              <a:rPr lang="es-ES" sz="1600" dirty="0"/>
              <a:t>Un cuerpo que se siente “caliente” suele tener una temperatura más alta que un cuerpo similar que se siente “frío”. </a:t>
            </a:r>
          </a:p>
          <a:p>
            <a:endParaRPr lang="es-ES" sz="1600" dirty="0"/>
          </a:p>
          <a:p>
            <a:r>
              <a:rPr lang="es-ES" sz="1600" dirty="0"/>
              <a:t>Muchas propiedades de la materia dependen de la temperatura: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 longitud de una varilla de metal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 presión del vapor en una caldera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/>
              <a:t>la capacidad de un alambre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4E9A67-CB0C-40A3-B129-63F289E24CA8}"/>
              </a:ext>
            </a:extLst>
          </p:cNvPr>
          <p:cNvSpPr txBox="1"/>
          <p:nvPr/>
        </p:nvSpPr>
        <p:spPr>
          <a:xfrm>
            <a:off x="107300" y="3933056"/>
            <a:ext cx="67367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Desarrollaremos una definición macroscópica de la temperatura.</a:t>
            </a:r>
          </a:p>
        </p:txBody>
      </p:sp>
    </p:spTree>
    <p:extLst>
      <p:ext uri="{BB962C8B-B14F-4D97-AF65-F5344CB8AC3E}">
        <p14:creationId xmlns:p14="http://schemas.microsoft.com/office/powerpoint/2010/main" val="1157477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6CAA5F-D1D2-9A30-A769-DEAA0FB11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0" y="1083880"/>
            <a:ext cx="2376468" cy="2750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3FE17D-D8C7-83B6-4580-E13357AA5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096" y="1224776"/>
            <a:ext cx="2318533" cy="26735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A3AEE9-67C7-08DB-70EB-542A3D36B80F}"/>
              </a:ext>
            </a:extLst>
          </p:cNvPr>
          <p:cNvSpPr txBox="1"/>
          <p:nvPr/>
        </p:nvSpPr>
        <p:spPr>
          <a:xfrm>
            <a:off x="107300" y="477478"/>
            <a:ext cx="90012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Necesitamos establecer una escala de temperatura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22736-4C2C-2458-3B86-68DFEF30E2AD}"/>
              </a:ext>
            </a:extLst>
          </p:cNvPr>
          <p:cNvSpPr txBox="1"/>
          <p:nvPr/>
        </p:nvSpPr>
        <p:spPr>
          <a:xfrm>
            <a:off x="179512" y="3807126"/>
            <a:ext cx="3960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Cuando el sistema se calienta, el líquido colorido (mercurio o etanol) se expande y sube por el tubo, y el valor de 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D515C6-F018-709E-C9AD-684CA1CE9A6C}"/>
              </a:ext>
            </a:extLst>
          </p:cNvPr>
          <p:cNvSpPr txBox="1"/>
          <p:nvPr/>
        </p:nvSpPr>
        <p:spPr>
          <a:xfrm>
            <a:off x="4524400" y="3768470"/>
            <a:ext cx="46085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Una cantidad de gas en un recipiente de volumen constante . </a:t>
            </a:r>
          </a:p>
          <a:p>
            <a:r>
              <a:rPr lang="es-ES" sz="1600" dirty="0"/>
              <a:t>La presión </a:t>
            </a:r>
            <a:r>
              <a:rPr lang="es-ES" sz="1600" i="1" dirty="0"/>
              <a:t>p</a:t>
            </a:r>
            <a:r>
              <a:rPr lang="es-ES" sz="1600" dirty="0"/>
              <a:t> medida por el manómetro aumenta o disminuye al calentarse o enfriarse el gas.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CC69BC-9A33-D3C4-FF71-DB7D705B9A5B}"/>
              </a:ext>
            </a:extLst>
          </p:cNvPr>
          <p:cNvSpPr txBox="1"/>
          <p:nvPr/>
        </p:nvSpPr>
        <p:spPr>
          <a:xfrm>
            <a:off x="251520" y="5373216"/>
            <a:ext cx="8640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Para medir la temperatura de un cuerpo, colocamos el termómetro en contacto con él.</a:t>
            </a:r>
          </a:p>
          <a:p>
            <a:endParaRPr lang="es-ES" sz="1600" dirty="0"/>
          </a:p>
          <a:p>
            <a:r>
              <a:rPr lang="es-ES" sz="1600" dirty="0"/>
              <a:t>Una vez que el termómetro se estabiliza, leemos la temperatura. </a:t>
            </a:r>
          </a:p>
          <a:p>
            <a:endParaRPr lang="es-ES" sz="1600" dirty="0"/>
          </a:p>
          <a:p>
            <a:r>
              <a:rPr lang="es-ES" sz="1600" dirty="0"/>
              <a:t>El sistema está en una condición de equilibrio: equilibrio térmico.</a:t>
            </a:r>
          </a:p>
        </p:txBody>
      </p:sp>
    </p:spTree>
    <p:extLst>
      <p:ext uri="{BB962C8B-B14F-4D97-AF65-F5344CB8AC3E}">
        <p14:creationId xmlns:p14="http://schemas.microsoft.com/office/powerpoint/2010/main" val="1778594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022D3E-F8CB-E8D4-C13A-7E08A292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Ley cero de la termodinámica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63839-A110-B602-22B4-72C265A8A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085" y="1775465"/>
            <a:ext cx="6476301" cy="3179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702FF6-6296-D8D0-03EB-C8F521B71B32}"/>
              </a:ext>
            </a:extLst>
          </p:cNvPr>
          <p:cNvSpPr txBox="1"/>
          <p:nvPr/>
        </p:nvSpPr>
        <p:spPr>
          <a:xfrm>
            <a:off x="178904" y="5354407"/>
            <a:ext cx="89300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Si inicialmente C está en equilibrio térmico con A y con B, entonces A y B también están en equilibrio térmico entre sí.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EC6C20-BCA4-0752-C97B-F822D22E4F93}"/>
              </a:ext>
            </a:extLst>
          </p:cNvPr>
          <p:cNvSpPr txBox="1"/>
          <p:nvPr/>
        </p:nvSpPr>
        <p:spPr>
          <a:xfrm>
            <a:off x="205069" y="6290511"/>
            <a:ext cx="87003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Dos sistemas están en equilibrio térmico si y sólo si tienen la misma temperatura.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D7D24-C18B-F1C8-6C0D-590A07C2DF3D}"/>
              </a:ext>
            </a:extLst>
          </p:cNvPr>
          <p:cNvSpPr txBox="1"/>
          <p:nvPr/>
        </p:nvSpPr>
        <p:spPr>
          <a:xfrm>
            <a:off x="412980" y="854108"/>
            <a:ext cx="62646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3 sistemas, A, B y C, inicialmente no están en equilibrio térmico</a:t>
            </a:r>
          </a:p>
        </p:txBody>
      </p:sp>
    </p:spTree>
    <p:extLst>
      <p:ext uri="{BB962C8B-B14F-4D97-AF65-F5344CB8AC3E}">
        <p14:creationId xmlns:p14="http://schemas.microsoft.com/office/powerpoint/2010/main" val="335103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022D3E-F8CB-E8D4-C13A-7E08A292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TERMÓMETROS Y ESCALAS DE TEMPERATURA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2257A1-3D9C-FE5E-DA5D-8D4D6AFA05EE}"/>
              </a:ext>
            </a:extLst>
          </p:cNvPr>
          <p:cNvSpPr txBox="1"/>
          <p:nvPr/>
        </p:nvSpPr>
        <p:spPr>
          <a:xfrm>
            <a:off x="42262" y="1037596"/>
            <a:ext cx="88569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Necesitamos marcar una escala numerada en la pared del tubo. </a:t>
            </a:r>
          </a:p>
          <a:p>
            <a:endParaRPr lang="es-ES" sz="1600" dirty="0"/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“0” el nivel del líquido del termómetro a la temperatura de congelación del agua pura “100” el nivel a la temperatura de ebullición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dividimos la distancia entre ambos puntos en cien intervalos iguales llamados grados 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el resultado es la escala de temperatura Celsius</a:t>
            </a:r>
          </a:p>
        </p:txBody>
      </p:sp>
    </p:spTree>
    <p:extLst>
      <p:ext uri="{BB962C8B-B14F-4D97-AF65-F5344CB8AC3E}">
        <p14:creationId xmlns:p14="http://schemas.microsoft.com/office/powerpoint/2010/main" val="1405329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468B20-15E9-095D-0B6B-84C44F8D4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620688"/>
            <a:ext cx="3020037" cy="1753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FD3734-91BD-1B5E-F715-734DB89CE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620688"/>
            <a:ext cx="3657600" cy="2709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2B52080-A5E0-7706-EED7-947960B14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4221088"/>
            <a:ext cx="3691156" cy="2399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55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EA2D77-FFAB-E771-1CC2-349222E3F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845" y="2587034"/>
            <a:ext cx="4429387" cy="5872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DDF06E-5EE3-5F4E-969E-EA214D290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417" y="3540951"/>
            <a:ext cx="4530055" cy="6040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A57A18-91CB-C9B7-0C1D-64C8D8BDB33F}"/>
              </a:ext>
            </a:extLst>
          </p:cNvPr>
          <p:cNvSpPr txBox="1"/>
          <p:nvPr/>
        </p:nvSpPr>
        <p:spPr>
          <a:xfrm>
            <a:off x="143507" y="457974"/>
            <a:ext cx="88569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Escala de temperatura Fahrenheit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temperatura de congelación del agua es de 32°F (32 grados Fahrenheit)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la de ebullición es de 212°F, ambas a presión atmosférica estándar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hay 180 grados entre los puntos de congelación y de ebullición 1°F representa un cambio de temperatura de sólo 100/180 (o 5/9), de 1°C.</a:t>
            </a:r>
          </a:p>
        </p:txBody>
      </p:sp>
    </p:spTree>
    <p:extLst>
      <p:ext uri="{BB962C8B-B14F-4D97-AF65-F5344CB8AC3E}">
        <p14:creationId xmlns:p14="http://schemas.microsoft.com/office/powerpoint/2010/main" val="3376640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022D3E-F8CB-E8D4-C13A-7E08A292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TERMÓMETROS DE GAS Y LA ESCALA KELVIN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44DE8-C9D1-0587-C13D-B934D7F6328B}"/>
              </a:ext>
            </a:extLst>
          </p:cNvPr>
          <p:cNvSpPr txBox="1"/>
          <p:nvPr/>
        </p:nvSpPr>
        <p:spPr>
          <a:xfrm>
            <a:off x="124610" y="1052736"/>
            <a:ext cx="883987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Cuando calibramos dos termómetros, de modo que coincidan en 0°C y 100°C, podrían no coincidir exactamente a temperaturas intermedias. </a:t>
            </a:r>
          </a:p>
          <a:p>
            <a:endParaRPr lang="es-ES" sz="1600" dirty="0"/>
          </a:p>
          <a:p>
            <a:r>
              <a:rPr lang="es-ES" sz="1600" dirty="0"/>
              <a:t>Cualquier escala de temperatura definida de este modo siempre depende de las propiedades específicas del material empleado. </a:t>
            </a:r>
          </a:p>
          <a:p>
            <a:endParaRPr lang="es-ES" sz="1600" dirty="0"/>
          </a:p>
          <a:p>
            <a:r>
              <a:rPr lang="es-ES" sz="1600" dirty="0"/>
              <a:t>Necesitamos definir una escala de temperatura que no dependa de las propiedades de un material específico. </a:t>
            </a:r>
          </a:p>
          <a:p>
            <a:endParaRPr lang="es-ES" sz="1600" dirty="0"/>
          </a:p>
          <a:p>
            <a:r>
              <a:rPr lang="es-ES" sz="1600" dirty="0"/>
              <a:t>Un termómetro que se acerca al ideal, </a:t>
            </a:r>
            <a:r>
              <a:rPr lang="es-ES" sz="1600" u="sng" dirty="0"/>
              <a:t>el termómetro de gas a volumen constante</a:t>
            </a:r>
            <a:r>
              <a:rPr lang="es-ES" sz="1600" dirty="0"/>
              <a:t>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r>
              <a:rPr lang="es-ES" sz="1600" dirty="0"/>
              <a:t>basa en que la presión de un gas a volumen constante aumenta con la temperatura.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CF8822-B895-910C-071B-739A80A4A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853503"/>
            <a:ext cx="1541931" cy="300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203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DC94F2-021C-B5EC-3CBD-D147DB1BB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375" y="458812"/>
            <a:ext cx="3737250" cy="36438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F6D477-1984-8730-DD66-10597C8AFDC9}"/>
              </a:ext>
            </a:extLst>
          </p:cNvPr>
          <p:cNvSpPr txBox="1"/>
          <p:nvPr/>
        </p:nvSpPr>
        <p:spPr>
          <a:xfrm>
            <a:off x="107504" y="4238388"/>
            <a:ext cx="87849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Si extrapolamos esta gráfica </a:t>
            </a:r>
            <a:r>
              <a:rPr lang="es-ES" sz="1600" dirty="0">
                <a:sym typeface="Wingdings" panose="05000000000000000000" pitchFamily="2" charset="2"/>
              </a:rPr>
              <a:t> </a:t>
            </a:r>
            <a:r>
              <a:rPr lang="es-ES" sz="1600" dirty="0"/>
              <a:t>hay una temperatura hipotética, -273.15°C, en la que la presión absoluta del gas sería cero. </a:t>
            </a:r>
          </a:p>
          <a:p>
            <a:endParaRPr lang="es-ES" sz="1600" dirty="0"/>
          </a:p>
          <a:p>
            <a:r>
              <a:rPr lang="es-ES" sz="1600" dirty="0"/>
              <a:t>Esta temperatura resulta ser la misma para muchos gases distintos (al menos en el límite cuando la densidad del gas es muy baja).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4C29C6-A764-6CAB-A29B-468371556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860" y="6101379"/>
            <a:ext cx="4664279" cy="59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963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B7276E-18C3-DDBD-52F9-FAC950C1C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372" y="164192"/>
            <a:ext cx="3858936" cy="24328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5A9F3C-E7EC-DD91-DB76-C7EE16F3C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4581128"/>
            <a:ext cx="5872294" cy="1124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E43473-15F8-5984-AF14-C8E6CC1833E7}"/>
              </a:ext>
            </a:extLst>
          </p:cNvPr>
          <p:cNvSpPr txBox="1"/>
          <p:nvPr/>
        </p:nvSpPr>
        <p:spPr>
          <a:xfrm>
            <a:off x="241717" y="4076336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1.</a:t>
            </a:r>
          </a:p>
        </p:txBody>
      </p:sp>
    </p:spTree>
    <p:extLst>
      <p:ext uri="{BB962C8B-B14F-4D97-AF65-F5344CB8AC3E}">
        <p14:creationId xmlns:p14="http://schemas.microsoft.com/office/powerpoint/2010/main" val="2075381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022D3E-F8CB-E8D4-C13A-7E08A292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escala Kelvin y la temperatura absoluta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99BFC0-8270-83A7-4764-850BB9259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91" y="4869160"/>
            <a:ext cx="6610525" cy="9479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F00141-17CC-1148-E74B-0E45FAE0EDD2}"/>
              </a:ext>
            </a:extLst>
          </p:cNvPr>
          <p:cNvSpPr txBox="1"/>
          <p:nvPr/>
        </p:nvSpPr>
        <p:spPr>
          <a:xfrm>
            <a:off x="136645" y="1040884"/>
            <a:ext cx="865449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La escala Celsius tiene dos puntos fijos: los puntos de congelación y ebullición normales</a:t>
            </a:r>
          </a:p>
          <a:p>
            <a:r>
              <a:rPr lang="es-ES" sz="1600" dirty="0"/>
              <a:t>del agua. </a:t>
            </a:r>
          </a:p>
          <a:p>
            <a:endParaRPr lang="es-ES" sz="1600" dirty="0"/>
          </a:p>
          <a:p>
            <a:r>
              <a:rPr lang="es-ES" sz="1600" dirty="0"/>
              <a:t>Podemos definir la escala Kelvin usando un termómetro de gas con una sola temperatura de referencia. </a:t>
            </a:r>
          </a:p>
          <a:p>
            <a:endParaRPr lang="es-ES" sz="1600" dirty="0"/>
          </a:p>
          <a:p>
            <a:r>
              <a:rPr lang="es-ES" sz="1600" dirty="0"/>
              <a:t>La presión </a:t>
            </a:r>
            <a:r>
              <a:rPr lang="es-ES" sz="1600" i="1" dirty="0"/>
              <a:t>p</a:t>
            </a:r>
            <a:r>
              <a:rPr lang="es-ES" sz="1600" dirty="0"/>
              <a:t> en un termómetro de gas es directamente proporcional a la temperatura Kelvin. Definimos el cociente de dos temperaturas cualesquiera T</a:t>
            </a:r>
            <a:r>
              <a:rPr lang="es-ES" sz="1600" baseline="-25000" dirty="0"/>
              <a:t>1</a:t>
            </a:r>
            <a:r>
              <a:rPr lang="es-ES" sz="1600" dirty="0"/>
              <a:t> y T</a:t>
            </a:r>
            <a:r>
              <a:rPr lang="es-ES" sz="1600" baseline="-25000" dirty="0"/>
              <a:t>2</a:t>
            </a:r>
            <a:r>
              <a:rPr lang="es-ES" sz="1600" dirty="0"/>
              <a:t> en la escala Kelvin,</a:t>
            </a:r>
          </a:p>
        </p:txBody>
      </p:sp>
    </p:spTree>
    <p:extLst>
      <p:ext uri="{BB962C8B-B14F-4D97-AF65-F5344CB8AC3E}">
        <p14:creationId xmlns:p14="http://schemas.microsoft.com/office/powerpoint/2010/main" val="523422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632110-A994-76A4-E515-42CBFA77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5373216"/>
            <a:ext cx="3590488" cy="696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717BC7-B4E1-7DB0-EA97-40E66A530718}"/>
              </a:ext>
            </a:extLst>
          </p:cNvPr>
          <p:cNvSpPr txBox="1"/>
          <p:nvPr/>
        </p:nvSpPr>
        <p:spPr>
          <a:xfrm>
            <a:off x="158078" y="476672"/>
            <a:ext cx="88278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Para completar la definición de T, sólo necesitamos especificar la temperatura Kelvin</a:t>
            </a:r>
          </a:p>
          <a:p>
            <a:r>
              <a:rPr lang="es-ES" sz="1600" dirty="0"/>
              <a:t>de un solo estado específico </a:t>
            </a:r>
            <a:r>
              <a:rPr lang="es-ES" sz="1600" dirty="0">
                <a:sym typeface="Wingdings" panose="05000000000000000000" pitchFamily="2" charset="2"/>
              </a:rPr>
              <a:t> </a:t>
            </a:r>
            <a:r>
              <a:rPr lang="es-ES" sz="1600" dirty="0"/>
              <a:t>el estado elegido es el punto triple del agua.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Ésta es una combinación única de temperatura y presión en la que pueden coexistir agua sólida (hielo), agua líquida y vapor de agua.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Esto ocurre a una temperatura de 0.01°C y una presión de vapor de agua de 610 </a:t>
            </a:r>
            <a:r>
              <a:rPr lang="es-ES" sz="1600" dirty="0" err="1"/>
              <a:t>Pa</a:t>
            </a:r>
            <a:r>
              <a:rPr lang="es-ES" sz="1600" dirty="0"/>
              <a:t> (cerca de 0.006 atm)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La temperatura del punto triple del agua es, por definición, </a:t>
            </a:r>
            <a:r>
              <a:rPr lang="es-ES" sz="1600" dirty="0" err="1"/>
              <a:t>Ttriple</a:t>
            </a:r>
            <a:r>
              <a:rPr lang="es-ES" sz="1600" dirty="0"/>
              <a:t> = 273.16 K, que corresponde a 0.01°C.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Si </a:t>
            </a:r>
            <a:r>
              <a:rPr lang="es-ES" sz="1600" i="1" dirty="0" err="1"/>
              <a:t>p</a:t>
            </a:r>
            <a:r>
              <a:rPr lang="es-ES" sz="1600" i="1" baseline="-25000" dirty="0" err="1"/>
              <a:t>triple</a:t>
            </a:r>
            <a:r>
              <a:rPr lang="es-ES" sz="1600" dirty="0"/>
              <a:t> es la presión en un termómetro de gas a la temperatura </a:t>
            </a:r>
            <a:r>
              <a:rPr lang="es-ES" sz="1600" i="1" dirty="0" err="1"/>
              <a:t>T</a:t>
            </a:r>
            <a:r>
              <a:rPr lang="es-ES" sz="1600" i="1" baseline="-25000" dirty="0" err="1"/>
              <a:t>triple</a:t>
            </a:r>
            <a:r>
              <a:rPr lang="es-ES" sz="1600" dirty="0"/>
              <a:t> y </a:t>
            </a:r>
            <a:r>
              <a:rPr lang="es-ES" sz="1600" i="1" dirty="0"/>
              <a:t>p</a:t>
            </a:r>
            <a:r>
              <a:rPr lang="es-ES" sz="1600" dirty="0"/>
              <a:t> es la presión a otra temperatura T:</a:t>
            </a:r>
          </a:p>
        </p:txBody>
      </p:sp>
    </p:spTree>
    <p:extLst>
      <p:ext uri="{BB962C8B-B14F-4D97-AF65-F5344CB8AC3E}">
        <p14:creationId xmlns:p14="http://schemas.microsoft.com/office/powerpoint/2010/main" val="3200524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63203F-6A21-A586-339B-C08AE248C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2132856"/>
            <a:ext cx="3959604" cy="243280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15F48A-ACD8-C2F9-AD6E-F1B093634E95}"/>
              </a:ext>
            </a:extLst>
          </p:cNvPr>
          <p:cNvSpPr txBox="1"/>
          <p:nvPr/>
        </p:nvSpPr>
        <p:spPr>
          <a:xfrm>
            <a:off x="176536" y="692696"/>
            <a:ext cx="9001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600" b="0" i="0" u="none" strike="noStrike" baseline="0" dirty="0">
                <a:latin typeface="TimesLTStd-Roman"/>
              </a:rPr>
              <a:t>Relaciones entre las escalas de </a:t>
            </a:r>
            <a:r>
              <a:rPr lang="fi-FI" sz="1600" b="0" i="0" u="none" strike="noStrike" baseline="0" dirty="0">
                <a:latin typeface="TimesLTStd-Roman"/>
              </a:rPr>
              <a:t>temperatura Kelvin (K), Celsius (C) y </a:t>
            </a:r>
            <a:r>
              <a:rPr lang="es-ES" sz="1600" b="0" i="0" u="none" strike="noStrike" baseline="0" dirty="0">
                <a:latin typeface="TimesLTStd-Roman"/>
              </a:rPr>
              <a:t>Fahrenheit (F). </a:t>
            </a:r>
          </a:p>
          <a:p>
            <a:pPr algn="l"/>
            <a:r>
              <a:rPr lang="es-ES" sz="1600" b="0" i="0" u="none" strike="noStrike" baseline="0" dirty="0">
                <a:latin typeface="TimesLTStd-Roman"/>
              </a:rPr>
              <a:t>Las temperaturas se redondearon al grado más cercano.</a:t>
            </a:r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158357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022D3E-F8CB-E8D4-C13A-7E08A2924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EXPANSIÓN TÉRMICA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F8F983-C8AC-75B3-4AB4-365561732B57}"/>
              </a:ext>
            </a:extLst>
          </p:cNvPr>
          <p:cNvSpPr txBox="1"/>
          <p:nvPr/>
        </p:nvSpPr>
        <p:spPr>
          <a:xfrm>
            <a:off x="107504" y="1604705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Expansión lineal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6DED35-F9CF-C9A1-E18F-AB5BAC62C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4149080"/>
            <a:ext cx="3825380" cy="17868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EF32FD1-47BE-B4C5-5E03-A56684F64A4B}"/>
              </a:ext>
            </a:extLst>
          </p:cNvPr>
          <p:cNvSpPr txBox="1"/>
          <p:nvPr/>
        </p:nvSpPr>
        <p:spPr>
          <a:xfrm>
            <a:off x="190600" y="996690"/>
            <a:ext cx="84858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Casi todos los materiales se expanden al aumentar su temperatura.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8B1280-564A-8A27-6E36-C6CD2D25C66B}"/>
              </a:ext>
            </a:extLst>
          </p:cNvPr>
          <p:cNvSpPr txBox="1"/>
          <p:nvPr/>
        </p:nvSpPr>
        <p:spPr>
          <a:xfrm>
            <a:off x="107504" y="2063736"/>
            <a:ext cx="8856984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600" dirty="0"/>
              <a:t>Una varilla de material tiene longitud </a:t>
            </a:r>
            <a:r>
              <a:rPr lang="es-ES" sz="1600" i="1" dirty="0"/>
              <a:t>L</a:t>
            </a:r>
            <a:r>
              <a:rPr lang="es-ES" sz="1600" i="1" baseline="-25000" dirty="0"/>
              <a:t>0</a:t>
            </a:r>
            <a:r>
              <a:rPr lang="es-ES" sz="1600" dirty="0"/>
              <a:t> a una temperatura inicial </a:t>
            </a:r>
            <a:r>
              <a:rPr lang="es-ES" sz="1600" i="1" dirty="0"/>
              <a:t>T</a:t>
            </a:r>
            <a:r>
              <a:rPr lang="es-ES" sz="1600" i="1" baseline="-25000" dirty="0"/>
              <a:t>0</a:t>
            </a:r>
            <a:r>
              <a:rPr lang="es-E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es-ES" sz="1600" dirty="0"/>
              <a:t>Si la temperatura cambia en </a:t>
            </a:r>
            <a:r>
              <a:rPr lang="es-ES" sz="1600" i="1" dirty="0"/>
              <a:t>ΔT</a:t>
            </a:r>
            <a:r>
              <a:rPr lang="es-ES" sz="1600" dirty="0"/>
              <a:t>, la longitud cambia en </a:t>
            </a:r>
            <a:r>
              <a:rPr lang="es-ES" sz="1600" i="1" dirty="0"/>
              <a:t>ΔL</a:t>
            </a:r>
            <a:r>
              <a:rPr lang="es-ES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es-ES" sz="1600" dirty="0"/>
              <a:t>Se observa experimentalmente que si </a:t>
            </a:r>
            <a:r>
              <a:rPr lang="es-ES" sz="1600" i="1" dirty="0"/>
              <a:t>ΔT</a:t>
            </a:r>
            <a:r>
              <a:rPr lang="es-ES" sz="1600" dirty="0"/>
              <a:t> no es muy grande (menos de 100 </a:t>
            </a:r>
            <a:r>
              <a:rPr lang="es-ES" sz="1600" dirty="0" err="1"/>
              <a:t>C°</a:t>
            </a:r>
            <a:r>
              <a:rPr lang="es-ES" sz="1600" dirty="0"/>
              <a:t>), ΔL es directamente proporcional a </a:t>
            </a:r>
            <a:r>
              <a:rPr lang="es-ES" sz="1600" i="1" dirty="0"/>
              <a:t>ΔT</a:t>
            </a:r>
            <a:r>
              <a:rPr lang="es-E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5693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CEBED9-7347-CBF8-A907-8F4D1CF96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1394768"/>
            <a:ext cx="3926048" cy="21308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9114F2-DECE-E2D9-B565-D9A4AD34D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073" y="3678138"/>
            <a:ext cx="6207853" cy="101506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E8B1280-564A-8A27-6E36-C6CD2D25C66B}"/>
              </a:ext>
            </a:extLst>
          </p:cNvPr>
          <p:cNvSpPr txBox="1"/>
          <p:nvPr/>
        </p:nvSpPr>
        <p:spPr>
          <a:xfrm>
            <a:off x="143508" y="431207"/>
            <a:ext cx="88569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Si dos varillas del mismo material tienen el mismo cambio de temperatura, pero una es dos veces más larga que la otra, su cambio de longitud también será del doble </a:t>
            </a:r>
            <a:r>
              <a:rPr lang="es-ES" sz="1600" dirty="0">
                <a:sym typeface="Wingdings" panose="05000000000000000000" pitchFamily="2" charset="2"/>
              </a:rPr>
              <a:t> </a:t>
            </a:r>
            <a:r>
              <a:rPr lang="es-ES" sz="1600" i="1" dirty="0"/>
              <a:t>ΔL</a:t>
            </a:r>
            <a:r>
              <a:rPr lang="es-ES" sz="1600" dirty="0"/>
              <a:t> también debe ser proporcional a </a:t>
            </a:r>
            <a:r>
              <a:rPr lang="es-ES" sz="1600" i="1" dirty="0"/>
              <a:t>L</a:t>
            </a:r>
            <a:r>
              <a:rPr lang="es-ES" sz="1600" i="1" baseline="-250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40157B-EF8A-E03B-7B6A-9D03AF8A8EAF}"/>
              </a:ext>
            </a:extLst>
          </p:cNvPr>
          <p:cNvSpPr txBox="1"/>
          <p:nvPr/>
        </p:nvSpPr>
        <p:spPr>
          <a:xfrm>
            <a:off x="1187624" y="4693206"/>
            <a:ext cx="82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u="none" strike="noStrike" baseline="0" dirty="0">
                <a:latin typeface="Arial (Body)"/>
              </a:rPr>
              <a:t>coeficiente de expansión lineal</a:t>
            </a:r>
            <a:r>
              <a:rPr lang="es-ES" sz="1600" dirty="0">
                <a:latin typeface="Arial (Body)"/>
              </a:rPr>
              <a:t> </a:t>
            </a:r>
            <a:r>
              <a:rPr lang="es-ES" sz="1600" dirty="0">
                <a:latin typeface="Arial (Body)"/>
                <a:sym typeface="Wingdings" panose="05000000000000000000" pitchFamily="2" charset="2"/>
              </a:rPr>
              <a:t> </a:t>
            </a:r>
            <a:r>
              <a:rPr lang="es-ES" sz="1600" b="0" i="0" u="none" strike="noStrike" baseline="0" dirty="0">
                <a:latin typeface="Arial (Body)"/>
              </a:rPr>
              <a:t>unidades de a son K</a:t>
            </a:r>
            <a:r>
              <a:rPr lang="es-ES" sz="1600" b="0" i="0" u="none" strike="noStrike" baseline="30000" dirty="0">
                <a:latin typeface="Arial (Body)"/>
              </a:rPr>
              <a:t>-1</a:t>
            </a:r>
            <a:r>
              <a:rPr lang="es-ES" sz="1600" b="0" i="0" u="none" strike="noStrike" baseline="0" dirty="0">
                <a:latin typeface="Arial (Body)"/>
              </a:rPr>
              <a:t>, o bien, (°C)</a:t>
            </a:r>
            <a:r>
              <a:rPr lang="es-ES" sz="1600" b="0" i="0" u="none" strike="noStrike" baseline="30000" dirty="0">
                <a:latin typeface="Arial (Body)"/>
              </a:rPr>
              <a:t>-1</a:t>
            </a:r>
            <a:r>
              <a:rPr lang="es-ES" sz="1600" b="0" i="0" u="none" strike="noStrike" baseline="0" dirty="0">
                <a:latin typeface="Arial (Body)"/>
              </a:rPr>
              <a:t>.</a:t>
            </a:r>
            <a:endParaRPr lang="es-ES" sz="1600" dirty="0">
              <a:latin typeface="Arial (Body)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9F0377-D3AA-3170-07B8-EC2588DFAD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16" y="6461620"/>
            <a:ext cx="3624044" cy="3355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7FE3B33-F647-FD51-428D-9EFA9980420B}"/>
              </a:ext>
            </a:extLst>
          </p:cNvPr>
          <p:cNvSpPr txBox="1"/>
          <p:nvPr/>
        </p:nvSpPr>
        <p:spPr>
          <a:xfrm>
            <a:off x="143508" y="5861567"/>
            <a:ext cx="8856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Si un cuerpo tiene longitud </a:t>
            </a:r>
            <a:r>
              <a:rPr lang="es-ES" sz="1600" i="1" dirty="0"/>
              <a:t>L</a:t>
            </a:r>
            <a:r>
              <a:rPr lang="es-ES" sz="1600" i="1" baseline="-25000" dirty="0"/>
              <a:t>0</a:t>
            </a:r>
            <a:r>
              <a:rPr lang="es-ES" sz="1600" dirty="0"/>
              <a:t> a la temperatura </a:t>
            </a:r>
            <a:r>
              <a:rPr lang="es-ES" sz="1600" i="1" dirty="0"/>
              <a:t>T</a:t>
            </a:r>
            <a:r>
              <a:rPr lang="es-ES" sz="1600" i="1" baseline="-25000" dirty="0"/>
              <a:t>0</a:t>
            </a:r>
            <a:r>
              <a:rPr lang="es-ES" sz="1600" dirty="0"/>
              <a:t>, su longitud L a la temperatura </a:t>
            </a:r>
            <a:r>
              <a:rPr lang="es-ES" sz="1600" i="1" dirty="0"/>
              <a:t>T = T</a:t>
            </a:r>
            <a:r>
              <a:rPr lang="es-ES" sz="1600" i="1" baseline="-25000" dirty="0"/>
              <a:t>0</a:t>
            </a:r>
            <a:r>
              <a:rPr lang="es-ES" sz="1600" i="1" dirty="0"/>
              <a:t> + ΔT </a:t>
            </a:r>
            <a:r>
              <a:rPr lang="es-ES" sz="1600" dirty="0"/>
              <a:t>es</a:t>
            </a:r>
          </a:p>
        </p:txBody>
      </p:sp>
    </p:spTree>
    <p:extLst>
      <p:ext uri="{BB962C8B-B14F-4D97-AF65-F5344CB8AC3E}">
        <p14:creationId xmlns:p14="http://schemas.microsoft.com/office/powerpoint/2010/main" val="3264076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25839B-25E4-790E-F9FB-3E83824CB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898119"/>
            <a:ext cx="2653255" cy="29598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3DC2C1-537F-D5B8-B755-5059BFFB6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288" y="3989383"/>
            <a:ext cx="2514654" cy="28348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F2A7DB-F2A5-2BD0-BF5D-619D14C5D88B}"/>
              </a:ext>
            </a:extLst>
          </p:cNvPr>
          <p:cNvSpPr txBox="1"/>
          <p:nvPr/>
        </p:nvSpPr>
        <p:spPr>
          <a:xfrm>
            <a:off x="143508" y="514415"/>
            <a:ext cx="885698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Expansión térmica cualitativamente desde una perspectiva molecular. </a:t>
            </a:r>
          </a:p>
          <a:p>
            <a:endParaRPr lang="es-ES" sz="1600" dirty="0"/>
          </a:p>
          <a:p>
            <a:r>
              <a:rPr lang="es-ES" sz="1600" dirty="0"/>
              <a:t>Imaginemos las fuerzas interatómicas en un sólido como si fueran resortes</a:t>
            </a:r>
          </a:p>
          <a:p>
            <a:endParaRPr lang="es-ES" sz="1600" dirty="0"/>
          </a:p>
          <a:p>
            <a:r>
              <a:rPr lang="es-ES" sz="1600" dirty="0"/>
              <a:t>Cada átomo vibra alrededor de su posición de equilibrio.</a:t>
            </a:r>
          </a:p>
          <a:p>
            <a:endParaRPr lang="es-ES" sz="1600" dirty="0"/>
          </a:p>
          <a:p>
            <a:r>
              <a:rPr lang="es-ES" sz="1600" dirty="0"/>
              <a:t>Al aumentar la temperatura, también se incrementan la energía y la amplitud de la vibración. Las fuerzas de resorte interatómicas no son simétricas alrededor de la posición de equilibrio: suelen comportarse como un resorte que es más fácil de estirar que de comprimir. </a:t>
            </a:r>
          </a:p>
          <a:p>
            <a:endParaRPr lang="es-ES" sz="1600" dirty="0"/>
          </a:p>
          <a:p>
            <a:r>
              <a:rPr lang="es-ES" sz="1600" dirty="0"/>
              <a:t>Al aumentar la amplitud de las vibraciones, también se incrementa la distancia media entre los átomos. </a:t>
            </a:r>
          </a:p>
          <a:p>
            <a:r>
              <a:rPr lang="es-ES" sz="1600" dirty="0"/>
              <a:t>Al separarse los átomos, todas las dimensiones aumentan.</a:t>
            </a:r>
          </a:p>
        </p:txBody>
      </p:sp>
    </p:spTree>
    <p:extLst>
      <p:ext uri="{BB962C8B-B14F-4D97-AF65-F5344CB8AC3E}">
        <p14:creationId xmlns:p14="http://schemas.microsoft.com/office/powerpoint/2010/main" val="1233824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29CBF-A7D0-C482-8856-C32712DBB7D3}"/>
              </a:ext>
            </a:extLst>
          </p:cNvPr>
          <p:cNvSpPr txBox="1"/>
          <p:nvPr/>
        </p:nvSpPr>
        <p:spPr>
          <a:xfrm>
            <a:off x="107504" y="404664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0" u="none" strike="noStrike" baseline="0" dirty="0">
                <a:solidFill>
                  <a:srgbClr val="004D33"/>
                </a:solidFill>
                <a:latin typeface="ITCAvantGardeStd-Demi"/>
              </a:rPr>
              <a:t>Expansión de volumen</a:t>
            </a:r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DF773-03FC-72AB-B67D-1A1E9FCDF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447488"/>
            <a:ext cx="6308521" cy="9815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91D9F4-08DC-456D-961C-4E6D51CFD5C0}"/>
              </a:ext>
            </a:extLst>
          </p:cNvPr>
          <p:cNvSpPr txBox="1"/>
          <p:nvPr/>
        </p:nvSpPr>
        <p:spPr>
          <a:xfrm>
            <a:off x="107504" y="910431"/>
            <a:ext cx="92170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Un aumento de temperatura suele aumentar el volumen de materiales tanto líquidos como sólidos. </a:t>
            </a:r>
          </a:p>
          <a:p>
            <a:endParaRPr lang="es-ES" sz="1600" dirty="0"/>
          </a:p>
          <a:p>
            <a:r>
              <a:rPr lang="es-ES" sz="1600" dirty="0"/>
              <a:t>Si el cambio de temperatura </a:t>
            </a:r>
            <a:r>
              <a:rPr lang="es-ES" sz="1600" i="1" dirty="0"/>
              <a:t>ΔT</a:t>
            </a:r>
            <a:r>
              <a:rPr lang="es-ES" sz="1600" dirty="0"/>
              <a:t> no es muy grande (menos de 100 </a:t>
            </a:r>
            <a:r>
              <a:rPr lang="es-ES" sz="1600" dirty="0" err="1"/>
              <a:t>C°</a:t>
            </a:r>
            <a:r>
              <a:rPr lang="es-ES" sz="1600" dirty="0"/>
              <a:t>), el aumento de</a:t>
            </a:r>
          </a:p>
          <a:p>
            <a:r>
              <a:rPr lang="es-ES" sz="1600" dirty="0"/>
              <a:t>volumen </a:t>
            </a:r>
            <a:r>
              <a:rPr lang="es-ES" sz="1600" i="1" dirty="0"/>
              <a:t>ΔV</a:t>
            </a:r>
            <a:r>
              <a:rPr lang="es-ES" sz="1600" dirty="0"/>
              <a:t> es aproximadamente proporcional al cambio de temperatura </a:t>
            </a:r>
            <a:r>
              <a:rPr lang="es-ES" sz="1600" i="1" dirty="0"/>
              <a:t>ΔT</a:t>
            </a:r>
            <a:r>
              <a:rPr lang="es-ES" sz="1600" dirty="0"/>
              <a:t> y al volumen</a:t>
            </a:r>
          </a:p>
          <a:p>
            <a:r>
              <a:rPr lang="es-ES" sz="1600" dirty="0"/>
              <a:t>inicial </a:t>
            </a:r>
            <a:r>
              <a:rPr lang="es-ES" sz="1600" i="1" dirty="0"/>
              <a:t>V</a:t>
            </a:r>
            <a:r>
              <a:rPr lang="es-ES" sz="1600" i="1" baseline="-25000" dirty="0"/>
              <a:t>0</a:t>
            </a:r>
            <a:r>
              <a:rPr lang="es-ES" sz="160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BA545-D9EA-5911-F9E1-ECE3BDC41ED9}"/>
              </a:ext>
            </a:extLst>
          </p:cNvPr>
          <p:cNvSpPr txBox="1"/>
          <p:nvPr/>
        </p:nvSpPr>
        <p:spPr>
          <a:xfrm>
            <a:off x="1052128" y="3473341"/>
            <a:ext cx="8272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i="0" u="none" strike="noStrike" baseline="0" dirty="0">
                <a:latin typeface="Arial (Body)"/>
              </a:rPr>
              <a:t>coeficiente de expansión </a:t>
            </a:r>
            <a:r>
              <a:rPr lang="es-ES" sz="1600" b="1" i="0" u="none" strike="noStrike" baseline="0" dirty="0" err="1">
                <a:latin typeface="Arial (Body)"/>
              </a:rPr>
              <a:t>volumetrica</a:t>
            </a:r>
            <a:r>
              <a:rPr lang="es-ES" sz="1600" dirty="0">
                <a:latin typeface="Arial (Body)"/>
              </a:rPr>
              <a:t> </a:t>
            </a:r>
            <a:r>
              <a:rPr lang="es-ES" sz="1600" dirty="0">
                <a:latin typeface="Arial (Body)"/>
                <a:sym typeface="Wingdings" panose="05000000000000000000" pitchFamily="2" charset="2"/>
              </a:rPr>
              <a:t> </a:t>
            </a:r>
            <a:r>
              <a:rPr lang="es-ES" sz="1600" b="0" i="0" u="none" strike="noStrike" baseline="0" dirty="0">
                <a:latin typeface="Arial (Body)"/>
              </a:rPr>
              <a:t>unidades de a son K</a:t>
            </a:r>
            <a:r>
              <a:rPr lang="es-ES" sz="1600" b="0" i="0" u="none" strike="noStrike" baseline="30000" dirty="0">
                <a:latin typeface="Arial (Body)"/>
              </a:rPr>
              <a:t>-1</a:t>
            </a:r>
            <a:r>
              <a:rPr lang="es-ES" sz="1600" b="0" i="0" u="none" strike="noStrike" baseline="0" dirty="0">
                <a:latin typeface="Arial (Body)"/>
              </a:rPr>
              <a:t>, o bien, (°C)</a:t>
            </a:r>
            <a:r>
              <a:rPr lang="es-ES" sz="1600" b="0" i="0" u="none" strike="noStrike" baseline="30000" dirty="0">
                <a:latin typeface="Arial (Body)"/>
              </a:rPr>
              <a:t>-1</a:t>
            </a:r>
            <a:r>
              <a:rPr lang="es-ES" sz="1600" b="0" i="0" u="none" strike="noStrike" baseline="0" dirty="0">
                <a:latin typeface="Arial (Body)"/>
              </a:rPr>
              <a:t>.</a:t>
            </a:r>
            <a:endParaRPr lang="es-ES" sz="1600" dirty="0">
              <a:latin typeface="Arial (Body)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78E1E7-BB7A-C727-E25D-067267DE5363}"/>
              </a:ext>
            </a:extLst>
          </p:cNvPr>
          <p:cNvSpPr txBox="1"/>
          <p:nvPr/>
        </p:nvSpPr>
        <p:spPr>
          <a:xfrm>
            <a:off x="76402" y="4149080"/>
            <a:ext cx="88880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600" b="0" i="0" u="none" strike="noStrike" baseline="0" dirty="0">
                <a:latin typeface="Arial (Body)"/>
              </a:rPr>
              <a:t>En el caso de los materiales sólidos, hay una relación sencilla entre el coeficiente de</a:t>
            </a: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expansión volumétrica </a:t>
            </a:r>
            <a:r>
              <a:rPr lang="el-GR" sz="1600" b="0" i="0" u="none" strike="noStrike" baseline="0" dirty="0">
                <a:latin typeface="Arial (Body)"/>
              </a:rPr>
              <a:t>β</a:t>
            </a:r>
            <a:r>
              <a:rPr lang="en-GB" sz="1600" b="0" i="0" u="none" strike="noStrike" baseline="0" dirty="0">
                <a:latin typeface="Arial (Body)"/>
              </a:rPr>
              <a:t> </a:t>
            </a:r>
            <a:r>
              <a:rPr lang="es-ES" sz="1600" b="0" i="0" u="none" strike="noStrike" baseline="0" dirty="0">
                <a:latin typeface="Arial (Body)"/>
              </a:rPr>
              <a:t>y el coeficiente de expansión lineal </a:t>
            </a:r>
            <a:r>
              <a:rPr lang="el-GR" sz="1600" b="0" i="0" u="none" strike="noStrike" baseline="0" dirty="0">
                <a:latin typeface="Arial (Body)"/>
              </a:rPr>
              <a:t>α</a:t>
            </a:r>
            <a:r>
              <a:rPr lang="es-ES" sz="1600" b="0" i="0" u="none" strike="noStrike" baseline="0" dirty="0">
                <a:latin typeface="Arial (Body)"/>
              </a:rPr>
              <a:t>.</a:t>
            </a:r>
            <a:endParaRPr lang="es-ES" sz="1600" dirty="0">
              <a:latin typeface="Arial (Body)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E56341-897B-4CB4-E701-813267BC4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096" y="4870490"/>
            <a:ext cx="517331" cy="1778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EDBF9DC-B026-3582-ABD1-9548807FC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40" y="5293228"/>
            <a:ext cx="1912690" cy="6543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B59A66-6549-373C-43E6-93F00717E7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7566" y="5124239"/>
            <a:ext cx="1241571" cy="3187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A441FB-C0E7-7E22-2B7D-943D33CAF3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7824" y="5915222"/>
            <a:ext cx="2315361" cy="40267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6E610A7-8373-0183-96D3-AD525DFBB2FC}"/>
              </a:ext>
            </a:extLst>
          </p:cNvPr>
          <p:cNvCxnSpPr/>
          <p:nvPr/>
        </p:nvCxnSpPr>
        <p:spPr>
          <a:xfrm flipH="1">
            <a:off x="4860032" y="5336356"/>
            <a:ext cx="36004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2BAB948D-ED17-E364-9435-BA58D2ADD8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8700" y="5684516"/>
            <a:ext cx="906011" cy="276837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404963-0E78-7AED-28B6-B37E9632256A}"/>
              </a:ext>
            </a:extLst>
          </p:cNvPr>
          <p:cNvCxnSpPr>
            <a:cxnSpLocks/>
          </p:cNvCxnSpPr>
          <p:nvPr/>
        </p:nvCxnSpPr>
        <p:spPr>
          <a:xfrm>
            <a:off x="2708887" y="5947569"/>
            <a:ext cx="328596" cy="1689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EE10D2DC-FCBC-5F70-C643-B9FF0A6DD8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7990" y="6447729"/>
            <a:ext cx="872455" cy="40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264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C84F67-7558-77FC-FC0A-F69F028C1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404664"/>
            <a:ext cx="3590488" cy="25502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A5084D1-44FE-8512-2B18-6134A5B40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4221088"/>
            <a:ext cx="6912528" cy="25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62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E8D926-DBC9-413A-F583-1D57BCAD0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2736"/>
            <a:ext cx="9144000" cy="12563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7FD54FE-9E8D-3B54-635F-376CACD92AC1}"/>
              </a:ext>
            </a:extLst>
          </p:cNvPr>
          <p:cNvSpPr txBox="1"/>
          <p:nvPr/>
        </p:nvSpPr>
        <p:spPr>
          <a:xfrm>
            <a:off x="107504" y="508030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/>
              <a:t>jemplo2.</a:t>
            </a:r>
          </a:p>
        </p:txBody>
      </p:sp>
    </p:spTree>
    <p:extLst>
      <p:ext uri="{BB962C8B-B14F-4D97-AF65-F5344CB8AC3E}">
        <p14:creationId xmlns:p14="http://schemas.microsoft.com/office/powerpoint/2010/main" val="2960481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D5D6ED-D9D4-A40C-D770-258168EFD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052736"/>
            <a:ext cx="5872294" cy="1275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89D6CC-0B49-9106-06F7-1033C2488601}"/>
              </a:ext>
            </a:extLst>
          </p:cNvPr>
          <p:cNvSpPr txBox="1"/>
          <p:nvPr/>
        </p:nvSpPr>
        <p:spPr>
          <a:xfrm>
            <a:off x="34144" y="476049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3.</a:t>
            </a:r>
          </a:p>
        </p:txBody>
      </p:sp>
    </p:spTree>
    <p:extLst>
      <p:ext uri="{BB962C8B-B14F-4D97-AF65-F5344CB8AC3E}">
        <p14:creationId xmlns:p14="http://schemas.microsoft.com/office/powerpoint/2010/main" val="2845854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29CBF-A7D0-C482-8856-C32712DBB7D3}"/>
              </a:ext>
            </a:extLst>
          </p:cNvPr>
          <p:cNvSpPr txBox="1"/>
          <p:nvPr/>
        </p:nvSpPr>
        <p:spPr>
          <a:xfrm>
            <a:off x="107504" y="404664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0" u="none" strike="noStrike" baseline="0" dirty="0">
                <a:solidFill>
                  <a:srgbClr val="004D33"/>
                </a:solidFill>
                <a:latin typeface="ITCAvantGardeStd-Demi"/>
              </a:rPr>
              <a:t>Expansión térmica del agua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EA8E80-C2BC-68DD-6795-14D6812BC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3429000"/>
            <a:ext cx="2856281" cy="3365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E1C9EF-3474-58BA-EF87-0A9EF15F424B}"/>
              </a:ext>
            </a:extLst>
          </p:cNvPr>
          <p:cNvSpPr txBox="1"/>
          <p:nvPr/>
        </p:nvSpPr>
        <p:spPr>
          <a:xfrm>
            <a:off x="251520" y="874455"/>
            <a:ext cx="8657053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600" b="0" i="0" u="none" strike="noStrike" baseline="0" dirty="0">
                <a:latin typeface="Arial (Body)"/>
              </a:rPr>
              <a:t>El agua, en el intervalo de temperaturas de 0 a 4°C, se </a:t>
            </a:r>
            <a:r>
              <a:rPr lang="es-ES" sz="1600" b="0" i="1" u="none" strike="noStrike" baseline="0" dirty="0">
                <a:latin typeface="Arial (Body)"/>
              </a:rPr>
              <a:t>contrae </a:t>
            </a:r>
            <a:r>
              <a:rPr lang="es-ES" sz="1600" b="0" i="0" u="none" strike="noStrike" baseline="0" dirty="0">
                <a:latin typeface="Arial (Body)"/>
              </a:rPr>
              <a:t>al aumentar la temperatura</a:t>
            </a:r>
            <a:r>
              <a:rPr lang="es-ES" sz="1600" dirty="0">
                <a:latin typeface="Arial (Body)"/>
              </a:rPr>
              <a:t> </a:t>
            </a:r>
            <a:r>
              <a:rPr lang="es-ES" sz="1600" dirty="0">
                <a:latin typeface="Arial (Body)"/>
                <a:sym typeface="Wingdings" panose="05000000000000000000" pitchFamily="2" charset="2"/>
              </a:rPr>
              <a:t> </a:t>
            </a:r>
            <a:r>
              <a:rPr lang="es-ES" sz="1600" b="0" i="0" u="none" strike="noStrike" baseline="0" dirty="0">
                <a:latin typeface="Arial (Body)"/>
              </a:rPr>
              <a:t>su coeficiente de expansión volumétrica es </a:t>
            </a:r>
            <a:r>
              <a:rPr lang="es-ES" sz="1600" b="0" i="1" u="none" strike="noStrike" baseline="0" dirty="0">
                <a:latin typeface="Arial (Body)"/>
              </a:rPr>
              <a:t>negativo</a:t>
            </a:r>
            <a:r>
              <a:rPr lang="es-ES" sz="1600" b="0" i="0" u="none" strike="noStrike" baseline="0" dirty="0">
                <a:latin typeface="Arial (Body)"/>
              </a:rPr>
              <a:t>. </a:t>
            </a: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Por encima de 4°C, el agua se expande al calentarse. </a:t>
            </a: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Por lo tanto, el agua tiene su mayor densidad a 4°C. </a:t>
            </a: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El agua también se expande al congelarse</a:t>
            </a:r>
            <a:endParaRPr lang="es-ES" sz="1600" dirty="0">
              <a:latin typeface="Arial (Body)"/>
            </a:endParaRPr>
          </a:p>
          <a:p>
            <a:pPr algn="l"/>
            <a:endParaRPr lang="es-ES" sz="1600" b="0" i="0" u="none" strike="noStrike" baseline="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En cambio, la mayoría de los materiales se contraen al congelarse.</a:t>
            </a:r>
          </a:p>
          <a:p>
            <a:pPr algn="l"/>
            <a:endParaRPr lang="es-ES" sz="1600" b="0" i="0" u="none" strike="noStrike" baseline="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 </a:t>
            </a:r>
            <a:endParaRPr lang="es-ES" sz="16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3849714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E1C9EF-3474-58BA-EF87-0A9EF15F424B}"/>
              </a:ext>
            </a:extLst>
          </p:cNvPr>
          <p:cNvSpPr txBox="1"/>
          <p:nvPr/>
        </p:nvSpPr>
        <p:spPr>
          <a:xfrm>
            <a:off x="121364" y="476672"/>
            <a:ext cx="890127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1600" b="0" i="0" u="none" strike="noStrike" baseline="0" dirty="0">
                <a:latin typeface="Arial (Body)"/>
              </a:rPr>
              <a:t>Este comportamiento anómalo del agua tiene un efecto importante sobre la vida vegetal y animal en los lagos. </a:t>
            </a:r>
          </a:p>
          <a:p>
            <a:pPr algn="l"/>
            <a:endParaRPr lang="es-ES" sz="1600" b="0" i="0" u="none" strike="noStrike" baseline="0" dirty="0">
              <a:latin typeface="Arial (Body)"/>
            </a:endParaRP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Un lago se enfría de la superficie hacia abajo:</a:t>
            </a: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a) por encima de los 4°C, el agua fría de la superficie fluye hacia el fondo debido a su mayor densidad;</a:t>
            </a: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b) cuando la temperatura superficial es menor que 4°C, el agua cerca de la superficie es menos densa que la de abajo, que es más caliente. El flujo hacia abajo cesa y el agua cerca de la superficie sigue siendo más fría que en el fondo. </a:t>
            </a: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c) Al congelarse la superficie, el hielo flota porque es menos denso que el agua. </a:t>
            </a: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d) El agua en el fondo sigue a 4°C hasta que casi todo el lago se congela. </a:t>
            </a: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Si el agua se comportara como la mayoría de las sustancias, contrayéndose continuamente al enfriarse y congelarse, los lagos se congelarían de abajo hacia arriba. </a:t>
            </a: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Esto destruiría todas las plantas y animales que no resisten el congelamiento. </a:t>
            </a:r>
          </a:p>
          <a:p>
            <a:pPr algn="l"/>
            <a:endParaRPr lang="es-ES" sz="1600" dirty="0">
              <a:latin typeface="Arial (Body)"/>
            </a:endParaRPr>
          </a:p>
          <a:p>
            <a:pPr algn="l"/>
            <a:r>
              <a:rPr lang="es-ES" sz="1600" b="0" i="0" u="none" strike="noStrike" baseline="0" dirty="0">
                <a:latin typeface="Arial (Body)"/>
              </a:rPr>
              <a:t>Si el agua no tuviera esta propiedad especial, la evolución de la vida habría seguido un curso muy diferente.</a:t>
            </a:r>
            <a:endParaRPr lang="es-ES" sz="1600" dirty="0"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2894900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4016F-2476-6B51-EFBF-4D56F1FF0894}"/>
              </a:ext>
            </a:extLst>
          </p:cNvPr>
          <p:cNvSpPr txBox="1"/>
          <p:nvPr/>
        </p:nvSpPr>
        <p:spPr>
          <a:xfrm>
            <a:off x="35496" y="404664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Esfuerzo térmico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9D12FB-57D3-D803-4C5A-36B36F024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2757845"/>
            <a:ext cx="2281806" cy="7801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F5AC868-16C5-DC74-BEC6-7136E149B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073" y="3733116"/>
            <a:ext cx="1510018" cy="7885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EDB6DF-57FB-2CDE-6C0B-6C1E9D3EC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3677012"/>
            <a:ext cx="2181138" cy="8892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1804CDC-A391-B99C-F149-FE446206AE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3082" y="4618155"/>
            <a:ext cx="4697835" cy="6962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BD1B8CB-5DA1-B25C-A53A-D48B0C9C7C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2779" y="5608415"/>
            <a:ext cx="6845417" cy="110734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3261870-92FE-A4D0-911E-85DC39774B81}"/>
              </a:ext>
            </a:extLst>
          </p:cNvPr>
          <p:cNvSpPr txBox="1"/>
          <p:nvPr/>
        </p:nvSpPr>
        <p:spPr>
          <a:xfrm>
            <a:off x="179512" y="802124"/>
            <a:ext cx="885698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Si sujetamos rígidamente los extremos de una varilla para evitar su expansión o contracción</a:t>
            </a:r>
          </a:p>
          <a:p>
            <a:r>
              <a:rPr lang="es-ES" sz="1600" dirty="0"/>
              <a:t>y luego variamos la temperatura, aparecerán esfuerzos de tensión o compresión llamados esfuerzos térmicos.</a:t>
            </a:r>
          </a:p>
          <a:p>
            <a:endParaRPr lang="es-ES" sz="1600" dirty="0"/>
          </a:p>
          <a:p>
            <a:r>
              <a:rPr lang="es-ES" sz="1600" dirty="0"/>
              <a:t>Cálculo de los esfuerzos térmicos en una varilla sujeta </a:t>
            </a:r>
            <a:r>
              <a:rPr lang="es-ES" sz="1600" dirty="0">
                <a:sym typeface="Wingdings" panose="05000000000000000000" pitchFamily="2" charset="2"/>
              </a:rPr>
              <a:t> </a:t>
            </a:r>
            <a:r>
              <a:rPr lang="es-ES" sz="1600" dirty="0"/>
              <a:t>calculamos qué tanto se expandiría (o contraería) si no estuviera sujeta, y luego calculamos el esfuerzo necesario</a:t>
            </a:r>
          </a:p>
          <a:p>
            <a:r>
              <a:rPr lang="es-ES" sz="1600" dirty="0"/>
              <a:t>para comprimirla (o estirarla) a su longitud original.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A0D9FA-C3BC-9031-3CA4-4F84E0C6F28D}"/>
              </a:ext>
            </a:extLst>
          </p:cNvPr>
          <p:cNvSpPr txBox="1"/>
          <p:nvPr/>
        </p:nvSpPr>
        <p:spPr>
          <a:xfrm>
            <a:off x="945391" y="3902574"/>
            <a:ext cx="18941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Módulo de Young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F84AE52-4F32-E7C0-9074-AD6B73B42643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 flipV="1">
            <a:off x="4074091" y="4121629"/>
            <a:ext cx="785941" cy="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4022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39AFC2-7FEE-4BB0-11ED-71C5893A8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412776"/>
            <a:ext cx="5838738" cy="16442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3380F7-018D-3BB7-4289-580D55128226}"/>
              </a:ext>
            </a:extLst>
          </p:cNvPr>
          <p:cNvSpPr txBox="1"/>
          <p:nvPr/>
        </p:nvSpPr>
        <p:spPr>
          <a:xfrm>
            <a:off x="107504" y="671357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4.</a:t>
            </a:r>
          </a:p>
        </p:txBody>
      </p:sp>
    </p:spTree>
    <p:extLst>
      <p:ext uri="{BB962C8B-B14F-4D97-AF65-F5344CB8AC3E}">
        <p14:creationId xmlns:p14="http://schemas.microsoft.com/office/powerpoint/2010/main" val="999612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4016F-2476-6B51-EFBF-4D56F1FF0894}"/>
              </a:ext>
            </a:extLst>
          </p:cNvPr>
          <p:cNvSpPr txBox="1"/>
          <p:nvPr/>
        </p:nvSpPr>
        <p:spPr>
          <a:xfrm>
            <a:off x="35496" y="404664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CANTIDAD DE CALOR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AC1E1A-5097-6A90-B426-D63BD614E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229874"/>
            <a:ext cx="2520280" cy="25258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434088-F117-6369-3943-8A70F83C6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045" y="4149080"/>
            <a:ext cx="2648451" cy="26774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A7E959-EA09-62C6-F477-3E31D2532645}"/>
              </a:ext>
            </a:extLst>
          </p:cNvPr>
          <p:cNvSpPr txBox="1"/>
          <p:nvPr/>
        </p:nvSpPr>
        <p:spPr>
          <a:xfrm>
            <a:off x="103345" y="2420888"/>
            <a:ext cx="893730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Sir James Joule (1818-1889) estudió el mismo cambio de temperatura del mismo sistema puede lograrse </a:t>
            </a:r>
          </a:p>
          <a:p>
            <a:pPr marL="342900" indent="-342900">
              <a:buAutoNum type="alphaLcParenR"/>
            </a:pPr>
            <a:r>
              <a:rPr lang="es-ES" sz="1600" dirty="0"/>
              <a:t>realizando trabajo sobre él o </a:t>
            </a:r>
          </a:p>
          <a:p>
            <a:pPr marL="342900" indent="-342900">
              <a:buAutoNum type="alphaLcParenR"/>
            </a:pPr>
            <a:r>
              <a:rPr lang="es-ES" sz="1600" dirty="0"/>
              <a:t>agregándole calor.</a:t>
            </a:r>
          </a:p>
          <a:p>
            <a:pPr marL="342900" indent="-342900">
              <a:buAutoNum type="alphaLcParenR"/>
            </a:pPr>
            <a:endParaRPr lang="es-ES" sz="1600" dirty="0"/>
          </a:p>
          <a:p>
            <a:r>
              <a:rPr lang="es-ES" sz="1600" dirty="0"/>
              <a:t>El aumento de temperatura es directamente proporcional a la cantidad de trabajo realizado.</a:t>
            </a:r>
          </a:p>
          <a:p>
            <a:endParaRPr lang="es-E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7FE98-DDF1-E446-8635-53149293C9AE}"/>
              </a:ext>
            </a:extLst>
          </p:cNvPr>
          <p:cNvSpPr txBox="1"/>
          <p:nvPr/>
        </p:nvSpPr>
        <p:spPr>
          <a:xfrm>
            <a:off x="54765" y="773049"/>
            <a:ext cx="8937309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Experimentamos diariamente este proceso: si introducimos una cuchara fría en una taza de café caliente, la cuchara se calienta y el café se enfría hasta que ambos alcanzan equilibrio térmico: flujo de calor o transferencia de calor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/>
              <a:t>transferencia de energía de una sustancia a otra.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sz="1600" dirty="0"/>
              <a:t>se da exclusivamente por una diferencia de temperatura </a:t>
            </a:r>
          </a:p>
        </p:txBody>
      </p:sp>
    </p:spTree>
    <p:extLst>
      <p:ext uri="{BB962C8B-B14F-4D97-AF65-F5344CB8AC3E}">
        <p14:creationId xmlns:p14="http://schemas.microsoft.com/office/powerpoint/2010/main" val="532866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E87CE3-1232-FF9F-76AF-3D5EA54CB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5517232"/>
            <a:ext cx="1577130" cy="2516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93DBA9-8933-18D3-60F9-F9B66BB3F357}"/>
              </a:ext>
            </a:extLst>
          </p:cNvPr>
          <p:cNvSpPr txBox="1"/>
          <p:nvPr/>
        </p:nvSpPr>
        <p:spPr>
          <a:xfrm>
            <a:off x="251520" y="404664"/>
            <a:ext cx="88569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La temperatura depende del estado físico de un material y es una descripción cuantitativa de su calidez o frialdad. </a:t>
            </a:r>
          </a:p>
          <a:p>
            <a:endParaRPr lang="es-ES" sz="1600" dirty="0"/>
          </a:p>
          <a:p>
            <a:r>
              <a:rPr lang="es-ES" sz="1600" dirty="0"/>
              <a:t>En física, el término “calor” siempre se refiere a transferencia de energía de un cuerpo o sistema a otro, debida a una diferencia de temperatura, nunca a la cantidad de energía contenida en un sistema dado. </a:t>
            </a:r>
          </a:p>
          <a:p>
            <a:endParaRPr lang="es-ES" sz="1600" dirty="0"/>
          </a:p>
          <a:p>
            <a:r>
              <a:rPr lang="es-ES" sz="1600" dirty="0"/>
              <a:t>Si cortamos un cuerpo a la mitad, cada mitad tiene la misma temperatura que el todo; </a:t>
            </a:r>
          </a:p>
          <a:p>
            <a:r>
              <a:rPr lang="es-ES" sz="1600" dirty="0"/>
              <a:t>no obstante, para elevar la temperatura de una mitad un intervalo dado, le agregamos la mitad del calor que agregaríamos al todo.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Podemos definir una unidad de cantidad de calor con base en el cambio de temperatura de un material específico.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La caloría (</a:t>
            </a:r>
            <a:r>
              <a:rPr lang="es-ES" sz="1600" i="1" dirty="0"/>
              <a:t>cal</a:t>
            </a:r>
            <a:r>
              <a:rPr lang="es-ES" sz="1600" dirty="0"/>
              <a:t>) se define como la cantidad de calor necesaria para elevar la temperatura de 1 g de agua de 14.5 a 15.5°C.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4CD2B-5247-AC37-5242-98CD4810ADB9}"/>
              </a:ext>
            </a:extLst>
          </p:cNvPr>
          <p:cNvSpPr txBox="1"/>
          <p:nvPr/>
        </p:nvSpPr>
        <p:spPr>
          <a:xfrm>
            <a:off x="2161862" y="6114782"/>
            <a:ext cx="5036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La caloría no es una unidad fundamental del SI. </a:t>
            </a:r>
          </a:p>
        </p:txBody>
      </p:sp>
    </p:spTree>
    <p:extLst>
      <p:ext uri="{BB962C8B-B14F-4D97-AF65-F5344CB8AC3E}">
        <p14:creationId xmlns:p14="http://schemas.microsoft.com/office/powerpoint/2010/main" val="38543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29CBF-A7D0-C482-8856-C32712DBB7D3}"/>
              </a:ext>
            </a:extLst>
          </p:cNvPr>
          <p:cNvSpPr txBox="1"/>
          <p:nvPr/>
        </p:nvSpPr>
        <p:spPr>
          <a:xfrm>
            <a:off x="107504" y="404664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0" u="none" strike="noStrike" baseline="0" dirty="0">
                <a:solidFill>
                  <a:srgbClr val="004D33"/>
                </a:solidFill>
                <a:latin typeface="ITCAvantGardeStd-Demi"/>
              </a:rPr>
              <a:t>Calor específico</a:t>
            </a:r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BC4C7D-6670-AA3A-7D74-938BC7E28320}"/>
              </a:ext>
            </a:extLst>
          </p:cNvPr>
          <p:cNvSpPr txBox="1"/>
          <p:nvPr/>
        </p:nvSpPr>
        <p:spPr>
          <a:xfrm>
            <a:off x="107504" y="908720"/>
            <a:ext cx="89289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El símbolo </a:t>
            </a:r>
            <a:r>
              <a:rPr lang="es-ES" sz="1600" i="1" dirty="0"/>
              <a:t>Q</a:t>
            </a:r>
            <a:r>
              <a:rPr lang="es-ES" sz="1600" dirty="0"/>
              <a:t> denota calor. </a:t>
            </a:r>
          </a:p>
          <a:p>
            <a:r>
              <a:rPr lang="es-ES" sz="1600" dirty="0"/>
              <a:t>Si el calor está asociado a un cambio de temperatura infinitesimal </a:t>
            </a:r>
            <a:r>
              <a:rPr lang="es-ES" sz="1600" i="1" dirty="0" err="1"/>
              <a:t>dT</a:t>
            </a:r>
            <a:r>
              <a:rPr lang="es-ES" sz="1600" i="1" dirty="0"/>
              <a:t> </a:t>
            </a:r>
            <a:r>
              <a:rPr lang="es-ES" sz="1600" i="1" dirty="0">
                <a:sym typeface="Wingdings" panose="05000000000000000000" pitchFamily="2" charset="2"/>
              </a:rPr>
              <a:t></a:t>
            </a:r>
            <a:r>
              <a:rPr lang="es-ES" sz="1600" dirty="0"/>
              <a:t> </a:t>
            </a:r>
            <a:r>
              <a:rPr lang="es-ES" sz="1600" i="1" dirty="0" err="1"/>
              <a:t>dQ</a:t>
            </a:r>
            <a:r>
              <a:rPr lang="es-ES" sz="1600" dirty="0"/>
              <a:t>. </a:t>
            </a:r>
          </a:p>
          <a:p>
            <a:endParaRPr lang="es-ES" sz="1600" dirty="0"/>
          </a:p>
          <a:p>
            <a:r>
              <a:rPr lang="es-ES" sz="1600" dirty="0"/>
              <a:t>La cantidad de calor </a:t>
            </a:r>
            <a:r>
              <a:rPr lang="es-ES" sz="1600" i="1" dirty="0"/>
              <a:t>Q</a:t>
            </a:r>
            <a:r>
              <a:rPr lang="es-ES" sz="1600" dirty="0"/>
              <a:t> necesaria para elevar la temperatura de una masa </a:t>
            </a:r>
            <a:r>
              <a:rPr lang="es-ES" sz="1600" i="1" dirty="0"/>
              <a:t>m</a:t>
            </a:r>
            <a:r>
              <a:rPr lang="es-ES" sz="1600" dirty="0"/>
              <a:t> de cierto material de </a:t>
            </a:r>
            <a:r>
              <a:rPr lang="es-ES" sz="1600" i="1" dirty="0"/>
              <a:t>T</a:t>
            </a:r>
            <a:r>
              <a:rPr lang="es-ES" sz="1600" i="1" baseline="-25000" dirty="0"/>
              <a:t>1</a:t>
            </a:r>
            <a:r>
              <a:rPr lang="es-ES" sz="1600" dirty="0"/>
              <a:t> a </a:t>
            </a:r>
            <a:r>
              <a:rPr lang="es-ES" sz="1600" i="1" dirty="0"/>
              <a:t>T</a:t>
            </a:r>
            <a:r>
              <a:rPr lang="es-ES" sz="1600" i="1" baseline="-25000" dirty="0"/>
              <a:t>2</a:t>
            </a:r>
            <a:r>
              <a:rPr lang="es-ES" sz="1600" dirty="0"/>
              <a:t> es aproximadamente proporcional al cambio de temperatura </a:t>
            </a:r>
            <a:r>
              <a:rPr lang="es-ES" sz="1600" i="1" dirty="0"/>
              <a:t>ΔT = T</a:t>
            </a:r>
            <a:r>
              <a:rPr lang="es-ES" sz="1600" i="1" baseline="-25000" dirty="0"/>
              <a:t>2</a:t>
            </a:r>
            <a:r>
              <a:rPr lang="es-ES" sz="1600" i="1" dirty="0"/>
              <a:t> - T</a:t>
            </a:r>
            <a:r>
              <a:rPr lang="es-ES" sz="1600" i="1" baseline="-25000" dirty="0"/>
              <a:t>1</a:t>
            </a:r>
            <a:r>
              <a:rPr lang="es-ES" sz="1600" i="1" dirty="0"/>
              <a:t> </a:t>
            </a:r>
            <a:r>
              <a:rPr lang="es-ES" sz="1600" dirty="0"/>
              <a:t>y a la masa </a:t>
            </a:r>
            <a:r>
              <a:rPr lang="es-ES" sz="1600" i="1" dirty="0"/>
              <a:t>m</a:t>
            </a:r>
            <a:r>
              <a:rPr lang="es-ES" sz="1600" dirty="0"/>
              <a:t> del material.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Si calentamos agua para hacer té, necesitamos el doble de calor para dos tazas que, para una, si el cambio de temperatura es el mismo.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La cantidad de calor requerida también depende de la naturaleza del material; se requieren 4190 J de calor para elevar la temperatura de 1 kilogramo de agua 1 </a:t>
            </a:r>
            <a:r>
              <a:rPr lang="es-ES" sz="1600" dirty="0" err="1"/>
              <a:t>C°</a:t>
            </a:r>
            <a:r>
              <a:rPr lang="es-ES" sz="1600" dirty="0"/>
              <a:t>, pero sólo 910 J para elevar en 1 </a:t>
            </a:r>
            <a:r>
              <a:rPr lang="es-ES" sz="1600" dirty="0" err="1"/>
              <a:t>C°</a:t>
            </a:r>
            <a:r>
              <a:rPr lang="es-ES" sz="1600" dirty="0"/>
              <a:t> la temperatura de 1 kilogramo de aluminio.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16D45A-77B1-1B40-70A4-D0EE4BFD9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187" y="4967768"/>
            <a:ext cx="5771626" cy="9815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6F13C8-DED4-F0EC-7C50-DC6FB7243918}"/>
              </a:ext>
            </a:extLst>
          </p:cNvPr>
          <p:cNvSpPr txBox="1"/>
          <p:nvPr/>
        </p:nvSpPr>
        <p:spPr>
          <a:xfrm>
            <a:off x="81066" y="6130170"/>
            <a:ext cx="8667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El calor específico </a:t>
            </a:r>
            <a:r>
              <a:rPr lang="es-ES" sz="1600" i="1" dirty="0"/>
              <a:t>c</a:t>
            </a:r>
            <a:r>
              <a:rPr lang="es-ES" sz="1600" dirty="0"/>
              <a:t> tiene valores diferentes para distintos materiales.</a:t>
            </a:r>
          </a:p>
        </p:txBody>
      </p:sp>
    </p:spTree>
    <p:extLst>
      <p:ext uri="{BB962C8B-B14F-4D97-AF65-F5344CB8AC3E}">
        <p14:creationId xmlns:p14="http://schemas.microsoft.com/office/powerpoint/2010/main" val="1820831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59AFB6-3B1A-ECF4-BD15-465BCE89E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979" y="2885082"/>
            <a:ext cx="2852257" cy="4530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070C3B-013F-AC34-6FC5-C0B89A012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979" y="4257413"/>
            <a:ext cx="3322040" cy="26005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D25ACB-4B82-9CAA-DE70-D093378988A8}"/>
              </a:ext>
            </a:extLst>
          </p:cNvPr>
          <p:cNvSpPr txBox="1"/>
          <p:nvPr/>
        </p:nvSpPr>
        <p:spPr>
          <a:xfrm>
            <a:off x="179512" y="3613403"/>
            <a:ext cx="89755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Calor específico del agua en función de la temperatura. </a:t>
            </a:r>
          </a:p>
          <a:p>
            <a:r>
              <a:rPr lang="es-ES" sz="1400" dirty="0"/>
              <a:t>El valor de </a:t>
            </a:r>
            <a:r>
              <a:rPr lang="es-ES" sz="1400" i="1" dirty="0"/>
              <a:t>c</a:t>
            </a:r>
            <a:r>
              <a:rPr lang="es-ES" sz="1400" dirty="0"/>
              <a:t> varía menos del 1% entre 0°C y 1 00°C.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9CCFD-5B4C-A7A6-D08B-411D1F6FFDED}"/>
              </a:ext>
            </a:extLst>
          </p:cNvPr>
          <p:cNvSpPr txBox="1"/>
          <p:nvPr/>
        </p:nvSpPr>
        <p:spPr>
          <a:xfrm>
            <a:off x="179512" y="555050"/>
            <a:ext cx="89755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Para un cambio infinitesimal de temperatura </a:t>
            </a:r>
            <a:r>
              <a:rPr lang="es-ES" sz="1600" i="1" dirty="0" err="1"/>
              <a:t>dT</a:t>
            </a:r>
            <a:r>
              <a:rPr lang="es-ES" sz="1600" dirty="0"/>
              <a:t> y la cantidad de calor correspondiente </a:t>
            </a:r>
            <a:r>
              <a:rPr lang="es-ES" sz="1600" i="1" dirty="0" err="1"/>
              <a:t>dQ</a:t>
            </a:r>
            <a:r>
              <a:rPr lang="es-ES" sz="1600" dirty="0"/>
              <a:t>,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C7902E-ADBA-0DED-73D2-0E1FD7334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4959" y="1139248"/>
            <a:ext cx="2987802" cy="9570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930278-0AEF-7E05-547A-FD2687B26EAC}"/>
              </a:ext>
            </a:extLst>
          </p:cNvPr>
          <p:cNvSpPr txBox="1"/>
          <p:nvPr/>
        </p:nvSpPr>
        <p:spPr>
          <a:xfrm>
            <a:off x="120115" y="2368920"/>
            <a:ext cx="87129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El calor específico del agua es aproximadamente</a:t>
            </a:r>
          </a:p>
        </p:txBody>
      </p:sp>
    </p:spTree>
    <p:extLst>
      <p:ext uri="{BB962C8B-B14F-4D97-AF65-F5344CB8AC3E}">
        <p14:creationId xmlns:p14="http://schemas.microsoft.com/office/powerpoint/2010/main" val="4768438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7428F-5E2F-A664-D600-0EDE5AD5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44464"/>
            <a:ext cx="5872294" cy="13674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AB0670-C7EB-F60E-D943-8635F4BB0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5126581"/>
            <a:ext cx="5972961" cy="15939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601CB8-A685-199B-4E06-48EA75F6045F}"/>
              </a:ext>
            </a:extLst>
          </p:cNvPr>
          <p:cNvSpPr txBox="1"/>
          <p:nvPr/>
        </p:nvSpPr>
        <p:spPr>
          <a:xfrm>
            <a:off x="159362" y="4757249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6.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AF9669-C17F-8933-C645-BE725DD27F7E}"/>
              </a:ext>
            </a:extLst>
          </p:cNvPr>
          <p:cNvSpPr txBox="1"/>
          <p:nvPr/>
        </p:nvSpPr>
        <p:spPr>
          <a:xfrm>
            <a:off x="159362" y="548680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5.</a:t>
            </a:r>
          </a:p>
        </p:txBody>
      </p:sp>
    </p:spTree>
    <p:extLst>
      <p:ext uri="{BB962C8B-B14F-4D97-AF65-F5344CB8AC3E}">
        <p14:creationId xmlns:p14="http://schemas.microsoft.com/office/powerpoint/2010/main" val="4150207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929CBF-A7D0-C482-8856-C32712DBB7D3}"/>
              </a:ext>
            </a:extLst>
          </p:cNvPr>
          <p:cNvSpPr txBox="1"/>
          <p:nvPr/>
        </p:nvSpPr>
        <p:spPr>
          <a:xfrm>
            <a:off x="107504" y="404664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0" u="none" strike="noStrike" baseline="0" dirty="0">
                <a:solidFill>
                  <a:srgbClr val="004D33"/>
                </a:solidFill>
                <a:latin typeface="ITCAvantGardeStd-Demi"/>
              </a:rPr>
              <a:t>Capacidad calorífica molar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F38EE-372C-8FA0-000A-F5E6115EE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967" y="4686005"/>
            <a:ext cx="939567" cy="3271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C82F65-18BD-2518-8D4A-3CF2FA52B852}"/>
              </a:ext>
            </a:extLst>
          </p:cNvPr>
          <p:cNvSpPr txBox="1"/>
          <p:nvPr/>
        </p:nvSpPr>
        <p:spPr>
          <a:xfrm>
            <a:off x="179512" y="1066940"/>
            <a:ext cx="885698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Podemos describir una cantidad de sustancia en términos del </a:t>
            </a:r>
            <a:r>
              <a:rPr lang="es-ES" sz="1600" u="sng" dirty="0"/>
              <a:t>número de moles</a:t>
            </a:r>
            <a:r>
              <a:rPr lang="es-ES" sz="1600" dirty="0"/>
              <a:t> </a:t>
            </a:r>
            <a:r>
              <a:rPr lang="es-ES" sz="1600" i="1" dirty="0"/>
              <a:t>n</a:t>
            </a:r>
            <a:r>
              <a:rPr lang="es-ES" sz="1600" dirty="0"/>
              <a:t>, en vez de la masa </a:t>
            </a:r>
            <a:r>
              <a:rPr lang="es-ES" sz="1600" i="1" dirty="0"/>
              <a:t>m</a:t>
            </a:r>
            <a:r>
              <a:rPr lang="es-ES" sz="1600" dirty="0"/>
              <a:t> del material. </a:t>
            </a:r>
          </a:p>
          <a:p>
            <a:endParaRPr lang="es-ES" sz="1600" dirty="0"/>
          </a:p>
          <a:p>
            <a:r>
              <a:rPr lang="es-ES" sz="1600" dirty="0"/>
              <a:t>Un mol de cualquier sustancia pura siempre contiene el mismo número de moléculas. </a:t>
            </a:r>
          </a:p>
          <a:p>
            <a:endParaRPr lang="es-ES" sz="1600" dirty="0"/>
          </a:p>
          <a:p>
            <a:r>
              <a:rPr lang="es-ES" sz="1600" dirty="0"/>
              <a:t>La masa molar de cualquier sustancia, denotada con </a:t>
            </a:r>
            <a:r>
              <a:rPr lang="es-ES" sz="1600" i="1" dirty="0"/>
              <a:t>M</a:t>
            </a:r>
            <a:r>
              <a:rPr lang="es-ES" sz="1600" dirty="0"/>
              <a:t>, es la masa por mol (a veces se llama a M peso molecular, aunque es preferible masa molar; la cantidad depende de la masa de una molécula, no de su peso). </a:t>
            </a:r>
          </a:p>
          <a:p>
            <a:endParaRPr lang="es-ES" sz="1600" dirty="0"/>
          </a:p>
          <a:p>
            <a:r>
              <a:rPr lang="es-ES" sz="1600" dirty="0"/>
              <a:t>Ejemplo:</a:t>
            </a:r>
          </a:p>
          <a:p>
            <a:r>
              <a:rPr lang="es-ES" sz="1600" dirty="0"/>
              <a:t>masa molar del agua </a:t>
            </a:r>
          </a:p>
          <a:p>
            <a:r>
              <a:rPr lang="es-ES" sz="1600" dirty="0"/>
              <a:t>un mol de agua tiene una masa de</a:t>
            </a:r>
          </a:p>
          <a:p>
            <a:endParaRPr lang="es-ES" sz="1600" dirty="0"/>
          </a:p>
          <a:p>
            <a:r>
              <a:rPr lang="es-ES" sz="1600" dirty="0"/>
              <a:t>La masa total </a:t>
            </a:r>
            <a:r>
              <a:rPr lang="es-ES" sz="1600" i="1" dirty="0"/>
              <a:t>m</a:t>
            </a:r>
            <a:r>
              <a:rPr lang="es-ES" sz="1600" dirty="0"/>
              <a:t> de material es la masa por mol </a:t>
            </a:r>
            <a:r>
              <a:rPr lang="es-ES" sz="1600" i="1" dirty="0"/>
              <a:t>M</a:t>
            </a:r>
            <a:r>
              <a:rPr lang="es-ES" sz="1600" dirty="0"/>
              <a:t> multiplicada por el número de moles </a:t>
            </a:r>
            <a:r>
              <a:rPr lang="es-ES" sz="1600" i="1" dirty="0"/>
              <a:t>n</a:t>
            </a:r>
            <a:r>
              <a:rPr lang="es-ES" sz="1600" dirty="0"/>
              <a:t>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F2E5B8-D51C-13B5-C6E3-75CA250F1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629" y="3570301"/>
            <a:ext cx="2650921" cy="2600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68A7E46-B822-4228-E4C1-9B0954F4F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548" y="3797520"/>
            <a:ext cx="1510018" cy="27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034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8C7504-A9D9-AE17-4CD1-CB75C6856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976462"/>
            <a:ext cx="1308683" cy="3858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188D52-4686-CA93-14E5-EBB291451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218" y="1700808"/>
            <a:ext cx="5738070" cy="9563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B78C97-F952-D704-7658-125B6BB7B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433" y="3619417"/>
            <a:ext cx="1879134" cy="6123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33D972-7280-FE51-406D-2145711CC7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688" y="4941168"/>
            <a:ext cx="5939406" cy="419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B24675-7425-C0BD-7143-912B919E39EA}"/>
              </a:ext>
            </a:extLst>
          </p:cNvPr>
          <p:cNvSpPr txBox="1"/>
          <p:nvPr/>
        </p:nvSpPr>
        <p:spPr>
          <a:xfrm>
            <a:off x="1373155" y="5877272"/>
            <a:ext cx="6840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capacidad calorífica molar (o calor específico molar) y se denota con </a:t>
            </a:r>
            <a:r>
              <a:rPr lang="es-ES" sz="1600" i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1000955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189F35-28F1-C85A-312B-40894EF95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96" y="1319169"/>
            <a:ext cx="7919207" cy="421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630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7DC837-03A3-ECBE-47FB-0AB3DD353083}"/>
              </a:ext>
            </a:extLst>
          </p:cNvPr>
          <p:cNvSpPr txBox="1"/>
          <p:nvPr/>
        </p:nvSpPr>
        <p:spPr>
          <a:xfrm>
            <a:off x="179512" y="476672"/>
            <a:ext cx="871296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Calor específico y capacidad calorífica molar a presión constante: </a:t>
            </a:r>
            <a:r>
              <a:rPr lang="es-ES" sz="1600" i="1" dirty="0" err="1"/>
              <a:t>c</a:t>
            </a:r>
            <a:r>
              <a:rPr lang="es-ES" sz="1600" i="1" baseline="-25000" dirty="0" err="1"/>
              <a:t>p</a:t>
            </a:r>
            <a:r>
              <a:rPr lang="es-ES" sz="1600" dirty="0"/>
              <a:t> y </a:t>
            </a:r>
            <a:r>
              <a:rPr lang="es-ES" sz="1600" i="1" dirty="0"/>
              <a:t>C</a:t>
            </a:r>
            <a:r>
              <a:rPr lang="es-ES" sz="1600" i="1" baseline="-25000" dirty="0"/>
              <a:t>p</a:t>
            </a:r>
            <a:r>
              <a:rPr lang="es-ES" sz="1600" dirty="0"/>
              <a:t>. </a:t>
            </a:r>
          </a:p>
          <a:p>
            <a:endParaRPr lang="es-ES" sz="1600" dirty="0"/>
          </a:p>
          <a:p>
            <a:r>
              <a:rPr lang="es-ES" sz="1600" dirty="0"/>
              <a:t>En el caso de un gas, más fácil mantener la sustancia en un recipiente con volumen constante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r>
              <a:rPr lang="es-ES" sz="1600" dirty="0"/>
              <a:t> calor específico y capacidad calorífica molar a volumen constante: </a:t>
            </a:r>
            <a:r>
              <a:rPr lang="es-ES" sz="1600" i="1" dirty="0" err="1"/>
              <a:t>c</a:t>
            </a:r>
            <a:r>
              <a:rPr lang="es-ES" sz="1600" i="1" baseline="-25000" dirty="0" err="1"/>
              <a:t>V</a:t>
            </a:r>
            <a:r>
              <a:rPr lang="es-ES" sz="1600" dirty="0"/>
              <a:t> y </a:t>
            </a:r>
            <a:r>
              <a:rPr lang="es-ES" sz="1600" i="1" dirty="0"/>
              <a:t>C</a:t>
            </a:r>
            <a:r>
              <a:rPr lang="es-ES" sz="1600" i="1" baseline="-25000" dirty="0"/>
              <a:t>V</a:t>
            </a:r>
            <a:r>
              <a:rPr lang="es-ES" sz="1600" dirty="0"/>
              <a:t>.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Para una sustancia dada, </a:t>
            </a:r>
            <a:r>
              <a:rPr lang="es-ES" sz="1600" i="1" dirty="0"/>
              <a:t>C</a:t>
            </a:r>
            <a:r>
              <a:rPr lang="es-ES" sz="1600" i="1" baseline="-25000" dirty="0"/>
              <a:t>V</a:t>
            </a:r>
            <a:r>
              <a:rPr lang="es-ES" sz="1600" dirty="0"/>
              <a:t> y </a:t>
            </a:r>
            <a:r>
              <a:rPr lang="es-ES" sz="1600" i="1" dirty="0" err="1"/>
              <a:t>C</a:t>
            </a:r>
            <a:r>
              <a:rPr lang="es-ES" sz="1600" i="1" baseline="-25000" dirty="0" err="1"/>
              <a:t>p</a:t>
            </a:r>
            <a:r>
              <a:rPr lang="es-ES" sz="1600" dirty="0"/>
              <a:t> son diferentes.</a:t>
            </a:r>
          </a:p>
          <a:p>
            <a:endParaRPr lang="es-ES" sz="1600" dirty="0"/>
          </a:p>
          <a:p>
            <a:r>
              <a:rPr lang="es-ES" sz="1600" dirty="0"/>
              <a:t>Si el sistema puede expandirse al agregar calor, hay un intercambio adicional de energía para que el sistema realice trabajo sobre sus alrededores. </a:t>
            </a:r>
          </a:p>
          <a:p>
            <a:endParaRPr lang="es-ES" sz="1600" dirty="0"/>
          </a:p>
          <a:p>
            <a:r>
              <a:rPr lang="es-ES" sz="1600" dirty="0"/>
              <a:t>Si el volumen es constante, el sistema no efectúa trabajo. 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En los gases, la diferencia entre </a:t>
            </a:r>
            <a:r>
              <a:rPr lang="es-ES" sz="1600" dirty="0" err="1"/>
              <a:t>Cp</a:t>
            </a:r>
            <a:r>
              <a:rPr lang="es-ES" sz="1600" dirty="0"/>
              <a:t> y CV es sustancial.</a:t>
            </a:r>
          </a:p>
        </p:txBody>
      </p:sp>
    </p:spTree>
    <p:extLst>
      <p:ext uri="{BB962C8B-B14F-4D97-AF65-F5344CB8AC3E}">
        <p14:creationId xmlns:p14="http://schemas.microsoft.com/office/powerpoint/2010/main" val="6941510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D1F385-69F7-6552-2435-F91768E04EC9}"/>
              </a:ext>
            </a:extLst>
          </p:cNvPr>
          <p:cNvSpPr txBox="1"/>
          <p:nvPr/>
        </p:nvSpPr>
        <p:spPr>
          <a:xfrm>
            <a:off x="251520" y="1052736"/>
            <a:ext cx="88209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Las capacidades caloríficas molares de la mayoría de los sólidos elementales son casi iguales, alrededor de 25 J&gt;</a:t>
            </a:r>
            <a:r>
              <a:rPr lang="es-ES" sz="1600" dirty="0" err="1"/>
              <a:t>mol∙K</a:t>
            </a:r>
            <a:r>
              <a:rPr lang="es-ES" sz="1600" dirty="0"/>
              <a:t>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</a:p>
          <a:p>
            <a:endParaRPr lang="es-ES" sz="1600" dirty="0">
              <a:sym typeface="Wingdings" panose="05000000000000000000" pitchFamily="2" charset="2"/>
            </a:endParaRPr>
          </a:p>
          <a:p>
            <a:pPr marL="342900" indent="-342900">
              <a:buAutoNum type="arabicPeriod"/>
            </a:pPr>
            <a:r>
              <a:rPr lang="es-ES" sz="1600" dirty="0">
                <a:sym typeface="Wingdings" panose="05000000000000000000" pitchFamily="2" charset="2"/>
              </a:rPr>
              <a:t>e</a:t>
            </a:r>
            <a:r>
              <a:rPr lang="es-ES" sz="1600" dirty="0"/>
              <a:t>l número de átomos en un mol es el mismo para todas las sustancias elementales</a:t>
            </a:r>
          </a:p>
          <a:p>
            <a:pPr marL="342900" indent="-342900">
              <a:buAutoNum type="arabicPeriod"/>
            </a:pPr>
            <a:r>
              <a:rPr lang="es-ES" sz="1600" dirty="0"/>
              <a:t>por átomo, se requiere más o menos la misma cantidad de calor para elevar la temperatura de cada uno de estos elementos una cantidad dada, aunque las masas de los átomos sean muy diferentes.</a:t>
            </a:r>
          </a:p>
          <a:p>
            <a:endParaRPr lang="es-ES" sz="1600" dirty="0"/>
          </a:p>
          <a:p>
            <a:r>
              <a:rPr lang="es-ES" sz="1600" dirty="0"/>
              <a:t>El calor requerido para un aumento de temperatura dado sólo depende de cuántos átomos haya en la muestra, no de la masa del átomo individual.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F62BC-3096-A7A4-C6AD-99D7636B4673}"/>
              </a:ext>
            </a:extLst>
          </p:cNvPr>
          <p:cNvSpPr txBox="1"/>
          <p:nvPr/>
        </p:nvSpPr>
        <p:spPr>
          <a:xfrm>
            <a:off x="125506" y="476672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R</a:t>
            </a:r>
            <a:r>
              <a:rPr lang="es-ES" sz="1800" dirty="0"/>
              <a:t>egla de </a:t>
            </a:r>
            <a:r>
              <a:rPr lang="es-ES" sz="1800" dirty="0" err="1"/>
              <a:t>Dulong</a:t>
            </a:r>
            <a:r>
              <a:rPr lang="es-ES" sz="1800" dirty="0"/>
              <a:t> y Petit.</a:t>
            </a:r>
          </a:p>
        </p:txBody>
      </p:sp>
    </p:spTree>
    <p:extLst>
      <p:ext uri="{BB962C8B-B14F-4D97-AF65-F5344CB8AC3E}">
        <p14:creationId xmlns:p14="http://schemas.microsoft.com/office/powerpoint/2010/main" val="2724231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4016F-2476-6B51-EFBF-4D56F1FF0894}"/>
              </a:ext>
            </a:extLst>
          </p:cNvPr>
          <p:cNvSpPr txBox="1"/>
          <p:nvPr/>
        </p:nvSpPr>
        <p:spPr>
          <a:xfrm>
            <a:off x="35496" y="404664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CALORIMETRÍA Y CAMBIOS DE FASE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8DD49-02C9-EB44-95E1-4FBB6DBDC1BF}"/>
              </a:ext>
            </a:extLst>
          </p:cNvPr>
          <p:cNvSpPr txBox="1"/>
          <p:nvPr/>
        </p:nvSpPr>
        <p:spPr>
          <a:xfrm>
            <a:off x="29276" y="1860018"/>
            <a:ext cx="460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Cambios de fase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979D08-48BA-3383-BC59-72950750E2EB}"/>
              </a:ext>
            </a:extLst>
          </p:cNvPr>
          <p:cNvSpPr txBox="1"/>
          <p:nvPr/>
        </p:nvSpPr>
        <p:spPr>
          <a:xfrm>
            <a:off x="35496" y="860400"/>
            <a:ext cx="93394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Calorimetría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r>
              <a:rPr lang="es-ES" sz="1600" dirty="0"/>
              <a:t> “medición de calor”.</a:t>
            </a:r>
          </a:p>
          <a:p>
            <a:endParaRPr lang="es-ES" sz="1600" dirty="0"/>
          </a:p>
          <a:p>
            <a:r>
              <a:rPr lang="es-ES" sz="1600" dirty="0"/>
              <a:t>El calor también interviene en los cambios de fase, como la fusión del hielo o la ebullición del agua.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E3ED70-BAA7-5B8D-9B99-0990DAAD3A7E}"/>
              </a:ext>
            </a:extLst>
          </p:cNvPr>
          <p:cNvSpPr txBox="1"/>
          <p:nvPr/>
        </p:nvSpPr>
        <p:spPr>
          <a:xfrm>
            <a:off x="179512" y="2328555"/>
            <a:ext cx="87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i="1" dirty="0"/>
              <a:t>fase</a:t>
            </a:r>
            <a:r>
              <a:rPr lang="es-ES" dirty="0"/>
              <a:t> </a:t>
            </a:r>
            <a:r>
              <a:rPr lang="es-ES" dirty="0">
                <a:sym typeface="Wingdings" panose="05000000000000000000" pitchFamily="2" charset="2"/>
              </a:rPr>
              <a:t> </a:t>
            </a:r>
            <a:r>
              <a:rPr lang="es-ES" dirty="0"/>
              <a:t>un estado específico de la materia, como sólido, líquido o gas.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1CCD35-C9D6-C44D-A5B3-C312D365AF73}"/>
              </a:ext>
            </a:extLst>
          </p:cNvPr>
          <p:cNvSpPr txBox="1"/>
          <p:nvPr/>
        </p:nvSpPr>
        <p:spPr>
          <a:xfrm>
            <a:off x="179512" y="2809823"/>
            <a:ext cx="883392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Cambio/transición de fase </a:t>
            </a:r>
            <a:r>
              <a:rPr lang="es-ES" sz="1600" dirty="0">
                <a:sym typeface="Wingdings" panose="05000000000000000000" pitchFamily="2" charset="2"/>
              </a:rPr>
              <a:t> </a:t>
            </a:r>
            <a:r>
              <a:rPr lang="es-ES" sz="1600" dirty="0"/>
              <a:t>transición de una fase a otra.</a:t>
            </a:r>
          </a:p>
          <a:p>
            <a:endParaRPr lang="es-ES" sz="1600" dirty="0"/>
          </a:p>
          <a:p>
            <a:r>
              <a:rPr lang="es-ES" sz="1600" dirty="0"/>
              <a:t>Para una presión dada, los cambios de fase se dan a una temperatura definida, generalmente acompañados por absorción o emisión de calor, y un cambio de volumen y densidad.</a:t>
            </a:r>
          </a:p>
          <a:p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803175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84369E-ED83-44B3-78C2-6924A68AB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928"/>
            <a:ext cx="2971661" cy="28803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6C8151-5B35-9029-59DE-B598686B6F37}"/>
              </a:ext>
            </a:extLst>
          </p:cNvPr>
          <p:cNvSpPr txBox="1"/>
          <p:nvPr/>
        </p:nvSpPr>
        <p:spPr>
          <a:xfrm>
            <a:off x="32386" y="4653136"/>
            <a:ext cx="9079228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>
                <a:hlinkClick r:id="rId3"/>
              </a:rPr>
              <a:t>https://phet.colorado.edu/sims/html/states-of-matter/latest/states-of-matter_all.html?locale=es</a:t>
            </a:r>
            <a:endParaRPr lang="es-ES" sz="1100" dirty="0"/>
          </a:p>
          <a:p>
            <a:endParaRPr lang="es-E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9955AA-EC3E-892F-DA32-BB6503729932}"/>
              </a:ext>
            </a:extLst>
          </p:cNvPr>
          <p:cNvSpPr txBox="1"/>
          <p:nvPr/>
        </p:nvSpPr>
        <p:spPr>
          <a:xfrm>
            <a:off x="3131840" y="1742910"/>
            <a:ext cx="61206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Parte del calor se funde para formar agua líquida. </a:t>
            </a:r>
          </a:p>
          <a:p>
            <a:endParaRPr lang="es-ES" sz="1600" dirty="0"/>
          </a:p>
          <a:p>
            <a:r>
              <a:rPr lang="es-ES" sz="1600" dirty="0"/>
              <a:t>Agregamos calor lentamente, manteniendo el sistema muy cerca del equilibrio térmico, la temperatura seguirá en 0°C hasta que todo el hielo se haya fundido. </a:t>
            </a:r>
          </a:p>
          <a:p>
            <a:endParaRPr lang="es-ES" sz="1600" dirty="0"/>
          </a:p>
          <a:p>
            <a:r>
              <a:rPr lang="es-ES" sz="1600" dirty="0"/>
              <a:t>El efecto de agregar calor a este sistema no es elevar su temperatura, sino cambiar su fase de sólida a líquida.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EEA417-9240-B0BC-7916-C3DC4E1F9F12}"/>
              </a:ext>
            </a:extLst>
          </p:cNvPr>
          <p:cNvSpPr txBox="1"/>
          <p:nvPr/>
        </p:nvSpPr>
        <p:spPr>
          <a:xfrm>
            <a:off x="3079164" y="380391"/>
            <a:ext cx="5974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dirty="0"/>
              <a:t>Ejemplo: fusión del hielo.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595DA8-34B1-13A9-F62F-0CACA6C55DB2}"/>
              </a:ext>
            </a:extLst>
          </p:cNvPr>
          <p:cNvSpPr txBox="1"/>
          <p:nvPr/>
        </p:nvSpPr>
        <p:spPr>
          <a:xfrm>
            <a:off x="3082545" y="837192"/>
            <a:ext cx="59747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Agregamos calor al hielo a 0°C y a presión atmosférica normal, la temperatura del hielo no aumenta.</a:t>
            </a:r>
          </a:p>
        </p:txBody>
      </p:sp>
    </p:spTree>
    <p:extLst>
      <p:ext uri="{BB962C8B-B14F-4D97-AF65-F5344CB8AC3E}">
        <p14:creationId xmlns:p14="http://schemas.microsoft.com/office/powerpoint/2010/main" val="12976859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B07101-D073-D473-CEF8-F3851900E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12" y="1897084"/>
            <a:ext cx="3422708" cy="5033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D5E6C40-26BD-9878-E631-4486AFC3A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356992"/>
            <a:ext cx="5905850" cy="872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972E367-B0BC-5C99-0277-37FFB8534396}"/>
              </a:ext>
            </a:extLst>
          </p:cNvPr>
          <p:cNvSpPr txBox="1"/>
          <p:nvPr/>
        </p:nvSpPr>
        <p:spPr>
          <a:xfrm>
            <a:off x="35496" y="428925"/>
            <a:ext cx="89289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Para convertir 1 kg de hielo a 0°C en 1 kg de agua líquida a 0°C y a presión atmosférica normal, necesitamos 3.34 x 10</a:t>
            </a:r>
            <a:r>
              <a:rPr lang="es-ES" sz="1600" baseline="30000" dirty="0"/>
              <a:t>5</a:t>
            </a:r>
            <a:r>
              <a:rPr lang="es-ES" sz="1600" dirty="0"/>
              <a:t> J de calor. </a:t>
            </a:r>
          </a:p>
          <a:p>
            <a:endParaRPr lang="es-ES" sz="1600" dirty="0"/>
          </a:p>
          <a:p>
            <a:r>
              <a:rPr lang="es-ES" sz="1600" i="1" u="sng" dirty="0" err="1"/>
              <a:t>L</a:t>
            </a:r>
            <a:r>
              <a:rPr lang="es-ES" sz="1600" i="1" u="sng" baseline="-25000" dirty="0" err="1"/>
              <a:t>f</a:t>
            </a:r>
            <a:r>
              <a:rPr lang="es-ES" sz="1600" u="sng" dirty="0"/>
              <a:t> calor de fusión </a:t>
            </a:r>
            <a:r>
              <a:rPr lang="es-ES" sz="1600" dirty="0"/>
              <a:t>(o calor latente de fusión): </a:t>
            </a:r>
            <a:r>
              <a:rPr lang="es-ES" sz="1600" u="sng" dirty="0"/>
              <a:t>calor requerido por unidad de masa</a:t>
            </a:r>
            <a:endParaRPr lang="es-E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AD62E9-AD75-B2E1-95E6-EBC1AD7374C4}"/>
              </a:ext>
            </a:extLst>
          </p:cNvPr>
          <p:cNvSpPr txBox="1"/>
          <p:nvPr/>
        </p:nvSpPr>
        <p:spPr>
          <a:xfrm>
            <a:off x="119970" y="1979769"/>
            <a:ext cx="779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H</a:t>
            </a:r>
            <a:r>
              <a:rPr lang="es-ES" sz="1600" baseline="-25000" dirty="0"/>
              <a:t>2</a:t>
            </a:r>
            <a:r>
              <a:rPr lang="es-ES" sz="1600" dirty="0"/>
              <a:t>O: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BFDA0-9C86-092D-F572-35C5A4CF7A9D}"/>
              </a:ext>
            </a:extLst>
          </p:cNvPr>
          <p:cNvSpPr txBox="1"/>
          <p:nvPr/>
        </p:nvSpPr>
        <p:spPr>
          <a:xfrm>
            <a:off x="140997" y="4869160"/>
            <a:ext cx="88445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1600" dirty="0"/>
              <a:t>signo más (entra calor) cuando el material se funde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1600" dirty="0"/>
              <a:t>signo menos (sale calor) cuando se congela. </a:t>
            </a:r>
          </a:p>
          <a:p>
            <a:endParaRPr lang="es-ES" sz="1600" dirty="0"/>
          </a:p>
          <a:p>
            <a:r>
              <a:rPr lang="es-ES" sz="1600" dirty="0"/>
              <a:t>El calor de fusión es diferente para distintos materiales, y varía un poco con la presión.</a:t>
            </a:r>
          </a:p>
          <a:p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41173314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ABFDA0-9C86-092D-F572-35C5A4CF7A9D}"/>
              </a:ext>
            </a:extLst>
          </p:cNvPr>
          <p:cNvSpPr txBox="1"/>
          <p:nvPr/>
        </p:nvSpPr>
        <p:spPr>
          <a:xfrm>
            <a:off x="35496" y="476672"/>
            <a:ext cx="9001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u="sng" dirty="0"/>
              <a:t>Equilibrio de fases.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Para un material dado, a una presión determinada, la temperatura de congelación es la misma que la de fusión. </a:t>
            </a:r>
          </a:p>
          <a:p>
            <a:endParaRPr lang="es-ES" sz="1600" dirty="0"/>
          </a:p>
          <a:p>
            <a:r>
              <a:rPr lang="es-ES" sz="1600" dirty="0"/>
              <a:t>En esta temperatura única, las fases líquida y sólida pueden coexistir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i="1" u="sng" dirty="0" err="1"/>
              <a:t>L</a:t>
            </a:r>
            <a:r>
              <a:rPr lang="es-ES" sz="1600" i="1" u="sng" baseline="-25000" dirty="0" err="1"/>
              <a:t>f</a:t>
            </a:r>
            <a:r>
              <a:rPr lang="es-ES" sz="1600" u="sng" dirty="0"/>
              <a:t> calor vaporización</a:t>
            </a:r>
            <a:r>
              <a:rPr lang="es-ES" sz="1600" dirty="0"/>
              <a:t> (por unidad de masa) de una transición de fase entre líquido y gas.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58A6EC-3782-8FE2-E6F8-8E32D1CAB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933056"/>
            <a:ext cx="3556932" cy="419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0E534D-515E-6BC4-0B75-3C563DA0D550}"/>
              </a:ext>
            </a:extLst>
          </p:cNvPr>
          <p:cNvSpPr txBox="1"/>
          <p:nvPr/>
        </p:nvSpPr>
        <p:spPr>
          <a:xfrm>
            <a:off x="1776154" y="3954542"/>
            <a:ext cx="7796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H</a:t>
            </a:r>
            <a:r>
              <a:rPr lang="es-ES" sz="1600" baseline="-25000" dirty="0"/>
              <a:t>2</a:t>
            </a:r>
            <a:r>
              <a:rPr lang="es-ES" sz="1600" dirty="0"/>
              <a:t>O: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3BFA4-B9E9-B46E-D28D-0CF7C17C0C46}"/>
              </a:ext>
            </a:extLst>
          </p:cNvPr>
          <p:cNvSpPr txBox="1"/>
          <p:nvPr/>
        </p:nvSpPr>
        <p:spPr>
          <a:xfrm>
            <a:off x="-5815" y="4581128"/>
            <a:ext cx="957706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Necesitamos 2.256 x 10</a:t>
            </a:r>
            <a:r>
              <a:rPr lang="es-ES" sz="1600" baseline="30000" dirty="0"/>
              <a:t>6</a:t>
            </a:r>
            <a:r>
              <a:rPr lang="es-ES" sz="1600" dirty="0"/>
              <a:t> J para convertir 1 kg de agua líquida a 100°C en 1 kg de vapor de agua a 100°C. </a:t>
            </a:r>
          </a:p>
          <a:p>
            <a:endParaRPr lang="es-ES" sz="1600" dirty="0"/>
          </a:p>
          <a:p>
            <a:r>
              <a:rPr lang="es-ES" sz="1600" dirty="0"/>
              <a:t>Para elevar la temperatura de 1 kg de agua de 0 a 100°C se requieren </a:t>
            </a:r>
          </a:p>
          <a:p>
            <a:endParaRPr lang="es-ES" sz="1600" dirty="0"/>
          </a:p>
          <a:p>
            <a:r>
              <a:rPr lang="es-ES" sz="1600" i="1" dirty="0"/>
              <a:t>           Q = </a:t>
            </a:r>
            <a:r>
              <a:rPr lang="es-ES" sz="1600" i="1" dirty="0" err="1"/>
              <a:t>mc</a:t>
            </a:r>
            <a:r>
              <a:rPr lang="es-ES" sz="1600" i="1" dirty="0"/>
              <a:t> ΔT </a:t>
            </a:r>
            <a:r>
              <a:rPr lang="es-ES" sz="1600" dirty="0"/>
              <a:t>= (1.00 kg)(4190 J&gt; </a:t>
            </a:r>
            <a:r>
              <a:rPr lang="es-ES" sz="1600" dirty="0" err="1"/>
              <a:t>kg∙°C</a:t>
            </a:r>
            <a:r>
              <a:rPr lang="es-ES" sz="1600" dirty="0"/>
              <a:t>) * (100 °C) = 4.19 x 10</a:t>
            </a:r>
            <a:r>
              <a:rPr lang="es-ES" sz="1600" baseline="30000" dirty="0"/>
              <a:t>5</a:t>
            </a:r>
            <a:r>
              <a:rPr lang="es-ES" sz="1600" dirty="0"/>
              <a:t> J, </a:t>
            </a:r>
          </a:p>
          <a:p>
            <a:endParaRPr lang="es-ES" sz="1600" dirty="0"/>
          </a:p>
          <a:p>
            <a:r>
              <a:rPr lang="es-ES" sz="1600" dirty="0"/>
              <a:t>menos de la quinta parte del calor necesario para la vaporización a 100°C. </a:t>
            </a:r>
          </a:p>
        </p:txBody>
      </p:sp>
    </p:spTree>
    <p:extLst>
      <p:ext uri="{BB962C8B-B14F-4D97-AF65-F5344CB8AC3E}">
        <p14:creationId xmlns:p14="http://schemas.microsoft.com/office/powerpoint/2010/main" val="1846109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D2AC4F-CEE4-3389-DAE6-BF2410309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764704"/>
            <a:ext cx="5328592" cy="3559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4AD60B-C3B7-381D-23DE-BA59D9BD2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2358720"/>
            <a:ext cx="2915816" cy="196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325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8F924A-74FB-4B8F-AA9D-BE31E24C8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78" y="692696"/>
            <a:ext cx="8259156" cy="403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851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1DD952-6CF6-2EA4-E81D-A34C8C49E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4" y="1196752"/>
            <a:ext cx="5905850" cy="1199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587D77-F12B-06EF-13FF-293FE048F104}"/>
              </a:ext>
            </a:extLst>
          </p:cNvPr>
          <p:cNvSpPr txBox="1"/>
          <p:nvPr/>
        </p:nvSpPr>
        <p:spPr>
          <a:xfrm>
            <a:off x="107504" y="548680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9.</a:t>
            </a:r>
          </a:p>
        </p:txBody>
      </p:sp>
    </p:spTree>
    <p:extLst>
      <p:ext uri="{BB962C8B-B14F-4D97-AF65-F5344CB8AC3E}">
        <p14:creationId xmlns:p14="http://schemas.microsoft.com/office/powerpoint/2010/main" val="10484713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2EBEE-C623-81D0-957C-CB60F03BE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96752"/>
            <a:ext cx="5972961" cy="12164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B6B87B-B74D-90CE-E56A-976CB2E11E75}"/>
              </a:ext>
            </a:extLst>
          </p:cNvPr>
          <p:cNvSpPr txBox="1"/>
          <p:nvPr/>
        </p:nvSpPr>
        <p:spPr>
          <a:xfrm>
            <a:off x="179444" y="580038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10.</a:t>
            </a:r>
          </a:p>
        </p:txBody>
      </p:sp>
    </p:spTree>
    <p:extLst>
      <p:ext uri="{BB962C8B-B14F-4D97-AF65-F5344CB8AC3E}">
        <p14:creationId xmlns:p14="http://schemas.microsoft.com/office/powerpoint/2010/main" val="15446585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6134E-A185-80D1-456E-ACFDC98D0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96752"/>
            <a:ext cx="5838738" cy="16945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CC9A06-2EA8-60FB-C3AD-AA752E52E3B3}"/>
              </a:ext>
            </a:extLst>
          </p:cNvPr>
          <p:cNvSpPr txBox="1"/>
          <p:nvPr/>
        </p:nvSpPr>
        <p:spPr>
          <a:xfrm>
            <a:off x="107504" y="620688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11.</a:t>
            </a:r>
          </a:p>
        </p:txBody>
      </p:sp>
    </p:spTree>
    <p:extLst>
      <p:ext uri="{BB962C8B-B14F-4D97-AF65-F5344CB8AC3E}">
        <p14:creationId xmlns:p14="http://schemas.microsoft.com/office/powerpoint/2010/main" val="2319546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0C70E-678B-C303-FA90-EE8960097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80728"/>
            <a:ext cx="5872294" cy="11744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738939-ADEC-CDC9-44C4-B06989E878D5}"/>
              </a:ext>
            </a:extLst>
          </p:cNvPr>
          <p:cNvSpPr txBox="1"/>
          <p:nvPr/>
        </p:nvSpPr>
        <p:spPr>
          <a:xfrm>
            <a:off x="107504" y="499612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12.</a:t>
            </a:r>
          </a:p>
        </p:txBody>
      </p:sp>
    </p:spTree>
    <p:extLst>
      <p:ext uri="{BB962C8B-B14F-4D97-AF65-F5344CB8AC3E}">
        <p14:creationId xmlns:p14="http://schemas.microsoft.com/office/powerpoint/2010/main" val="10112669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4016F-2476-6B51-EFBF-4D56F1FF0894}"/>
              </a:ext>
            </a:extLst>
          </p:cNvPr>
          <p:cNvSpPr txBox="1"/>
          <p:nvPr/>
        </p:nvSpPr>
        <p:spPr>
          <a:xfrm>
            <a:off x="35496" y="404664"/>
            <a:ext cx="54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MECANISMOS DE TRANSFERENCIA DE CALOR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26CD8-7AA4-E15B-AC23-BB2486F97FFC}"/>
              </a:ext>
            </a:extLst>
          </p:cNvPr>
          <p:cNvSpPr txBox="1"/>
          <p:nvPr/>
        </p:nvSpPr>
        <p:spPr>
          <a:xfrm>
            <a:off x="179512" y="1052736"/>
            <a:ext cx="871296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Conducción dentro de un cuerpo o entre dos cuerpos que están en contacto.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Convección depende del movimiento de una masa de una región del espacio a otra.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Radiación es transferencia de calor por radiación electromagnética, como la luz del Sol,</a:t>
            </a:r>
          </a:p>
          <a:p>
            <a:r>
              <a:rPr lang="es-ES" sz="1600" dirty="0"/>
              <a:t>sin que sea necesario que exista materia en el espacio entre los cuerpos.</a:t>
            </a:r>
          </a:p>
        </p:txBody>
      </p:sp>
    </p:spTree>
    <p:extLst>
      <p:ext uri="{BB962C8B-B14F-4D97-AF65-F5344CB8AC3E}">
        <p14:creationId xmlns:p14="http://schemas.microsoft.com/office/powerpoint/2010/main" val="37880963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4016F-2476-6B51-EFBF-4D56F1FF0894}"/>
              </a:ext>
            </a:extLst>
          </p:cNvPr>
          <p:cNvSpPr txBox="1"/>
          <p:nvPr/>
        </p:nvSpPr>
        <p:spPr>
          <a:xfrm>
            <a:off x="35496" y="404664"/>
            <a:ext cx="5400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MECANISMOS DE TRANSFERENCIA DE CALOR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7006BC-292C-0C81-8F76-599867AE8533}"/>
              </a:ext>
            </a:extLst>
          </p:cNvPr>
          <p:cNvSpPr txBox="1"/>
          <p:nvPr/>
        </p:nvSpPr>
        <p:spPr>
          <a:xfrm>
            <a:off x="167968" y="1052736"/>
            <a:ext cx="460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0" u="none" strike="noStrike" baseline="0" dirty="0">
                <a:solidFill>
                  <a:srgbClr val="004D33"/>
                </a:solidFill>
                <a:latin typeface="ITCAvantGardeStd-Demi"/>
              </a:rPr>
              <a:t>Conducción</a:t>
            </a:r>
            <a:endParaRPr lang="es-E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F8227C-9B73-606B-07D5-8F6955C67DED}"/>
              </a:ext>
            </a:extLst>
          </p:cNvPr>
          <p:cNvSpPr txBox="1"/>
          <p:nvPr/>
        </p:nvSpPr>
        <p:spPr>
          <a:xfrm>
            <a:off x="379680" y="1494668"/>
            <a:ext cx="8788999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El calor llega al extremo más frío por conducción a través del material. </a:t>
            </a:r>
          </a:p>
          <a:p>
            <a:endParaRPr lang="es-ES" sz="1600" dirty="0"/>
          </a:p>
          <a:p>
            <a:pPr marL="342900" indent="-342900">
              <a:buAutoNum type="arabicPeriod"/>
            </a:pPr>
            <a:r>
              <a:rPr lang="es-ES" sz="1600" dirty="0"/>
              <a:t>Los átomos de las regiones más calientes tienen más energía cinética </a:t>
            </a:r>
            <a:r>
              <a:rPr lang="es-ES" sz="1600" dirty="0">
                <a:sym typeface="Wingdings" panose="05000000000000000000" pitchFamily="2" charset="2"/>
              </a:rPr>
              <a:t> </a:t>
            </a:r>
            <a:r>
              <a:rPr lang="es-ES" sz="1600" dirty="0"/>
              <a:t>empujan a sus vecinos, transfiriéndoles algo de su energía. Los átomos en sí no se mueven de una región del material a otra, pero su energía sí. </a:t>
            </a:r>
          </a:p>
          <a:p>
            <a:pPr marL="342900" indent="-342900">
              <a:buAutoNum type="arabicPeriod"/>
            </a:pPr>
            <a:r>
              <a:rPr lang="es-ES" sz="1600" dirty="0"/>
              <a:t>Metales </a:t>
            </a:r>
            <a:r>
              <a:rPr lang="es-ES" sz="1600" dirty="0">
                <a:sym typeface="Wingdings" panose="05000000000000000000" pitchFamily="2" charset="2"/>
              </a:rPr>
              <a:t> </a:t>
            </a:r>
            <a:r>
              <a:rPr lang="es-ES" sz="1600" dirty="0"/>
              <a:t>algunos electrones pueden abandonar sus átomos originales y vagar por el metal. Esos electrones “libres” pueden llevar energía rápidamente de las regiones más calientes del metal a las más frías; </a:t>
            </a:r>
          </a:p>
          <a:p>
            <a:endParaRPr lang="es-ES" sz="1600" dirty="0"/>
          </a:p>
          <a:p>
            <a:r>
              <a:rPr lang="es-ES" sz="1600" dirty="0"/>
              <a:t>En conducción, la dirección de flujo de calor siempre es de la temperatura más alta a la más baja</a:t>
            </a:r>
          </a:p>
        </p:txBody>
      </p:sp>
    </p:spTree>
    <p:extLst>
      <p:ext uri="{BB962C8B-B14F-4D97-AF65-F5344CB8AC3E}">
        <p14:creationId xmlns:p14="http://schemas.microsoft.com/office/powerpoint/2010/main" val="24357001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CEA4B9-018C-1191-5744-BEE296698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2956066"/>
            <a:ext cx="1495850" cy="4090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86D7848-7E5B-6DD2-F504-313830E97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149080"/>
            <a:ext cx="7281644" cy="12751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D286C1-3AE9-172C-FA4A-1F9991499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4" y="1101325"/>
            <a:ext cx="2751589" cy="13590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73700A-5380-69EC-8434-8CF06EF81A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1121" y="548680"/>
            <a:ext cx="3383462" cy="21267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E3D616-89FB-6E19-F8C2-69AA344A8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9608" y="958591"/>
            <a:ext cx="3386069" cy="16854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A9CA992-7572-7549-7600-44F42F5F039F}"/>
              </a:ext>
            </a:extLst>
          </p:cNvPr>
          <p:cNvSpPr txBox="1"/>
          <p:nvPr/>
        </p:nvSpPr>
        <p:spPr>
          <a:xfrm>
            <a:off x="107504" y="2968890"/>
            <a:ext cx="8928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Corriente de calor, </a:t>
            </a:r>
            <a:r>
              <a:rPr lang="es-ES" sz="1600" i="1" dirty="0"/>
              <a:t>H</a:t>
            </a:r>
            <a:r>
              <a:rPr lang="es-ES" sz="1600" dirty="0"/>
              <a:t>,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DA6CE6-2721-651E-3677-8C9073D403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520" y="5653655"/>
            <a:ext cx="1040235" cy="2097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FEDB736-AD2D-5BA9-7BA6-CE3E71BC00FD}"/>
              </a:ext>
            </a:extLst>
          </p:cNvPr>
          <p:cNvSpPr txBox="1"/>
          <p:nvPr/>
        </p:nvSpPr>
        <p:spPr>
          <a:xfrm>
            <a:off x="1414346" y="5589240"/>
            <a:ext cx="27256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gradiente de temperatura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138447-8F5D-AE08-3963-E19C91944817}"/>
              </a:ext>
            </a:extLst>
          </p:cNvPr>
          <p:cNvSpPr txBox="1"/>
          <p:nvPr/>
        </p:nvSpPr>
        <p:spPr>
          <a:xfrm>
            <a:off x="68356" y="6103036"/>
            <a:ext cx="89289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Las unidades de corriente de calor </a:t>
            </a:r>
            <a:r>
              <a:rPr lang="es-ES" sz="1600" i="1" dirty="0"/>
              <a:t>H</a:t>
            </a:r>
            <a:r>
              <a:rPr lang="es-ES" sz="1600" dirty="0"/>
              <a:t> son unidades de energía por tiempo </a:t>
            </a:r>
            <a:r>
              <a:rPr lang="es-ES" sz="1600" dirty="0">
                <a:sym typeface="Wingdings" panose="05000000000000000000" pitchFamily="2" charset="2"/>
              </a:rPr>
              <a:t> p</a:t>
            </a:r>
            <a:r>
              <a:rPr lang="es-ES" sz="1600" dirty="0"/>
              <a:t>otencia; </a:t>
            </a:r>
          </a:p>
          <a:p>
            <a:r>
              <a:rPr lang="es-ES" sz="1600" dirty="0"/>
              <a:t>la unidad del SI para la corriente de calor es el watt (1 W = 1 J&gt; s).</a:t>
            </a:r>
          </a:p>
        </p:txBody>
      </p:sp>
    </p:spTree>
    <p:extLst>
      <p:ext uri="{BB962C8B-B14F-4D97-AF65-F5344CB8AC3E}">
        <p14:creationId xmlns:p14="http://schemas.microsoft.com/office/powerpoint/2010/main" val="22655635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6C2E8-2B87-C253-400C-55C35F480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76672"/>
            <a:ext cx="3118045" cy="626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088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9BF8-1213-62BC-A29D-C8BFCE082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Física General II/Unidades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2C54B9-5C85-E9F2-0DDF-581068CEE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641154"/>
            <a:ext cx="2315361" cy="746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C6DBE3-FBE1-14B3-B337-C7C4040F68F6}"/>
              </a:ext>
            </a:extLst>
          </p:cNvPr>
          <p:cNvSpPr txBox="1"/>
          <p:nvPr/>
        </p:nvSpPr>
        <p:spPr>
          <a:xfrm>
            <a:off x="107504" y="731083"/>
            <a:ext cx="87849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Si la temperatura varía de manera no uniforme a lo largo de la varilla conductora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660599-63C7-3F42-B365-DC28743BDB68}"/>
              </a:ext>
            </a:extLst>
          </p:cNvPr>
          <p:cNvSpPr txBox="1"/>
          <p:nvPr/>
        </p:nvSpPr>
        <p:spPr>
          <a:xfrm>
            <a:off x="107504" y="2924944"/>
            <a:ext cx="9001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El signo negativo </a:t>
            </a:r>
            <a:r>
              <a:rPr lang="es-ES" sz="1600" dirty="0">
                <a:sym typeface="Wingdings" panose="05000000000000000000" pitchFamily="2" charset="2"/>
              </a:rPr>
              <a:t></a:t>
            </a:r>
            <a:r>
              <a:rPr lang="es-ES" sz="1600" dirty="0"/>
              <a:t>el calor siempre fluye en la dirección de temperatura decreciente: el calor fluye en la dirección negativa x, de alta a baja temperatura.</a:t>
            </a:r>
          </a:p>
        </p:txBody>
      </p:sp>
    </p:spTree>
    <p:extLst>
      <p:ext uri="{BB962C8B-B14F-4D97-AF65-F5344CB8AC3E}">
        <p14:creationId xmlns:p14="http://schemas.microsoft.com/office/powerpoint/2010/main" val="39205871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D833E-834C-6DAE-6923-55E242777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Física General II/Tema 0</a:t>
            </a:r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5F356A-38EA-8C61-3293-91B9952F1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80728"/>
            <a:ext cx="5939406" cy="14009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F9EB77-9FD2-73D2-25F3-D360975C81C9}"/>
              </a:ext>
            </a:extLst>
          </p:cNvPr>
          <p:cNvSpPr txBox="1"/>
          <p:nvPr/>
        </p:nvSpPr>
        <p:spPr>
          <a:xfrm>
            <a:off x="107504" y="520104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13.</a:t>
            </a:r>
          </a:p>
        </p:txBody>
      </p:sp>
    </p:spTree>
    <p:extLst>
      <p:ext uri="{BB962C8B-B14F-4D97-AF65-F5344CB8AC3E}">
        <p14:creationId xmlns:p14="http://schemas.microsoft.com/office/powerpoint/2010/main" val="12334762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D833E-834C-6DAE-6923-55E242777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Física General II/Tema 0</a:t>
            </a:r>
            <a:endParaRPr lang="es-E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CC0C63-CB2B-12F0-DEFA-DBAAB4835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24744"/>
            <a:ext cx="5838738" cy="21308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BE29C2-89DC-06E5-0F1A-1B99BEDAF475}"/>
              </a:ext>
            </a:extLst>
          </p:cNvPr>
          <p:cNvSpPr txBox="1"/>
          <p:nvPr/>
        </p:nvSpPr>
        <p:spPr>
          <a:xfrm>
            <a:off x="189248" y="548680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14.</a:t>
            </a:r>
          </a:p>
        </p:txBody>
      </p:sp>
    </p:spTree>
    <p:extLst>
      <p:ext uri="{BB962C8B-B14F-4D97-AF65-F5344CB8AC3E}">
        <p14:creationId xmlns:p14="http://schemas.microsoft.com/office/powerpoint/2010/main" val="29523876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D833E-834C-6DAE-6923-55E242777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Física General II/Tema 0</a:t>
            </a:r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68435-2BFB-9A05-CDD6-55A270587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196752"/>
            <a:ext cx="5872294" cy="973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D50A2C-8F87-C194-0A7F-86A7EC5EC4B7}"/>
              </a:ext>
            </a:extLst>
          </p:cNvPr>
          <p:cNvSpPr txBox="1"/>
          <p:nvPr/>
        </p:nvSpPr>
        <p:spPr>
          <a:xfrm>
            <a:off x="107504" y="476672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15.</a:t>
            </a:r>
          </a:p>
        </p:txBody>
      </p:sp>
    </p:spTree>
    <p:extLst>
      <p:ext uri="{BB962C8B-B14F-4D97-AF65-F5344CB8AC3E}">
        <p14:creationId xmlns:p14="http://schemas.microsoft.com/office/powerpoint/2010/main" val="35365478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D833E-834C-6DAE-6923-55E242777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Física General II/Tema 0</a:t>
            </a:r>
            <a:endParaRPr lang="es-E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9CBEB-8E68-E314-38F7-C40A0A33CC37}"/>
              </a:ext>
            </a:extLst>
          </p:cNvPr>
          <p:cNvSpPr txBox="1"/>
          <p:nvPr/>
        </p:nvSpPr>
        <p:spPr>
          <a:xfrm>
            <a:off x="107504" y="364367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0" u="none" strike="noStrike" baseline="0" dirty="0">
                <a:solidFill>
                  <a:srgbClr val="004D33"/>
                </a:solidFill>
                <a:latin typeface="ITCAvantGardeStd-Demi"/>
              </a:rPr>
              <a:t>Convección</a:t>
            </a:r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CFC3CD-62A6-4551-940C-A3778CE0A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036" y="2708919"/>
            <a:ext cx="3218058" cy="41176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D6B015-DBC7-A3A7-4C18-5BC21BCEFA29}"/>
              </a:ext>
            </a:extLst>
          </p:cNvPr>
          <p:cNvSpPr txBox="1"/>
          <p:nvPr/>
        </p:nvSpPr>
        <p:spPr>
          <a:xfrm>
            <a:off x="117442" y="836712"/>
            <a:ext cx="884704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Transferencia de calor por movimiento de una masa de fluido de una región del espacio a otra. </a:t>
            </a:r>
          </a:p>
          <a:p>
            <a:endParaRPr lang="es-ES" sz="1600" dirty="0"/>
          </a:p>
          <a:p>
            <a:r>
              <a:rPr lang="es-ES" sz="1600" dirty="0"/>
              <a:t>Ejemplos: sistemas de calefacción domésticos de aire caliente y de agua caliente, el sistema de enfriamiento de un motor de combustión y el flujo de sangre en el cuerpo.</a:t>
            </a:r>
          </a:p>
        </p:txBody>
      </p:sp>
    </p:spTree>
    <p:extLst>
      <p:ext uri="{BB962C8B-B14F-4D97-AF65-F5344CB8AC3E}">
        <p14:creationId xmlns:p14="http://schemas.microsoft.com/office/powerpoint/2010/main" val="25287347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D833E-834C-6DAE-6923-55E242777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Física General II/Tema 0</a:t>
            </a:r>
            <a:endParaRPr lang="es-E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9CBEB-8E68-E314-38F7-C40A0A33CC37}"/>
              </a:ext>
            </a:extLst>
          </p:cNvPr>
          <p:cNvSpPr txBox="1"/>
          <p:nvPr/>
        </p:nvSpPr>
        <p:spPr>
          <a:xfrm>
            <a:off x="107504" y="364367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800" b="0" i="0" u="none" strike="noStrike" baseline="0" dirty="0">
                <a:solidFill>
                  <a:srgbClr val="004D33"/>
                </a:solidFill>
                <a:latin typeface="ITCAvantGardeStd-Demi"/>
              </a:rPr>
              <a:t>Radiación</a:t>
            </a:r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87F0C7-C829-4406-05B8-7C101F05E0F6}"/>
              </a:ext>
            </a:extLst>
          </p:cNvPr>
          <p:cNvSpPr txBox="1"/>
          <p:nvPr/>
        </p:nvSpPr>
        <p:spPr>
          <a:xfrm>
            <a:off x="0" y="767978"/>
            <a:ext cx="924427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La radiación es la transferencia de calor por ondas electromagnéticas como la luz visible, los rayos infrarrojos y la radiación ultravioleta. 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Todo cuerpo emite energía en forma de radiación electromagnética. 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A temperaturas ordinarias (20°C) casi toda la energía se transporta en ondas de infrarrojo.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1F0FF-8A6E-7B07-0864-421EFEAE2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861048"/>
            <a:ext cx="2853833" cy="269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952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D833E-834C-6DAE-6923-55E242777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Física General II/Tema 0</a:t>
            </a:r>
            <a:endParaRPr lang="es-E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87F0C7-C829-4406-05B8-7C101F05E0F6}"/>
              </a:ext>
            </a:extLst>
          </p:cNvPr>
          <p:cNvSpPr txBox="1"/>
          <p:nvPr/>
        </p:nvSpPr>
        <p:spPr>
          <a:xfrm>
            <a:off x="107504" y="404664"/>
            <a:ext cx="9001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Al aumentar la temperatura, las longitudes de onda se desplazan hacia valores mucho menores.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A 800°C, un cuerpo emite suficiente radiación visible para convertirse en objeto luminoso “al rojo vivo”. La mayor parte de la energía se transporta en ondas de infrarrojo. </a:t>
            </a:r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A 3000°C, la temperatura del filamento de bombilla incandescente, la radiación contiene suficiente luz visible para que el cuerpo se vea “al blanco vivo”.</a:t>
            </a:r>
          </a:p>
        </p:txBody>
      </p:sp>
      <p:pic>
        <p:nvPicPr>
          <p:cNvPr id="1026" name="Picture 2" descr="Espectro electromagnético - Wikipedia, la enciclopedia libre">
            <a:extLst>
              <a:ext uri="{FF2B5EF4-FFF2-40B4-BE49-F238E27FC236}">
                <a16:creationId xmlns:a16="http://schemas.microsoft.com/office/drawing/2014/main" id="{FC9C7D28-A4BE-CEC3-19A7-2C5C04D69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56992"/>
            <a:ext cx="6372200" cy="364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9122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D833E-834C-6DAE-6923-55E242777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Física General II/Tema 0</a:t>
            </a:r>
            <a:endParaRPr lang="es-E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4E6219-0612-9EC2-8416-DB12BFA3D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95398"/>
            <a:ext cx="7952763" cy="10821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1B24BD-C109-3588-9FA2-190C6B17C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2636912"/>
            <a:ext cx="4160939" cy="4613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79F6F1-8666-CAEB-021F-627E2BDE478F}"/>
              </a:ext>
            </a:extLst>
          </p:cNvPr>
          <p:cNvSpPr txBox="1"/>
          <p:nvPr/>
        </p:nvSpPr>
        <p:spPr>
          <a:xfrm>
            <a:off x="179512" y="554851"/>
            <a:ext cx="45999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Ley de Stefan-Boltzmann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358BB-E025-93C7-5877-9E42125AEA40}"/>
              </a:ext>
            </a:extLst>
          </p:cNvPr>
          <p:cNvSpPr txBox="1"/>
          <p:nvPr/>
        </p:nvSpPr>
        <p:spPr>
          <a:xfrm>
            <a:off x="107504" y="3493684"/>
            <a:ext cx="89289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/>
              <a:t>Un cuerpo a temperatura </a:t>
            </a:r>
            <a:r>
              <a:rPr lang="es-ES" sz="1600" i="1" dirty="0"/>
              <a:t>T</a:t>
            </a:r>
            <a:r>
              <a:rPr lang="es-ES" sz="1600" dirty="0"/>
              <a:t> está irradiando, su entorno a temperatura </a:t>
            </a:r>
            <a:r>
              <a:rPr lang="es-ES" sz="1600" i="1" dirty="0" err="1"/>
              <a:t>T</a:t>
            </a:r>
            <a:r>
              <a:rPr lang="es-ES" sz="1600" i="1" baseline="-25000" dirty="0" err="1"/>
              <a:t>s</a:t>
            </a:r>
            <a:r>
              <a:rPr lang="es-ES" sz="1600" dirty="0"/>
              <a:t> también lo hace, y el cuerpo absorbe parte de esta radiación. </a:t>
            </a:r>
          </a:p>
          <a:p>
            <a:endParaRPr lang="es-ES" sz="1600" dirty="0"/>
          </a:p>
          <a:p>
            <a:r>
              <a:rPr lang="es-ES" sz="1600" dirty="0"/>
              <a:t>Si el cuerpo está en equilibrio térmico con su entorno, </a:t>
            </a:r>
            <a:r>
              <a:rPr lang="es-ES" sz="1600" i="1" dirty="0"/>
              <a:t>T = </a:t>
            </a:r>
            <a:r>
              <a:rPr lang="es-ES" sz="1600" i="1" dirty="0" err="1"/>
              <a:t>T</a:t>
            </a:r>
            <a:r>
              <a:rPr lang="es-ES" sz="1600" i="1" baseline="-25000" dirty="0" err="1"/>
              <a:t>s</a:t>
            </a:r>
            <a:r>
              <a:rPr lang="es-ES" sz="1600" i="1" dirty="0"/>
              <a:t>  </a:t>
            </a:r>
            <a:r>
              <a:rPr lang="es-ES" sz="1600" dirty="0"/>
              <a:t>y las tasas de radiación y absorción deben ser iguales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A4062A-F5B0-D7CE-8C45-D6EB8B829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409" y="5592139"/>
            <a:ext cx="5805182" cy="108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393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D833E-834C-6DAE-6923-55E242777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Física General II/Tema 0</a:t>
            </a:r>
            <a:endParaRPr lang="es-E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AD03-9B47-6BC8-6823-D2C7B0699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80728"/>
            <a:ext cx="6543413" cy="11409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052510-0E3F-D8EA-6DDE-608059F64BFD}"/>
              </a:ext>
            </a:extLst>
          </p:cNvPr>
          <p:cNvSpPr txBox="1"/>
          <p:nvPr/>
        </p:nvSpPr>
        <p:spPr>
          <a:xfrm>
            <a:off x="159362" y="548680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16.</a:t>
            </a:r>
          </a:p>
        </p:txBody>
      </p:sp>
    </p:spTree>
    <p:extLst>
      <p:ext uri="{BB962C8B-B14F-4D97-AF65-F5344CB8AC3E}">
        <p14:creationId xmlns:p14="http://schemas.microsoft.com/office/powerpoint/2010/main" val="10491648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D833E-834C-6DAE-6923-55E242777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Física General II/Tema 0</a:t>
            </a:r>
            <a:endParaRPr lang="es-E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9DDB74-3CE1-1291-53E4-2462A092F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052736"/>
            <a:ext cx="6644081" cy="19043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8311A8-8C54-19D5-2F82-A4FADAEB3028}"/>
              </a:ext>
            </a:extLst>
          </p:cNvPr>
          <p:cNvSpPr txBox="1"/>
          <p:nvPr/>
        </p:nvSpPr>
        <p:spPr>
          <a:xfrm>
            <a:off x="159362" y="548680"/>
            <a:ext cx="45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</a:t>
            </a:r>
            <a:r>
              <a:rPr lang="es-ES" dirty="0" err="1"/>
              <a:t>jemplo</a:t>
            </a:r>
            <a:r>
              <a:rPr lang="es-ES" dirty="0"/>
              <a:t> 17.</a:t>
            </a:r>
          </a:p>
        </p:txBody>
      </p:sp>
    </p:spTree>
    <p:extLst>
      <p:ext uri="{BB962C8B-B14F-4D97-AF65-F5344CB8AC3E}">
        <p14:creationId xmlns:p14="http://schemas.microsoft.com/office/powerpoint/2010/main" val="14057479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a">
  <a:themeElements>
    <a:clrScheme name="Personalizado 2">
      <a:dk1>
        <a:srgbClr val="000000"/>
      </a:dk1>
      <a:lt1>
        <a:srgbClr val="FFFFFF"/>
      </a:lt1>
      <a:dk2>
        <a:srgbClr val="345C97"/>
      </a:dk2>
      <a:lt2>
        <a:srgbClr val="FFFFFF"/>
      </a:lt2>
      <a:accent1>
        <a:srgbClr val="838D9B"/>
      </a:accent1>
      <a:accent2>
        <a:srgbClr val="345C97"/>
      </a:accent2>
      <a:accent3>
        <a:srgbClr val="80716A"/>
      </a:accent3>
      <a:accent4>
        <a:srgbClr val="FF8600"/>
      </a:accent4>
      <a:accent5>
        <a:srgbClr val="345C97"/>
      </a:accent5>
      <a:accent6>
        <a:srgbClr val="5D5AD2"/>
      </a:accent6>
      <a:hlink>
        <a:srgbClr val="345C97"/>
      </a:hlink>
      <a:folHlink>
        <a:srgbClr val="FF8600"/>
      </a:folHlink>
    </a:clrScheme>
    <a:fontScheme name="Clásico de Office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10164</TotalTime>
  <Words>3835</Words>
  <Application>Microsoft Office PowerPoint</Application>
  <PresentationFormat>On-screen Show (4:3)</PresentationFormat>
  <Paragraphs>403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Arial (Body)</vt:lpstr>
      <vt:lpstr>Calibri</vt:lpstr>
      <vt:lpstr>ITCAvantGardeStd-Demi</vt:lpstr>
      <vt:lpstr>TimesLTStd-Roman</vt:lpstr>
      <vt:lpstr>Wingdings</vt:lpstr>
      <vt:lpstr>Perspectiva</vt:lpstr>
      <vt:lpstr>Física General II</vt:lpstr>
      <vt:lpstr>Temperatura y calor</vt:lpstr>
      <vt:lpstr>TEMPERATURA Y EQUILIBRIO TÉRMICO</vt:lpstr>
      <vt:lpstr>PowerPoint Presentation</vt:lpstr>
      <vt:lpstr>PowerPoint Presentation</vt:lpstr>
      <vt:lpstr>Ley cero de la termodinámica</vt:lpstr>
      <vt:lpstr>TERMÓMETROS Y ESCALAS DE TEMPERATURA</vt:lpstr>
      <vt:lpstr>PowerPoint Presentation</vt:lpstr>
      <vt:lpstr>PowerPoint Presentation</vt:lpstr>
      <vt:lpstr>TERMÓMETROS DE GAS Y LA ESCALA KELVIN</vt:lpstr>
      <vt:lpstr>PowerPoint Presentation</vt:lpstr>
      <vt:lpstr>PowerPoint Presentation</vt:lpstr>
      <vt:lpstr>La escala Kelvin y la temperatura absoluta</vt:lpstr>
      <vt:lpstr>PowerPoint Presentation</vt:lpstr>
      <vt:lpstr>PowerPoint Presentation</vt:lpstr>
      <vt:lpstr>EXPANSIÓN TÉRMICA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U-TAD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Eva Perandones Serrano</dc:creator>
  <cp:lastModifiedBy>Jorge Fernandez</cp:lastModifiedBy>
  <cp:revision>496</cp:revision>
  <dcterms:created xsi:type="dcterms:W3CDTF">2013-10-15T13:27:45Z</dcterms:created>
  <dcterms:modified xsi:type="dcterms:W3CDTF">2024-09-16T13:58:43Z</dcterms:modified>
</cp:coreProperties>
</file>