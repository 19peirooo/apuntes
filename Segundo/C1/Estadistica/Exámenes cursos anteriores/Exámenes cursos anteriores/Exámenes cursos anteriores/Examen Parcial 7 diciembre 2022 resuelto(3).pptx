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85" r:id="rId4"/>
    <p:sldId id="259" r:id="rId5"/>
    <p:sldId id="260" r:id="rId6"/>
    <p:sldId id="261" r:id="rId7"/>
    <p:sldId id="266" r:id="rId8"/>
    <p:sldId id="340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s-ES" sz="1350" b="0" strike="noStrike" spc="-1">
                <a:solidFill>
                  <a:srgbClr val="000000"/>
                </a:solidFill>
                <a:latin typeface="Calibri"/>
              </a:rPr>
              <a:t>Pulse para desplazar la página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ES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s-ES" sz="1400" b="0" strike="noStrike" spc="-1">
                <a:latin typeface="Times New Roman"/>
              </a:rPr>
              <a:t> </a:t>
            </a:r>
          </a:p>
        </p:txBody>
      </p:sp>
      <p:sp>
        <p:nvSpPr>
          <p:cNvPr id="12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s-ES" sz="1400" b="0" strike="noStrike" spc="-1">
                <a:latin typeface="Times New Roman"/>
              </a:rPr>
              <a:t> </a:t>
            </a:r>
          </a:p>
        </p:txBody>
      </p:sp>
      <p:sp>
        <p:nvSpPr>
          <p:cNvPr id="12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s-ES" sz="1400" b="0" strike="noStrike" spc="-1">
                <a:latin typeface="Times New Roman"/>
              </a:rPr>
              <a:t> </a:t>
            </a:r>
          </a:p>
        </p:txBody>
      </p:sp>
      <p:sp>
        <p:nvSpPr>
          <p:cNvPr id="12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D433688-6D32-48F7-B308-A96197FD4BE3}" type="slidenum">
              <a:rPr lang="es-ES" sz="1400" b="0" strike="noStrike" spc="-1"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1</a:t>
            </a:fld>
            <a:endParaRPr lang="es-E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 dirty="0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2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509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6A500-1DA6-4541-BE61-DEBA7B3304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862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4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374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5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6523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6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8023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7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983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8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5190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9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7065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10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0740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08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901B6E81-DED3-474A-A443-A9165B1C40EA}" type="slidenum">
              <a:rPr lang="es-ES" sz="1200" b="0" strike="noStrike" spc="-1">
                <a:latin typeface="Times New Roman"/>
              </a:rPr>
              <a:t>11</a:t>
            </a:fld>
            <a:endParaRPr lang="es-E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174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5B7E3F4-BDC7-448D-AA6B-A23F66ADFB14}"/>
              </a:ext>
            </a:extLst>
          </p:cNvPr>
          <p:cNvSpPr txBox="1"/>
          <p:nvPr userDrawn="1"/>
        </p:nvSpPr>
        <p:spPr>
          <a:xfrm rot="16200000">
            <a:off x="-605643" y="332956"/>
            <a:ext cx="138056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00" dirty="0">
                <a:solidFill>
                  <a:schemeClr val="bg2">
                    <a:lumMod val="90000"/>
                  </a:schemeClr>
                </a:solidFill>
              </a:rPr>
              <a:t>SSOO Javier García Algarra 2020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3 Marcador de pie de página">
            <a:extLst>
              <a:ext uri="{FF2B5EF4-FFF2-40B4-BE49-F238E27FC236}">
                <a16:creationId xmlns:a16="http://schemas.microsoft.com/office/drawing/2014/main" id="{749EC5CE-810F-4117-BBA0-B107EC391EF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589986" y="1588"/>
            <a:ext cx="2340883" cy="366274"/>
          </a:xfrm>
          <a:prstGeom prst="rect">
            <a:avLst/>
          </a:prstGeom>
        </p:spPr>
        <p:txBody>
          <a:bodyPr/>
          <a:lstStyle>
            <a:lvl1pPr algn="r">
              <a:defRPr sz="105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251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2396" y="1454706"/>
            <a:ext cx="6115731" cy="2139553"/>
          </a:xfrm>
        </p:spPr>
        <p:txBody>
          <a:bodyPr anchor="b"/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2396" y="3614500"/>
            <a:ext cx="6115732" cy="112514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pic>
        <p:nvPicPr>
          <p:cNvPr id="2050" name="Picture 2" descr="Imagen relacionada">
            <a:extLst>
              <a:ext uri="{FF2B5EF4-FFF2-40B4-BE49-F238E27FC236}">
                <a16:creationId xmlns:a16="http://schemas.microsoft.com/office/drawing/2014/main" id="{DE157B29-00A7-4167-8C14-2765A1C6B7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12" y="170447"/>
            <a:ext cx="3169752" cy="6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2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EAC99-B2C2-4638-A5B9-F24C4914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0B0D8E-7A74-4F85-A444-17D88F440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E6134F-8618-4CB2-B126-E84343A01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662B2F-76DD-457F-B695-06E034D8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CA31-DE7F-48F6-8F07-6351403BCB4B}" type="datetimeFigureOut">
              <a:rPr lang="es-ES" smtClean="0"/>
              <a:t>19/01/2023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6C3F65-1FD3-43B4-832C-717C3ACA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Asignatura/Tema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B33982-311C-4559-8C0D-120C2278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9224-E8FD-4BD0-8281-75274CA738F2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D6A12F0-BC59-424A-9F1E-C44F0B8A5D7F}"/>
              </a:ext>
            </a:extLst>
          </p:cNvPr>
          <p:cNvSpPr/>
          <p:nvPr userDrawn="1"/>
        </p:nvSpPr>
        <p:spPr>
          <a:xfrm>
            <a:off x="8435268" y="160384"/>
            <a:ext cx="86236" cy="5940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DD2AE04C-0433-4727-A06E-41C9199BC904}"/>
              </a:ext>
            </a:extLst>
          </p:cNvPr>
          <p:cNvSpPr/>
          <p:nvPr userDrawn="1"/>
        </p:nvSpPr>
        <p:spPr>
          <a:xfrm>
            <a:off x="8569419" y="160384"/>
            <a:ext cx="576072" cy="5940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0" name="11 Conector recto">
            <a:extLst>
              <a:ext uri="{FF2B5EF4-FFF2-40B4-BE49-F238E27FC236}">
                <a16:creationId xmlns:a16="http://schemas.microsoft.com/office/drawing/2014/main" id="{A5153C96-C8C6-4FA7-B605-ADE6930ADFBB}"/>
              </a:ext>
            </a:extLst>
          </p:cNvPr>
          <p:cNvCxnSpPr/>
          <p:nvPr userDrawn="1"/>
        </p:nvCxnSpPr>
        <p:spPr>
          <a:xfrm>
            <a:off x="251521" y="1491630"/>
            <a:ext cx="8605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5 Marcador de número de diapositiva">
            <a:extLst>
              <a:ext uri="{FF2B5EF4-FFF2-40B4-BE49-F238E27FC236}">
                <a16:creationId xmlns:a16="http://schemas.microsoft.com/office/drawing/2014/main" id="{EFF26A30-9397-42F9-AE0F-2976BBD69CA2}"/>
              </a:ext>
            </a:extLst>
          </p:cNvPr>
          <p:cNvSpPr txBox="1">
            <a:spLocks/>
          </p:cNvSpPr>
          <p:nvPr userDrawn="1"/>
        </p:nvSpPr>
        <p:spPr>
          <a:xfrm>
            <a:off x="8532439" y="303498"/>
            <a:ext cx="596305" cy="273844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050" b="0" smtClean="0"/>
              <a:pPr algn="ctr"/>
              <a:t>‹Nº›</a:t>
            </a:fld>
            <a:endParaRPr lang="es-ES" sz="1050" b="0" dirty="0"/>
          </a:p>
        </p:txBody>
      </p:sp>
      <p:pic>
        <p:nvPicPr>
          <p:cNvPr id="12" name="Picture 2" descr="C:\Users\eva.perandones\Downloads\default-logo (1).png">
            <a:extLst>
              <a:ext uri="{FF2B5EF4-FFF2-40B4-BE49-F238E27FC236}">
                <a16:creationId xmlns:a16="http://schemas.microsoft.com/office/drawing/2014/main" id="{582680D5-3F86-45AC-B2C3-30BAB96EDB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214529"/>
            <a:ext cx="174307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33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-8280" y="0"/>
            <a:ext cx="1211040" cy="5142960"/>
          </a:xfrm>
          <a:prstGeom prst="rect">
            <a:avLst/>
          </a:prstGeom>
          <a:solidFill>
            <a:srgbClr val="0D4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2" name="Picture 2"/>
          <p:cNvPicPr/>
          <p:nvPr/>
        </p:nvPicPr>
        <p:blipFill>
          <a:blip r:embed="rId6"/>
          <a:srcRect t="10620" r="4264" b="35523"/>
          <a:stretch/>
        </p:blipFill>
        <p:spPr>
          <a:xfrm>
            <a:off x="-8280" y="4398840"/>
            <a:ext cx="1211040" cy="681120"/>
          </a:xfrm>
          <a:prstGeom prst="rect">
            <a:avLst/>
          </a:prstGeom>
          <a:ln>
            <a:noFill/>
          </a:ln>
        </p:spPr>
      </p:pic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s-ES" sz="1350" b="0" strike="noStrike" spc="-1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rgbClr val="000000"/>
                </a:solidFill>
                <a:latin typeface="Calibri Light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600" b="0" strike="noStrike" spc="-1">
                <a:solidFill>
                  <a:srgbClr val="000000"/>
                </a:solidFill>
                <a:latin typeface="Calibri Light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350" b="0" strike="noStrike" spc="-1">
                <a:solidFill>
                  <a:srgbClr val="000000"/>
                </a:solidFill>
                <a:latin typeface="Calibri Light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350" b="0" strike="noStrike" spc="-1">
                <a:solidFill>
                  <a:srgbClr val="000000"/>
                </a:solidFill>
                <a:latin typeface="Calibri Light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Calibri Light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Calibri Light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Calibri Light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1568880" y="1400400"/>
            <a:ext cx="7103880" cy="15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b"/>
          <a:lstStyle/>
          <a:p>
            <a:pPr algn="ctr">
              <a:lnSpc>
                <a:spcPct val="90000"/>
              </a:lnSpc>
            </a:pP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es-ES" sz="2000" b="0" strike="noStrike" spc="-1" dirty="0">
                <a:solidFill>
                  <a:srgbClr val="1F4E79"/>
                </a:solidFill>
                <a:latin typeface="Calibri Light"/>
              </a:rPr>
              <a:t>Problemas resueltos</a:t>
            </a:r>
            <a:br>
              <a:rPr dirty="0"/>
            </a:br>
            <a:br>
              <a:rPr dirty="0"/>
            </a:br>
            <a:r>
              <a:rPr lang="es-ES" sz="4000" spc="-1" dirty="0">
                <a:solidFill>
                  <a:srgbClr val="1F4E79"/>
                </a:solidFill>
                <a:latin typeface="Calibri Light"/>
              </a:rPr>
              <a:t>Probabilidad y Estadística</a:t>
            </a:r>
            <a:endParaRPr lang="es-E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1876860" y="3455978"/>
            <a:ext cx="6910560" cy="11246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5000" lnSpcReduction="20000"/>
          </a:bodyPr>
          <a:lstStyle/>
          <a:p>
            <a:pPr algn="r">
              <a:lnSpc>
                <a:spcPct val="90000"/>
              </a:lnSpc>
              <a:spcBef>
                <a:spcPts val="751"/>
              </a:spcBef>
            </a:pPr>
            <a:endParaRPr lang="es-ES" sz="2400" b="0" strike="noStrike" spc="-1" dirty="0">
              <a:solidFill>
                <a:srgbClr val="000000"/>
              </a:solidFill>
              <a:latin typeface="Calibri Light"/>
            </a:endParaRPr>
          </a:p>
          <a:p>
            <a:pPr algn="r">
              <a:lnSpc>
                <a:spcPct val="90000"/>
              </a:lnSpc>
              <a:spcBef>
                <a:spcPts val="751"/>
              </a:spcBef>
            </a:pPr>
            <a:endParaRPr lang="es-ES" sz="2400" b="0" strike="noStrike" spc="-1" dirty="0">
              <a:solidFill>
                <a:srgbClr val="000000"/>
              </a:solidFill>
              <a:latin typeface="Calibri Light"/>
            </a:endParaRPr>
          </a:p>
          <a:p>
            <a:pPr algn="r">
              <a:lnSpc>
                <a:spcPct val="90000"/>
              </a:lnSpc>
              <a:spcBef>
                <a:spcPts val="751"/>
              </a:spcBef>
            </a:pPr>
            <a:r>
              <a:rPr lang="es-ES" sz="1800" b="0" strike="noStrike" spc="-1" dirty="0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Mar Angulo Martínez</a:t>
            </a:r>
          </a:p>
          <a:p>
            <a:pPr algn="r">
              <a:lnSpc>
                <a:spcPct val="90000"/>
              </a:lnSpc>
              <a:spcBef>
                <a:spcPts val="751"/>
              </a:spcBef>
            </a:pPr>
            <a:r>
              <a:rPr lang="es-ES" sz="1800" b="0" strike="noStrike" spc="-1" dirty="0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mar.angulo@u-tad.com</a:t>
            </a:r>
          </a:p>
          <a:p>
            <a:pPr algn="r">
              <a:lnSpc>
                <a:spcPct val="90000"/>
              </a:lnSpc>
              <a:spcBef>
                <a:spcPts val="751"/>
              </a:spcBef>
            </a:pPr>
            <a:r>
              <a:rPr lang="es-ES" sz="1800" b="0" strike="noStrike" spc="-1" dirty="0">
                <a:solidFill>
                  <a:schemeClr val="accent5">
                    <a:lumMod val="50000"/>
                  </a:schemeClr>
                </a:solidFill>
                <a:latin typeface="Calibri Light"/>
              </a:rPr>
              <a:t>2021-2022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5A869FC-3FB2-4391-BBC0-288077F78999}"/>
              </a:ext>
            </a:extLst>
          </p:cNvPr>
          <p:cNvSpPr/>
          <p:nvPr/>
        </p:nvSpPr>
        <p:spPr>
          <a:xfrm>
            <a:off x="1209371" y="940861"/>
            <a:ext cx="5328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>
                <a:solidFill>
                  <a:schemeClr val="accent5">
                    <a:lumMod val="50000"/>
                  </a:schemeClr>
                </a:solidFill>
              </a:rPr>
              <a:t>Examen Parcial 7 diciembre 2022</a:t>
            </a:r>
          </a:p>
          <a:p>
            <a:endParaRPr lang="es-E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5EF2C23-04A9-45E4-8CE8-662CEF5786FB}"/>
              </a:ext>
            </a:extLst>
          </p:cNvPr>
          <p:cNvCxnSpPr>
            <a:stCxn id="6" idx="1"/>
          </p:cNvCxnSpPr>
          <p:nvPr/>
        </p:nvCxnSpPr>
        <p:spPr>
          <a:xfrm flipV="1">
            <a:off x="1209371" y="1129604"/>
            <a:ext cx="7542881" cy="42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1A82229-EEFC-860B-3A40-CC5551237BCA}"/>
                  </a:ext>
                </a:extLst>
              </p:cNvPr>
              <p:cNvSpPr txBox="1"/>
              <p:nvPr/>
            </p:nvSpPr>
            <p:spPr>
              <a:xfrm>
                <a:off x="-104078" y="-3007005"/>
                <a:ext cx="9746165" cy="2668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b="1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Problema 1    (3,5 puntos) 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 han tomado cinco muestras con la misma cantidad de glucógeno, se les ha aplicado una cantidad de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(en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milimoles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/litro): X, y se ha medido la velocidad de reacción, Y, (en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micromoles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/minuto). Se han obtenido los siguientes datos: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1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0,2		0,5		1,25		2,1		3,05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1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8		10		18		35		60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¿Se puede deducir a partir de estos datos que la velocidad de reacción aumenta o disminuye linealmente con la concentración de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En caso afirmativo dar una expresión matemática del modelo de ajuste y utilizarlo para predecir la cantidad de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aplicada en una reacción cuya velocidad ha sido de 45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micromoles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/minuto.</a:t>
                </a: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Calcular e interpretar el coeficiente de regresión de y sobre x</a:t>
                </a: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¿Cuánta variabilidad en la velocidad de reacción no queda explicada  por la concentración de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 Indicar también qué % representa ese valor</a:t>
                </a: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Dar una medida de la bondad del ajuste e interpretarla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Representar en un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boxplot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los datos correspondientes a la velocidad de reacción. ¿Qué conclusiones puedes extraer de la gráfica?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1A82229-EEFC-860B-3A40-CC5551237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078" y="-3007005"/>
                <a:ext cx="9746165" cy="2668231"/>
              </a:xfrm>
              <a:prstGeom prst="rect">
                <a:avLst/>
              </a:prstGeom>
              <a:blipFill>
                <a:blip r:embed="rId3"/>
                <a:stretch>
                  <a:fillRect b="-68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BBDE6DE-2AD9-F68A-E1EC-9D94E9496693}"/>
                  </a:ext>
                </a:extLst>
              </p:cNvPr>
              <p:cNvSpPr txBox="1"/>
              <p:nvPr/>
            </p:nvSpPr>
            <p:spPr>
              <a:xfrm>
                <a:off x="1355350" y="1360437"/>
                <a:ext cx="7721743" cy="3211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b="1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Problema 1    (3,5 puntos) 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 han tomado cinco muestras con la misma cantidad de glucógeno, se les ha aplicado una cantidad de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(en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milimoles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/litro): X, y se ha medido la velocidad de reacción, Y, (en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micromoles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/minuto). Se han obtenido los siguientes datos: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1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0,2	0,5	1,25	2,1	3,05</a:t>
                </a:r>
                <a:endParaRPr lang="es-ES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1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8	10	18	35	60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¿Se puede deducir a partir de estos datos que la velocidad de reacción aumenta o disminuye linealmente con la concentración de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algn="just">
                  <a:lnSpc>
                    <a:spcPct val="107000"/>
                  </a:lnSpc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En caso afirmativo dar una expresión matemática del modelo de ajuste y utilizarlo para predecir la cantidad de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aplicada en una reacción cuya velocidad ha sido de 45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micromoles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/minuto.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b) Calcular e interpretar el coeficiente de regresión de y sobre x</a:t>
                </a: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¿Cuánta variabilidad en la velocidad de reacción no queda explicada  por la concentración de </a:t>
                </a:r>
                <a:r>
                  <a:rPr lang="es-ES" sz="11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glucogenasa</a:t>
                </a:r>
                <a:r>
                  <a:rPr lang="es-E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 Indicar también qué % representa ese valor</a:t>
                </a: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Dar una medida de la bondad del ajuste e interpretarla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Representar en un </a:t>
                </a:r>
                <a:r>
                  <a:rPr lang="es-ES" sz="1100" dirty="0" err="1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boxplot</a:t>
                </a:r>
                <a:r>
                  <a:rPr lang="es-ES" sz="11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los datos correspondientes a la velocidad de reacción. ¿Qué conclusiones puedes extraer de la gráfica?</a:t>
                </a:r>
                <a:endPara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BBDE6DE-2AD9-F68A-E1EC-9D94E9496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350" y="1360437"/>
                <a:ext cx="7721743" cy="3211648"/>
              </a:xfrm>
              <a:prstGeom prst="rect">
                <a:avLst/>
              </a:prstGeom>
              <a:blipFill>
                <a:blip r:embed="rId4"/>
                <a:stretch>
                  <a:fillRect b="-3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48860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EC45C65-09D5-4C90-AA58-B7FA56F8C1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46" t="11886" r="-3846" b="17362"/>
          <a:stretch/>
        </p:blipFill>
        <p:spPr>
          <a:xfrm>
            <a:off x="1331639" y="87474"/>
            <a:ext cx="1404156" cy="648072"/>
          </a:xfrm>
          <a:prstGeom prst="rect">
            <a:avLst/>
          </a:prstGeom>
        </p:spPr>
      </p:pic>
      <p:sp>
        <p:nvSpPr>
          <p:cNvPr id="7" name="3 Subtítulo">
            <a:extLst>
              <a:ext uri="{FF2B5EF4-FFF2-40B4-BE49-F238E27FC236}">
                <a16:creationId xmlns:a16="http://schemas.microsoft.com/office/drawing/2014/main" id="{F5B676DE-08BE-460B-B662-62B10E286B1F}"/>
              </a:ext>
            </a:extLst>
          </p:cNvPr>
          <p:cNvSpPr txBox="1">
            <a:spLocks/>
          </p:cNvSpPr>
          <p:nvPr/>
        </p:nvSpPr>
        <p:spPr>
          <a:xfrm>
            <a:off x="1547664" y="1815666"/>
            <a:ext cx="3510390" cy="69179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sz="788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E4608E83-BD28-4CB1-832B-50119F45AC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9709839"/>
                  </p:ext>
                </p:extLst>
              </p:nvPr>
            </p:nvGraphicFramePr>
            <p:xfrm>
              <a:off x="1298712" y="1682090"/>
              <a:ext cx="5854617" cy="18248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7619">
                      <a:extLst>
                        <a:ext uri="{9D8B030D-6E8A-4147-A177-3AD203B41FA5}">
                          <a16:colId xmlns:a16="http://schemas.microsoft.com/office/drawing/2014/main" val="742468985"/>
                        </a:ext>
                      </a:extLst>
                    </a:gridCol>
                    <a:gridCol w="744039">
                      <a:extLst>
                        <a:ext uri="{9D8B030D-6E8A-4147-A177-3AD203B41FA5}">
                          <a16:colId xmlns:a16="http://schemas.microsoft.com/office/drawing/2014/main" val="3711692430"/>
                        </a:ext>
                      </a:extLst>
                    </a:gridCol>
                    <a:gridCol w="669931">
                      <a:extLst>
                        <a:ext uri="{9D8B030D-6E8A-4147-A177-3AD203B41FA5}">
                          <a16:colId xmlns:a16="http://schemas.microsoft.com/office/drawing/2014/main" val="172623804"/>
                        </a:ext>
                      </a:extLst>
                    </a:gridCol>
                    <a:gridCol w="815292">
                      <a:extLst>
                        <a:ext uri="{9D8B030D-6E8A-4147-A177-3AD203B41FA5}">
                          <a16:colId xmlns:a16="http://schemas.microsoft.com/office/drawing/2014/main" val="348561278"/>
                        </a:ext>
                      </a:extLst>
                    </a:gridCol>
                    <a:gridCol w="606730">
                      <a:extLst>
                        <a:ext uri="{9D8B030D-6E8A-4147-A177-3AD203B41FA5}">
                          <a16:colId xmlns:a16="http://schemas.microsoft.com/office/drawing/2014/main" val="3848902570"/>
                        </a:ext>
                      </a:extLst>
                    </a:gridCol>
                    <a:gridCol w="701531">
                      <a:extLst>
                        <a:ext uri="{9D8B030D-6E8A-4147-A177-3AD203B41FA5}">
                          <a16:colId xmlns:a16="http://schemas.microsoft.com/office/drawing/2014/main" val="1977300002"/>
                        </a:ext>
                      </a:extLst>
                    </a:gridCol>
                    <a:gridCol w="749475">
                      <a:extLst>
                        <a:ext uri="{9D8B030D-6E8A-4147-A177-3AD203B41FA5}">
                          <a16:colId xmlns:a16="http://schemas.microsoft.com/office/drawing/2014/main" val="3385798072"/>
                        </a:ext>
                      </a:extLst>
                    </a:gridCol>
                  </a:tblGrid>
                  <a:tr h="205740"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6766353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Concentración de </a:t>
                          </a:r>
                          <a:r>
                            <a:rPr lang="es-ES" sz="900" dirty="0" err="1"/>
                            <a:t>glucogenasa</a:t>
                          </a:r>
                          <a:r>
                            <a:rPr lang="es-ES" sz="900" dirty="0"/>
                            <a:t>(xi) (</a:t>
                          </a:r>
                          <a:r>
                            <a:rPr lang="es-ES" sz="900" dirty="0" err="1"/>
                            <a:t>milimoles</a:t>
                          </a:r>
                          <a:r>
                            <a:rPr lang="es-ES" sz="900" dirty="0"/>
                            <a:t>/litro)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1,25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2,1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3,05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7,1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156780587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Velocidad de reacción(</a:t>
                          </a:r>
                          <a:r>
                            <a:rPr lang="es-ES" sz="900" dirty="0" err="1"/>
                            <a:t>micromol</a:t>
                          </a:r>
                          <a:r>
                            <a:rPr lang="es-ES" sz="900" dirty="0"/>
                            <a:t>/minuto)   (</a:t>
                          </a:r>
                          <a:r>
                            <a:rPr lang="es-ES" sz="900" dirty="0" err="1"/>
                            <a:t>yi</a:t>
                          </a:r>
                          <a:r>
                            <a:rPr lang="es-ES" sz="900" dirty="0"/>
                            <a:t>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60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131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98677867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s-ES" sz="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E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" sz="9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s-E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0,04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1,5625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4,41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9,3025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15,565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790029"/>
                      </a:ext>
                    </a:extLst>
                  </a:tr>
                  <a:tr h="2132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s-ES" sz="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ES" sz="9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ES" sz="9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s-E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100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1.225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3.600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5.313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161841509"/>
                      </a:ext>
                    </a:extLst>
                  </a:tr>
                  <a:tr h="205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 err="1"/>
                            <a:t>xi.yi</a:t>
                          </a:r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1,6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900" dirty="0"/>
                            <a:t>2</a:t>
                          </a:r>
                          <a:r>
                            <a:rPr lang="es-ES" sz="900" dirty="0"/>
                            <a:t>2,5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73,5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183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285,6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92209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E4608E83-BD28-4CB1-832B-50119F45AC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9709839"/>
                  </p:ext>
                </p:extLst>
              </p:nvPr>
            </p:nvGraphicFramePr>
            <p:xfrm>
              <a:off x="1298712" y="1682090"/>
              <a:ext cx="5854617" cy="18248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7619">
                      <a:extLst>
                        <a:ext uri="{9D8B030D-6E8A-4147-A177-3AD203B41FA5}">
                          <a16:colId xmlns:a16="http://schemas.microsoft.com/office/drawing/2014/main" val="742468985"/>
                        </a:ext>
                      </a:extLst>
                    </a:gridCol>
                    <a:gridCol w="744039">
                      <a:extLst>
                        <a:ext uri="{9D8B030D-6E8A-4147-A177-3AD203B41FA5}">
                          <a16:colId xmlns:a16="http://schemas.microsoft.com/office/drawing/2014/main" val="3711692430"/>
                        </a:ext>
                      </a:extLst>
                    </a:gridCol>
                    <a:gridCol w="669931">
                      <a:extLst>
                        <a:ext uri="{9D8B030D-6E8A-4147-A177-3AD203B41FA5}">
                          <a16:colId xmlns:a16="http://schemas.microsoft.com/office/drawing/2014/main" val="172623804"/>
                        </a:ext>
                      </a:extLst>
                    </a:gridCol>
                    <a:gridCol w="815292">
                      <a:extLst>
                        <a:ext uri="{9D8B030D-6E8A-4147-A177-3AD203B41FA5}">
                          <a16:colId xmlns:a16="http://schemas.microsoft.com/office/drawing/2014/main" val="348561278"/>
                        </a:ext>
                      </a:extLst>
                    </a:gridCol>
                    <a:gridCol w="606730">
                      <a:extLst>
                        <a:ext uri="{9D8B030D-6E8A-4147-A177-3AD203B41FA5}">
                          <a16:colId xmlns:a16="http://schemas.microsoft.com/office/drawing/2014/main" val="3848902570"/>
                        </a:ext>
                      </a:extLst>
                    </a:gridCol>
                    <a:gridCol w="701531">
                      <a:extLst>
                        <a:ext uri="{9D8B030D-6E8A-4147-A177-3AD203B41FA5}">
                          <a16:colId xmlns:a16="http://schemas.microsoft.com/office/drawing/2014/main" val="1977300002"/>
                        </a:ext>
                      </a:extLst>
                    </a:gridCol>
                    <a:gridCol w="749475">
                      <a:extLst>
                        <a:ext uri="{9D8B030D-6E8A-4147-A177-3AD203B41FA5}">
                          <a16:colId xmlns:a16="http://schemas.microsoft.com/office/drawing/2014/main" val="3385798072"/>
                        </a:ext>
                      </a:extLst>
                    </a:gridCol>
                  </a:tblGrid>
                  <a:tr h="205740"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" sz="9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67663536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Concentración de </a:t>
                          </a:r>
                          <a:r>
                            <a:rPr lang="es-ES" sz="900" dirty="0" err="1"/>
                            <a:t>glucogenasa</a:t>
                          </a:r>
                          <a:r>
                            <a:rPr lang="es-ES" sz="900" dirty="0"/>
                            <a:t>(xi) (</a:t>
                          </a:r>
                          <a:r>
                            <a:rPr lang="es-ES" sz="900" dirty="0" err="1"/>
                            <a:t>milimoles</a:t>
                          </a:r>
                          <a:r>
                            <a:rPr lang="es-ES" sz="900" dirty="0"/>
                            <a:t>/litro)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1,25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2,1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3,05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7,1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156780587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Velocidad de reacción(</a:t>
                          </a:r>
                          <a:r>
                            <a:rPr lang="es-ES" sz="900" dirty="0" err="1"/>
                            <a:t>micromol</a:t>
                          </a:r>
                          <a:r>
                            <a:rPr lang="es-ES" sz="900" dirty="0"/>
                            <a:t>/minuto)   (</a:t>
                          </a:r>
                          <a:r>
                            <a:rPr lang="es-ES" sz="900" dirty="0" err="1"/>
                            <a:t>yi</a:t>
                          </a:r>
                          <a:r>
                            <a:rPr lang="es-ES" sz="900" dirty="0"/>
                            <a:t>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60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131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98677867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89" t="-482500" r="-275486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0,04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0,25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1,5625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4,41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9,3025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15,565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790029"/>
                      </a:ext>
                    </a:extLst>
                  </a:tr>
                  <a:tr h="213233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89" t="-665714" r="-275486" b="-1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100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1.225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3.600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5.313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161841509"/>
                      </a:ext>
                    </a:extLst>
                  </a:tr>
                  <a:tr h="205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 err="1"/>
                            <a:t>xi.yi</a:t>
                          </a:r>
                          <a:endParaRPr lang="es-ES" sz="9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1,6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900" dirty="0"/>
                            <a:t>2</a:t>
                          </a:r>
                          <a:r>
                            <a:rPr lang="es-ES" sz="900" dirty="0"/>
                            <a:t>2,5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73,5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dirty="0"/>
                            <a:t>183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900" b="1" dirty="0"/>
                            <a:t>285,6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922099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B032403A-3FCE-4AC5-BBDC-11C7BF2ED564}"/>
              </a:ext>
            </a:extLst>
          </p:cNvPr>
          <p:cNvSpPr txBox="1"/>
          <p:nvPr/>
        </p:nvSpPr>
        <p:spPr>
          <a:xfrm>
            <a:off x="1256554" y="1196400"/>
            <a:ext cx="38268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s-ES" sz="1350" b="1" dirty="0"/>
              <a:t>Problema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927A38B7-E9B8-46D5-987D-DC6C039BA763}"/>
                  </a:ext>
                </a:extLst>
              </p:cNvPr>
              <p:cNvSpPr/>
              <p:nvPr/>
            </p:nvSpPr>
            <p:spPr>
              <a:xfrm>
                <a:off x="1256554" y="3581357"/>
                <a:ext cx="7129163" cy="1194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105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ES" sz="105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ES" sz="1050" dirty="0"/>
                  <a:t>= 7,1/5 = 1</a:t>
                </a:r>
                <a14:m>
                  <m:oMath xmlns:m="http://schemas.openxmlformats.org/officeDocument/2006/math">
                    <m:r>
                      <a:rPr lang="es-MX" sz="1050" b="0" i="0" dirty="0" smtClean="0">
                        <a:latin typeface="Cambria Math" panose="02040503050406030204" pitchFamily="18" charset="0"/>
                      </a:rPr>
                      <m:t>,42 </m:t>
                    </m:r>
                    <m:r>
                      <m:rPr>
                        <m:sty m:val="p"/>
                      </m:rPr>
                      <a:rPr lang="es-MX" sz="1050" b="0" i="0" dirty="0" smtClean="0">
                        <a:latin typeface="Cambria Math" panose="02040503050406030204" pitchFamily="18" charset="0"/>
                      </a:rPr>
                      <m:t>milimoles</m:t>
                    </m:r>
                    <m:r>
                      <a:rPr lang="es-MX" sz="1050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s-MX" sz="1050" b="0" i="0" dirty="0" smtClean="0">
                        <a:latin typeface="Cambria Math" panose="02040503050406030204" pitchFamily="18" charset="0"/>
                      </a:rPr>
                      <m:t>litro</m:t>
                    </m:r>
                    <m:sSubSup>
                      <m:sSubSupPr>
                        <m:ctrlPr>
                          <a:rPr lang="es-ES" sz="105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MX" sz="1050" i="1" dirty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ES" sz="105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s-ES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s-ES" sz="105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ES" sz="105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050" dirty="0"/>
                  <a:t>= 15,565/5-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05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1050" b="0" i="1" dirty="0" smtClean="0">
                            <a:latin typeface="Cambria Math" panose="02040503050406030204" pitchFamily="18" charset="0"/>
                          </a:rPr>
                          <m:t>1,42</m:t>
                        </m:r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050" dirty="0"/>
                  <a:t>=1</a:t>
                </a:r>
                <a14:m>
                  <m:oMath xmlns:m="http://schemas.openxmlformats.org/officeDocument/2006/math">
                    <m:r>
                      <a:rPr lang="es-MX" sz="10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</m:t>
                    </m:r>
                    <m:r>
                      <a:rPr lang="es-E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ES" sz="105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s-ES" sz="1050" dirty="0"/>
                  <a:t>=1,047</a:t>
                </a:r>
              </a:p>
              <a:p>
                <a:endParaRPr lang="es-ES" sz="105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s-ES" sz="105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ES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ES" sz="1050" dirty="0"/>
                  <a:t>= 131/5 = 26,2 </a:t>
                </a:r>
                <a:r>
                  <a:rPr lang="es-ES" sz="1050" dirty="0" err="1"/>
                  <a:t>micromoles</a:t>
                </a:r>
                <a:r>
                  <a:rPr lang="es-ES" sz="1050" dirty="0"/>
                  <a:t>/minuto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105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ES" sz="105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s-ES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s-ES" sz="105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ES" sz="105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050" dirty="0"/>
                  <a:t>= 5.313/5-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05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1050" b="0" i="1" dirty="0" smtClean="0">
                            <a:latin typeface="Cambria Math" panose="02040503050406030204" pitchFamily="18" charset="0"/>
                          </a:rPr>
                          <m:t>26,2</m:t>
                        </m:r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050" dirty="0"/>
                  <a:t>=3</a:t>
                </a:r>
                <a14:m>
                  <m:oMath xmlns:m="http://schemas.openxmlformats.org/officeDocument/2006/math">
                    <m:r>
                      <a:rPr lang="es-MX" sz="10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76,16</m:t>
                    </m:r>
                    <m:r>
                      <a:rPr lang="es-E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s-E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ES" sz="1050" dirty="0"/>
                  <a:t>=19,395</a:t>
                </a:r>
              </a:p>
              <a:p>
                <a:endParaRPr lang="es-ES" sz="105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105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05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s-ES" sz="105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s-ES" sz="105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s-ES" sz="10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ES" sz="10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ES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05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ES" sz="105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ES" sz="1050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s-ES" sz="10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0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ES" sz="1050" dirty="0"/>
                  <a:t>= 285,6/5- </a:t>
                </a:r>
                <a14:m>
                  <m:oMath xmlns:m="http://schemas.openxmlformats.org/officeDocument/2006/math">
                    <m:r>
                      <a:rPr lang="es-ES" sz="105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1050" b="0" i="1" dirty="0" smtClean="0">
                        <a:latin typeface="Cambria Math" panose="02040503050406030204" pitchFamily="18" charset="0"/>
                      </a:rPr>
                      <m:t>1,42</m:t>
                    </m:r>
                    <m:r>
                      <a:rPr lang="es-ES" sz="105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1050" b="0" i="1" dirty="0" smtClean="0">
                        <a:latin typeface="Cambria Math" panose="02040503050406030204" pitchFamily="18" charset="0"/>
                      </a:rPr>
                      <m:t>26,2)</m:t>
                    </m:r>
                  </m:oMath>
                </a14:m>
                <a:r>
                  <a:rPr lang="es-ES" sz="1050" dirty="0"/>
                  <a:t>= 19,916</a:t>
                </a:r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927A38B7-E9B8-46D5-987D-DC6C039BA7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554" y="3581357"/>
                <a:ext cx="7129163" cy="1194301"/>
              </a:xfrm>
              <a:prstGeom prst="rect">
                <a:avLst/>
              </a:prstGeom>
              <a:blipFill>
                <a:blip r:embed="rId5"/>
                <a:stretch>
                  <a:fillRect t="-11224" b="-918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7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49DB79-22A1-4A84-A267-2739B30AB7C8}"/>
              </a:ext>
            </a:extLst>
          </p:cNvPr>
          <p:cNvSpPr txBox="1"/>
          <p:nvPr/>
        </p:nvSpPr>
        <p:spPr>
          <a:xfrm>
            <a:off x="1228725" y="1142497"/>
            <a:ext cx="7729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s-ES" sz="1200" dirty="0"/>
              <a:t>Para saber si realmente existe una relación lineal entre las variables calculamos el valor de 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200" dirty="0"/>
              <a:t>Esto da respuesta también el apartado d) del problema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E7A79740-B7F6-4D68-BEAE-FE253421ED53}"/>
                  </a:ext>
                </a:extLst>
              </p:cNvPr>
              <p:cNvSpPr/>
              <p:nvPr/>
            </p:nvSpPr>
            <p:spPr>
              <a:xfrm>
                <a:off x="1627801" y="1691793"/>
                <a:ext cx="2159887" cy="441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1400" dirty="0">
                    <a:solidFill>
                      <a:schemeClr val="accent5">
                        <a:lumMod val="50000"/>
                      </a:schemeClr>
                    </a:solidFill>
                  </a:rPr>
                  <a:t>r=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40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1400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400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400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sz="140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4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4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s-ES" sz="1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s-ES" sz="14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4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4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s-ES" sz="1400" dirty="0">
                    <a:solidFill>
                      <a:schemeClr val="accent5">
                        <a:lumMod val="50000"/>
                      </a:schemeClr>
                    </a:solidFill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400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19,916</m:t>
                        </m:r>
                      </m:num>
                      <m:den>
                        <m:r>
                          <a:rPr lang="es-MX" sz="1400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1,047</m:t>
                        </m:r>
                        <m:r>
                          <a:rPr lang="es-ES" sz="1400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1400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19,405</m:t>
                        </m:r>
                      </m:den>
                    </m:f>
                  </m:oMath>
                </a14:m>
                <a:r>
                  <a:rPr lang="es-ES" sz="1400" dirty="0">
                    <a:solidFill>
                      <a:schemeClr val="accent5">
                        <a:lumMod val="50000"/>
                      </a:schemeClr>
                    </a:solidFill>
                  </a:rPr>
                  <a:t> =0,98</a:t>
                </a:r>
                <a:endParaRPr lang="es-ES" sz="12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E7A79740-B7F6-4D68-BEAE-FE253421E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01" y="1691793"/>
                <a:ext cx="2159887" cy="441916"/>
              </a:xfrm>
              <a:prstGeom prst="rect">
                <a:avLst/>
              </a:prstGeom>
              <a:blipFill>
                <a:blip r:embed="rId3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CE6033-D825-4D4E-B1DC-761CDF10E815}"/>
                  </a:ext>
                </a:extLst>
              </p:cNvPr>
              <p:cNvSpPr txBox="1"/>
              <p:nvPr/>
            </p:nvSpPr>
            <p:spPr>
              <a:xfrm>
                <a:off x="4271963" y="1748943"/>
                <a:ext cx="4686300" cy="1223412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s-ES" sz="1050" dirty="0">
                    <a:solidFill>
                      <a:schemeClr val="accent5">
                        <a:lumMod val="50000"/>
                      </a:schemeClr>
                    </a:solidFill>
                  </a:rPr>
                  <a:t>Interdependencia fuerte y directa: la velocidad de reacción aumenta </a:t>
                </a:r>
                <a:r>
                  <a:rPr lang="es-ES" sz="1050" b="1" dirty="0">
                    <a:solidFill>
                      <a:schemeClr val="accent5">
                        <a:lumMod val="50000"/>
                      </a:schemeClr>
                    </a:solidFill>
                  </a:rPr>
                  <a:t>linealmente</a:t>
                </a:r>
                <a:r>
                  <a:rPr lang="es-ES" sz="1050" dirty="0">
                    <a:solidFill>
                      <a:schemeClr val="accent5">
                        <a:lumMod val="50000"/>
                      </a:schemeClr>
                    </a:solidFill>
                  </a:rPr>
                  <a:t> a medida que aumenta la concentración de </a:t>
                </a:r>
                <a:r>
                  <a:rPr lang="es-ES" sz="1050" dirty="0" err="1">
                    <a:solidFill>
                      <a:schemeClr val="accent5">
                        <a:lumMod val="50000"/>
                      </a:schemeClr>
                    </a:solidFill>
                  </a:rPr>
                  <a:t>glucogenasa</a:t>
                </a:r>
                <a:endParaRPr lang="es-ES" sz="105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s-ES" sz="1050" dirty="0">
                    <a:solidFill>
                      <a:schemeClr val="accent5">
                        <a:lumMod val="50000"/>
                      </a:schemeClr>
                    </a:solidFill>
                  </a:rPr>
                  <a:t>Los valores observados están muy próximos a los valores teóricos y la recta de regresión pasará muy cerca de la nube de puntos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s-ES" sz="1050" dirty="0">
                    <a:solidFill>
                      <a:schemeClr val="accent5">
                        <a:lumMod val="50000"/>
                      </a:schemeClr>
                    </a:solidFill>
                  </a:rPr>
                  <a:t>El ajuste es muy bueno y las predicciones serán muy fiables. La fiabilidad será de hecho del 96,08%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05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ES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050" dirty="0">
                    <a:solidFill>
                      <a:schemeClr val="accent5">
                        <a:lumMod val="50000"/>
                      </a:schemeClr>
                    </a:solidFill>
                  </a:rPr>
                  <a:t>)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s-ES" sz="1050" dirty="0">
                    <a:solidFill>
                      <a:schemeClr val="accent5">
                        <a:lumMod val="50000"/>
                      </a:schemeClr>
                    </a:solidFill>
                  </a:rPr>
                  <a:t>Las dos rectas de regresión forman un ángulo muy próximo a 0º.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7CE6033-D825-4D4E-B1DC-761CDF10E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963" y="1748943"/>
                <a:ext cx="4686300" cy="1223412"/>
              </a:xfrm>
              <a:prstGeom prst="rect">
                <a:avLst/>
              </a:prstGeom>
              <a:blipFill>
                <a:blip r:embed="rId4"/>
                <a:stretch>
                  <a:fillRect b="-1478"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0A25FBC8-167D-423E-A84D-15A7EAF80257}"/>
              </a:ext>
            </a:extLst>
          </p:cNvPr>
          <p:cNvSpPr/>
          <p:nvPr/>
        </p:nvSpPr>
        <p:spPr>
          <a:xfrm rot="1920782">
            <a:off x="3346537" y="2193132"/>
            <a:ext cx="892969" cy="37861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84C563-3679-4823-877F-D15E2DBE87C9}"/>
              </a:ext>
            </a:extLst>
          </p:cNvPr>
          <p:cNvSpPr txBox="1"/>
          <p:nvPr/>
        </p:nvSpPr>
        <p:spPr>
          <a:xfrm>
            <a:off x="1228725" y="3220182"/>
            <a:ext cx="7729538" cy="478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lphaLcParenR"/>
            </a:pPr>
            <a:r>
              <a:rPr lang="es-ES" sz="1200" dirty="0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modelo de ajuste que permite predecir la cantidad de </a:t>
            </a:r>
            <a:r>
              <a:rPr lang="es-ES" sz="1200" dirty="0" err="1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glucogenasa</a:t>
            </a:r>
            <a:r>
              <a:rPr lang="es-ES" sz="1200" dirty="0">
                <a:solidFill>
                  <a:schemeClr val="tx2">
                    <a:lumMod val="50000"/>
                  </a:schemeClr>
                </a:solidFill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(X) a partir de la velocidad de reacción (Y) es la recta de regresión de X sobre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2240F25F-F913-49FA-88C4-51EA3F3D0BAE}"/>
                  </a:ext>
                </a:extLst>
              </p:cNvPr>
              <p:cNvSpPr/>
              <p:nvPr/>
            </p:nvSpPr>
            <p:spPr>
              <a:xfrm>
                <a:off x="1392545" y="3724005"/>
                <a:ext cx="7565718" cy="1677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s-ES" sz="1400" dirty="0">
                    <a:solidFill>
                      <a:schemeClr val="tx2">
                        <a:lumMod val="50000"/>
                      </a:schemeClr>
                    </a:solidFill>
                  </a:rPr>
                  <a:t>Utilizaremos la recta de regresión de x sobre y (queremos predecir el valor de x)</a:t>
                </a:r>
              </a:p>
              <a:p>
                <a:r>
                  <a:rPr lang="es-ES" sz="1400" dirty="0">
                    <a:solidFill>
                      <a:schemeClr val="tx2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     x</a:t>
                </a:r>
                <a:r>
                  <a:rPr lang="es-ES" sz="1400" dirty="0">
                    <a:solidFill>
                      <a:schemeClr val="tx2">
                        <a:lumMod val="50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s-ES" sz="1400" dirty="0">
                    <a:solidFill>
                      <a:schemeClr val="tx2">
                        <a:lumMod val="50000"/>
                      </a:schemeClr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ES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s-ES" sz="14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ES" sz="140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400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s-ES" sz="1400" dirty="0">
                    <a:solidFill>
                      <a:schemeClr val="tx2">
                        <a:lumMod val="50000"/>
                      </a:schemeClr>
                    </a:solidFill>
                  </a:rPr>
                  <a:t>             </a:t>
                </a:r>
                <a:r>
                  <a:rPr lang="es-ES" sz="1400" dirty="0"/>
                  <a:t>x-</a:t>
                </a:r>
                <a14:m>
                  <m:oMath xmlns:m="http://schemas.openxmlformats.org/officeDocument/2006/math">
                    <m:r>
                      <a:rPr lang="es-MX" sz="1400" b="0" i="1" smtClean="0">
                        <a:latin typeface="Cambria Math" panose="02040503050406030204" pitchFamily="18" charset="0"/>
                      </a:rPr>
                      <m:t>1,42</m:t>
                    </m:r>
                  </m:oMath>
                </a14:m>
                <a:r>
                  <a:rPr lang="es-ES" sz="1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400" b="0" i="1" dirty="0" smtClean="0">
                            <a:latin typeface="Cambria Math" panose="02040503050406030204" pitchFamily="18" charset="0"/>
                          </a:rPr>
                          <m:t>19,916</m:t>
                        </m:r>
                      </m:num>
                      <m:den>
                        <m:r>
                          <a:rPr lang="es-MX" sz="1400" b="0" i="1" dirty="0" smtClean="0">
                            <a:latin typeface="Cambria Math" panose="02040503050406030204" pitchFamily="18" charset="0"/>
                          </a:rPr>
                          <m:t>376,56</m:t>
                        </m:r>
                      </m:den>
                    </m:f>
                  </m:oMath>
                </a14:m>
                <a:r>
                  <a:rPr lang="es-E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−26,2</m:t>
                        </m:r>
                      </m:e>
                    </m:d>
                  </m:oMath>
                </a14:m>
                <a:r>
                  <a:rPr lang="es-ES" sz="1400" dirty="0"/>
                  <a:t>              x-</a:t>
                </a:r>
                <a14:m>
                  <m:oMath xmlns:m="http://schemas.openxmlformats.org/officeDocument/2006/math">
                    <m:r>
                      <a:rPr lang="es-MX" sz="1400" i="1">
                        <a:latin typeface="Cambria Math" panose="02040503050406030204" pitchFamily="18" charset="0"/>
                      </a:rPr>
                      <m:t>1,42</m:t>
                    </m:r>
                  </m:oMath>
                </a14:m>
                <a:r>
                  <a:rPr lang="es-ES" sz="1400" dirty="0"/>
                  <a:t>=</a:t>
                </a:r>
                <a14:m>
                  <m:oMath xmlns:m="http://schemas.openxmlformats.org/officeDocument/2006/math">
                    <m:r>
                      <a:rPr lang="es-MX" sz="1400" b="0" i="1" dirty="0" smtClean="0">
                        <a:latin typeface="Cambria Math" panose="02040503050406030204" pitchFamily="18" charset="0"/>
                      </a:rPr>
                      <m:t>0,053</m:t>
                    </m:r>
                  </m:oMath>
                </a14:m>
                <a:r>
                  <a:rPr lang="es-E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sz="1400" i="1" dirty="0">
                            <a:latin typeface="Cambria Math" panose="02040503050406030204" pitchFamily="18" charset="0"/>
                          </a:rPr>
                          <m:t>−26,2</m:t>
                        </m:r>
                      </m:e>
                    </m:d>
                  </m:oMath>
                </a14:m>
                <a:endParaRPr lang="es-ES" sz="1400" dirty="0"/>
              </a:p>
              <a:p>
                <a:r>
                  <a:rPr lang="es-ES" sz="1400" dirty="0"/>
                  <a:t>        y la predicción es x(y=45)  </a:t>
                </a:r>
                <a:r>
                  <a:rPr lang="es-ES" sz="1200" dirty="0"/>
                  <a:t>x=1</a:t>
                </a:r>
                <a14:m>
                  <m:oMath xmlns:m="http://schemas.openxmlformats.org/officeDocument/2006/math">
                    <m:r>
                      <a:rPr lang="es-MX" sz="1200" b="0" i="0" dirty="0" smtClean="0">
                        <a:latin typeface="Cambria Math" panose="02040503050406030204" pitchFamily="18" charset="0"/>
                      </a:rPr>
                      <m:t>,42</m:t>
                    </m:r>
                    <m:r>
                      <a:rPr lang="es-ES" sz="12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</a:rPr>
                      <m:t>0,053</m:t>
                    </m:r>
                    <m:d>
                      <m:dPr>
                        <m:ctrlPr>
                          <a:rPr lang="es-E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200" b="0" i="1" dirty="0" smtClean="0">
                            <a:latin typeface="Cambria Math" panose="02040503050406030204" pitchFamily="18" charset="0"/>
                          </a:rPr>
                          <m:t>45−26,2</m:t>
                        </m:r>
                      </m:e>
                    </m:d>
                  </m:oMath>
                </a14:m>
                <a:r>
                  <a:rPr lang="es-ES" sz="1200" dirty="0"/>
                  <a:t>=2,416 </a:t>
                </a:r>
                <a:r>
                  <a:rPr lang="es-ES" sz="1200" dirty="0" err="1"/>
                  <a:t>milimoles</a:t>
                </a:r>
                <a:r>
                  <a:rPr lang="es-ES" sz="1200" dirty="0"/>
                  <a:t>/litro</a:t>
                </a:r>
              </a:p>
              <a:p>
                <a:endParaRPr lang="es-ES" sz="1200" dirty="0"/>
              </a:p>
              <a:p>
                <a:r>
                  <a:rPr lang="es-ES" sz="1200" dirty="0"/>
                  <a:t>       </a:t>
                </a:r>
              </a:p>
              <a:p>
                <a:endParaRPr lang="es-ES" sz="1400" dirty="0"/>
              </a:p>
              <a:p>
                <a:endParaRPr lang="es-ES" sz="14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2240F25F-F913-49FA-88C4-51EA3F3D0B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545" y="3724005"/>
                <a:ext cx="7565718" cy="1677319"/>
              </a:xfrm>
              <a:prstGeom prst="rect">
                <a:avLst/>
              </a:prstGeom>
              <a:blipFill>
                <a:blip r:embed="rId5"/>
                <a:stretch>
                  <a:fillRect l="-81" t="-72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DAA00190-8003-4E54-B26D-5E847B338D14}"/>
              </a:ext>
            </a:extLst>
          </p:cNvPr>
          <p:cNvSpPr/>
          <p:nvPr/>
        </p:nvSpPr>
        <p:spPr>
          <a:xfrm>
            <a:off x="3314079" y="4135525"/>
            <a:ext cx="391339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9692A422-7A6E-4445-9F6F-D2B000AB5830}"/>
              </a:ext>
            </a:extLst>
          </p:cNvPr>
          <p:cNvSpPr/>
          <p:nvPr/>
        </p:nvSpPr>
        <p:spPr>
          <a:xfrm>
            <a:off x="5754125" y="4112665"/>
            <a:ext cx="47148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616532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B460A5-882D-465F-8ABE-F44B536FBBEF}"/>
              </a:ext>
            </a:extLst>
          </p:cNvPr>
          <p:cNvSpPr txBox="1"/>
          <p:nvPr/>
        </p:nvSpPr>
        <p:spPr>
          <a:xfrm>
            <a:off x="1250157" y="1102532"/>
            <a:ext cx="7729538" cy="478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 </a:t>
            </a:r>
            <a:r>
              <a:rPr lang="es-ES" sz="12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¿Cuánta variabilidad en la velocidad de reacción no queda explicada por la concentración de </a:t>
            </a:r>
            <a:r>
              <a:rPr lang="es-ES" sz="1200" dirty="0" err="1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glucogenasa</a:t>
            </a:r>
            <a:r>
              <a:rPr lang="es-ES" sz="12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Indicar también qué % representa ese valor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32AAD05-012F-4947-ABCE-673944A3BE10}"/>
                  </a:ext>
                </a:extLst>
              </p:cNvPr>
              <p:cNvSpPr txBox="1"/>
              <p:nvPr/>
            </p:nvSpPr>
            <p:spPr>
              <a:xfrm>
                <a:off x="1485901" y="3401731"/>
                <a:ext cx="7493794" cy="109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E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8	10	18	35	60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s-E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1	1	1	1	1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Obtenemos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1200" dirty="0"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=10  </a:t>
                </a:r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Me=18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200" dirty="0"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=35   Entonces RI=35-10=25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𝑖𝑛𝑓</m:t>
                        </m:r>
                      </m:sub>
                    </m:sSub>
                    <m:r>
                      <a:rPr lang="es-MX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=10−1,5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25&lt;0</m:t>
                    </m:r>
                    <m:sSub>
                      <m:sSubPr>
                        <m:ctrlPr>
                          <a:rPr lang="es-ES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s-MX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s-MX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í</m:t>
                        </m:r>
                        <m:r>
                          <a:rPr lang="es-MX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s-MX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𝑠𝑢𝑝</m:t>
                        </m:r>
                      </m:sub>
                    </m:sSub>
                    <m:r>
                      <a:rPr lang="es-MX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35+1,5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MX" sz="1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=72,5</m:t>
                    </m:r>
                  </m:oMath>
                </a14:m>
                <a:endParaRPr lang="es-ES" sz="1200" dirty="0">
                  <a:effectLst/>
                  <a:latin typeface="Abadi" panose="020B0604020104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32AAD05-012F-4947-ABCE-673944A3B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1" y="3401731"/>
                <a:ext cx="7493794" cy="1094210"/>
              </a:xfrm>
              <a:prstGeom prst="rect">
                <a:avLst/>
              </a:prstGeom>
              <a:blipFill>
                <a:blip r:embed="rId3"/>
                <a:stretch>
                  <a:fillRect l="-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37F22F9C-09B5-41B0-A128-3F6D22104571}"/>
                  </a:ext>
                </a:extLst>
              </p:cNvPr>
              <p:cNvSpPr/>
              <p:nvPr/>
            </p:nvSpPr>
            <p:spPr>
              <a:xfrm>
                <a:off x="796796" y="1723166"/>
                <a:ext cx="8347204" cy="8493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rgbClr val="002060"/>
                    </a:solidFill>
                  </a:rPr>
                  <a:t>La variabilidad en  la velocidad de reacción (y) que NO queda explicada por la concentración de </a:t>
                </a:r>
                <a:r>
                  <a:rPr lang="es-ES" sz="1200" dirty="0" err="1">
                    <a:solidFill>
                      <a:srgbClr val="002060"/>
                    </a:solidFill>
                  </a:rPr>
                  <a:t>glucogenasa</a:t>
                </a:r>
                <a:r>
                  <a:rPr lang="es-ES" sz="1200" dirty="0">
                    <a:solidFill>
                      <a:srgbClr val="002060"/>
                    </a:solidFill>
                  </a:rPr>
                  <a:t> (x) es la varianza residual o varianza no explicada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1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1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1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s-ES" sz="1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" sz="1200" dirty="0">
                    <a:solidFill>
                      <a:srgbClr val="002060"/>
                    </a:solidFill>
                  </a:rPr>
                  <a:t>.(1-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s-ES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200" dirty="0">
                    <a:solidFill>
                      <a:srgbClr val="002060"/>
                    </a:solidFill>
                  </a:rPr>
                  <a:t>) = </a:t>
                </a:r>
                <a:r>
                  <a:rPr lang="es-ES" sz="120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376,16x(1-0,9604)=14,896 unidades de varianza</a:t>
                </a:r>
              </a:p>
              <a:p>
                <a:pPr lvl="1"/>
                <a:r>
                  <a:rPr lang="es-ES" sz="120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      que representan el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s-ES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3,96</m:t>
                    </m:r>
                    <m:r>
                      <a:rPr lang="es-ES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sz="120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de la variabilidad total del % en la velocidad de reacción.</a:t>
                </a:r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37F22F9C-09B5-41B0-A128-3F6D221045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96" y="1723166"/>
                <a:ext cx="8347204" cy="849335"/>
              </a:xfrm>
              <a:prstGeom prst="rect">
                <a:avLst/>
              </a:prstGeom>
              <a:blipFill>
                <a:blip r:embed="rId4"/>
                <a:stretch>
                  <a:fillRect t="-1439" b="-50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C3C96105-A433-431C-A7C7-C49FB4AB6B69}"/>
              </a:ext>
            </a:extLst>
          </p:cNvPr>
          <p:cNvSpPr txBox="1"/>
          <p:nvPr/>
        </p:nvSpPr>
        <p:spPr>
          <a:xfrm>
            <a:off x="1175815" y="4366764"/>
            <a:ext cx="7729538" cy="478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e) Representar en un </a:t>
            </a:r>
            <a:r>
              <a:rPr lang="es-ES" sz="1200" dirty="0" err="1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boxplot</a:t>
            </a:r>
            <a:r>
              <a:rPr lang="es-ES" sz="12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los datos correspondientes a la velocidad de reacción. ¿Qué conclusiones puedes extraer de la gráfica?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116843-9436-4F1E-9F09-9ED4CA9FE4FB}"/>
              </a:ext>
            </a:extLst>
          </p:cNvPr>
          <p:cNvSpPr/>
          <p:nvPr/>
        </p:nvSpPr>
        <p:spPr>
          <a:xfrm>
            <a:off x="1430860" y="2571750"/>
            <a:ext cx="73681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ES" sz="1200" dirty="0"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Coeficiente de regresión de Y sobre X es la pendiente de la recta de regresión de Y sobre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5452DE9-A9C4-4053-BC18-6C2C08C4883A}"/>
                  </a:ext>
                </a:extLst>
              </p:cNvPr>
              <p:cNvSpPr txBox="1"/>
              <p:nvPr/>
            </p:nvSpPr>
            <p:spPr>
              <a:xfrm>
                <a:off x="1250157" y="2842344"/>
                <a:ext cx="7729538" cy="543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1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s-MX" sz="11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𝑦𝑥</m:t>
                        </m:r>
                      </m:sub>
                    </m:sSub>
                    <m:r>
                      <a:rPr lang="es-MX" sz="11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1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s-ES" sz="11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s-MX" sz="11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1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100" i="1" dirty="0">
                            <a:latin typeface="Cambria Math" panose="02040503050406030204" pitchFamily="18" charset="0"/>
                          </a:rPr>
                          <m:t>19,916</m:t>
                        </m:r>
                      </m:num>
                      <m:den>
                        <m:r>
                          <a:rPr lang="es-MX" sz="1100" b="0" i="1" dirty="0" smtClean="0">
                            <a:latin typeface="Cambria Math" panose="02040503050406030204" pitchFamily="18" charset="0"/>
                          </a:rPr>
                          <m:t>1,1</m:t>
                        </m:r>
                      </m:den>
                    </m:f>
                    <m:r>
                      <a:rPr lang="es-MX" sz="1100" b="0" i="1" dirty="0" smtClean="0">
                        <a:latin typeface="Cambria Math" panose="02040503050406030204" pitchFamily="18" charset="0"/>
                      </a:rPr>
                      <m:t>=18,105 </m:t>
                    </m:r>
                    <m:r>
                      <a:rPr lang="es-MX" sz="1100" b="0" i="1" dirty="0" smtClean="0">
                        <a:latin typeface="Cambria Math" panose="02040503050406030204" pitchFamily="18" charset="0"/>
                      </a:rPr>
                      <m:t>𝑚𝑖𝑐𝑟𝑜𝑚𝑜𝑙𝑒𝑠</m:t>
                    </m:r>
                    <m:r>
                      <a:rPr lang="es-MX" sz="1100" b="0" i="1" dirty="0" smtClean="0">
                        <a:latin typeface="Cambria Math" panose="02040503050406030204" pitchFamily="18" charset="0"/>
                      </a:rPr>
                      <m:t> /</m:t>
                    </m:r>
                    <m:r>
                      <a:rPr lang="es-MX" sz="1100" b="0" i="1" dirty="0" smtClean="0">
                        <a:latin typeface="Cambria Math" panose="02040503050406030204" pitchFamily="18" charset="0"/>
                      </a:rPr>
                      <m:t>𝑚𝑖𝑛𝑢𝑡𝑜</m:t>
                    </m:r>
                  </m:oMath>
                </a14:m>
                <a:endParaRPr lang="es-ES" sz="1100" dirty="0">
                  <a:solidFill>
                    <a:srgbClr val="002060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s-ES" sz="1100" dirty="0">
                    <a:solidFill>
                      <a:srgbClr val="002060"/>
                    </a:solidFill>
                  </a:rPr>
                  <a:t>Por cada </a:t>
                </a:r>
                <a:r>
                  <a:rPr lang="es-ES" sz="1100" dirty="0" err="1">
                    <a:solidFill>
                      <a:srgbClr val="002060"/>
                    </a:solidFill>
                  </a:rPr>
                  <a:t>milimol</a:t>
                </a:r>
                <a:r>
                  <a:rPr lang="es-ES" sz="1100" dirty="0">
                    <a:solidFill>
                      <a:srgbClr val="002060"/>
                    </a:solidFill>
                  </a:rPr>
                  <a:t>/l más de </a:t>
                </a:r>
                <a:r>
                  <a:rPr lang="es-ES" sz="1100" dirty="0" err="1">
                    <a:solidFill>
                      <a:srgbClr val="002060"/>
                    </a:solidFill>
                  </a:rPr>
                  <a:t>glucogenasa</a:t>
                </a:r>
                <a:r>
                  <a:rPr lang="es-ES" sz="1100" dirty="0">
                    <a:solidFill>
                      <a:srgbClr val="002060"/>
                    </a:solidFill>
                  </a:rPr>
                  <a:t>, la velocidad de reacción aumenta en 18,105 </a:t>
                </a:r>
                <a:r>
                  <a:rPr lang="es-ES" sz="1100" dirty="0" err="1">
                    <a:solidFill>
                      <a:srgbClr val="002060"/>
                    </a:solidFill>
                  </a:rPr>
                  <a:t>micromoles</a:t>
                </a:r>
                <a:r>
                  <a:rPr lang="es-ES" sz="1100" dirty="0">
                    <a:solidFill>
                      <a:srgbClr val="002060"/>
                    </a:solidFill>
                  </a:rPr>
                  <a:t> por minuto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5452DE9-A9C4-4053-BC18-6C2C08C48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157" y="2842344"/>
                <a:ext cx="7729538" cy="543226"/>
              </a:xfrm>
              <a:prstGeom prst="rect">
                <a:avLst/>
              </a:prstGeom>
              <a:blipFill>
                <a:blip r:embed="rId5"/>
                <a:stretch>
                  <a:fillRect b="-67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36B7B578-5680-C063-18D9-B6DFF814E706}"/>
              </a:ext>
            </a:extLst>
          </p:cNvPr>
          <p:cNvSpPr/>
          <p:nvPr/>
        </p:nvSpPr>
        <p:spPr>
          <a:xfrm>
            <a:off x="3204117" y="4756293"/>
            <a:ext cx="3412273" cy="200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CC9A5DB-CF96-2A69-CF57-783227E6DEA9}"/>
              </a:ext>
            </a:extLst>
          </p:cNvPr>
          <p:cNvSpPr txBox="1"/>
          <p:nvPr/>
        </p:nvSpPr>
        <p:spPr>
          <a:xfrm>
            <a:off x="1654912" y="4876612"/>
            <a:ext cx="76823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Abadi" panose="020B06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8         10                            18		      35                                                 60</a:t>
            </a:r>
            <a:endParaRPr lang="es-ES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FB28FC1-3168-6AE5-D37F-766D49FB54B8}"/>
              </a:ext>
            </a:extLst>
          </p:cNvPr>
          <p:cNvCxnSpPr/>
          <p:nvPr/>
        </p:nvCxnSpPr>
        <p:spPr>
          <a:xfrm>
            <a:off x="4497658" y="4756293"/>
            <a:ext cx="0" cy="2007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9384ECA-131D-E52B-8794-734380738036}"/>
              </a:ext>
            </a:extLst>
          </p:cNvPr>
          <p:cNvCxnSpPr>
            <a:cxnSpLocks/>
          </p:cNvCxnSpPr>
          <p:nvPr/>
        </p:nvCxnSpPr>
        <p:spPr>
          <a:xfrm>
            <a:off x="2653990" y="4835506"/>
            <a:ext cx="5501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7D718A1-82A4-180B-592A-61CB6AC6B6C6}"/>
              </a:ext>
            </a:extLst>
          </p:cNvPr>
          <p:cNvCxnSpPr>
            <a:cxnSpLocks/>
          </p:cNvCxnSpPr>
          <p:nvPr/>
        </p:nvCxnSpPr>
        <p:spPr>
          <a:xfrm>
            <a:off x="6616390" y="4856654"/>
            <a:ext cx="24591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32461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A424B38-7D9B-452E-AE2C-8BE1F039B6F0}"/>
                  </a:ext>
                </a:extLst>
              </p:cNvPr>
              <p:cNvSpPr txBox="1"/>
              <p:nvPr/>
            </p:nvSpPr>
            <p:spPr>
              <a:xfrm>
                <a:off x="1271587" y="1132431"/>
                <a:ext cx="7822985" cy="1666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lvl="0" indent="-228600" algn="just">
                  <a:lnSpc>
                    <a:spcPct val="107000"/>
                  </a:lnSpc>
                  <a:spcAft>
                    <a:spcPts val="800"/>
                  </a:spcAft>
                  <a:buAutoNum type="alphaLcParenR" startAt="5"/>
                </a:pPr>
                <a:r>
                  <a:rPr lang="es-ES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Conclusiones de la gráfica</a:t>
                </a:r>
              </a:p>
              <a:p>
                <a:pPr marL="228600" lvl="0" indent="-228600" algn="just">
                  <a:lnSpc>
                    <a:spcPct val="107000"/>
                  </a:lnSpc>
                  <a:spcAft>
                    <a:spcPts val="800"/>
                  </a:spcAft>
                  <a:buAutoNum type="alphaLcParenR" startAt="5"/>
                </a:pPr>
                <a:r>
                  <a:rPr lang="es-ES" sz="1200" dirty="0">
                    <a:solidFill>
                      <a:srgbClr val="00206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La distribución presenta asimetría hacia la derecha puesto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s-MX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1200" dirty="0">
                    <a:solidFill>
                      <a:srgbClr val="002060"/>
                    </a:solidFill>
                  </a:rPr>
                  <a:t>-Me&gt;Me-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s-MX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1200" dirty="0">
                    <a:solidFill>
                      <a:srgbClr val="002060"/>
                    </a:solidFill>
                  </a:rPr>
                  <a:t>; esto significa que valores pequeños de la distribución tienen frecuencias muy grandes y algunos valores grandes lo que lleva a incrementar la media. La media es mayor que </a:t>
                </a:r>
                <a:r>
                  <a:rPr lang="es-ES" sz="1200">
                    <a:solidFill>
                      <a:srgbClr val="002060"/>
                    </a:solidFill>
                  </a:rPr>
                  <a:t>la mediana.</a:t>
                </a:r>
                <a:endParaRPr lang="es-ES" sz="1200" dirty="0">
                  <a:solidFill>
                    <a:srgbClr val="002060"/>
                  </a:solidFill>
                </a:endParaRPr>
              </a:p>
              <a:p>
                <a:pPr lvl="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200" dirty="0">
                    <a:solidFill>
                      <a:srgbClr val="002060"/>
                    </a:solidFill>
                  </a:rPr>
                  <a:t>Además comprobamos que la mayor dispersión corresponde a un valor mayor de concentración (entre 35 y 60 </a:t>
                </a:r>
                <a:r>
                  <a:rPr lang="es-ES" sz="1200" dirty="0" err="1">
                    <a:solidFill>
                      <a:srgbClr val="002060"/>
                    </a:solidFill>
                  </a:rPr>
                  <a:t>micromoles</a:t>
                </a:r>
                <a:r>
                  <a:rPr lang="es-ES" sz="1200" dirty="0">
                    <a:solidFill>
                      <a:srgbClr val="002060"/>
                    </a:solidFill>
                  </a:rPr>
                  <a:t>/ minuto). En general, la dispersión mayor corresponde a los valores grandes de concentración. En los valores más pequeños encontramos muy poca dispersión.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A424B38-7D9B-452E-AE2C-8BE1F039B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7" y="1132431"/>
                <a:ext cx="7822985" cy="1666546"/>
              </a:xfrm>
              <a:prstGeom prst="rect">
                <a:avLst/>
              </a:prstGeom>
              <a:blipFill>
                <a:blip r:embed="rId3"/>
                <a:stretch>
                  <a:fillRect l="-78" t="-366" b="-18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46399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5EF2C23-04A9-45E4-8CE8-662CEF5786FB}"/>
              </a:ext>
            </a:extLst>
          </p:cNvPr>
          <p:cNvCxnSpPr>
            <a:cxnSpLocks/>
          </p:cNvCxnSpPr>
          <p:nvPr/>
        </p:nvCxnSpPr>
        <p:spPr>
          <a:xfrm>
            <a:off x="1278488" y="1469866"/>
            <a:ext cx="7542881" cy="502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000F3C1F-C5AD-4D68-9C32-16FE8943C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318" y="1902316"/>
            <a:ext cx="7081779" cy="2162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 agencia de viajes ofrece tres tipos de destinos: regional, nacional e internacional. En general, los porcentajes de ventas son el 30% de viajes regionales, el 50% de nacionales y el 20% de internacionales y las reclamaciones que recibe son del 1% en viajes regionales y nacionales y del 1,5% en viajes internacionales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lphaLcParenR"/>
            </a:pPr>
            <a:r>
              <a:rPr lang="es-ES" sz="12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un total de 10 clientes, calcular la probabilidad de que al menos dos de ellos contraten un destino internacional y no emitan ninguna reclamación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lphaLcParenR"/>
            </a:pPr>
            <a:r>
              <a:rPr lang="es-ES" sz="12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la probabilidad de que la quinta reclamación que recibe la agencia se produzca cuando alcanza los 40 contratos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s-ES" sz="12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¿Cuántos viajes contrata en media la agencia hasta que se produce la primera reclamación en un destino internacional?</a:t>
            </a:r>
            <a:endParaRPr lang="es-E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F7AFE0-AFDC-8C0B-5359-5DB0924D7FDB}"/>
              </a:ext>
            </a:extLst>
          </p:cNvPr>
          <p:cNvSpPr txBox="1"/>
          <p:nvPr/>
        </p:nvSpPr>
        <p:spPr>
          <a:xfrm>
            <a:off x="1256554" y="1196400"/>
            <a:ext cx="38268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s-ES" sz="1350" b="1" dirty="0"/>
              <a:t>Problema 2</a:t>
            </a:r>
          </a:p>
        </p:txBody>
      </p:sp>
    </p:spTree>
    <p:extLst>
      <p:ext uri="{BB962C8B-B14F-4D97-AF65-F5344CB8AC3E}">
        <p14:creationId xmlns:p14="http://schemas.microsoft.com/office/powerpoint/2010/main" val="2898040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5EF2C23-04A9-45E4-8CE8-662CEF5786FB}"/>
              </a:ext>
            </a:extLst>
          </p:cNvPr>
          <p:cNvCxnSpPr>
            <a:cxnSpLocks/>
          </p:cNvCxnSpPr>
          <p:nvPr/>
        </p:nvCxnSpPr>
        <p:spPr>
          <a:xfrm>
            <a:off x="1278488" y="1469866"/>
            <a:ext cx="7542881" cy="502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00F3C1F-C5AD-4D68-9C32-16FE8943C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1991" y="1520109"/>
                <a:ext cx="7542881" cy="14820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Datos del problema: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p(viaje regional)=p(R)=0,3     p(viaje nacional)=p(N)=0,5      p(viaje internacional)=p(I)=0,2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Definimos el suceso D</a:t>
                </a:r>
                <a14:m>
                  <m:oMath xmlns:m="http://schemas.openxmlformats.org/officeDocument/2006/math">
                    <m:r>
                      <a:rPr lang="es-ES" sz="12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𝑠𝑒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𝑟𝑒𝑐𝑖𝑏𝑒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𝑟𝑒𝑐𝑙𝑎𝑚𝑎𝑐𝑖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MX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Entonces   p(D/R)=0,01	p(D/N)=0,01       p(D/I)=0,015</a:t>
                </a:r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628650" lvl="1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00F3C1F-C5AD-4D68-9C32-16FE8943C9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1991" y="1520109"/>
                <a:ext cx="7542881" cy="1482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AA2E46B-7BAC-AF10-8EA8-A54244709DFC}"/>
                  </a:ext>
                </a:extLst>
              </p:cNvPr>
              <p:cNvSpPr txBox="1"/>
              <p:nvPr/>
            </p:nvSpPr>
            <p:spPr>
              <a:xfrm>
                <a:off x="1351991" y="2872767"/>
                <a:ext cx="7395871" cy="1607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200" b="1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 un total de 10 clientes, calcular la probabilidad de que al menos dos de ellos contraten un destino internacional y no emitan ninguna reclamación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es-ES" sz="1200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Vemos lo que ocurre para un contrato; 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es-ES" sz="1200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¿cuál es la probabilidad de que sea destino internacional y no haya reclamación?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es-ES" sz="1200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P(I</a:t>
                </a:r>
                <a14:m>
                  <m:oMath xmlns:m="http://schemas.openxmlformats.org/officeDocument/2006/math">
                    <m:r>
                      <a:rPr lang="es-E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s-E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acc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12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1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/I).p(I)=0,985*0,2=0,197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 un total de 10 clientes, el número de ellos que contratan destino internacional y no reclaman: X       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Bin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(10;0,017)</a:t>
                </a:r>
              </a:p>
              <a:p>
                <a:pPr lvl="0" algn="just">
                  <a:lnSpc>
                    <a:spcPct val="107000"/>
                  </a:lnSpc>
                </a:pP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P(X</a:t>
                </a:r>
                <a14:m>
                  <m:oMath xmlns:m="http://schemas.openxmlformats.org/officeDocument/2006/math">
                    <m:r>
                      <a:rPr lang="es-E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2)=1−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&lt;2)=1−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=0)−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s-MX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=1)=1−</m:t>
                    </m:r>
                    <m:d>
                      <m:dPr>
                        <m:ctrlP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s-MX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MX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es-E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197</m:t>
                        </m:r>
                      </m:e>
                      <m:sup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es-E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80</m:t>
                        </m:r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p>
                    </m:sSup>
                    <m:r>
                      <a:rPr lang="es-ES" sz="12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s-MX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s-MX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MX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s-MX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es-E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197</m:t>
                        </m:r>
                      </m:e>
                      <m:sup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s-MX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s-E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,803</m:t>
                        </m:r>
                      </m:e>
                      <m:sup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s-ES" sz="1200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=0,615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AA2E46B-7BAC-AF10-8EA8-A54244709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991" y="2872767"/>
                <a:ext cx="7395871" cy="1607556"/>
              </a:xfrm>
              <a:prstGeom prst="rect">
                <a:avLst/>
              </a:prstGeom>
              <a:blipFill>
                <a:blip r:embed="rId4"/>
                <a:stretch>
                  <a:fillRect l="-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F3659EB-1214-7DF5-7B3E-839899C702C8}"/>
                  </a:ext>
                </a:extLst>
              </p:cNvPr>
              <p:cNvSpPr txBox="1"/>
              <p:nvPr/>
            </p:nvSpPr>
            <p:spPr>
              <a:xfrm>
                <a:off x="7593398" y="3828615"/>
                <a:ext cx="2580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F3659EB-1214-7DF5-7B3E-839899C70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398" y="3828615"/>
                <a:ext cx="258084" cy="276999"/>
              </a:xfrm>
              <a:prstGeom prst="rect">
                <a:avLst/>
              </a:prstGeom>
              <a:blipFill>
                <a:blip r:embed="rId5"/>
                <a:stretch>
                  <a:fillRect l="-11905" r="-9524" b="-222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34755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8439E45-4C80-4C0B-A58E-BDFD4C04A192}"/>
                  </a:ext>
                </a:extLst>
              </p:cNvPr>
              <p:cNvSpPr txBox="1"/>
              <p:nvPr/>
            </p:nvSpPr>
            <p:spPr>
              <a:xfrm>
                <a:off x="1427205" y="1305881"/>
                <a:ext cx="7729538" cy="1997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s-ES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b) </a:t>
                </a:r>
                <a:r>
                  <a:rPr lang="es-ES" sz="1200" b="1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Calcular la probabilidad de que la quinta reclamación que recibe la agencia se produzca cuando alcanza los 40 contratos</a:t>
                </a: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Definimos Y</a:t>
                </a:r>
                <a14:m>
                  <m:oMath xmlns:m="http://schemas.openxmlformats.org/officeDocument/2006/math">
                    <m:r>
                      <a:rPr lang="es-ES" sz="120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ú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𝑚𝑒𝑟𝑜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𝑐𝑜𝑛𝑡𝑟𝑎𝑡𝑜𝑠</m:t>
                    </m:r>
                    <m:func>
                      <m:funcPr>
                        <m:ctrlP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sz="12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𝑟𝑒𝑐𝑙𝑎𝑚𝑎𝑐𝑖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h𝑎𝑠𝑡𝑎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𝑞𝑢𝑒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𝑝𝑟𝑜𝑑𝑢𝑐𝑒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𝑙𝑎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𝑞𝑢𝑖𝑛𝑡𝑎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𝑟𝑒𝑐𝑙𝑎𝑚𝑎𝑐𝑖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s-MX" sz="1200" b="0" dirty="0">
                  <a:solidFill>
                    <a:schemeClr val="accent1">
                      <a:lumMod val="50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Es una binomial negativa donde p=probabilidad de reclamación=p(D)</a:t>
                </a: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P(D)=p(D/R)*p(R)+p(D/N)*p(N)+p(D/I)*p(I)=0,01*0,3+0,01*0,5+0,015*0,2=0,011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Entonces Y</a:t>
                </a:r>
                <a14:m>
                  <m:oMath xmlns:m="http://schemas.openxmlformats.org/officeDocument/2006/math">
                    <m:r>
                      <a:rPr lang="es-ES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𝑩𝑵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𝟎𝟏𝟏</m:t>
                    </m:r>
                    <m:r>
                      <a:rPr lang="es-MX" sz="12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    y p(Y=35)=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2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35+5−1</m:t>
                            </m:r>
                          </m:e>
                          <m:e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es-ES" sz="12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0,989</m:t>
                        </m:r>
                      </m:e>
                      <m:sup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</m:oMath>
                </a14:m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2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MX" sz="12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=8,99∗</m:t>
                    </m:r>
                    <m:sSup>
                      <m:sSupPr>
                        <m:ctrlPr>
                          <a:rPr lang="es-ES" sz="12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s-MX" sz="120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s-ES" sz="12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ct val="107000"/>
                  </a:lnSpc>
                </a:pPr>
                <a:endParaRPr lang="es-ES" sz="12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lvl="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200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lang="es-ES" sz="1200" b="1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¿Cuántos viajes contrata en media la agencia hasta que se produce la primera reclamación en un destino internacional?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8439E45-4C80-4C0B-A58E-BDFD4C04A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205" y="1305881"/>
                <a:ext cx="7729538" cy="1997598"/>
              </a:xfrm>
              <a:prstGeom prst="rect">
                <a:avLst/>
              </a:prstGeom>
              <a:blipFill>
                <a:blip r:embed="rId3"/>
                <a:stretch>
                  <a:fillRect r="-79" b="-12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831D828-9DA0-43FB-BF23-CFA749614F81}"/>
                  </a:ext>
                </a:extLst>
              </p:cNvPr>
              <p:cNvSpPr txBox="1"/>
              <p:nvPr/>
            </p:nvSpPr>
            <p:spPr>
              <a:xfrm>
                <a:off x="1271088" y="3362952"/>
                <a:ext cx="8400736" cy="1441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Definimos 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s-ES" sz="1100" dirty="0">
                    <a:solidFill>
                      <a:schemeClr val="accent1">
                        <a:lumMod val="50000"/>
                      </a:schemeClr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s-MX" sz="110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ú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𝑚𝑒𝑟𝑜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11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𝑐𝑜𝑛𝑡𝑟𝑎𝑡𝑜𝑠</m:t>
                    </m:r>
                    <m:func>
                      <m:funcPr>
                        <m:ctrlP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sz="110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𝑟𝑒𝑐𝑙𝑎𝑚𝑎𝑐𝑖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h𝑎𝑠𝑡𝑎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𝑞𝑢𝑒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𝑝𝑟𝑜𝑑𝑢𝑐𝑒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𝑙𝑎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𝑝𝑟𝑖𝑚𝑒𝑟𝑎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𝑟𝑒𝑐𝑙𝑎𝑚𝑎𝑐𝑖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MX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𝑒𝑛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𝑢𝑛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𝑑𝑒𝑠𝑡𝑖𝑛𝑜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1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𝑖𝑛𝑡𝑒𝑟𝑛𝑎𝑐𝑖𝑜𝑛𝑎𝑙</m:t>
                        </m:r>
                      </m:e>
                    </m:func>
                  </m:oMath>
                </a14:m>
                <a:endParaRPr lang="es-MX" sz="1100" dirty="0">
                  <a:solidFill>
                    <a:schemeClr val="accent1">
                      <a:lumMod val="50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Es una distribución geométrica donde p=p(D/I)=0,015</a:t>
                </a: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Y la EN=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2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0,985</m:t>
                        </m:r>
                      </m:num>
                      <m:den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0,015</m:t>
                        </m:r>
                      </m:den>
                    </m:f>
                  </m:oMath>
                </a14:m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=65,66</a:t>
                </a:r>
                <a14:m>
                  <m:oMath xmlns:m="http://schemas.openxmlformats.org/officeDocument/2006/math">
                    <m:r>
                      <a:rPr lang="es-ES" sz="120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66 </m:t>
                    </m:r>
                    <m:r>
                      <a:rPr lang="es-MX" sz="12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𝑣𝑖𝑎𝑗𝑒𝑠</m:t>
                    </m:r>
                    <m:func>
                      <m:funcPr>
                        <m:ctrlP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sz="12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𝑟𝑒𝑐𝑙𝑎𝑚𝑎𝑐𝑖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h𝑎𝑠𝑡𝑎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𝑙𝑎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𝑝𝑟𝑖𝑚𝑒𝑟𝑎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𝑟𝑒𝑐𝑙𝑎𝑚𝑎𝑐𝑖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ó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sz="12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𝑒𝑛</m:t>
                            </m:r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𝑑𝑒𝑠𝑡𝑖𝑛𝑜𝑠</m:t>
                            </m:r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MX" sz="12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𝑖𝑛𝑡𝑒𝑟𝑛𝑎𝑐𝑖𝑜𝑛𝑎𝑙𝑒𝑠</m:t>
                            </m:r>
                          </m:e>
                        </m:d>
                      </m:e>
                    </m:func>
                  </m:oMath>
                </a14:m>
                <a:endParaRPr lang="es-MX" sz="1200" b="0" dirty="0">
                  <a:solidFill>
                    <a:schemeClr val="accent1">
                      <a:lumMod val="50000"/>
                    </a:schemeClr>
                  </a:solidFill>
                  <a:ea typeface="Cambria Math" panose="020405030504060302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solidFill>
                      <a:schemeClr val="accent1">
                        <a:lumMod val="50000"/>
                      </a:schemeClr>
                    </a:solidFill>
                  </a:rPr>
                  <a:t>Entonces el número medio de viajes totales contratados es 66+1 =67 viajes o contratos en total.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831D828-9DA0-43FB-BF23-CFA749614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088" y="3362952"/>
                <a:ext cx="8400736" cy="1441870"/>
              </a:xfrm>
              <a:prstGeom prst="rect">
                <a:avLst/>
              </a:prstGeom>
              <a:blipFill>
                <a:blip r:embed="rId4"/>
                <a:stretch>
                  <a:fillRect t="-8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93488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B31B1C5-7029-4EC3-AD0B-6CE91CFA4DAD}"/>
              </a:ext>
            </a:extLst>
          </p:cNvPr>
          <p:cNvCxnSpPr>
            <a:cxnSpLocks/>
          </p:cNvCxnSpPr>
          <p:nvPr/>
        </p:nvCxnSpPr>
        <p:spPr>
          <a:xfrm>
            <a:off x="1326761" y="1025374"/>
            <a:ext cx="7471250" cy="3112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2CCBD24-A6B5-4384-8475-FEB36A0D0EDF}"/>
              </a:ext>
            </a:extLst>
          </p:cNvPr>
          <p:cNvSpPr txBox="1"/>
          <p:nvPr/>
        </p:nvSpPr>
        <p:spPr>
          <a:xfrm>
            <a:off x="1271155" y="1268220"/>
            <a:ext cx="4464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Problema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0602A38-C481-4CE1-BD74-FA6B534B7EF4}"/>
                  </a:ext>
                </a:extLst>
              </p:cNvPr>
              <p:cNvSpPr txBox="1"/>
              <p:nvPr/>
            </p:nvSpPr>
            <p:spPr>
              <a:xfrm>
                <a:off x="1271155" y="1637161"/>
                <a:ext cx="7332191" cy="1826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El número de productos (en cientos) que vende diariamente un centro comercial es una variable aleatoria X que, para cierta constante k, tiene función de densidad</a:t>
                </a:r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f(x)=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es-E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s-E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3−</m:t>
                                </m:r>
                                <m:r>
                                  <a:rPr lang="es-E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  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1≤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≤3</m:t>
                            </m:r>
                          </m:e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0                    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𝑒𝑛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𝑐𝑎𝑠𝑜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E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𝑐𝑜𝑛𝑡𝑟𝑎𝑟𝑖𝑜</m:t>
                            </m:r>
                          </m:e>
                        </m:eqArr>
                      </m:e>
                    </m:d>
                  </m:oMath>
                </a14:m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Determinar k para que f(x) sea realmente una función de densidad</a:t>
                </a:r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+mj-lt"/>
                  <a:buAutoNum type="alphaLcParenR"/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Obtener la función de distribución de X</a:t>
                </a:r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es-ES" sz="12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¿Cuál es la probabilidad de que a lo largo de una semana completa haya al menos un día en que el centro vende más de 200 productos?</a:t>
                </a:r>
                <a:endParaRPr lang="es-E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0602A38-C481-4CE1-BD74-FA6B534B7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55" y="1637161"/>
                <a:ext cx="7332191" cy="1826782"/>
              </a:xfrm>
              <a:prstGeom prst="rect">
                <a:avLst/>
              </a:prstGeom>
              <a:blipFill>
                <a:blip r:embed="rId3"/>
                <a:stretch>
                  <a:fillRect l="-83" t="-334" r="-83" b="-167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2AD7B6B4-FB1B-4512-96FA-0FD32388CCDB}"/>
                  </a:ext>
                </a:extLst>
              </p:cNvPr>
              <p:cNvSpPr txBox="1"/>
              <p:nvPr/>
            </p:nvSpPr>
            <p:spPr>
              <a:xfrm>
                <a:off x="1326761" y="3463943"/>
                <a:ext cx="6819384" cy="1811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Definimos la variable X</a:t>
                </a:r>
                <a14:m>
                  <m:oMath xmlns:m="http://schemas.openxmlformats.org/officeDocument/2006/math">
                    <m:r>
                      <a:rPr lang="es-ES" sz="120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ventas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diarias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en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cientos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de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productos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de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un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centro</m:t>
                    </m:r>
                    <m: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2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comercial</m:t>
                    </m:r>
                  </m:oMath>
                </a14:m>
                <a:endParaRPr lang="es-E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Tenemos que determinar k para que f(x) sea realmente una función de densidad </a:t>
                </a: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s-ES" sz="1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  <m:e>
                        <m:r>
                          <a:rPr lang="es-E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s-E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s-E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3−</m:t>
                            </m:r>
                            <m:r>
                              <a:rPr lang="es-E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s-MX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=1              </m:t>
                        </m:r>
                        <m:f>
                          <m:fPr>
                            <m:ctrlP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</m:oMath>
                </a14:m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k=1                 k=3/4</a:t>
                </a:r>
              </a:p>
              <a:p>
                <a:pPr marL="171450" indent="-171450" algn="just">
                  <a:lnSpc>
                    <a:spcPct val="107000"/>
                  </a:lnSpc>
                  <a:buFont typeface="Wingdings" panose="05000000000000000000" pitchFamily="2" charset="2"/>
                  <a:buChar char="§"/>
                </a:pPr>
                <a:endParaRPr lang="es-E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b) La función de distribución de X es F(x)=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sz="1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0                                                                           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&lt;1</m:t>
                            </m:r>
                          </m:e>
                          <m:e>
                            <m:nary>
                              <m:naryPr>
                                <m:ctrl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nary>
                            <m:d>
                              <m:dPr>
                                <m:ctrl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𝑑𝑡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+1    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1≤</m:t>
                            </m:r>
                            <m:r>
                              <a:rPr lang="es-E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≤3</m:t>
                            </m:r>
                          </m:e>
                          <m:e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1                                                                          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MX" sz="12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&gt;3</m:t>
                            </m:r>
                          </m:e>
                        </m:eqArr>
                      </m:e>
                    </m:d>
                  </m:oMath>
                </a14:m>
                <a:endParaRPr lang="es-E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</a:pPr>
                <a:endParaRPr lang="es-ES" sz="1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2AD7B6B4-FB1B-4512-96FA-0FD32388C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761" y="3463943"/>
                <a:ext cx="6819384" cy="1811393"/>
              </a:xfrm>
              <a:prstGeom prst="rect">
                <a:avLst/>
              </a:prstGeom>
              <a:blipFill>
                <a:blip r:embed="rId4"/>
                <a:stretch>
                  <a:fillRect l="-10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echa: a la izquierda y derecha 1">
            <a:extLst>
              <a:ext uri="{FF2B5EF4-FFF2-40B4-BE49-F238E27FC236}">
                <a16:creationId xmlns:a16="http://schemas.microsoft.com/office/drawing/2014/main" id="{DCAAE3D5-830F-0AE4-3BC0-957F18D9E219}"/>
              </a:ext>
            </a:extLst>
          </p:cNvPr>
          <p:cNvSpPr/>
          <p:nvPr/>
        </p:nvSpPr>
        <p:spPr>
          <a:xfrm>
            <a:off x="3412273" y="4044601"/>
            <a:ext cx="267629" cy="457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lecha: a la izquierda y derecha 2">
            <a:extLst>
              <a:ext uri="{FF2B5EF4-FFF2-40B4-BE49-F238E27FC236}">
                <a16:creationId xmlns:a16="http://schemas.microsoft.com/office/drawing/2014/main" id="{4E23FBCE-61EE-76BD-A14B-FCAE83C9F33E}"/>
              </a:ext>
            </a:extLst>
          </p:cNvPr>
          <p:cNvSpPr/>
          <p:nvPr/>
        </p:nvSpPr>
        <p:spPr>
          <a:xfrm>
            <a:off x="4248615" y="4021741"/>
            <a:ext cx="267629" cy="457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87455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72EEE5A-7752-40E2-A916-619C9AF4513E}"/>
                  </a:ext>
                </a:extLst>
              </p:cNvPr>
              <p:cNvSpPr txBox="1"/>
              <p:nvPr/>
            </p:nvSpPr>
            <p:spPr>
              <a:xfrm>
                <a:off x="1260002" y="1178973"/>
                <a:ext cx="7729538" cy="2924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400" dirty="0">
                    <a:effectLst/>
                    <a:latin typeface="Abadi" panose="020B0604020104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c) ¿Cuál es la probabilidad de que a lo largo de una semana completa haya al menos un día en que el centro vende más de 200 productos?</a:t>
                </a:r>
              </a:p>
              <a:p>
                <a:pPr marL="285750" lvl="0" indent="-2857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400" dirty="0"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Las ventas a lo largo de una semana completa se definen mediante </a:t>
                </a:r>
              </a:p>
              <a:p>
                <a:pPr marL="285750" lvl="0" indent="-2857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Probabilidad de que un día seleccionado al azar venda más de 200 productos:</a:t>
                </a:r>
              </a:p>
              <a:p>
                <a:pPr lvl="0"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ES" sz="14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s-MX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s-E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s-E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3−</m:t>
                              </m:r>
                              <m:r>
                                <a:rPr lang="es-ES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s-MX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nary>
                      <m:r>
                        <a:rPr lang="es-MX" sz="14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,5</m:t>
                      </m:r>
                    </m:oMath>
                  </m:oMathPara>
                </a14:m>
                <a:endParaRPr lang="es-E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ES" sz="1400" dirty="0">
                    <a:effectLst/>
                    <a:latin typeface="Abadi" panose="020B0604020104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a:rPr lang="es-ES" sz="14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s-MX" sz="14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ú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𝑚𝑒𝑟𝑜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í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𝑒𝑛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𝑞𝑢𝑒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𝑣𝑒𝑛𝑑𝑒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á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2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𝑐𝑖𝑒𝑛𝑡𝑜𝑠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𝑝𝑟𝑜𝑑𝑢𝑐𝑡𝑜𝑠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→      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𝐵𝑖𝑛</m:t>
                    </m:r>
                    <m:r>
                      <a:rPr lang="es-MX" sz="14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(7;</m:t>
                    </m:r>
                  </m:oMath>
                </a14:m>
                <a:r>
                  <a:rPr lang="es-ES" sz="1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0,5</m:t>
                    </m:r>
                  </m:oMath>
                </a14:m>
                <a:r>
                  <a:rPr lang="es-MX" sz="1400" b="0" dirty="0">
                    <a:effectLst/>
                    <a:latin typeface="Abadi" panose="020B060402010402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es-MX" sz="1400" dirty="0">
                    <a:latin typeface="Abadi" panose="020B060402010402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Tenemos que calcular p(T</a:t>
                </a:r>
                <a14:m>
                  <m:oMath xmlns:m="http://schemas.openxmlformats.org/officeDocument/2006/math">
                    <m:r>
                      <a:rPr lang="es-MX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1)=1−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s-MX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=0)=1−</m:t>
                    </m:r>
                    <m:sSup>
                      <m:sSupPr>
                        <m:ctrlPr>
                          <a:rPr lang="es-MX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0,5</m:t>
                        </m:r>
                      </m:e>
                      <m:sup>
                        <m:r>
                          <a:rPr lang="es-MX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s-MX" sz="1400" b="0" dirty="0">
                    <a:effectLst/>
                    <a:latin typeface="Abadi" panose="020B060402010402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=1-0,0078=0,9922</a:t>
                </a:r>
              </a:p>
              <a:p>
                <a:pPr lvl="0" algn="just">
                  <a:lnSpc>
                    <a:spcPct val="107000"/>
                  </a:lnSpc>
                  <a:spcAft>
                    <a:spcPts val="800"/>
                  </a:spcAft>
                </a:pPr>
                <a:endParaRPr lang="es-E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72EEE5A-7752-40E2-A916-619C9AF45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2" y="1178973"/>
                <a:ext cx="7729538" cy="2924711"/>
              </a:xfrm>
              <a:prstGeom prst="rect">
                <a:avLst/>
              </a:prstGeom>
              <a:blipFill>
                <a:blip r:embed="rId3"/>
                <a:stretch>
                  <a:fillRect l="-237" t="-208" r="-23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0357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19637</TotalTime>
  <Words>1863</Words>
  <Application>Microsoft Office PowerPoint</Application>
  <PresentationFormat>Presentación en pantalla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Abadi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Pontificia Comillas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subject/>
  <dc:creator>Carmen Escudero Guirado</dc:creator>
  <dc:description/>
  <cp:lastModifiedBy>María del Mar Angulo Martinez</cp:lastModifiedBy>
  <cp:revision>760</cp:revision>
  <dcterms:created xsi:type="dcterms:W3CDTF">2017-07-19T07:53:01Z</dcterms:created>
  <dcterms:modified xsi:type="dcterms:W3CDTF">2023-01-18T23:06:31Z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Universidad Pontificia Comillas</vt:lpwstr>
  </property>
  <property fmtid="{D5CDD505-2E9C-101B-9397-08002B2CF9AE}" pid="4" name="ContentTypeId">
    <vt:lpwstr>0x010100AE6A9B1AE3C694449E1CBECB26767C28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51</vt:i4>
  </property>
  <property fmtid="{D5CDD505-2E9C-101B-9397-08002B2CF9AE}" pid="10" name="PresentationFormat">
    <vt:lpwstr>Presentación en pantalla (16:9)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60</vt:i4>
  </property>
</Properties>
</file>