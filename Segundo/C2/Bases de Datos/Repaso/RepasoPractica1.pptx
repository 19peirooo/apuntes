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7" r:id="rId2"/>
    <p:sldMasterId id="2147483707" r:id="rId3"/>
  </p:sldMasterIdLst>
  <p:notesMasterIdLst>
    <p:notesMasterId r:id="rId23"/>
  </p:notesMasterIdLst>
  <p:handoutMasterIdLst>
    <p:handoutMasterId r:id="rId24"/>
  </p:handoutMasterIdLst>
  <p:sldIdLst>
    <p:sldId id="256" r:id="rId4"/>
    <p:sldId id="508" r:id="rId5"/>
    <p:sldId id="334" r:id="rId6"/>
    <p:sldId id="541" r:id="rId7"/>
    <p:sldId id="542" r:id="rId8"/>
    <p:sldId id="509" r:id="rId9"/>
    <p:sldId id="519" r:id="rId10"/>
    <p:sldId id="520" r:id="rId11"/>
    <p:sldId id="523" r:id="rId12"/>
    <p:sldId id="524" r:id="rId13"/>
    <p:sldId id="526" r:id="rId14"/>
    <p:sldId id="514" r:id="rId15"/>
    <p:sldId id="529" r:id="rId16"/>
    <p:sldId id="515" r:id="rId17"/>
    <p:sldId id="531" r:id="rId18"/>
    <p:sldId id="536" r:id="rId19"/>
    <p:sldId id="517" r:id="rId20"/>
    <p:sldId id="537" r:id="rId21"/>
    <p:sldId id="503" r:id="rId22"/>
  </p:sldIdLst>
  <p:sldSz cx="12192000" cy="6858000"/>
  <p:notesSz cx="7099300" cy="10234613"/>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99"/>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379C57-B3E5-EAEC-FA8F-47FBA07D024E}" v="1" dt="2025-01-18T09:57:38.121"/>
  </p1510:revLst>
</p1510:revInfo>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073A0DAA-6AF3-43AB-8588-CEC1D06C72B9}"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7E7E7"/>
          </a:solidFill>
        </a:fill>
      </a:tcStyle>
    </a:wholeTbl>
    <a:band1H>
      <a:tcStyle>
        <a:tcBdr/>
        <a:fill>
          <a:solidFill>
            <a:srgbClr val="CBCBCB"/>
          </a:solidFill>
        </a:fill>
      </a:tcStyle>
    </a:band1H>
    <a:band2H>
      <a:tcStyle>
        <a:tcBdr/>
      </a:tcStyle>
    </a:band2H>
    <a:band1V>
      <a:tcStyle>
        <a:tcBdr/>
        <a:fill>
          <a:solidFill>
            <a:srgbClr val="CBCBCB"/>
          </a:solidFill>
        </a:fill>
      </a:tcStyle>
    </a:band1V>
    <a:band2V>
      <a:tcStyle>
        <a:tcBdr/>
      </a:tcStyle>
    </a:band2V>
    <a:lastCol>
      <a:tcTxStyle b="on">
        <a:font>
          <a:latin typeface="+mn-lt"/>
          <a:ea typeface="+mn-ea"/>
          <a:cs typeface="+mn-cs"/>
        </a:font>
        <a:srgbClr val="FFFFFF"/>
      </a:tcTxStyle>
      <a:tcStyle>
        <a:tcBdr/>
        <a:fill>
          <a:solidFill>
            <a:srgbClr val="000000"/>
          </a:solidFill>
        </a:fill>
      </a:tcStyle>
    </a:lastCol>
    <a:firstCol>
      <a:tcTxStyle b="on">
        <a:font>
          <a:latin typeface="+mn-lt"/>
          <a:ea typeface="+mn-ea"/>
          <a:cs typeface="+mn-cs"/>
        </a:font>
        <a:srgbClr val="FFFFFF"/>
      </a:tcTxStyle>
      <a:tcStyle>
        <a:tcBdr/>
        <a:fill>
          <a:solidFill>
            <a:srgbClr val="000000"/>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000000"/>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000000"/>
          </a:solidFill>
        </a:fill>
      </a:tcStyle>
    </a:firstRow>
  </a:tblStyle>
  <a:tblStyle styleId="{7DF18680-E054-41AD-8BC1-D1AEF772440D}"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9EBF5"/>
          </a:solidFill>
        </a:fill>
      </a:tcStyle>
    </a:wholeTbl>
    <a:band1H>
      <a:tcStyle>
        <a:tcBdr/>
        <a:fill>
          <a:solidFill>
            <a:srgbClr val="CFD5EA"/>
          </a:solidFill>
        </a:fill>
      </a:tcStyle>
    </a:band1H>
    <a:band2H>
      <a:tcStyle>
        <a:tcBdr/>
      </a:tcStyle>
    </a:band2H>
    <a:band1V>
      <a:tcStyle>
        <a:tcBdr/>
        <a:fill>
          <a:solidFill>
            <a:srgbClr val="CFD5EA"/>
          </a:solidFill>
        </a:fill>
      </a:tcStyle>
    </a:band1V>
    <a:band2V>
      <a:tcStyle>
        <a:tcBdr/>
      </a:tcStyle>
    </a:band2V>
    <a:lastCol>
      <a:tcTxStyle b="on">
        <a:font>
          <a:latin typeface="+mn-lt"/>
          <a:ea typeface="+mn-ea"/>
          <a:cs typeface="+mn-cs"/>
        </a:font>
        <a:srgbClr val="FFFFFF"/>
      </a:tcTxStyle>
      <a:tcStyle>
        <a:tcBdr/>
        <a:fill>
          <a:solidFill>
            <a:srgbClr val="4472C4"/>
          </a:solidFill>
        </a:fill>
      </a:tcStyle>
    </a:lastCol>
    <a:firstCol>
      <a:tcTxStyle b="on">
        <a:font>
          <a:latin typeface="+mn-lt"/>
          <a:ea typeface="+mn-ea"/>
          <a:cs typeface="+mn-cs"/>
        </a:font>
        <a:srgbClr val="FFFFFF"/>
      </a:tcTxStyle>
      <a:tcStyle>
        <a:tcBdr/>
        <a:fill>
          <a:solidFill>
            <a:srgbClr val="4472C4"/>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4472C4"/>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4472C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85230" autoAdjust="0"/>
  </p:normalViewPr>
  <p:slideViewPr>
    <p:cSldViewPr snapToGrid="0">
      <p:cViewPr varScale="1">
        <p:scale>
          <a:sx n="96" d="100"/>
          <a:sy n="96" d="100"/>
        </p:scale>
        <p:origin x="608" y="56"/>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ael Socas Gutierrez" userId="03516148-c5da-4a32-b5ef-92f57f4c475d" providerId="ADAL" clId="{43074D2C-6407-4C18-AF8C-8AAF57F38C68}"/>
    <pc:docChg chg="custSel modSld">
      <pc:chgData name="Rafael Socas Gutierrez" userId="03516148-c5da-4a32-b5ef-92f57f4c475d" providerId="ADAL" clId="{43074D2C-6407-4C18-AF8C-8AAF57F38C68}" dt="2024-08-08T12:56:06.798" v="86" actId="20577"/>
      <pc:docMkLst>
        <pc:docMk/>
      </pc:docMkLst>
      <pc:sldChg chg="addSp delSp modSp mod">
        <pc:chgData name="Rafael Socas Gutierrez" userId="03516148-c5da-4a32-b5ef-92f57f4c475d" providerId="ADAL" clId="{43074D2C-6407-4C18-AF8C-8AAF57F38C68}" dt="2024-08-08T12:47:38.658" v="80" actId="6549"/>
        <pc:sldMkLst>
          <pc:docMk/>
          <pc:sldMk cId="0" sldId="256"/>
        </pc:sldMkLst>
        <pc:spChg chg="ord">
          <ac:chgData name="Rafael Socas Gutierrez" userId="03516148-c5da-4a32-b5ef-92f57f4c475d" providerId="ADAL" clId="{43074D2C-6407-4C18-AF8C-8AAF57F38C68}" dt="2024-08-08T12:43:01.158" v="4" actId="167"/>
          <ac:spMkLst>
            <pc:docMk/>
            <pc:sldMk cId="0" sldId="256"/>
            <ac:spMk id="3" creationId="{00000000-0000-0000-0000-000000000000}"/>
          </ac:spMkLst>
        </pc:spChg>
        <pc:spChg chg="mod">
          <ac:chgData name="Rafael Socas Gutierrez" userId="03516148-c5da-4a32-b5ef-92f57f4c475d" providerId="ADAL" clId="{43074D2C-6407-4C18-AF8C-8AAF57F38C68}" dt="2024-08-08T12:43:19.704" v="10" actId="1076"/>
          <ac:spMkLst>
            <pc:docMk/>
            <pc:sldMk cId="0" sldId="256"/>
            <ac:spMk id="5" creationId="{00000000-0000-0000-0000-000000000000}"/>
          </ac:spMkLst>
        </pc:spChg>
        <pc:spChg chg="add del mod">
          <ac:chgData name="Rafael Socas Gutierrez" userId="03516148-c5da-4a32-b5ef-92f57f4c475d" providerId="ADAL" clId="{43074D2C-6407-4C18-AF8C-8AAF57F38C68}" dt="2024-08-08T12:43:40.812" v="11" actId="478"/>
          <ac:spMkLst>
            <pc:docMk/>
            <pc:sldMk cId="0" sldId="256"/>
            <ac:spMk id="6" creationId="{973BB045-2FEA-B429-A51E-867D732DBF90}"/>
          </ac:spMkLst>
        </pc:spChg>
        <pc:spChg chg="add mod">
          <ac:chgData name="Rafael Socas Gutierrez" userId="03516148-c5da-4a32-b5ef-92f57f4c475d" providerId="ADAL" clId="{43074D2C-6407-4C18-AF8C-8AAF57F38C68}" dt="2024-08-08T12:47:38.658" v="80" actId="6549"/>
          <ac:spMkLst>
            <pc:docMk/>
            <pc:sldMk cId="0" sldId="256"/>
            <ac:spMk id="6" creationId="{CDAD0B1F-8535-A497-E9D6-DF0D2E525A52}"/>
          </ac:spMkLst>
        </pc:spChg>
        <pc:spChg chg="del">
          <ac:chgData name="Rafael Socas Gutierrez" userId="03516148-c5da-4a32-b5ef-92f57f4c475d" providerId="ADAL" clId="{43074D2C-6407-4C18-AF8C-8AAF57F38C68}" dt="2024-08-08T12:42:56.877" v="3" actId="478"/>
          <ac:spMkLst>
            <pc:docMk/>
            <pc:sldMk cId="0" sldId="256"/>
            <ac:spMk id="7" creationId="{00000000-0000-0000-0000-000000000000}"/>
          </ac:spMkLst>
        </pc:spChg>
        <pc:spChg chg="add mod ord">
          <ac:chgData name="Rafael Socas Gutierrez" userId="03516148-c5da-4a32-b5ef-92f57f4c475d" providerId="ADAL" clId="{43074D2C-6407-4C18-AF8C-8AAF57F38C68}" dt="2024-08-08T12:42:51.930" v="2" actId="167"/>
          <ac:spMkLst>
            <pc:docMk/>
            <pc:sldMk cId="0" sldId="256"/>
            <ac:spMk id="8" creationId="{A0925BB1-4650-D545-9715-F4F4A3176508}"/>
          </ac:spMkLst>
        </pc:spChg>
        <pc:picChg chg="ord">
          <ac:chgData name="Rafael Socas Gutierrez" userId="03516148-c5da-4a32-b5ef-92f57f4c475d" providerId="ADAL" clId="{43074D2C-6407-4C18-AF8C-8AAF57F38C68}" dt="2024-08-08T12:43:09.031" v="5" actId="167"/>
          <ac:picMkLst>
            <pc:docMk/>
            <pc:sldMk cId="0" sldId="256"/>
            <ac:picMk id="14" creationId="{00000000-0000-0000-0000-000000000000}"/>
          </ac:picMkLst>
        </pc:picChg>
      </pc:sldChg>
      <pc:sldChg chg="modSp mod">
        <pc:chgData name="Rafael Socas Gutierrez" userId="03516148-c5da-4a32-b5ef-92f57f4c475d" providerId="ADAL" clId="{43074D2C-6407-4C18-AF8C-8AAF57F38C68}" dt="2024-08-08T12:56:06.798" v="86" actId="20577"/>
        <pc:sldMkLst>
          <pc:docMk/>
          <pc:sldMk cId="4172657337" sldId="508"/>
        </pc:sldMkLst>
        <pc:spChg chg="mod">
          <ac:chgData name="Rafael Socas Gutierrez" userId="03516148-c5da-4a32-b5ef-92f57f4c475d" providerId="ADAL" clId="{43074D2C-6407-4C18-AF8C-8AAF57F38C68}" dt="2024-08-08T12:56:06.798" v="86" actId="20577"/>
          <ac:spMkLst>
            <pc:docMk/>
            <pc:sldMk cId="4172657337" sldId="508"/>
            <ac:spMk id="13" creationId="{00000000-0000-0000-0000-000000000000}"/>
          </ac:spMkLst>
        </pc:spChg>
      </pc:sldChg>
    </pc:docChg>
  </pc:docChgLst>
  <pc:docChgLst>
    <pc:chgData clId="Web-{C2379C57-B3E5-EAEC-FA8F-47FBA07D024E}"/>
    <pc:docChg chg="modSld">
      <pc:chgData name="" userId="" providerId="" clId="Web-{C2379C57-B3E5-EAEC-FA8F-47FBA07D024E}" dt="2025-01-18T09:57:38.121" v="0"/>
      <pc:docMkLst>
        <pc:docMk/>
      </pc:docMkLst>
      <pc:sldChg chg="delSp">
        <pc:chgData name="" userId="" providerId="" clId="Web-{C2379C57-B3E5-EAEC-FA8F-47FBA07D024E}" dt="2025-01-18T09:57:38.121" v="0"/>
        <pc:sldMkLst>
          <pc:docMk/>
          <pc:sldMk cId="0" sldId="256"/>
        </pc:sldMkLst>
        <pc:spChg chg="del">
          <ac:chgData name="" userId="" providerId="" clId="Web-{C2379C57-B3E5-EAEC-FA8F-47FBA07D024E}" dt="2025-01-18T09:57:38.121" v="0"/>
          <ac:spMkLst>
            <pc:docMk/>
            <pc:sldMk cId="0" sldId="256"/>
            <ac:spMk id="6" creationId="{CDAD0B1F-8535-A497-E9D6-DF0D2E525A5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encabezado 1"/>
          <p:cNvSpPr txBox="1">
            <a:spLocks noGrp="1"/>
          </p:cNvSpPr>
          <p:nvPr>
            <p:ph type="hdr" sz="quarter"/>
          </p:nvPr>
        </p:nvSpPr>
        <p:spPr>
          <a:xfrm>
            <a:off x="0" y="1"/>
            <a:ext cx="3076363" cy="513511"/>
          </a:xfrm>
          <a:prstGeom prst="rect">
            <a:avLst/>
          </a:prstGeom>
          <a:noFill/>
          <a:ln>
            <a:noFill/>
          </a:ln>
        </p:spPr>
        <p:txBody>
          <a:bodyPr vert="horz" wrap="square" lIns="99048" tIns="49524" rIns="99048" bIns="49524" anchor="t" anchorCtr="0" compatLnSpc="1">
            <a:noAutofit/>
          </a:bodyPr>
          <a:lstStyle/>
          <a:p>
            <a:pPr defTabSz="990478">
              <a:defRPr sz="1800" b="0" i="0" u="none" strike="noStrike" kern="0" cap="none" spc="0" baseline="0">
                <a:solidFill>
                  <a:srgbClr val="000000"/>
                </a:solidFill>
                <a:uFillTx/>
              </a:defRPr>
            </a:pPr>
            <a:endParaRPr lang="es-ES" sz="1300">
              <a:solidFill>
                <a:srgbClr val="000000"/>
              </a:solidFill>
              <a:latin typeface="Calibri"/>
            </a:endParaRPr>
          </a:p>
        </p:txBody>
      </p:sp>
      <p:sp>
        <p:nvSpPr>
          <p:cNvPr id="3" name="Marcador de fecha 2"/>
          <p:cNvSpPr txBox="1">
            <a:spLocks noGrp="1"/>
          </p:cNvSpPr>
          <p:nvPr>
            <p:ph type="dt" sz="quarter" idx="1"/>
          </p:nvPr>
        </p:nvSpPr>
        <p:spPr>
          <a:xfrm>
            <a:off x="4021289" y="1"/>
            <a:ext cx="3076363" cy="513511"/>
          </a:xfrm>
          <a:prstGeom prst="rect">
            <a:avLst/>
          </a:prstGeom>
          <a:noFill/>
          <a:ln>
            <a:noFill/>
          </a:ln>
        </p:spPr>
        <p:txBody>
          <a:bodyPr vert="horz" wrap="square" lIns="99048" tIns="49524" rIns="99048" bIns="49524" anchor="t" anchorCtr="0" compatLnSpc="1">
            <a:noAutofit/>
          </a:bodyPr>
          <a:lstStyle/>
          <a:p>
            <a:pPr algn="r" defTabSz="990478">
              <a:defRPr sz="1800" b="0" i="0" u="none" strike="noStrike" kern="0" cap="none" spc="0" baseline="0">
                <a:solidFill>
                  <a:srgbClr val="000000"/>
                </a:solidFill>
                <a:uFillTx/>
              </a:defRPr>
            </a:pPr>
            <a:fld id="{F500E8F8-E0F6-45A4-8C99-4DBAF453223B}" type="datetime1">
              <a:rPr lang="es-ES" sz="1300">
                <a:solidFill>
                  <a:srgbClr val="000000"/>
                </a:solidFill>
                <a:latin typeface="Calibri"/>
              </a:rPr>
              <a:pPr algn="r" defTabSz="990478">
                <a:defRPr sz="1800" b="0" i="0" u="none" strike="noStrike" kern="0" cap="none" spc="0" baseline="0">
                  <a:solidFill>
                    <a:srgbClr val="000000"/>
                  </a:solidFill>
                  <a:uFillTx/>
                </a:defRPr>
              </a:pPr>
              <a:t>22/05/2025</a:t>
            </a:fld>
            <a:endParaRPr lang="es-ES" sz="1300">
              <a:solidFill>
                <a:srgbClr val="000000"/>
              </a:solidFill>
              <a:latin typeface="Calibri"/>
            </a:endParaRPr>
          </a:p>
        </p:txBody>
      </p:sp>
      <p:sp>
        <p:nvSpPr>
          <p:cNvPr id="4" name="Marcador de pie de página 3"/>
          <p:cNvSpPr txBox="1">
            <a:spLocks noGrp="1"/>
          </p:cNvSpPr>
          <p:nvPr>
            <p:ph type="ftr" sz="quarter" idx="2"/>
          </p:nvPr>
        </p:nvSpPr>
        <p:spPr>
          <a:xfrm>
            <a:off x="0" y="9721101"/>
            <a:ext cx="3076363" cy="513511"/>
          </a:xfrm>
          <a:prstGeom prst="rect">
            <a:avLst/>
          </a:prstGeom>
          <a:noFill/>
          <a:ln>
            <a:noFill/>
          </a:ln>
        </p:spPr>
        <p:txBody>
          <a:bodyPr vert="horz" wrap="square" lIns="99048" tIns="49524" rIns="99048" bIns="49524" anchor="b" anchorCtr="0" compatLnSpc="1">
            <a:noAutofit/>
          </a:bodyPr>
          <a:lstStyle/>
          <a:p>
            <a:pPr defTabSz="990478">
              <a:defRPr sz="1800" b="0" i="0" u="none" strike="noStrike" kern="0" cap="none" spc="0" baseline="0">
                <a:solidFill>
                  <a:srgbClr val="000000"/>
                </a:solidFill>
                <a:uFillTx/>
              </a:defRPr>
            </a:pPr>
            <a:endParaRPr lang="es-ES" sz="1300">
              <a:solidFill>
                <a:srgbClr val="000000"/>
              </a:solidFill>
              <a:latin typeface="Calibri"/>
            </a:endParaRPr>
          </a:p>
        </p:txBody>
      </p:sp>
      <p:sp>
        <p:nvSpPr>
          <p:cNvPr id="5" name="Marcador de número de diapositiva 4"/>
          <p:cNvSpPr txBox="1">
            <a:spLocks noGrp="1"/>
          </p:cNvSpPr>
          <p:nvPr>
            <p:ph type="sldNum" sz="quarter" idx="3"/>
          </p:nvPr>
        </p:nvSpPr>
        <p:spPr>
          <a:xfrm>
            <a:off x="4021289" y="9721101"/>
            <a:ext cx="3076363" cy="513511"/>
          </a:xfrm>
          <a:prstGeom prst="rect">
            <a:avLst/>
          </a:prstGeom>
          <a:noFill/>
          <a:ln>
            <a:noFill/>
          </a:ln>
        </p:spPr>
        <p:txBody>
          <a:bodyPr vert="horz" wrap="square" lIns="99048" tIns="49524" rIns="99048" bIns="49524" anchor="b" anchorCtr="0" compatLnSpc="1">
            <a:noAutofit/>
          </a:bodyPr>
          <a:lstStyle/>
          <a:p>
            <a:pPr algn="r" defTabSz="990478">
              <a:defRPr sz="1800" b="0" i="0" u="none" strike="noStrike" kern="0" cap="none" spc="0" baseline="0">
                <a:solidFill>
                  <a:srgbClr val="000000"/>
                </a:solidFill>
                <a:uFillTx/>
              </a:defRPr>
            </a:pPr>
            <a:fld id="{286B9AD7-B728-4EAC-8551-A5381D453DCC}" type="slidenum">
              <a:pPr algn="r" defTabSz="990478">
                <a:defRPr sz="1800" b="0" i="0" u="none" strike="noStrike" kern="0" cap="none" spc="0" baseline="0">
                  <a:solidFill>
                    <a:srgbClr val="000000"/>
                  </a:solidFill>
                  <a:uFillTx/>
                </a:defRPr>
              </a:pPr>
              <a:t>‹Nº›</a:t>
            </a:fld>
            <a:endParaRPr lang="es-ES" sz="1300">
              <a:solidFill>
                <a:srgbClr val="000000"/>
              </a:solidFill>
              <a:latin typeface="Calibri"/>
            </a:endParaRPr>
          </a:p>
        </p:txBody>
      </p:sp>
    </p:spTree>
    <p:extLst>
      <p:ext uri="{BB962C8B-B14F-4D97-AF65-F5344CB8AC3E}">
        <p14:creationId xmlns:p14="http://schemas.microsoft.com/office/powerpoint/2010/main" val="30469212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encabezado 1"/>
          <p:cNvSpPr txBox="1">
            <a:spLocks noGrp="1"/>
          </p:cNvSpPr>
          <p:nvPr>
            <p:ph type="hdr" sz="quarter"/>
          </p:nvPr>
        </p:nvSpPr>
        <p:spPr>
          <a:xfrm>
            <a:off x="0" y="1"/>
            <a:ext cx="3076363" cy="513511"/>
          </a:xfrm>
          <a:prstGeom prst="rect">
            <a:avLst/>
          </a:prstGeom>
          <a:noFill/>
          <a:ln>
            <a:noFill/>
          </a:ln>
        </p:spPr>
        <p:txBody>
          <a:bodyPr vert="horz" wrap="square" lIns="99048" tIns="49524" rIns="99048" bIns="49524" anchor="t" anchorCtr="0" compatLnSpc="1">
            <a:noAutofit/>
          </a:bodyPr>
          <a:lstStyle>
            <a:lvl1pPr marL="0" marR="0" lvl="0" indent="0" algn="l" defTabSz="990478" rtl="0" fontAlgn="auto" hangingPunct="1">
              <a:lnSpc>
                <a:spcPct val="100000"/>
              </a:lnSpc>
              <a:spcBef>
                <a:spcPts val="0"/>
              </a:spcBef>
              <a:spcAft>
                <a:spcPts val="0"/>
              </a:spcAft>
              <a:buNone/>
              <a:tabLst/>
              <a:defRPr lang="es-ES" sz="1300" b="0" i="0" u="none" strike="noStrike" kern="1200" cap="none" spc="0" baseline="0">
                <a:solidFill>
                  <a:srgbClr val="000000"/>
                </a:solidFill>
                <a:uFillTx/>
                <a:latin typeface="Calibri"/>
              </a:defRPr>
            </a:lvl1pPr>
          </a:lstStyle>
          <a:p>
            <a:pPr lvl="0"/>
            <a:endParaRPr lang="es-ES"/>
          </a:p>
        </p:txBody>
      </p:sp>
      <p:sp>
        <p:nvSpPr>
          <p:cNvPr id="3" name="Marcador de fecha 2"/>
          <p:cNvSpPr txBox="1">
            <a:spLocks noGrp="1"/>
          </p:cNvSpPr>
          <p:nvPr>
            <p:ph type="dt" idx="1"/>
          </p:nvPr>
        </p:nvSpPr>
        <p:spPr>
          <a:xfrm>
            <a:off x="4021289" y="1"/>
            <a:ext cx="3076363" cy="513511"/>
          </a:xfrm>
          <a:prstGeom prst="rect">
            <a:avLst/>
          </a:prstGeom>
          <a:noFill/>
          <a:ln>
            <a:noFill/>
          </a:ln>
        </p:spPr>
        <p:txBody>
          <a:bodyPr vert="horz" wrap="square" lIns="99048" tIns="49524" rIns="99048" bIns="49524" anchor="t" anchorCtr="0" compatLnSpc="1">
            <a:noAutofit/>
          </a:bodyPr>
          <a:lstStyle>
            <a:lvl1pPr marL="0" marR="0" lvl="0" indent="0" algn="r" defTabSz="990478" rtl="0" fontAlgn="auto" hangingPunct="1">
              <a:lnSpc>
                <a:spcPct val="100000"/>
              </a:lnSpc>
              <a:spcBef>
                <a:spcPts val="0"/>
              </a:spcBef>
              <a:spcAft>
                <a:spcPts val="0"/>
              </a:spcAft>
              <a:buNone/>
              <a:tabLst/>
              <a:defRPr lang="es-ES" sz="1300" b="0" i="0" u="none" strike="noStrike" kern="1200" cap="none" spc="0" baseline="0">
                <a:solidFill>
                  <a:srgbClr val="000000"/>
                </a:solidFill>
                <a:uFillTx/>
                <a:latin typeface="Calibri"/>
              </a:defRPr>
            </a:lvl1pPr>
          </a:lstStyle>
          <a:p>
            <a:pPr lvl="0"/>
            <a:fld id="{071077A5-7116-4908-9541-B3C2785044B6}" type="datetime1">
              <a:rPr lang="es-ES"/>
              <a:pPr lvl="0"/>
              <a:t>22/05/2025</a:t>
            </a:fld>
            <a:endParaRPr lang="es-ES"/>
          </a:p>
        </p:txBody>
      </p:sp>
      <p:sp>
        <p:nvSpPr>
          <p:cNvPr id="4" name="Marcador de imagen de diapositiva 3"/>
          <p:cNvSpPr>
            <a:spLocks noGrp="1" noRot="1" noChangeAspect="1"/>
          </p:cNvSpPr>
          <p:nvPr>
            <p:ph type="sldImg" idx="2"/>
          </p:nvPr>
        </p:nvSpPr>
        <p:spPr>
          <a:xfrm>
            <a:off x="479425" y="1279525"/>
            <a:ext cx="6140450" cy="3454400"/>
          </a:xfrm>
          <a:prstGeom prst="rect">
            <a:avLst/>
          </a:prstGeom>
          <a:noFill/>
          <a:ln w="12701">
            <a:solidFill>
              <a:srgbClr val="000000"/>
            </a:solidFill>
            <a:prstDash val="solid"/>
          </a:ln>
        </p:spPr>
      </p:sp>
      <p:sp>
        <p:nvSpPr>
          <p:cNvPr id="5" name="Marcador de notas 4"/>
          <p:cNvSpPr txBox="1">
            <a:spLocks noGrp="1"/>
          </p:cNvSpPr>
          <p:nvPr>
            <p:ph type="body" sz="quarter" idx="3"/>
          </p:nvPr>
        </p:nvSpPr>
        <p:spPr>
          <a:xfrm>
            <a:off x="709930" y="4925406"/>
            <a:ext cx="5679440" cy="4029879"/>
          </a:xfrm>
          <a:prstGeom prst="rect">
            <a:avLst/>
          </a:prstGeom>
          <a:noFill/>
          <a:ln>
            <a:noFill/>
          </a:ln>
        </p:spPr>
        <p:txBody>
          <a:bodyPr vert="horz" wrap="square" lIns="99048" tIns="49524" rIns="99048" bIns="49524" anchor="t" anchorCtr="0" compatLnSpc="1">
            <a:no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txBox="1">
            <a:spLocks noGrp="1"/>
          </p:cNvSpPr>
          <p:nvPr>
            <p:ph type="ftr" sz="quarter" idx="4"/>
          </p:nvPr>
        </p:nvSpPr>
        <p:spPr>
          <a:xfrm>
            <a:off x="0" y="9721101"/>
            <a:ext cx="3076363" cy="513511"/>
          </a:xfrm>
          <a:prstGeom prst="rect">
            <a:avLst/>
          </a:prstGeom>
          <a:noFill/>
          <a:ln>
            <a:noFill/>
          </a:ln>
        </p:spPr>
        <p:txBody>
          <a:bodyPr vert="horz" wrap="square" lIns="99048" tIns="49524" rIns="99048" bIns="49524" anchor="b" anchorCtr="0" compatLnSpc="1">
            <a:noAutofit/>
          </a:bodyPr>
          <a:lstStyle>
            <a:lvl1pPr marL="0" marR="0" lvl="0" indent="0" algn="l" defTabSz="990478" rtl="0" fontAlgn="auto" hangingPunct="1">
              <a:lnSpc>
                <a:spcPct val="100000"/>
              </a:lnSpc>
              <a:spcBef>
                <a:spcPts val="0"/>
              </a:spcBef>
              <a:spcAft>
                <a:spcPts val="0"/>
              </a:spcAft>
              <a:buNone/>
              <a:tabLst/>
              <a:defRPr lang="es-ES" sz="1300" b="0" i="0" u="none" strike="noStrike" kern="1200" cap="none" spc="0" baseline="0">
                <a:solidFill>
                  <a:srgbClr val="000000"/>
                </a:solidFill>
                <a:uFillTx/>
                <a:latin typeface="Calibri"/>
              </a:defRPr>
            </a:lvl1pPr>
          </a:lstStyle>
          <a:p>
            <a:pPr lvl="0"/>
            <a:endParaRPr lang="es-ES"/>
          </a:p>
        </p:txBody>
      </p:sp>
      <p:sp>
        <p:nvSpPr>
          <p:cNvPr id="7" name="Marcador de número de diapositiva 6"/>
          <p:cNvSpPr txBox="1">
            <a:spLocks noGrp="1"/>
          </p:cNvSpPr>
          <p:nvPr>
            <p:ph type="sldNum" sz="quarter" idx="5"/>
          </p:nvPr>
        </p:nvSpPr>
        <p:spPr>
          <a:xfrm>
            <a:off x="4021289" y="9721101"/>
            <a:ext cx="3076363" cy="513511"/>
          </a:xfrm>
          <a:prstGeom prst="rect">
            <a:avLst/>
          </a:prstGeom>
          <a:noFill/>
          <a:ln>
            <a:noFill/>
          </a:ln>
        </p:spPr>
        <p:txBody>
          <a:bodyPr vert="horz" wrap="square" lIns="99048" tIns="49524" rIns="99048" bIns="49524" anchor="b" anchorCtr="0" compatLnSpc="1">
            <a:noAutofit/>
          </a:bodyPr>
          <a:lstStyle>
            <a:lvl1pPr marL="0" marR="0" lvl="0" indent="0" algn="r" defTabSz="990478" rtl="0" fontAlgn="auto" hangingPunct="1">
              <a:lnSpc>
                <a:spcPct val="100000"/>
              </a:lnSpc>
              <a:spcBef>
                <a:spcPts val="0"/>
              </a:spcBef>
              <a:spcAft>
                <a:spcPts val="0"/>
              </a:spcAft>
              <a:buNone/>
              <a:tabLst/>
              <a:defRPr lang="es-ES" sz="1300" b="0" i="0" u="none" strike="noStrike" kern="1200" cap="none" spc="0" baseline="0">
                <a:solidFill>
                  <a:srgbClr val="000000"/>
                </a:solidFill>
                <a:uFillTx/>
                <a:latin typeface="Calibri"/>
              </a:defRPr>
            </a:lvl1pPr>
          </a:lstStyle>
          <a:p>
            <a:pPr lvl="0"/>
            <a:fld id="{E469E9B4-6C27-4DAA-A2F6-D7FF958B4261}" type="slidenum">
              <a:t>‹Nº›</a:t>
            </a:fld>
            <a:endParaRPr lang="es-ES"/>
          </a:p>
        </p:txBody>
      </p:sp>
    </p:spTree>
    <p:extLst>
      <p:ext uri="{BB962C8B-B14F-4D97-AF65-F5344CB8AC3E}">
        <p14:creationId xmlns:p14="http://schemas.microsoft.com/office/powerpoint/2010/main" val="2292689483"/>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s-ES"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es-ES"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es-ES"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es-ES"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es-ES"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3341517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4141579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383628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5284235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58225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561412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3457184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084887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37224483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346218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876563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4006131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386737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425172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19942149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20145825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3212683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479425" y="1279525"/>
            <a:ext cx="6140450" cy="3454400"/>
          </a:xfrm>
        </p:spPr>
      </p:sp>
      <p:sp>
        <p:nvSpPr>
          <p:cNvPr id="3" name="Marcador de notas 2"/>
          <p:cNvSpPr txBox="1">
            <a:spLocks noGrp="1"/>
          </p:cNvSpPr>
          <p:nvPr>
            <p:ph type="body" sz="quarter" idx="1"/>
          </p:nvPr>
        </p:nvSpPr>
        <p:spPr/>
        <p:txBody>
          <a:bodyPr/>
          <a:lstStyle/>
          <a:p>
            <a:endParaRPr lang="es-ES" dirty="0"/>
          </a:p>
        </p:txBody>
      </p:sp>
    </p:spTree>
    <p:extLst>
      <p:ext uri="{BB962C8B-B14F-4D97-AF65-F5344CB8AC3E}">
        <p14:creationId xmlns:p14="http://schemas.microsoft.com/office/powerpoint/2010/main" val="268149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6_Diapositiva de título">
    <p:spTree>
      <p:nvGrpSpPr>
        <p:cNvPr id="1" name=""/>
        <p:cNvGrpSpPr/>
        <p:nvPr/>
      </p:nvGrpSpPr>
      <p:grpSpPr>
        <a:xfrm>
          <a:off x="0" y="0"/>
          <a:ext cx="0" cy="0"/>
          <a:chOff x="0" y="0"/>
          <a:chExt cx="0" cy="0"/>
        </a:xfrm>
      </p:grpSpPr>
      <p:sp>
        <p:nvSpPr>
          <p:cNvPr id="2" name="CuadroTexto 1"/>
          <p:cNvSpPr txBox="1"/>
          <p:nvPr/>
        </p:nvSpPr>
        <p:spPr>
          <a:xfrm>
            <a:off x="11354534" y="6516215"/>
            <a:ext cx="736850" cy="307777"/>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850609B-4798-4289-85F6-7FC3ACB8B5C6}" type="slidenum">
              <a:rPr sz="1400" b="0">
                <a:latin typeface="Tahoma" panose="020B0604030504040204" pitchFamily="34" charset="0"/>
                <a:ea typeface="Tahoma" panose="020B0604030504040204" pitchFamily="34" charset="0"/>
                <a:cs typeface="Tahoma" panose="020B0604030504040204" pitchFamily="34" charset="0"/>
              </a:rPr>
              <a:t>‹Nº›</a:t>
            </a:fld>
            <a:endParaRPr lang="es-ES" sz="1050" b="0" i="0" u="none" strike="noStrike" kern="1200" cap="none" spc="0" baseline="0" dirty="0">
              <a:solidFill>
                <a:srgbClr val="000000"/>
              </a:solidFill>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48887243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3_Diapositiva de título">
    <p:spTree>
      <p:nvGrpSpPr>
        <p:cNvPr id="1" name=""/>
        <p:cNvGrpSpPr/>
        <p:nvPr/>
      </p:nvGrpSpPr>
      <p:grpSpPr>
        <a:xfrm>
          <a:off x="0" y="0"/>
          <a:ext cx="0" cy="0"/>
          <a:chOff x="0" y="0"/>
          <a:chExt cx="0" cy="0"/>
        </a:xfrm>
      </p:grpSpPr>
      <p:sp>
        <p:nvSpPr>
          <p:cNvPr id="2" name="CuadroTexto 1"/>
          <p:cNvSpPr txBox="1"/>
          <p:nvPr/>
        </p:nvSpPr>
        <p:spPr>
          <a:xfrm>
            <a:off x="11354534" y="6516215"/>
            <a:ext cx="736850" cy="276999"/>
          </a:xfrm>
          <a:prstGeom prst="rect">
            <a:avLst/>
          </a:prstGeom>
          <a:noFill/>
          <a:ln cap="flat">
            <a:noFill/>
          </a:ln>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0E006F-2186-4B66-BB1E-7F44D0F27CBE}" type="slidenum">
              <a:t>‹Nº›</a:t>
            </a:fld>
            <a:endParaRPr lang="es-ES" sz="1200" b="0" i="0" u="none" strike="noStrike" kern="1200" cap="none" spc="0" baseline="0">
              <a:solidFill>
                <a:srgbClr val="FFFFFF"/>
              </a:solidFill>
              <a:uFillTx/>
              <a:latin typeface="Rockwell Nova" pitchFamily="18"/>
            </a:endParaRPr>
          </a:p>
        </p:txBody>
      </p:sp>
    </p:spTree>
    <p:extLst>
      <p:ext uri="{BB962C8B-B14F-4D97-AF65-F5344CB8AC3E}">
        <p14:creationId xmlns:p14="http://schemas.microsoft.com/office/powerpoint/2010/main" val="258979110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081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393780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5969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435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9264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225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3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638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4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4858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5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5762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6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03059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4521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08805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50819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98687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76005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145000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3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209075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4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6245555"/>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5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81476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6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732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5052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182125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196543"/>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755919"/>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2266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8818170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6_Diapositiva de título">
    <p:spTree>
      <p:nvGrpSpPr>
        <p:cNvPr id="1" name=""/>
        <p:cNvGrpSpPr/>
        <p:nvPr/>
      </p:nvGrpSpPr>
      <p:grpSpPr>
        <a:xfrm>
          <a:off x="0" y="0"/>
          <a:ext cx="0" cy="0"/>
          <a:chOff x="0" y="0"/>
          <a:chExt cx="0" cy="0"/>
        </a:xfrm>
      </p:grpSpPr>
      <p:sp>
        <p:nvSpPr>
          <p:cNvPr id="2" name="CuadroTexto 1"/>
          <p:cNvSpPr txBox="1"/>
          <p:nvPr/>
        </p:nvSpPr>
        <p:spPr>
          <a:xfrm>
            <a:off x="11354534" y="6516215"/>
            <a:ext cx="736850" cy="307777"/>
          </a:xfrm>
          <a:prstGeom prst="rect">
            <a:avLst/>
          </a:prstGeom>
          <a:noFill/>
          <a:ln cap="flat">
            <a:noFill/>
          </a:ln>
        </p:spPr>
        <p:txBody>
          <a:bodyPr vert="horz" wrap="square" lIns="91440" tIns="45720" rIns="91440" bIns="45720" anchor="t" anchorCtr="1" compatLnSpc="1">
            <a:spAutoFit/>
          </a:bodyPr>
          <a:lstStyle/>
          <a:p>
            <a:pPr algn="ctr">
              <a:defRPr sz="1800" b="0" i="0" u="none" strike="noStrike" kern="0" cap="none" spc="0" baseline="0">
                <a:solidFill>
                  <a:srgbClr val="000000"/>
                </a:solidFill>
                <a:uFillTx/>
              </a:defRPr>
            </a:pPr>
            <a:fld id="{B850609B-4798-4289-85F6-7FC3ACB8B5C6}" type="slidenum">
              <a:rPr sz="1400" kern="0">
                <a:solidFill>
                  <a:srgbClr val="000000"/>
                </a:solidFill>
                <a:latin typeface="Tahoma" panose="020B0604030504040204" pitchFamily="34" charset="0"/>
                <a:ea typeface="Tahoma" panose="020B0604030504040204" pitchFamily="34" charset="0"/>
                <a:cs typeface="Tahoma" panose="020B0604030504040204" pitchFamily="34" charset="0"/>
              </a:rPr>
              <a:pPr algn="ctr">
                <a:defRPr sz="1800" b="0" i="0" u="none" strike="noStrike" kern="0" cap="none" spc="0" baseline="0">
                  <a:solidFill>
                    <a:srgbClr val="000000"/>
                  </a:solidFill>
                  <a:uFillTx/>
                </a:defRPr>
              </a:pPr>
              <a:t>‹Nº›</a:t>
            </a:fld>
            <a:endParaRPr lang="es-ES" sz="1050" dirty="0">
              <a:solidFill>
                <a:srgbClr val="000000"/>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74476910"/>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33_Diapositiva de título">
    <p:spTree>
      <p:nvGrpSpPr>
        <p:cNvPr id="1" name=""/>
        <p:cNvGrpSpPr/>
        <p:nvPr/>
      </p:nvGrpSpPr>
      <p:grpSpPr>
        <a:xfrm>
          <a:off x="0" y="0"/>
          <a:ext cx="0" cy="0"/>
          <a:chOff x="0" y="0"/>
          <a:chExt cx="0" cy="0"/>
        </a:xfrm>
      </p:grpSpPr>
      <p:sp>
        <p:nvSpPr>
          <p:cNvPr id="2" name="CuadroTexto 1"/>
          <p:cNvSpPr txBox="1"/>
          <p:nvPr/>
        </p:nvSpPr>
        <p:spPr>
          <a:xfrm>
            <a:off x="11354534" y="6516215"/>
            <a:ext cx="736850" cy="276999"/>
          </a:xfrm>
          <a:prstGeom prst="rect">
            <a:avLst/>
          </a:prstGeom>
          <a:noFill/>
          <a:ln cap="flat">
            <a:noFill/>
          </a:ln>
        </p:spPr>
        <p:txBody>
          <a:bodyPr vert="horz" wrap="square" lIns="91440" tIns="45720" rIns="91440" bIns="45720" anchor="t" anchorCtr="1" compatLnSpc="1">
            <a:spAutoFit/>
          </a:bodyPr>
          <a:lstStyle/>
          <a:p>
            <a:pPr algn="ctr">
              <a:defRPr sz="1800" b="0" i="0" u="none" strike="noStrike" kern="0" cap="none" spc="0" baseline="0">
                <a:solidFill>
                  <a:srgbClr val="000000"/>
                </a:solidFill>
                <a:uFillTx/>
              </a:defRPr>
            </a:pPr>
            <a:fld id="{F80E006F-2186-4B66-BB1E-7F44D0F27CBE}" type="slidenum">
              <a:rPr kern="0">
                <a:solidFill>
                  <a:srgbClr val="000000"/>
                </a:solidFill>
              </a:rPr>
              <a:pPr algn="ctr">
                <a:defRPr sz="1800" b="0" i="0" u="none" strike="noStrike" kern="0" cap="none" spc="0" baseline="0">
                  <a:solidFill>
                    <a:srgbClr val="000000"/>
                  </a:solidFill>
                  <a:uFillTx/>
                </a:defRPr>
              </a:pPr>
              <a:t>‹Nº›</a:t>
            </a:fld>
            <a:endParaRPr lang="es-ES" sz="1200">
              <a:solidFill>
                <a:srgbClr val="FFFFFF"/>
              </a:solidFill>
              <a:latin typeface="Rockwell Nova" pitchFamily="18"/>
            </a:endParaRPr>
          </a:p>
        </p:txBody>
      </p:sp>
    </p:spTree>
    <p:extLst>
      <p:ext uri="{BB962C8B-B14F-4D97-AF65-F5344CB8AC3E}">
        <p14:creationId xmlns:p14="http://schemas.microsoft.com/office/powerpoint/2010/main" val="3214517346"/>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36210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2780105"/>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9923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977109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6659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41949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3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73403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4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03576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5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92076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6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4031124"/>
      </p:ext>
    </p:extLst>
  </p:cSld>
  <p:clrMapOvr>
    <a:masterClrMapping/>
  </p:clrMapOvr>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530385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023196"/>
      </p:ext>
    </p:extLst>
  </p:cSld>
  <p:clrMapOvr>
    <a:masterClrMapping/>
  </p:clrMapOvr>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9475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883660"/>
      </p:ext>
    </p:extLst>
  </p:cSld>
  <p:clrMapOvr>
    <a:masterClrMapping/>
  </p:clrMapOvr>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663231"/>
      </p:ext>
    </p:extLst>
  </p:cSld>
  <p:clrMapOvr>
    <a:masterClrMapping/>
  </p:clrMapOvr>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0044673"/>
      </p:ext>
    </p:extLst>
  </p:cSld>
  <p:clrMapOvr>
    <a:masterClrMapping/>
  </p:clrMapOvr>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23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9469108"/>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4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5913690"/>
      </p:ext>
    </p:extLst>
  </p:cSld>
  <p:clrMapOvr>
    <a:masterClrMapping/>
  </p:clrMapOvr>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5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63972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26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9926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7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0142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8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030313"/>
      </p:ext>
    </p:extLst>
  </p:cSld>
  <p:clrMapOvr>
    <a:masterClrMapping/>
  </p:clrMapOvr>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9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57315"/>
      </p:ext>
    </p:extLst>
  </p:cSld>
  <p:clrMapOvr>
    <a:masterClrMapping/>
  </p:clrMapOvr>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0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6908712"/>
      </p:ext>
    </p:extLst>
  </p:cSld>
  <p:clrMapOvr>
    <a:masterClrMapping/>
  </p:clrMapOvr>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3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6750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32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825773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7C79BB-B75D-41EA-BF22-9364F45281D1}"/>
              </a:ext>
            </a:extLst>
          </p:cNvPr>
          <p:cNvSpPr>
            <a:spLocks noGrp="1"/>
          </p:cNvSpPr>
          <p:nvPr>
            <p:ph type="title"/>
          </p:nvPr>
        </p:nvSpPr>
        <p:spPr>
          <a:xfrm>
            <a:off x="1027386" y="2887607"/>
            <a:ext cx="10515600" cy="1325563"/>
          </a:xfrm>
          <a:prstGeom prst="rect">
            <a:avLst/>
          </a:prstGeom>
        </p:spPr>
        <p:txBody>
          <a:bodyPr/>
          <a:lstStyle>
            <a:lvl1pPr>
              <a:defRPr>
                <a:solidFill>
                  <a:schemeClr val="bg1"/>
                </a:solidFill>
              </a:defRPr>
            </a:lvl1pPr>
          </a:lstStyle>
          <a:p>
            <a:r>
              <a:rPr lang="es-ES" dirty="0"/>
              <a:t>Haga clic para modificar el estilo de título del patrón</a:t>
            </a:r>
          </a:p>
        </p:txBody>
      </p:sp>
    </p:spTree>
    <p:extLst>
      <p:ext uri="{BB962C8B-B14F-4D97-AF65-F5344CB8AC3E}">
        <p14:creationId xmlns:p14="http://schemas.microsoft.com/office/powerpoint/2010/main" val="2292427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Marcador de fecha 3"/>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endParaRPr lang="es-ES"/>
          </a:p>
        </p:txBody>
      </p:sp>
      <p:sp>
        <p:nvSpPr>
          <p:cNvPr id="3" name="Marcador de pie de página 4"/>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endParaRPr lang="es-ES"/>
          </a:p>
        </p:txBody>
      </p:sp>
      <p:sp>
        <p:nvSpPr>
          <p:cNvPr id="4" name="Marcador de número de diapositiva 5"/>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pPr lvl="0"/>
            <a:fld id="{BEADE01C-44CD-4E36-8FEA-27AEEA1B3B81}" type="slidenum">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4" name="Marcador de número de diapositiva 5"/>
          <p:cNvSpPr txBox="1">
            <a:spLocks noGrp="1"/>
          </p:cNvSpPr>
          <p:nvPr>
            <p:ph type="sldNum" sz="quarter" idx="4"/>
          </p:nvPr>
        </p:nvSpPr>
        <p:spPr>
          <a:xfrm>
            <a:off x="5562600" y="6409922"/>
            <a:ext cx="5334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s-ES" sz="1200" b="0" i="0" u="none" strike="noStrike" kern="1200" cap="none" spc="0" baseline="0">
                <a:solidFill>
                  <a:srgbClr val="898989"/>
                </a:solidFill>
                <a:uFillTx/>
                <a:latin typeface="Calibri"/>
              </a:defRPr>
            </a:lvl1pPr>
          </a:lstStyle>
          <a:p>
            <a:fld id="{BEADE01C-44CD-4E36-8FEA-27AEEA1B3B81}" type="slidenum">
              <a:rPr/>
              <a:pPr/>
              <a:t>‹Nº›</a:t>
            </a:fld>
            <a:endParaRPr/>
          </a:p>
        </p:txBody>
      </p:sp>
      <p:sp>
        <p:nvSpPr>
          <p:cNvPr id="5" name="Rectángulo 85">
            <a:extLst>
              <a:ext uri="{FF2B5EF4-FFF2-40B4-BE49-F238E27FC236}">
                <a16:creationId xmlns:a16="http://schemas.microsoft.com/office/drawing/2014/main" id="{F5AB6F57-DC45-4B04-ADA1-6B039020F4A4}"/>
              </a:ext>
            </a:extLst>
          </p:cNvPr>
          <p:cNvSpPr/>
          <p:nvPr userDrawn="1"/>
        </p:nvSpPr>
        <p:spPr>
          <a:xfrm rot="10799991">
            <a:off x="3" y="13895"/>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defRPr sz="1800" b="0" i="0" u="none" strike="noStrike" kern="0" cap="none" spc="0" baseline="0">
                <a:solidFill>
                  <a:srgbClr val="000000"/>
                </a:solidFill>
                <a:uFillTx/>
              </a:defRPr>
            </a:pPr>
            <a:endParaRPr lang="es-ES" dirty="0">
              <a:solidFill>
                <a:srgbClr val="10CF9B"/>
              </a:solidFill>
              <a:latin typeface="Tahoma" panose="020B0604030504040204" pitchFamily="34" charset="0"/>
              <a:ea typeface="Tahoma" panose="020B0604030504040204" pitchFamily="34" charset="0"/>
              <a:cs typeface="Tahoma" panose="020B0604030504040204" pitchFamily="34" charset="0"/>
            </a:endParaRPr>
          </a:p>
        </p:txBody>
      </p:sp>
      <p:pic>
        <p:nvPicPr>
          <p:cNvPr id="7" name="Imagen 6">
            <a:extLst>
              <a:ext uri="{FF2B5EF4-FFF2-40B4-BE49-F238E27FC236}">
                <a16:creationId xmlns:a16="http://schemas.microsoft.com/office/drawing/2014/main" id="{DD773A7F-C624-4F16-AB45-EEB3E5C9FC84}"/>
              </a:ext>
            </a:extLst>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473556" y="108971"/>
            <a:ext cx="1639887" cy="428287"/>
          </a:xfrm>
          <a:prstGeom prst="rect">
            <a:avLst/>
          </a:prstGeom>
        </p:spPr>
      </p:pic>
    </p:spTree>
    <p:extLst>
      <p:ext uri="{BB962C8B-B14F-4D97-AF65-F5344CB8AC3E}">
        <p14:creationId xmlns:p14="http://schemas.microsoft.com/office/powerpoint/2010/main" val="23317496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4A99"/>
        </a:solidFill>
        <a:effectLst/>
      </p:bgPr>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A76C868C-2BB8-48A4-8C86-0366749321F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746507" y="264117"/>
            <a:ext cx="2325137" cy="607252"/>
          </a:xfrm>
          <a:prstGeom prst="rect">
            <a:avLst/>
          </a:prstGeom>
        </p:spPr>
      </p:pic>
    </p:spTree>
    <p:extLst>
      <p:ext uri="{BB962C8B-B14F-4D97-AF65-F5344CB8AC3E}">
        <p14:creationId xmlns:p14="http://schemas.microsoft.com/office/powerpoint/2010/main" val="2541446986"/>
      </p:ext>
    </p:extLst>
  </p:cSld>
  <p:clrMap bg1="lt1" tx1="dk1" bg2="lt2" tx2="dk2" accent1="accent1" accent2="accent2" accent3="accent3" accent4="accent4" accent5="accent5" accent6="accent6" hlink="hlink" folHlink="folHlink"/>
  <p:sldLayoutIdLst>
    <p:sldLayoutId id="214748370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db-book.com/university-lab-dir/sample_tables-dir/index.ht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www.mysqltutorial.org/mysql-sample-database.aspx"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www.mysqltutorial.org/import-csv-file-mysql-tabl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1">
    <p:spTree>
      <p:nvGrpSpPr>
        <p:cNvPr id="1" name=""/>
        <p:cNvGrpSpPr/>
        <p:nvPr/>
      </p:nvGrpSpPr>
      <p:grpSpPr>
        <a:xfrm>
          <a:off x="0" y="0"/>
          <a:ext cx="0" cy="0"/>
          <a:chOff x="0" y="0"/>
          <a:chExt cx="0" cy="0"/>
        </a:xfrm>
      </p:grpSpPr>
      <p:pic>
        <p:nvPicPr>
          <p:cNvPr id="14" name="Imagen 13"/>
          <p:cNvPicPr>
            <a:picLocks noChangeAspect="1"/>
          </p:cNvPicPr>
          <p:nvPr/>
        </p:nvPicPr>
        <p:blipFill>
          <a:blip r:embed="rId3"/>
          <a:stretch>
            <a:fillRect/>
          </a:stretch>
        </p:blipFill>
        <p:spPr>
          <a:xfrm>
            <a:off x="1905000" y="15"/>
            <a:ext cx="10287000" cy="6858000"/>
          </a:xfrm>
          <a:prstGeom prst="rect">
            <a:avLst/>
          </a:prstGeom>
        </p:spPr>
      </p:pic>
      <p:sp>
        <p:nvSpPr>
          <p:cNvPr id="3" name="Rectángulo 3"/>
          <p:cNvSpPr/>
          <p:nvPr/>
        </p:nvSpPr>
        <p:spPr>
          <a:xfrm rot="5400013">
            <a:off x="-182028" y="164252"/>
            <a:ext cx="6858000" cy="6529551"/>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ndParaRPr>
          </a:p>
        </p:txBody>
      </p:sp>
      <p:sp>
        <p:nvSpPr>
          <p:cNvPr id="8" name="CuadroTexto 8">
            <a:extLst>
              <a:ext uri="{FF2B5EF4-FFF2-40B4-BE49-F238E27FC236}">
                <a16:creationId xmlns:a16="http://schemas.microsoft.com/office/drawing/2014/main" id="{A0925BB1-4650-D545-9715-F4F4A3176508}"/>
              </a:ext>
            </a:extLst>
          </p:cNvPr>
          <p:cNvSpPr txBox="1"/>
          <p:nvPr/>
        </p:nvSpPr>
        <p:spPr>
          <a:xfrm>
            <a:off x="182136" y="5786797"/>
            <a:ext cx="5593966" cy="923330"/>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b="0" i="0" u="none" strike="noStrike" kern="1200" cap="none" spc="0" baseline="0" dirty="0">
                <a:solidFill>
                  <a:srgbClr val="FFFFFF"/>
                </a:solidFill>
                <a:uFillTx/>
                <a:ea typeface="Tahoma" panose="020B0604030504040204" pitchFamily="34" charset="0"/>
                <a:cs typeface="Tahoma" panose="020B0604030504040204" pitchFamily="34" charset="0"/>
              </a:rPr>
              <a:t>Rafael Socas Gutiérrez </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b="0" i="0" u="none" strike="noStrike" kern="1200" cap="none" spc="0" baseline="0" dirty="0">
                <a:solidFill>
                  <a:srgbClr val="FFFFFF"/>
                </a:solidFill>
                <a:uFillTx/>
                <a:ea typeface="Tahoma" panose="020B0604030504040204" pitchFamily="34" charset="0"/>
                <a:cs typeface="Tahoma" panose="020B0604030504040204" pitchFamily="34" charset="0"/>
              </a:rPr>
              <a:t>Amador Maho Etohá</a:t>
            </a:r>
            <a:endParaRPr lang="es-ES" sz="1100" dirty="0">
              <a:solidFill>
                <a:srgbClr val="FFFFFF"/>
              </a:solidFill>
              <a:ea typeface="Tahoma" panose="020B0604030504040204" pitchFamily="34" charset="0"/>
              <a:cs typeface="Tahoma" panose="020B0604030504040204" pitchFamily="34" charset="0"/>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dirty="0">
                <a:solidFill>
                  <a:srgbClr val="FFFFFF"/>
                </a:solidFill>
                <a:ea typeface="Tahoma" panose="020B0604030504040204" pitchFamily="34" charset="0"/>
                <a:cs typeface="Tahoma" panose="020B0604030504040204" pitchFamily="34" charset="0"/>
              </a:rPr>
              <a:t>Ana Isabel Sánchez González</a:t>
            </a:r>
          </a:p>
        </p:txBody>
      </p:sp>
      <p:sp>
        <p:nvSpPr>
          <p:cNvPr id="2" name="CuadroTexto 7">
            <a:extLst>
              <a:ext uri="{FF2B5EF4-FFF2-40B4-BE49-F238E27FC236}">
                <a16:creationId xmlns:a16="http://schemas.microsoft.com/office/drawing/2014/main" id="{D9DEC5F1-6B0A-74DB-02BD-85190CC915F4}"/>
              </a:ext>
            </a:extLst>
          </p:cNvPr>
          <p:cNvSpPr txBox="1"/>
          <p:nvPr/>
        </p:nvSpPr>
        <p:spPr>
          <a:xfrm>
            <a:off x="-17817" y="291778"/>
            <a:ext cx="6529563" cy="861774"/>
          </a:xfrm>
          <a:prstGeom prst="rect">
            <a:avLst/>
          </a:prstGeom>
          <a:noFill/>
          <a:ln cap="flat">
            <a:noFill/>
          </a:ln>
          <a:effectLst/>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1600" b="0" i="0" u="none" strike="noStrike" kern="1200" cap="none" spc="0" baseline="0" dirty="0">
                <a:solidFill>
                  <a:srgbClr val="FFFFFF"/>
                </a:solidFill>
                <a:uFillTx/>
                <a:ea typeface="Tahoma" panose="020B0604030504040204" pitchFamily="34" charset="0"/>
                <a:cs typeface="Tahoma" panose="020B0604030504040204" pitchFamily="34" charset="0"/>
              </a:rPr>
              <a:t>Grado en Ingeniería del Software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1600" dirty="0">
                <a:solidFill>
                  <a:srgbClr val="FFFFFF"/>
                </a:solidFill>
                <a:ea typeface="Tahoma" panose="020B0604030504040204" pitchFamily="34" charset="0"/>
                <a:cs typeface="Tahoma" panose="020B0604030504040204" pitchFamily="34" charset="0"/>
              </a:rPr>
              <a:t>Doble Grado en Matemática Computacional e Ingeniería del Software</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1600" b="0" i="0" u="none" strike="noStrike" kern="1200" cap="none" spc="0" baseline="0" dirty="0">
                <a:solidFill>
                  <a:srgbClr val="FFFFFF"/>
                </a:solidFill>
                <a:uFillTx/>
                <a:ea typeface="Tahoma" panose="020B0604030504040204" pitchFamily="34" charset="0"/>
                <a:cs typeface="Tahoma" panose="020B0604030504040204" pitchFamily="34" charset="0"/>
              </a:rPr>
              <a:t>Doble Grado en Física Computacional e Ingeniería de Software</a:t>
            </a:r>
          </a:p>
        </p:txBody>
      </p:sp>
      <p:sp>
        <p:nvSpPr>
          <p:cNvPr id="4" name="CuadroTexto 4"/>
          <p:cNvSpPr txBox="1"/>
          <p:nvPr/>
        </p:nvSpPr>
        <p:spPr>
          <a:xfrm>
            <a:off x="-17816" y="3694792"/>
            <a:ext cx="6529563" cy="1754326"/>
          </a:xfrm>
          <a:prstGeom prst="rect">
            <a:avLst/>
          </a:prstGeom>
          <a:noFill/>
          <a:ln cap="flat">
            <a:noFill/>
          </a:ln>
          <a:effectLst/>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600" b="0" i="0" u="none" strike="noStrike" kern="1200" cap="none" spc="0" dirty="0">
                <a:solidFill>
                  <a:srgbClr val="FFFFFF"/>
                </a:solidFill>
                <a:uFillTx/>
                <a:ea typeface="Tahoma" panose="020B0604030504040204" pitchFamily="34" charset="0"/>
                <a:cs typeface="Tahoma" panose="020B0604030504040204" pitchFamily="34" charset="0"/>
              </a:rPr>
              <a:t>Práctica 1</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600" dirty="0">
                <a:solidFill>
                  <a:srgbClr val="FFFFFF"/>
                </a:solidFill>
                <a:ea typeface="Tahoma" panose="020B0604030504040204" pitchFamily="34" charset="0"/>
                <a:cs typeface="Tahoma" panose="020B0604030504040204" pitchFamily="34" charset="0"/>
              </a:rPr>
              <a:t>Modelo Relacional y </a:t>
            </a: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600" dirty="0">
                <a:solidFill>
                  <a:srgbClr val="FFFFFF"/>
                </a:solidFill>
                <a:ea typeface="Tahoma" panose="020B0604030504040204" pitchFamily="34" charset="0"/>
                <a:cs typeface="Tahoma" panose="020B0604030504040204" pitchFamily="34" charset="0"/>
              </a:rPr>
              <a:t>Lenguaje SQL Avanzado</a:t>
            </a:r>
          </a:p>
        </p:txBody>
      </p:sp>
      <p:sp>
        <p:nvSpPr>
          <p:cNvPr id="5" name="CuadroTexto 6"/>
          <p:cNvSpPr txBox="1"/>
          <p:nvPr/>
        </p:nvSpPr>
        <p:spPr>
          <a:xfrm>
            <a:off x="3688645" y="6063796"/>
            <a:ext cx="2601157" cy="369332"/>
          </a:xfrm>
          <a:prstGeom prst="rect">
            <a:avLst/>
          </a:prstGeom>
          <a:noFill/>
          <a:ln cap="flat">
            <a:noFill/>
          </a:ln>
          <a:effectLst/>
        </p:spPr>
        <p:txBody>
          <a:bodyPr vert="horz" wrap="square" lIns="91440" tIns="45720" rIns="91440" bIns="45720" anchor="t" anchorCtr="0" compatLnSpc="1">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kern="0" dirty="0">
                <a:solidFill>
                  <a:srgbClr val="FFFFFF"/>
                </a:solidFill>
                <a:ea typeface="Tahoma" panose="020B0604030504040204" pitchFamily="34" charset="0"/>
                <a:cs typeface="Tahoma" panose="020B0604030504040204" pitchFamily="34" charset="0"/>
              </a:rPr>
              <a:t>Curso 2024/25</a:t>
            </a:r>
            <a:endParaRPr lang="es-ES" sz="11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pic>
        <p:nvPicPr>
          <p:cNvPr id="9" name="Imagen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5503" y="2343338"/>
            <a:ext cx="2771775" cy="723900"/>
          </a:xfrm>
          <a:prstGeom prst="rect">
            <a:avLst/>
          </a:prstGeom>
        </p:spPr>
      </p:pic>
      <p:sp>
        <p:nvSpPr>
          <p:cNvPr id="10" name="CuadroTexto 4"/>
          <p:cNvSpPr txBox="1"/>
          <p:nvPr/>
        </p:nvSpPr>
        <p:spPr>
          <a:xfrm>
            <a:off x="-17816" y="1229872"/>
            <a:ext cx="6529563" cy="646331"/>
          </a:xfrm>
          <a:prstGeom prst="rect">
            <a:avLst/>
          </a:prstGeom>
          <a:noFill/>
          <a:ln cap="flat">
            <a:noFill/>
          </a:ln>
          <a:effectLst/>
        </p:spPr>
        <p:txBody>
          <a:bodyPr vert="horz" wrap="square" lIns="91440" tIns="45720" rIns="91440" bIns="45720" anchor="t" anchorCtr="1" compatLnSpc="1">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600" b="0" i="0" u="none" strike="noStrike" kern="1200" cap="none" spc="0" dirty="0">
                <a:solidFill>
                  <a:srgbClr val="FFFFFF"/>
                </a:solidFill>
                <a:uFillTx/>
                <a:ea typeface="Tahoma" panose="020B0604030504040204" pitchFamily="34" charset="0"/>
                <a:cs typeface="Tahoma" panose="020B0604030504040204" pitchFamily="34" charset="0"/>
              </a:rPr>
              <a:t>Bases de Datos</a:t>
            </a:r>
            <a:endParaRPr lang="es-ES" sz="3600" dirty="0">
              <a:solidFill>
                <a:srgbClr val="FFFFFF"/>
              </a:solidFill>
              <a:ea typeface="Tahoma" panose="020B0604030504040204" pitchFamily="34" charset="0"/>
              <a:cs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sp>
        <p:nvSpPr>
          <p:cNvPr id="5" name="CuadroTexto 86"/>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9" name="Rectángulo redondeado 7"/>
          <p:cNvSpPr/>
          <p:nvPr/>
        </p:nvSpPr>
        <p:spPr>
          <a:xfrm>
            <a:off x="182424" y="908005"/>
            <a:ext cx="3927938" cy="494667"/>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r>
              <a:rPr lang="es-ES" sz="2400" b="1" dirty="0">
                <a:solidFill>
                  <a:srgbClr val="FFFFFF"/>
                </a:solidFill>
                <a:ea typeface="Tahoma" panose="020B0604030504040204" pitchFamily="34" charset="0"/>
                <a:cs typeface="Tahoma" panose="020B0604030504040204" pitchFamily="34" charset="0"/>
              </a:rPr>
              <a:t>Datos de los Alumnos</a:t>
            </a:r>
          </a:p>
        </p:txBody>
      </p:sp>
      <p:graphicFrame>
        <p:nvGraphicFramePr>
          <p:cNvPr id="3" name="Tabla 2"/>
          <p:cNvGraphicFramePr>
            <a:graphicFrameLocks noGrp="1"/>
          </p:cNvGraphicFramePr>
          <p:nvPr>
            <p:extLst>
              <p:ext uri="{D42A27DB-BD31-4B8C-83A1-F6EECF244321}">
                <p14:modId xmlns:p14="http://schemas.microsoft.com/office/powerpoint/2010/main" val="1916055609"/>
              </p:ext>
            </p:extLst>
          </p:nvPr>
        </p:nvGraphicFramePr>
        <p:xfrm>
          <a:off x="2031540" y="1648369"/>
          <a:ext cx="8127999" cy="1478280"/>
        </p:xfrm>
        <a:graphic>
          <a:graphicData uri="http://schemas.openxmlformats.org/drawingml/2006/table">
            <a:tbl>
              <a:tblPr firstRow="1" bandRow="1">
                <a:tableStyleId>{7DF18680-E054-41AD-8BC1-D1AEF772440D}</a:tableStyleId>
              </a:tblPr>
              <a:tblGrid>
                <a:gridCol w="925191">
                  <a:extLst>
                    <a:ext uri="{9D8B030D-6E8A-4147-A177-3AD203B41FA5}">
                      <a16:colId xmlns:a16="http://schemas.microsoft.com/office/drawing/2014/main" val="20000"/>
                    </a:ext>
                  </a:extLst>
                </a:gridCol>
                <a:gridCol w="4493475">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0">
                <a:tc>
                  <a:txBody>
                    <a:bodyPr/>
                    <a:lstStyle/>
                    <a:p>
                      <a:pPr algn="ctr"/>
                      <a:r>
                        <a:rPr lang="es-ES" dirty="0"/>
                        <a:t>#</a:t>
                      </a:r>
                    </a:p>
                  </a:txBody>
                  <a:tcPr/>
                </a:tc>
                <a:tc>
                  <a:txBody>
                    <a:bodyPr/>
                    <a:lstStyle/>
                    <a:p>
                      <a:pPr algn="ctr"/>
                      <a:r>
                        <a:rPr lang="es-ES" dirty="0"/>
                        <a:t>Nombre y Apellidos</a:t>
                      </a:r>
                    </a:p>
                  </a:txBody>
                  <a:tcPr/>
                </a:tc>
                <a:tc>
                  <a:txBody>
                    <a:bodyPr/>
                    <a:lstStyle/>
                    <a:p>
                      <a:pPr algn="ctr"/>
                      <a:r>
                        <a:rPr lang="es-ES" dirty="0"/>
                        <a:t>Curso</a:t>
                      </a:r>
                    </a:p>
                  </a:txBody>
                  <a:tcPr/>
                </a:tc>
                <a:extLst>
                  <a:ext uri="{0D108BD9-81ED-4DB2-BD59-A6C34878D82A}">
                    <a16:rowId xmlns:a16="http://schemas.microsoft.com/office/drawing/2014/main" val="10000"/>
                  </a:ext>
                </a:extLst>
              </a:tr>
              <a:tr h="370840">
                <a:tc>
                  <a:txBody>
                    <a:bodyPr/>
                    <a:lstStyle/>
                    <a:p>
                      <a:pPr algn="ctr"/>
                      <a:r>
                        <a:rPr lang="es-ES" b="1" dirty="0"/>
                        <a:t>1</a:t>
                      </a:r>
                    </a:p>
                  </a:txBody>
                  <a:tcPr/>
                </a:tc>
                <a:tc>
                  <a:txBody>
                    <a:bodyPr/>
                    <a:lstStyle/>
                    <a:p>
                      <a:pPr algn="ctr"/>
                      <a:endParaRPr lang="es-ES" b="1" dirty="0"/>
                    </a:p>
                  </a:txBody>
                  <a:tcPr/>
                </a:tc>
                <a:tc>
                  <a:txBody>
                    <a:bodyPr/>
                    <a:lstStyle/>
                    <a:p>
                      <a:pPr algn="ctr"/>
                      <a:endParaRPr lang="es-ES" b="1" dirty="0"/>
                    </a:p>
                  </a:txBody>
                  <a:tcPr/>
                </a:tc>
                <a:extLst>
                  <a:ext uri="{0D108BD9-81ED-4DB2-BD59-A6C34878D82A}">
                    <a16:rowId xmlns:a16="http://schemas.microsoft.com/office/drawing/2014/main" val="10001"/>
                  </a:ext>
                </a:extLst>
              </a:tr>
              <a:tr h="370840">
                <a:tc>
                  <a:txBody>
                    <a:bodyPr/>
                    <a:lstStyle/>
                    <a:p>
                      <a:pPr algn="ctr"/>
                      <a:r>
                        <a:rPr lang="es-ES" b="1" dirty="0"/>
                        <a:t>2</a:t>
                      </a:r>
                    </a:p>
                  </a:txBody>
                  <a:tcPr/>
                </a:tc>
                <a:tc>
                  <a:txBody>
                    <a:bodyPr/>
                    <a:lstStyle/>
                    <a:p>
                      <a:pPr algn="ctr"/>
                      <a:endParaRPr lang="es-ES" b="1" dirty="0"/>
                    </a:p>
                  </a:txBody>
                  <a:tcPr/>
                </a:tc>
                <a:tc>
                  <a:txBody>
                    <a:bodyPr/>
                    <a:lstStyle/>
                    <a:p>
                      <a:pPr algn="ctr"/>
                      <a:endParaRPr lang="es-ES" b="1"/>
                    </a:p>
                  </a:txBody>
                  <a:tcPr/>
                </a:tc>
                <a:extLst>
                  <a:ext uri="{0D108BD9-81ED-4DB2-BD59-A6C34878D82A}">
                    <a16:rowId xmlns:a16="http://schemas.microsoft.com/office/drawing/2014/main" val="10002"/>
                  </a:ext>
                </a:extLst>
              </a:tr>
              <a:tr h="370840">
                <a:tc>
                  <a:txBody>
                    <a:bodyPr/>
                    <a:lstStyle/>
                    <a:p>
                      <a:pPr algn="ctr"/>
                      <a:r>
                        <a:rPr lang="es-ES" b="1" dirty="0"/>
                        <a:t>3</a:t>
                      </a:r>
                    </a:p>
                  </a:txBody>
                  <a:tcPr/>
                </a:tc>
                <a:tc>
                  <a:txBody>
                    <a:bodyPr/>
                    <a:lstStyle/>
                    <a:p>
                      <a:pPr algn="ctr"/>
                      <a:endParaRPr lang="es-ES" b="1" dirty="0"/>
                    </a:p>
                  </a:txBody>
                  <a:tcPr/>
                </a:tc>
                <a:tc>
                  <a:txBody>
                    <a:bodyPr/>
                    <a:lstStyle/>
                    <a:p>
                      <a:pPr algn="ctr"/>
                      <a:endParaRPr lang="es-ES" b="1" dirty="0"/>
                    </a:p>
                  </a:txBody>
                  <a:tcPr/>
                </a:tc>
                <a:extLst>
                  <a:ext uri="{0D108BD9-81ED-4DB2-BD59-A6C34878D82A}">
                    <a16:rowId xmlns:a16="http://schemas.microsoft.com/office/drawing/2014/main" val="10003"/>
                  </a:ext>
                </a:extLst>
              </a:tr>
            </a:tbl>
          </a:graphicData>
        </a:graphic>
      </p:graphicFrame>
      <p:sp>
        <p:nvSpPr>
          <p:cNvPr id="12" name="Rectángulo redondeado 7"/>
          <p:cNvSpPr/>
          <p:nvPr/>
        </p:nvSpPr>
        <p:spPr>
          <a:xfrm>
            <a:off x="182424" y="3372346"/>
            <a:ext cx="3927938" cy="494667"/>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r>
              <a:rPr lang="es-ES" sz="2400" b="1" dirty="0">
                <a:solidFill>
                  <a:srgbClr val="FFFFFF"/>
                </a:solidFill>
                <a:ea typeface="Tahoma" panose="020B0604030504040204" pitchFamily="34" charset="0"/>
                <a:cs typeface="Tahoma" panose="020B0604030504040204" pitchFamily="34" charset="0"/>
              </a:rPr>
              <a:t>Instrucciones</a:t>
            </a:r>
          </a:p>
        </p:txBody>
      </p:sp>
      <p:sp>
        <p:nvSpPr>
          <p:cNvPr id="13" name="Rectángulo 12"/>
          <p:cNvSpPr/>
          <p:nvPr/>
        </p:nvSpPr>
        <p:spPr>
          <a:xfrm>
            <a:off x="345180" y="4023851"/>
            <a:ext cx="11533142" cy="2474652"/>
          </a:xfrm>
          <a:prstGeom prst="rect">
            <a:avLst/>
          </a:prstGeom>
        </p:spPr>
        <p:txBody>
          <a:bodyPr wrap="square" lIns="91440" tIns="45720" rIns="91440" bIns="45720" anchor="t">
            <a:spAutoFit/>
          </a:bodyPr>
          <a:lstStyle/>
          <a:p>
            <a:pPr marL="285750" indent="-285750" algn="just">
              <a:lnSpc>
                <a:spcPct val="107000"/>
              </a:lnSpc>
              <a:spcAft>
                <a:spcPts val="600"/>
              </a:spcAft>
              <a:buFont typeface="Arial" panose="020B0604020202020204" pitchFamily="34" charset="0"/>
              <a:buChar char="•"/>
              <a:tabLst>
                <a:tab pos="5363845" algn="r"/>
              </a:tabLst>
            </a:pPr>
            <a:r>
              <a:rPr lang="es-ES" dirty="0">
                <a:solidFill>
                  <a:srgbClr val="004A99"/>
                </a:solidFill>
                <a:latin typeface="Calibri"/>
                <a:ea typeface="Calibri" panose="020F0502020204030204" pitchFamily="34" charset="0"/>
                <a:cs typeface="Times New Roman"/>
              </a:rPr>
              <a:t>Completa la práctica en este mismo </a:t>
            </a:r>
            <a:r>
              <a:rPr lang="es-ES" dirty="0" err="1">
                <a:solidFill>
                  <a:srgbClr val="004A99"/>
                </a:solidFill>
                <a:latin typeface="Calibri"/>
                <a:ea typeface="Calibri" panose="020F0502020204030204" pitchFamily="34" charset="0"/>
                <a:cs typeface="Times New Roman"/>
              </a:rPr>
              <a:t>Power</a:t>
            </a:r>
            <a:r>
              <a:rPr lang="es-ES" dirty="0">
                <a:solidFill>
                  <a:srgbClr val="004A99"/>
                </a:solidFill>
                <a:latin typeface="Calibri"/>
                <a:ea typeface="Calibri" panose="020F0502020204030204" pitchFamily="34" charset="0"/>
                <a:cs typeface="Times New Roman"/>
              </a:rPr>
              <a:t> Point rellenando las páginas en blanco o incluyendo más páginas si necesitas más espacio para los pantallazos y las explicaciones.</a:t>
            </a:r>
          </a:p>
          <a:p>
            <a:pPr marL="285750" lvl="0" indent="-285750" algn="just">
              <a:lnSpc>
                <a:spcPct val="107000"/>
              </a:lnSpc>
              <a:spcAft>
                <a:spcPts val="600"/>
              </a:spcAft>
              <a:buFont typeface="Arial" panose="020B0604020202020204" pitchFamily="34" charset="0"/>
              <a:buChar char="•"/>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Una vez completado el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Power</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Point, guárdalo en formato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pdf</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A la plataforma BB sube el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pdf</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 resultante.</a:t>
            </a:r>
          </a:p>
          <a:p>
            <a:pPr marL="285750" lvl="0" indent="-285750" algn="just">
              <a:lnSpc>
                <a:spcPct val="107000"/>
              </a:lnSpc>
              <a:spcAft>
                <a:spcPts val="600"/>
              </a:spcAft>
              <a:buFont typeface="Arial" panose="020B0604020202020204" pitchFamily="34" charset="0"/>
              <a:buChar char="•"/>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IMPORTANTE</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Adjunta también un script con todas las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queries</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de Algebra Relacional y SQL que has utilizado para resolver las diferentes preguntas.</a:t>
            </a:r>
          </a:p>
          <a:p>
            <a:pPr marL="285750" lvl="0" indent="-285750" algn="just">
              <a:lnSpc>
                <a:spcPct val="107000"/>
              </a:lnSpc>
              <a:spcAft>
                <a:spcPts val="600"/>
              </a:spcAft>
              <a:buFont typeface="Arial" panose="020B0604020202020204" pitchFamily="34" charset="0"/>
              <a:buChar char="•"/>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Rellene el nombre/apellidos y el curso de los participantes del grupo.</a:t>
            </a:r>
          </a:p>
          <a:p>
            <a:pPr marL="285750" lvl="0" indent="-285750" algn="just">
              <a:lnSpc>
                <a:spcPct val="107000"/>
              </a:lnSpc>
              <a:spcAft>
                <a:spcPts val="600"/>
              </a:spcAft>
              <a:buFont typeface="Arial" panose="020B0604020202020204" pitchFamily="34" charset="0"/>
              <a:buChar char="•"/>
              <a:tabLst>
                <a:tab pos="5363845" algn="r"/>
              </a:tabLst>
            </a:pP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Fecha máxima de entrega: Domingo 23 de Marzo </a:t>
            </a:r>
            <a:r>
              <a:rPr lang="es-ES" b="1">
                <a:solidFill>
                  <a:srgbClr val="FF0000"/>
                </a:solidFill>
                <a:latin typeface="Calibri" panose="020F0502020204030204" pitchFamily="34" charset="0"/>
                <a:ea typeface="Calibri" panose="020F0502020204030204" pitchFamily="34" charset="0"/>
                <a:cs typeface="Times New Roman" panose="02020603050405020304" pitchFamily="18" charset="0"/>
              </a:rPr>
              <a:t>del 2025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a las 23:59</a:t>
            </a:r>
          </a:p>
        </p:txBody>
      </p:sp>
    </p:spTree>
    <p:extLst>
      <p:ext uri="{BB962C8B-B14F-4D97-AF65-F5344CB8AC3E}">
        <p14:creationId xmlns:p14="http://schemas.microsoft.com/office/powerpoint/2010/main" val="4172657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32" name="Rectángulo 31"/>
          <p:cNvSpPr/>
          <p:nvPr/>
        </p:nvSpPr>
        <p:spPr>
          <a:xfrm>
            <a:off x="182423" y="1758758"/>
            <a:ext cx="11465633" cy="685059"/>
          </a:xfrm>
          <a:prstGeom prst="rect">
            <a:avLst/>
          </a:prstGeom>
        </p:spPr>
        <p:txBody>
          <a:bodyPr wrap="square">
            <a:spAutoFit/>
          </a:bodyPr>
          <a:lstStyle/>
          <a:p>
            <a:pPr lvl="0">
              <a:lnSpc>
                <a:spcPct val="107000"/>
              </a:lnSpc>
              <a:spcAft>
                <a:spcPts val="600"/>
              </a:spcAft>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Se dispone de la BBDD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university</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de la Universidad de Yale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hlinkClick r:id="rId4"/>
              </a:rPr>
              <a:t>https://www.db-book.com/university-lab-dir/sample_tables-dir/index.html</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 cuyo </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Esquema</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se presenta a continuación:</a:t>
            </a:r>
          </a:p>
        </p:txBody>
      </p:sp>
      <p:sp>
        <p:nvSpPr>
          <p:cNvPr id="36" name="Rectángulo redondeado 7"/>
          <p:cNvSpPr/>
          <p:nvPr/>
        </p:nvSpPr>
        <p:spPr>
          <a:xfrm>
            <a:off x="182423" y="908005"/>
            <a:ext cx="4870007" cy="693915"/>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r>
              <a:rPr lang="es-ES" sz="2400" b="1" dirty="0">
                <a:solidFill>
                  <a:srgbClr val="FFFFFF"/>
                </a:solidFill>
                <a:ea typeface="Tahoma" panose="020B0604030504040204" pitchFamily="34" charset="0"/>
                <a:cs typeface="Tahoma" panose="020B0604030504040204" pitchFamily="34" charset="0"/>
              </a:rPr>
              <a:t>Enunciado</a:t>
            </a:r>
          </a:p>
        </p:txBody>
      </p:sp>
      <p:pic>
        <p:nvPicPr>
          <p:cNvPr id="6" name="Imagen 5"/>
          <p:cNvPicPr>
            <a:picLocks noChangeAspect="1"/>
          </p:cNvPicPr>
          <p:nvPr/>
        </p:nvPicPr>
        <p:blipFill>
          <a:blip r:embed="rId5"/>
          <a:stretch>
            <a:fillRect/>
          </a:stretch>
        </p:blipFill>
        <p:spPr>
          <a:xfrm>
            <a:off x="324448" y="2443817"/>
            <a:ext cx="4551636" cy="2113410"/>
          </a:xfrm>
          <a:prstGeom prst="rect">
            <a:avLst/>
          </a:prstGeom>
        </p:spPr>
      </p:pic>
      <p:cxnSp>
        <p:nvCxnSpPr>
          <p:cNvPr id="7" name="Conector recto 6"/>
          <p:cNvCxnSpPr/>
          <p:nvPr/>
        </p:nvCxnSpPr>
        <p:spPr>
          <a:xfrm>
            <a:off x="5526741" y="5523379"/>
            <a:ext cx="632012" cy="6724"/>
          </a:xfrm>
          <a:prstGeom prst="line">
            <a:avLst/>
          </a:prstGeom>
          <a:ln>
            <a:solidFill>
              <a:schemeClr val="bg1">
                <a:lumMod val="75000"/>
              </a:schemeClr>
            </a:solidFill>
          </a:ln>
        </p:spPr>
        <p:style>
          <a:lnRef idx="1">
            <a:schemeClr val="dk1"/>
          </a:lnRef>
          <a:fillRef idx="0">
            <a:schemeClr val="dk1"/>
          </a:fillRef>
          <a:effectRef idx="0">
            <a:schemeClr val="dk1"/>
          </a:effectRef>
          <a:fontRef idx="minor">
            <a:schemeClr val="tx1"/>
          </a:fontRef>
        </p:style>
      </p:cxnSp>
      <p:sp>
        <p:nvSpPr>
          <p:cNvPr id="11" name="Rectángulo 31"/>
          <p:cNvSpPr/>
          <p:nvPr/>
        </p:nvSpPr>
        <p:spPr>
          <a:xfrm>
            <a:off x="324448" y="4916453"/>
            <a:ext cx="4551636" cy="981423"/>
          </a:xfrm>
          <a:prstGeom prst="rect">
            <a:avLst/>
          </a:prstGeom>
        </p:spPr>
        <p:txBody>
          <a:bodyPr wrap="square">
            <a:spAutoFit/>
          </a:bodyPr>
          <a:lstStyle/>
          <a:p>
            <a:pPr lvl="0"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Cargue esta BBDD en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MySQL</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usando los ficheros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DDL.sql</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y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smallRelationsInsertFile.sql</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que se adjuntan </a:t>
            </a:r>
          </a:p>
        </p:txBody>
      </p:sp>
      <p:pic>
        <p:nvPicPr>
          <p:cNvPr id="3" name="Picture 2"/>
          <p:cNvPicPr>
            <a:picLocks noChangeAspect="1"/>
          </p:cNvPicPr>
          <p:nvPr/>
        </p:nvPicPr>
        <p:blipFill>
          <a:blip r:embed="rId6"/>
          <a:stretch>
            <a:fillRect/>
          </a:stretch>
        </p:blipFill>
        <p:spPr>
          <a:xfrm>
            <a:off x="5052430" y="2352501"/>
            <a:ext cx="6677845" cy="3988058"/>
          </a:xfrm>
          <a:prstGeom prst="rect">
            <a:avLst/>
          </a:prstGeom>
        </p:spPr>
      </p:pic>
      <p:sp>
        <p:nvSpPr>
          <p:cNvPr id="2" name="CuadroTexto 86">
            <a:extLst>
              <a:ext uri="{FF2B5EF4-FFF2-40B4-BE49-F238E27FC236}">
                <a16:creationId xmlns:a16="http://schemas.microsoft.com/office/drawing/2014/main" id="{AEDA4303-4392-3BDF-B9E1-47F579F5C99B}"/>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844977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32" name="Rectángulo 31"/>
          <p:cNvSpPr/>
          <p:nvPr/>
        </p:nvSpPr>
        <p:spPr>
          <a:xfrm>
            <a:off x="182423" y="1758758"/>
            <a:ext cx="11465633" cy="685059"/>
          </a:xfrm>
          <a:prstGeom prst="rect">
            <a:avLst/>
          </a:prstGeom>
        </p:spPr>
        <p:txBody>
          <a:bodyPr wrap="square">
            <a:spAutoFit/>
          </a:bodyPr>
          <a:lstStyle/>
          <a:p>
            <a:pPr lvl="0">
              <a:lnSpc>
                <a:spcPct val="107000"/>
              </a:lnSpc>
              <a:spcAft>
                <a:spcPts val="600"/>
              </a:spcAft>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Se dispone también de la BBDD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classicmodels</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que es la BBDD de ejemplo del tutorial de MySQL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hlinkClick r:id="rId4"/>
              </a:rPr>
              <a:t>https://www.mysqltutorial.org/mysql-sample-database.aspx</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 cuyo </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Esquema</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se presenta a continuación:</a:t>
            </a:r>
          </a:p>
        </p:txBody>
      </p:sp>
      <p:sp>
        <p:nvSpPr>
          <p:cNvPr id="36" name="Rectángulo redondeado 7"/>
          <p:cNvSpPr/>
          <p:nvPr/>
        </p:nvSpPr>
        <p:spPr>
          <a:xfrm>
            <a:off x="182423" y="908005"/>
            <a:ext cx="4870007" cy="693915"/>
          </a:xfrm>
          <a:custGeom>
            <a:avLst/>
            <a:gdLst>
              <a:gd name="f0" fmla="val 10800000"/>
              <a:gd name="f1" fmla="val 5400000"/>
              <a:gd name="f2" fmla="val 16200000"/>
              <a:gd name="f3" fmla="val w"/>
              <a:gd name="f4" fmla="val h"/>
              <a:gd name="f5" fmla="val ss"/>
              <a:gd name="f6" fmla="val 0"/>
              <a:gd name="f7" fmla="*/ 5419351 1 1725033"/>
              <a:gd name="f8" fmla="val 45"/>
              <a:gd name="f9" fmla="val 3600"/>
              <a:gd name="f10" fmla="abs f3"/>
              <a:gd name="f11" fmla="abs f4"/>
              <a:gd name="f12" fmla="abs f5"/>
              <a:gd name="f13" fmla="*/ f7 1 180"/>
              <a:gd name="f14" fmla="+- 0 0 f1"/>
              <a:gd name="f15" fmla="+- f6 f9 0"/>
              <a:gd name="f16" fmla="?: f10 f3 1"/>
              <a:gd name="f17" fmla="?: f11 f4 1"/>
              <a:gd name="f18" fmla="?: f12 f5 1"/>
              <a:gd name="f19" fmla="*/ f8 f13 1"/>
              <a:gd name="f20" fmla="+- f6 0 f15"/>
              <a:gd name="f21" fmla="+- f15 0 f6"/>
              <a:gd name="f22" fmla="*/ f16 1 21600"/>
              <a:gd name="f23" fmla="*/ f17 1 21600"/>
              <a:gd name="f24" fmla="*/ 21600 f16 1"/>
              <a:gd name="f25" fmla="*/ 21600 f17 1"/>
              <a:gd name="f26" fmla="+- 0 0 f19"/>
              <a:gd name="f27" fmla="abs f20"/>
              <a:gd name="f28" fmla="abs f21"/>
              <a:gd name="f29" fmla="?: f20 f14 f1"/>
              <a:gd name="f30" fmla="?: f20 f1 f14"/>
              <a:gd name="f31" fmla="?: f20 f2 f1"/>
              <a:gd name="f32" fmla="?: f20 f1 f2"/>
              <a:gd name="f33" fmla="?: f21 f14 f1"/>
              <a:gd name="f34" fmla="?: f21 f1 f14"/>
              <a:gd name="f35" fmla="?: f20 0 f0"/>
              <a:gd name="f36" fmla="?: f20 f0 0"/>
              <a:gd name="f37" fmla="min f23 f22"/>
              <a:gd name="f38" fmla="*/ f24 1 f18"/>
              <a:gd name="f39" fmla="*/ f25 1 f18"/>
              <a:gd name="f40" fmla="*/ f26 f0 1"/>
              <a:gd name="f41" fmla="?: f20 f32 f31"/>
              <a:gd name="f42" fmla="?: f20 f31 f32"/>
              <a:gd name="f43" fmla="?: f21 f30 f29"/>
              <a:gd name="f44" fmla="val f38"/>
              <a:gd name="f45" fmla="val f39"/>
              <a:gd name="f46" fmla="*/ f40 1 f7"/>
              <a:gd name="f47" fmla="?: f21 f42 f41"/>
              <a:gd name="f48" fmla="*/ f15 f37 1"/>
              <a:gd name="f49" fmla="*/ f6 f37 1"/>
              <a:gd name="f50" fmla="*/ f27 f37 1"/>
              <a:gd name="f51" fmla="*/ f28 f37 1"/>
              <a:gd name="f52" fmla="+- f45 0 f9"/>
              <a:gd name="f53" fmla="+- f44 0 f9"/>
              <a:gd name="f54" fmla="+- f46 0 f1"/>
              <a:gd name="f55" fmla="*/ f45 f37 1"/>
              <a:gd name="f56" fmla="*/ f44 f37 1"/>
              <a:gd name="f57" fmla="+- f45 0 f52"/>
              <a:gd name="f58" fmla="+- f44 0 f53"/>
              <a:gd name="f59" fmla="+- f52 0 f45"/>
              <a:gd name="f60" fmla="+- f53 0 f44"/>
              <a:gd name="f61" fmla="+- f54 f1 0"/>
              <a:gd name="f62" fmla="*/ f52 f37 1"/>
              <a:gd name="f63" fmla="*/ f53 f37 1"/>
              <a:gd name="f64" fmla="abs f57"/>
              <a:gd name="f65" fmla="?: f57 0 f0"/>
              <a:gd name="f66" fmla="?: f57 f0 0"/>
              <a:gd name="f67" fmla="?: f57 f33 f34"/>
              <a:gd name="f68" fmla="abs f58"/>
              <a:gd name="f69" fmla="abs f59"/>
              <a:gd name="f70" fmla="?: f58 f14 f1"/>
              <a:gd name="f71" fmla="?: f58 f1 f14"/>
              <a:gd name="f72" fmla="?: f58 f2 f1"/>
              <a:gd name="f73" fmla="?: f58 f1 f2"/>
              <a:gd name="f74" fmla="abs f60"/>
              <a:gd name="f75" fmla="?: f60 f14 f1"/>
              <a:gd name="f76" fmla="?: f60 f1 f14"/>
              <a:gd name="f77" fmla="?: f60 f36 f35"/>
              <a:gd name="f78" fmla="?: f60 f35 f36"/>
              <a:gd name="f79" fmla="*/ f61 f7 1"/>
              <a:gd name="f80" fmla="?: f21 f66 f65"/>
              <a:gd name="f81" fmla="?: f21 f65 f66"/>
              <a:gd name="f82" fmla="?: f58 f73 f72"/>
              <a:gd name="f83" fmla="?: f58 f72 f73"/>
              <a:gd name="f84" fmla="?: f59 f71 f70"/>
              <a:gd name="f85" fmla="?: f20 f77 f78"/>
              <a:gd name="f86" fmla="?: f20 f75 f76"/>
              <a:gd name="f87" fmla="*/ f79 1 f0"/>
              <a:gd name="f88" fmla="*/ f64 f37 1"/>
              <a:gd name="f89" fmla="*/ f68 f37 1"/>
              <a:gd name="f90" fmla="*/ f69 f37 1"/>
              <a:gd name="f91" fmla="*/ f74 f37 1"/>
              <a:gd name="f92" fmla="?: f57 f80 f81"/>
              <a:gd name="f93" fmla="?: f59 f83 f82"/>
              <a:gd name="f94" fmla="+- 0 0 f87"/>
              <a:gd name="f95" fmla="+- 0 0 f94"/>
              <a:gd name="f96" fmla="*/ f95 f0 1"/>
              <a:gd name="f97" fmla="*/ f96 1 f7"/>
              <a:gd name="f98" fmla="+- f97 0 f1"/>
              <a:gd name="f99" fmla="cos 1 f98"/>
              <a:gd name="f100" fmla="+- 0 0 f99"/>
              <a:gd name="f101" fmla="+- 0 0 f100"/>
              <a:gd name="f102" fmla="val f101"/>
              <a:gd name="f103" fmla="+- 0 0 f102"/>
              <a:gd name="f104" fmla="*/ f9 f103 1"/>
              <a:gd name="f105" fmla="*/ f104 3163 1"/>
              <a:gd name="f106" fmla="*/ f105 1 7636"/>
              <a:gd name="f107" fmla="+- f6 f106 0"/>
              <a:gd name="f108" fmla="+- f44 0 f106"/>
              <a:gd name="f109" fmla="+- f45 0 f106"/>
              <a:gd name="f110" fmla="*/ f107 f37 1"/>
              <a:gd name="f111" fmla="*/ f108 f37 1"/>
              <a:gd name="f112" fmla="*/ f109 f37 1"/>
            </a:gdLst>
            <a:ahLst/>
            <a:cxnLst>
              <a:cxn ang="3cd4">
                <a:pos x="hc" y="t"/>
              </a:cxn>
              <a:cxn ang="0">
                <a:pos x="r" y="vc"/>
              </a:cxn>
              <a:cxn ang="cd4">
                <a:pos x="hc" y="b"/>
              </a:cxn>
              <a:cxn ang="cd2">
                <a:pos x="l" y="vc"/>
              </a:cxn>
            </a:cxnLst>
            <a:rect l="f110" t="f110" r="f111" b="f112"/>
            <a:pathLst>
              <a:path>
                <a:moveTo>
                  <a:pt x="f48" y="f49"/>
                </a:moveTo>
                <a:arcTo wR="f50" hR="f51" stAng="f47" swAng="f43"/>
                <a:lnTo>
                  <a:pt x="f49" y="f62"/>
                </a:lnTo>
                <a:arcTo wR="f51" hR="f88" stAng="f92" swAng="f67"/>
                <a:lnTo>
                  <a:pt x="f63" y="f55"/>
                </a:lnTo>
                <a:arcTo wR="f89" hR="f90" stAng="f93" swAng="f84"/>
                <a:lnTo>
                  <a:pt x="f56" y="f48"/>
                </a:lnTo>
                <a:arcTo wR="f91" hR="f50" stAng="f85" swAng="f86"/>
                <a:close/>
              </a:path>
            </a:pathLst>
          </a:cu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r>
              <a:rPr lang="es-ES" sz="2400" b="1" dirty="0">
                <a:solidFill>
                  <a:srgbClr val="FFFFFF"/>
                </a:solidFill>
                <a:ea typeface="Tahoma" panose="020B0604030504040204" pitchFamily="34" charset="0"/>
                <a:cs typeface="Tahoma" panose="020B0604030504040204" pitchFamily="34" charset="0"/>
              </a:rPr>
              <a:t>Enunciado</a:t>
            </a:r>
          </a:p>
        </p:txBody>
      </p:sp>
      <p:pic>
        <p:nvPicPr>
          <p:cNvPr id="8" name="Imagen 7">
            <a:extLst>
              <a:ext uri="{FF2B5EF4-FFF2-40B4-BE49-F238E27FC236}">
                <a16:creationId xmlns:a16="http://schemas.microsoft.com/office/drawing/2014/main" id="{8389B695-C282-463C-AACB-0A7DBA60A0A6}"/>
              </a:ext>
            </a:extLst>
          </p:cNvPr>
          <p:cNvPicPr>
            <a:picLocks noChangeAspect="1"/>
          </p:cNvPicPr>
          <p:nvPr/>
        </p:nvPicPr>
        <p:blipFill>
          <a:blip r:embed="rId5"/>
          <a:stretch>
            <a:fillRect/>
          </a:stretch>
        </p:blipFill>
        <p:spPr>
          <a:xfrm>
            <a:off x="344556" y="2791314"/>
            <a:ext cx="4813851" cy="2446476"/>
          </a:xfrm>
          <a:prstGeom prst="rect">
            <a:avLst/>
          </a:prstGeom>
        </p:spPr>
      </p:pic>
      <p:sp>
        <p:nvSpPr>
          <p:cNvPr id="11" name="Rectángulo 31"/>
          <p:cNvSpPr/>
          <p:nvPr/>
        </p:nvSpPr>
        <p:spPr>
          <a:xfrm>
            <a:off x="255436" y="5347774"/>
            <a:ext cx="5032556" cy="685059"/>
          </a:xfrm>
          <a:prstGeom prst="rect">
            <a:avLst/>
          </a:prstGeom>
        </p:spPr>
        <p:txBody>
          <a:bodyPr wrap="square">
            <a:spAutoFit/>
          </a:bodyPr>
          <a:lstStyle/>
          <a:p>
            <a:pPr lvl="0"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Cargue esta BBDD en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MySQL</a:t>
            </a: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usando el fichero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mysqlsampledatabase.sql</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que se adjunta.</a:t>
            </a:r>
          </a:p>
        </p:txBody>
      </p:sp>
      <p:pic>
        <p:nvPicPr>
          <p:cNvPr id="2" name="Picture 1"/>
          <p:cNvPicPr>
            <a:picLocks noChangeAspect="1"/>
          </p:cNvPicPr>
          <p:nvPr/>
        </p:nvPicPr>
        <p:blipFill>
          <a:blip r:embed="rId6"/>
          <a:stretch>
            <a:fillRect/>
          </a:stretch>
        </p:blipFill>
        <p:spPr>
          <a:xfrm>
            <a:off x="6211959" y="2443817"/>
            <a:ext cx="4827355" cy="3919834"/>
          </a:xfrm>
          <a:prstGeom prst="rect">
            <a:avLst/>
          </a:prstGeom>
        </p:spPr>
      </p:pic>
      <p:sp>
        <p:nvSpPr>
          <p:cNvPr id="3" name="CuadroTexto 86">
            <a:extLst>
              <a:ext uri="{FF2B5EF4-FFF2-40B4-BE49-F238E27FC236}">
                <a16:creationId xmlns:a16="http://schemas.microsoft.com/office/drawing/2014/main" id="{C6E69BE4-19E5-F4A4-2F2C-F16D0F67C967}"/>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57391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2474652"/>
          </a:xfrm>
          <a:prstGeom prst="rect">
            <a:avLst/>
          </a:prstGeom>
          <a:solidFill>
            <a:srgbClr val="F2F2F2"/>
          </a:solidFill>
        </p:spPr>
        <p:txBody>
          <a:bodyPr wrap="square">
            <a:spAutoFit/>
          </a:bodyPr>
          <a:lstStyle/>
          <a:p>
            <a:pPr marL="342900" indent="-342900" algn="just">
              <a:lnSpc>
                <a:spcPct val="107000"/>
              </a:lnSpc>
              <a:spcAft>
                <a:spcPts val="600"/>
              </a:spcAft>
              <a:buAutoNum type="arabicParenR"/>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d</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ada la tabla </a:t>
            </a:r>
            <a:r>
              <a:rPr lang="es-ES" sz="1800" b="1" i="1"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office</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 escriba en álgebra relacional y presente la tabla resultante de cada de los siguientes apartados:</a:t>
            </a:r>
          </a:p>
          <a:p>
            <a:pPr marL="800100" lvl="1" indent="-342900" algn="just">
              <a:lnSpc>
                <a:spcPct val="107000"/>
              </a:lnSpc>
              <a:spcAft>
                <a:spcPts val="600"/>
              </a:spcAft>
              <a:buAutoNum type="arabicPeriod"/>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El código para presentar solamente las tuplas donde el territorio sea EMEA y la ciudad no sea London.</a:t>
            </a:r>
          </a:p>
          <a:p>
            <a:pPr marL="800100" lvl="1" indent="-342900" algn="just">
              <a:lnSpc>
                <a:spcPct val="107000"/>
              </a:lnSpc>
              <a:spcAft>
                <a:spcPts val="600"/>
              </a:spcAft>
              <a:buAutoNum type="arabicPeriod"/>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Sobre la consulta anterior, escribe el código en álgebra relacional para obtener una relación donde solo estén: el nombre de la ciudad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city</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el país (country) y el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officeCode</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a:t>
            </a:r>
          </a:p>
          <a:p>
            <a:pPr marL="800100" lvl="1" indent="-342900" algn="just">
              <a:lnSpc>
                <a:spcPct val="107000"/>
              </a:lnSpc>
              <a:spcAft>
                <a:spcPts val="600"/>
              </a:spcAft>
              <a:buAutoNum type="arabicPeriod"/>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Renombra la relación del ejercicio anterior como "</a:t>
            </a:r>
            <a:r>
              <a:rPr lang="es-ES"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EUoffice</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("oficina de la Unión Europea").</a:t>
            </a:r>
          </a:p>
          <a:p>
            <a:pPr marL="342900" indent="-342900" algn="just">
              <a:lnSpc>
                <a:spcPct val="107000"/>
              </a:lnSpc>
              <a:spcAft>
                <a:spcPts val="600"/>
              </a:spcAft>
              <a:buAutoNum type="arabicPeriod"/>
              <a:tabLst>
                <a:tab pos="5363845" algn="r"/>
              </a:tabLst>
            </a:pPr>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a 1">
            <a:extLst>
              <a:ext uri="{FF2B5EF4-FFF2-40B4-BE49-F238E27FC236}">
                <a16:creationId xmlns:a16="http://schemas.microsoft.com/office/drawing/2014/main" id="{15D7DA7E-5C0C-455D-BC99-1985C0135EE3}"/>
              </a:ext>
            </a:extLst>
          </p:cNvPr>
          <p:cNvGraphicFramePr>
            <a:graphicFrameLocks noGrp="1"/>
          </p:cNvGraphicFramePr>
          <p:nvPr>
            <p:extLst>
              <p:ext uri="{D42A27DB-BD31-4B8C-83A1-F6EECF244321}">
                <p14:modId xmlns:p14="http://schemas.microsoft.com/office/powerpoint/2010/main" val="1831111910"/>
              </p:ext>
            </p:extLst>
          </p:nvPr>
        </p:nvGraphicFramePr>
        <p:xfrm>
          <a:off x="2614028" y="3884610"/>
          <a:ext cx="7444371" cy="1524000"/>
        </p:xfrm>
        <a:graphic>
          <a:graphicData uri="http://schemas.openxmlformats.org/drawingml/2006/table">
            <a:tbl>
              <a:tblPr/>
              <a:tblGrid>
                <a:gridCol w="958631">
                  <a:extLst>
                    <a:ext uri="{9D8B030D-6E8A-4147-A177-3AD203B41FA5}">
                      <a16:colId xmlns:a16="http://schemas.microsoft.com/office/drawing/2014/main" val="3832889921"/>
                    </a:ext>
                  </a:extLst>
                </a:gridCol>
                <a:gridCol w="1033524">
                  <a:extLst>
                    <a:ext uri="{9D8B030D-6E8A-4147-A177-3AD203B41FA5}">
                      <a16:colId xmlns:a16="http://schemas.microsoft.com/office/drawing/2014/main" val="3128249898"/>
                    </a:ext>
                  </a:extLst>
                </a:gridCol>
                <a:gridCol w="1243225">
                  <a:extLst>
                    <a:ext uri="{9D8B030D-6E8A-4147-A177-3AD203B41FA5}">
                      <a16:colId xmlns:a16="http://schemas.microsoft.com/office/drawing/2014/main" val="991346504"/>
                    </a:ext>
                  </a:extLst>
                </a:gridCol>
                <a:gridCol w="1872327">
                  <a:extLst>
                    <a:ext uri="{9D8B030D-6E8A-4147-A177-3AD203B41FA5}">
                      <a16:colId xmlns:a16="http://schemas.microsoft.com/office/drawing/2014/main" val="2195324079"/>
                    </a:ext>
                  </a:extLst>
                </a:gridCol>
                <a:gridCol w="733952">
                  <a:extLst>
                    <a:ext uri="{9D8B030D-6E8A-4147-A177-3AD203B41FA5}">
                      <a16:colId xmlns:a16="http://schemas.microsoft.com/office/drawing/2014/main" val="4181928165"/>
                    </a:ext>
                  </a:extLst>
                </a:gridCol>
                <a:gridCol w="898717">
                  <a:extLst>
                    <a:ext uri="{9D8B030D-6E8A-4147-A177-3AD203B41FA5}">
                      <a16:colId xmlns:a16="http://schemas.microsoft.com/office/drawing/2014/main" val="944914540"/>
                    </a:ext>
                  </a:extLst>
                </a:gridCol>
                <a:gridCol w="703995">
                  <a:extLst>
                    <a:ext uri="{9D8B030D-6E8A-4147-A177-3AD203B41FA5}">
                      <a16:colId xmlns:a16="http://schemas.microsoft.com/office/drawing/2014/main" val="1686560460"/>
                    </a:ext>
                  </a:extLst>
                </a:gridCol>
              </a:tblGrid>
              <a:tr h="1905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s-ES" sz="1100" b="1" i="0" u="none" strike="noStrike" dirty="0" err="1">
                          <a:solidFill>
                            <a:srgbClr val="000000"/>
                          </a:solidFill>
                          <a:effectLst/>
                          <a:latin typeface="Calibri" panose="020F0502020204030204" pitchFamily="34" charset="0"/>
                        </a:rPr>
                        <a:t>officeCode</a:t>
                      </a:r>
                      <a:r>
                        <a:rPr lang="es-ES" sz="1100" b="1" i="0" u="none" strike="noStrike" dirty="0">
                          <a:solidFill>
                            <a:srgbClr val="000000"/>
                          </a:solidFill>
                          <a:effectLst/>
                          <a:latin typeface="Calibri" panose="020F050202020403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a:t>
                      </a:r>
                      <a:r>
                        <a:rPr lang="es-ES" sz="1100" b="1" i="0" u="none" strike="noStrike" dirty="0" err="1">
                          <a:solidFill>
                            <a:srgbClr val="000000"/>
                          </a:solidFill>
                          <a:effectLst/>
                          <a:latin typeface="Calibri" panose="020F0502020204030204" pitchFamily="34" charset="0"/>
                        </a:rPr>
                        <a:t>city</a:t>
                      </a:r>
                      <a:endParaRPr lang="es-ES" sz="11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a:t>
                      </a:r>
                      <a:r>
                        <a:rPr lang="es-ES" sz="1100" b="1" i="0" u="none" strike="noStrike" dirty="0" err="1">
                          <a:solidFill>
                            <a:srgbClr val="000000"/>
                          </a:solidFill>
                          <a:effectLst/>
                          <a:latin typeface="Calibri" panose="020F0502020204030204" pitchFamily="34" charset="0"/>
                        </a:rPr>
                        <a:t>phone</a:t>
                      </a:r>
                      <a:endParaRPr lang="es-ES" sz="11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addressLine1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country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a:t>
                      </a:r>
                      <a:r>
                        <a:rPr lang="es-ES" sz="1100" b="1" i="0" u="none" strike="noStrike" dirty="0" err="1">
                          <a:solidFill>
                            <a:srgbClr val="000000"/>
                          </a:solidFill>
                          <a:effectLst/>
                          <a:latin typeface="Calibri" panose="020F0502020204030204" pitchFamily="34" charset="0"/>
                        </a:rPr>
                        <a:t>postalCode</a:t>
                      </a:r>
                      <a:endParaRPr lang="es-ES" sz="11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b"/>
                      <a:r>
                        <a:rPr lang="es-ES" sz="1100" b="1" i="0" u="none" strike="noStrike" dirty="0">
                          <a:solidFill>
                            <a:srgbClr val="000000"/>
                          </a:solidFill>
                          <a:effectLst/>
                          <a:latin typeface="Calibri" panose="020F0502020204030204" pitchFamily="34" charset="0"/>
                        </a:rPr>
                        <a:t> </a:t>
                      </a:r>
                      <a:r>
                        <a:rPr lang="es-ES" sz="1100" b="1" i="0" u="none" strike="noStrike" dirty="0" err="1">
                          <a:solidFill>
                            <a:srgbClr val="000000"/>
                          </a:solidFill>
                          <a:effectLst/>
                          <a:latin typeface="Calibri" panose="020F0502020204030204" pitchFamily="34" charset="0"/>
                        </a:rPr>
                        <a:t>territory</a:t>
                      </a:r>
                      <a:endParaRPr lang="es-ES" sz="1100" b="1"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extLst>
                  <a:ext uri="{0D108BD9-81ED-4DB2-BD59-A6C34878D82A}">
                    <a16:rowId xmlns:a16="http://schemas.microsoft.com/office/drawing/2014/main" val="3985536271"/>
                  </a:ext>
                </a:extLst>
              </a:tr>
              <a:tr h="190500">
                <a:tc>
                  <a:txBody>
                    <a:bodyPr/>
                    <a:lstStyle/>
                    <a:p>
                      <a:pPr algn="ctr" fontAlgn="b"/>
                      <a:r>
                        <a:rPr lang="es-ES" sz="1100" b="0" i="0" u="none" strike="noStrike" dirty="0">
                          <a:solidFill>
                            <a:srgbClr val="000000"/>
                          </a:solidFill>
                          <a:effectLst/>
                          <a:latin typeface="Calibri" panose="020F0502020204030204" pitchFamily="34"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San_Francisco</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16502194782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100 </a:t>
                      </a:r>
                      <a:r>
                        <a:rPr lang="es-ES" sz="1100" b="0" i="0" u="none" strike="noStrike" dirty="0" err="1">
                          <a:solidFill>
                            <a:srgbClr val="000000"/>
                          </a:solidFill>
                          <a:effectLst/>
                          <a:latin typeface="Calibri" panose="020F0502020204030204" pitchFamily="34" charset="0"/>
                        </a:rPr>
                        <a:t>Market</a:t>
                      </a:r>
                      <a:r>
                        <a:rPr lang="es-ES" sz="1100" b="0" i="0" u="none" strike="noStrike" dirty="0">
                          <a:solidFill>
                            <a:srgbClr val="000000"/>
                          </a:solidFill>
                          <a:effectLst/>
                          <a:latin typeface="Calibri" panose="020F0502020204030204" pitchFamily="34" charset="0"/>
                        </a:rPr>
                        <a:t> Street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USA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94080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2900496"/>
                  </a:ext>
                </a:extLst>
              </a:tr>
              <a:tr h="190500">
                <a:tc>
                  <a:txBody>
                    <a:bodyPr/>
                    <a:lstStyle/>
                    <a:p>
                      <a:pPr algn="ctr" fontAlgn="b"/>
                      <a:r>
                        <a:rPr lang="es-ES" sz="1100" b="0" i="0" u="none" strike="noStrike" dirty="0">
                          <a:solidFill>
                            <a:srgbClr val="000000"/>
                          </a:solidFill>
                          <a:effectLst/>
                          <a:latin typeface="Calibri" panose="020F0502020204030204" pitchFamily="34"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Boston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12158370825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1550 </a:t>
                      </a:r>
                      <a:r>
                        <a:rPr lang="es-ES" sz="1100" b="0" i="0" u="none" strike="noStrike" dirty="0" err="1">
                          <a:solidFill>
                            <a:srgbClr val="000000"/>
                          </a:solidFill>
                          <a:effectLst/>
                          <a:latin typeface="Calibri" panose="020F0502020204030204" pitchFamily="34" charset="0"/>
                        </a:rPr>
                        <a:t>Court</a:t>
                      </a:r>
                      <a:r>
                        <a:rPr lang="es-ES" sz="1100" b="0" i="0" u="none" strike="noStrike" dirty="0">
                          <a:solidFill>
                            <a:srgbClr val="000000"/>
                          </a:solidFill>
                          <a:effectLst/>
                          <a:latin typeface="Calibri" panose="020F0502020204030204" pitchFamily="34" charset="0"/>
                        </a:rPr>
                        <a:t> Place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a:solidFill>
                            <a:srgbClr val="000000"/>
                          </a:solidFill>
                          <a:effectLst/>
                          <a:latin typeface="Calibri" panose="020F0502020204030204" pitchFamily="34" charset="0"/>
                        </a:rPr>
                        <a:t> USA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2107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10044918"/>
                  </a:ext>
                </a:extLst>
              </a:tr>
              <a:tr h="190500">
                <a:tc>
                  <a:txBody>
                    <a:bodyPr/>
                    <a:lstStyle/>
                    <a:p>
                      <a:pPr algn="ctr" fontAlgn="b"/>
                      <a:r>
                        <a:rPr lang="es-ES" sz="1100" b="0" i="0" u="none" strike="noStrike">
                          <a:solidFill>
                            <a:srgbClr val="000000"/>
                          </a:solidFill>
                          <a:effectLst/>
                          <a:latin typeface="Calibri" panose="020F0502020204030204" pitchFamily="34"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NYC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12125553000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523 East 53rd Street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USA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10022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a:solidFill>
                            <a:srgbClr val="000000"/>
                          </a:solidFill>
                          <a:effectLst/>
                          <a:latin typeface="Calibri" panose="020F0502020204030204" pitchFamily="34" charset="0"/>
                        </a:rPr>
                        <a:t> 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3689101"/>
                  </a:ext>
                </a:extLst>
              </a:tr>
              <a:tr h="190500">
                <a:tc>
                  <a:txBody>
                    <a:bodyPr/>
                    <a:lstStyle/>
                    <a:p>
                      <a:pPr algn="ctr" fontAlgn="b"/>
                      <a:r>
                        <a:rPr lang="es-ES" sz="1100" b="0" i="0" u="none" strike="noStrike" dirty="0">
                          <a:solidFill>
                            <a:srgbClr val="000000"/>
                          </a:solidFill>
                          <a:effectLst/>
                          <a:latin typeface="Calibri" panose="020F0502020204030204" pitchFamily="34"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Paris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33147234404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43 Rue </a:t>
                      </a:r>
                      <a:r>
                        <a:rPr lang="es-ES" sz="1100" b="0" i="0" u="none" strike="noStrike" dirty="0" err="1">
                          <a:solidFill>
                            <a:srgbClr val="000000"/>
                          </a:solidFill>
                          <a:effectLst/>
                          <a:latin typeface="Calibri" panose="020F0502020204030204" pitchFamily="34" charset="0"/>
                        </a:rPr>
                        <a:t>Jouffroy</a:t>
                      </a:r>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D'abbans</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France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75017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EMEA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6226575"/>
                  </a:ext>
                </a:extLst>
              </a:tr>
              <a:tr h="190500">
                <a:tc>
                  <a:txBody>
                    <a:bodyPr/>
                    <a:lstStyle/>
                    <a:p>
                      <a:pPr algn="ctr" fontAlgn="b"/>
                      <a:r>
                        <a:rPr lang="es-ES" sz="1100" b="0" i="0" u="none" strike="noStrike">
                          <a:solidFill>
                            <a:srgbClr val="000000"/>
                          </a:solidFill>
                          <a:effectLst/>
                          <a:latin typeface="Calibri" panose="020F0502020204030204" pitchFamily="34"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a:solidFill>
                            <a:srgbClr val="000000"/>
                          </a:solidFill>
                          <a:effectLst/>
                          <a:latin typeface="Calibri" panose="020F0502020204030204" pitchFamily="34" charset="0"/>
                        </a:rPr>
                        <a:t> Tokyo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81332245000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4-1 </a:t>
                      </a:r>
                      <a:r>
                        <a:rPr lang="es-ES" sz="1100" b="0" i="0" u="none" strike="noStrike" dirty="0" err="1">
                          <a:solidFill>
                            <a:srgbClr val="000000"/>
                          </a:solidFill>
                          <a:effectLst/>
                          <a:latin typeface="Calibri" panose="020F0502020204030204" pitchFamily="34" charset="0"/>
                        </a:rPr>
                        <a:t>Kioicho</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Japan</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1028578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Japan</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5862880"/>
                  </a:ext>
                </a:extLst>
              </a:tr>
              <a:tr h="190500">
                <a:tc>
                  <a:txBody>
                    <a:bodyPr/>
                    <a:lstStyle/>
                    <a:p>
                      <a:pPr algn="ctr" fontAlgn="b"/>
                      <a:r>
                        <a:rPr lang="es-ES" sz="1100" b="0" i="0" u="none" strike="noStrike">
                          <a:solidFill>
                            <a:srgbClr val="000000"/>
                          </a:solidFill>
                          <a:effectLst/>
                          <a:latin typeface="Calibri" panose="020F0502020204030204" pitchFamily="34"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a:solidFill>
                            <a:srgbClr val="000000"/>
                          </a:solidFill>
                          <a:effectLst/>
                          <a:latin typeface="Calibri" panose="020F0502020204030204" pitchFamily="34" charset="0"/>
                        </a:rPr>
                        <a:t> Sydney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6129264451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5-11 </a:t>
                      </a:r>
                      <a:r>
                        <a:rPr lang="es-ES" sz="1100" b="0" i="0" u="none" strike="noStrike" dirty="0" err="1">
                          <a:solidFill>
                            <a:srgbClr val="000000"/>
                          </a:solidFill>
                          <a:effectLst/>
                          <a:latin typeface="Calibri" panose="020F0502020204030204" pitchFamily="34" charset="0"/>
                        </a:rPr>
                        <a:t>Wentworth</a:t>
                      </a:r>
                      <a:r>
                        <a:rPr lang="es-ES" sz="1100" b="0" i="0" u="none" strike="noStrike" dirty="0">
                          <a:solidFill>
                            <a:srgbClr val="000000"/>
                          </a:solidFill>
                          <a:effectLst/>
                          <a:latin typeface="Calibri" panose="020F0502020204030204" pitchFamily="34" charset="0"/>
                        </a:rPr>
                        <a:t> </a:t>
                      </a:r>
                      <a:r>
                        <a:rPr lang="es-ES" sz="1100" b="0" i="0" u="none" strike="noStrike" dirty="0" err="1">
                          <a:solidFill>
                            <a:srgbClr val="000000"/>
                          </a:solidFill>
                          <a:effectLst/>
                          <a:latin typeface="Calibri" panose="020F0502020204030204" pitchFamily="34" charset="0"/>
                        </a:rPr>
                        <a:t>Avenue</a:t>
                      </a:r>
                      <a:endParaRPr lang="es-E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Australia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2010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APAC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2359632"/>
                  </a:ext>
                </a:extLst>
              </a:tr>
              <a:tr h="190500">
                <a:tc>
                  <a:txBody>
                    <a:bodyPr/>
                    <a:lstStyle/>
                    <a:p>
                      <a:pPr algn="ctr" fontAlgn="b"/>
                      <a:r>
                        <a:rPr lang="es-ES" sz="1100" b="0" i="0" u="none" strike="noStrike">
                          <a:solidFill>
                            <a:srgbClr val="000000"/>
                          </a:solidFill>
                          <a:effectLst/>
                          <a:latin typeface="Calibri" panose="020F0502020204030204" pitchFamily="34"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a:solidFill>
                            <a:srgbClr val="000000"/>
                          </a:solidFill>
                          <a:effectLst/>
                          <a:latin typeface="Calibri" panose="020F0502020204030204" pitchFamily="34" charset="0"/>
                        </a:rPr>
                        <a:t> London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442078772041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25 Old </a:t>
                      </a:r>
                      <a:r>
                        <a:rPr lang="es-ES" sz="1100" b="0" i="0" u="none" strike="noStrike" dirty="0" err="1">
                          <a:solidFill>
                            <a:srgbClr val="000000"/>
                          </a:solidFill>
                          <a:effectLst/>
                          <a:latin typeface="Calibri" panose="020F0502020204030204" pitchFamily="34" charset="0"/>
                        </a:rPr>
                        <a:t>Broad</a:t>
                      </a:r>
                      <a:r>
                        <a:rPr lang="es-ES" sz="1100" b="0" i="0" u="none" strike="noStrike" dirty="0">
                          <a:solidFill>
                            <a:srgbClr val="000000"/>
                          </a:solidFill>
                          <a:effectLst/>
                          <a:latin typeface="Calibri" panose="020F0502020204030204" pitchFamily="34" charset="0"/>
                        </a:rPr>
                        <a:t> Street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UK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175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s-ES" sz="1100" b="0" i="0" u="none" strike="noStrike" dirty="0">
                          <a:solidFill>
                            <a:srgbClr val="000000"/>
                          </a:solidFill>
                          <a:effectLst/>
                          <a:latin typeface="Calibri" panose="020F0502020204030204" pitchFamily="34" charset="0"/>
                        </a:rPr>
                        <a:t> EMEA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9508357"/>
                  </a:ext>
                </a:extLst>
              </a:tr>
            </a:tbl>
          </a:graphicData>
        </a:graphic>
      </p:graphicFrame>
      <p:sp>
        <p:nvSpPr>
          <p:cNvPr id="3" name="CuadroTexto 2">
            <a:extLst>
              <a:ext uri="{FF2B5EF4-FFF2-40B4-BE49-F238E27FC236}">
                <a16:creationId xmlns:a16="http://schemas.microsoft.com/office/drawing/2014/main" id="{912C30B7-0B46-48FA-8D48-0665E335DD61}"/>
              </a:ext>
            </a:extLst>
          </p:cNvPr>
          <p:cNvSpPr txBox="1"/>
          <p:nvPr/>
        </p:nvSpPr>
        <p:spPr>
          <a:xfrm>
            <a:off x="2534129" y="3480721"/>
            <a:ext cx="863324" cy="369332"/>
          </a:xfrm>
          <a:prstGeom prst="rect">
            <a:avLst/>
          </a:prstGeom>
          <a:noFill/>
        </p:spPr>
        <p:txBody>
          <a:bodyPr wrap="square" rtlCol="0">
            <a:spAutoFit/>
          </a:bodyPr>
          <a:lstStyle/>
          <a:p>
            <a:r>
              <a:rPr lang="es-ES" b="1" i="1" dirty="0">
                <a:solidFill>
                  <a:srgbClr val="004A99"/>
                </a:solidFill>
                <a:latin typeface="Calibri" panose="020F0502020204030204" pitchFamily="34" charset="0"/>
                <a:ea typeface="Calibri" panose="020F0502020204030204" pitchFamily="34" charset="0"/>
                <a:cs typeface="Times New Roman" panose="02020603050405020304" pitchFamily="18" charset="0"/>
              </a:rPr>
              <a:t>office</a:t>
            </a:r>
          </a:p>
        </p:txBody>
      </p:sp>
      <p:sp>
        <p:nvSpPr>
          <p:cNvPr id="5" name="CuadroTexto 86">
            <a:extLst>
              <a:ext uri="{FF2B5EF4-FFF2-40B4-BE49-F238E27FC236}">
                <a16:creationId xmlns:a16="http://schemas.microsoft.com/office/drawing/2014/main" id="{4C1C6100-3126-7D57-097B-9A4DA599DF46}"/>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
        <p:nvSpPr>
          <p:cNvPr id="7" name="CuadroTexto 6">
            <a:extLst>
              <a:ext uri="{FF2B5EF4-FFF2-40B4-BE49-F238E27FC236}">
                <a16:creationId xmlns:a16="http://schemas.microsoft.com/office/drawing/2014/main" id="{94F04603-31CA-918C-0ACE-451CC0F3EC7A}"/>
              </a:ext>
            </a:extLst>
          </p:cNvPr>
          <p:cNvSpPr txBox="1"/>
          <p:nvPr/>
        </p:nvSpPr>
        <p:spPr>
          <a:xfrm>
            <a:off x="2732800" y="5615445"/>
            <a:ext cx="7325599" cy="923330"/>
          </a:xfrm>
          <a:prstGeom prst="rect">
            <a:avLst/>
          </a:prstGeom>
          <a:noFill/>
        </p:spPr>
        <p:txBody>
          <a:bodyPr wrap="square">
            <a:spAutoFit/>
          </a:bodyPr>
          <a:lstStyle/>
          <a:p>
            <a:r>
              <a:rPr lang="es-ES" dirty="0"/>
              <a:t>1. </a:t>
            </a:r>
            <a:r>
              <a:rPr lang="el-GR" dirty="0"/>
              <a:t>σ</a:t>
            </a:r>
            <a:r>
              <a:rPr lang="es-ES" baseline="-25000" dirty="0" err="1"/>
              <a:t>territory</a:t>
            </a:r>
            <a:r>
              <a:rPr lang="es-ES" baseline="-25000" dirty="0"/>
              <a:t>=‘EMEA’∧ ¬(</a:t>
            </a:r>
            <a:r>
              <a:rPr lang="es-ES" baseline="-25000" dirty="0" err="1"/>
              <a:t>city</a:t>
            </a:r>
            <a:r>
              <a:rPr lang="es-ES" baseline="-25000" dirty="0"/>
              <a:t> = ‘London’)</a:t>
            </a:r>
            <a:r>
              <a:rPr lang="es-ES" dirty="0"/>
              <a:t>(office)</a:t>
            </a:r>
            <a:endParaRPr lang="es-ES" baseline="-25000" dirty="0"/>
          </a:p>
          <a:p>
            <a:r>
              <a:rPr lang="es-ES" dirty="0"/>
              <a:t>2. </a:t>
            </a:r>
            <a:r>
              <a:rPr lang="el-GR" dirty="0"/>
              <a:t>Π</a:t>
            </a:r>
            <a:r>
              <a:rPr lang="es-ES" baseline="-25000" dirty="0" err="1"/>
              <a:t>city,country,officecode</a:t>
            </a:r>
            <a:r>
              <a:rPr lang="es-ES" dirty="0"/>
              <a:t>(</a:t>
            </a:r>
            <a:r>
              <a:rPr lang="el-GR" dirty="0"/>
              <a:t>σ</a:t>
            </a:r>
            <a:r>
              <a:rPr lang="es-ES" baseline="-25000" dirty="0" err="1"/>
              <a:t>territory</a:t>
            </a:r>
            <a:r>
              <a:rPr lang="es-ES" baseline="-25000" dirty="0"/>
              <a:t>=‘EMEA’∧ ¬(</a:t>
            </a:r>
            <a:r>
              <a:rPr lang="es-ES" baseline="-25000" dirty="0" err="1"/>
              <a:t>city</a:t>
            </a:r>
            <a:r>
              <a:rPr lang="es-ES" baseline="-25000" dirty="0"/>
              <a:t> = ‘London’)</a:t>
            </a:r>
            <a:r>
              <a:rPr lang="es-ES" dirty="0"/>
              <a:t>(office))</a:t>
            </a:r>
          </a:p>
          <a:p>
            <a:r>
              <a:rPr lang="es-ES" dirty="0"/>
              <a:t>3.</a:t>
            </a:r>
            <a:r>
              <a:rPr lang="el-GR" dirty="0"/>
              <a:t> </a:t>
            </a:r>
            <a:r>
              <a:rPr lang="es-ES" dirty="0" err="1"/>
              <a:t>EUOffice</a:t>
            </a:r>
            <a:r>
              <a:rPr lang="es-ES" dirty="0">
                <a:sym typeface="Wingdings" panose="05000000000000000000" pitchFamily="2" charset="2"/>
              </a:rPr>
              <a:t></a:t>
            </a:r>
            <a:r>
              <a:rPr lang="el-GR" dirty="0"/>
              <a:t>Π</a:t>
            </a:r>
            <a:r>
              <a:rPr lang="es-ES" baseline="-25000" dirty="0" err="1"/>
              <a:t>city,country,officecode</a:t>
            </a:r>
            <a:r>
              <a:rPr lang="es-ES" dirty="0"/>
              <a:t>(</a:t>
            </a:r>
            <a:r>
              <a:rPr lang="el-GR" dirty="0"/>
              <a:t>σ</a:t>
            </a:r>
            <a:r>
              <a:rPr lang="es-ES" baseline="-25000" dirty="0" err="1"/>
              <a:t>territory</a:t>
            </a:r>
            <a:r>
              <a:rPr lang="es-ES" baseline="-25000" dirty="0"/>
              <a:t>=‘EMEA’∧ ¬(</a:t>
            </a:r>
            <a:r>
              <a:rPr lang="es-ES" baseline="-25000" dirty="0" err="1"/>
              <a:t>city</a:t>
            </a:r>
            <a:r>
              <a:rPr lang="es-ES" baseline="-25000" dirty="0"/>
              <a:t> = ‘London’)</a:t>
            </a:r>
            <a:r>
              <a:rPr lang="es-ES" dirty="0"/>
              <a:t>(office))</a:t>
            </a:r>
          </a:p>
        </p:txBody>
      </p:sp>
    </p:spTree>
    <p:extLst>
      <p:ext uri="{BB962C8B-B14F-4D97-AF65-F5344CB8AC3E}">
        <p14:creationId xmlns:p14="http://schemas.microsoft.com/office/powerpoint/2010/main" val="3871759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mc:AlternateContent xmlns:mc="http://schemas.openxmlformats.org/markup-compatibility/2006" xmlns:a14="http://schemas.microsoft.com/office/drawing/2010/main">
        <mc:Choice Requires="a14">
          <p:sp>
            <p:nvSpPr>
              <p:cNvPr id="8" name="Rectángulo 7"/>
              <p:cNvSpPr/>
              <p:nvPr/>
            </p:nvSpPr>
            <p:spPr>
              <a:xfrm>
                <a:off x="221942" y="977523"/>
                <a:ext cx="11536653" cy="5164747"/>
              </a:xfrm>
              <a:prstGeom prst="rect">
                <a:avLst/>
              </a:prstGeom>
              <a:solidFill>
                <a:srgbClr val="F2F2F2"/>
              </a:solidFill>
            </p:spPr>
            <p:txBody>
              <a:bodyPr wrap="square">
                <a:spAutoFit/>
              </a:bodyPr>
              <a:lstStyle/>
              <a:p>
                <a:pPr>
                  <a:lnSpc>
                    <a:spcPct val="107000"/>
                  </a:lnSpc>
                  <a:spcAft>
                    <a:spcPts val="800"/>
                  </a:spcAf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2)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indica e interpreta lo que se obtiene después de ejecutar las siguientes expresiones de Algebra relacional sobre las dos relaciones dadas :</a:t>
                </a:r>
              </a:p>
              <a:p>
                <a:pPr>
                  <a:lnSpc>
                    <a:spcPct val="107000"/>
                  </a:lnSpc>
                  <a:spcAft>
                    <a:spcPts val="800"/>
                  </a:spcAft>
                </a:pP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Estudiante (</a:t>
                </a:r>
                <a:r>
                  <a:rPr lang="es-ES" sz="1800" dirty="0" err="1">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dni_est</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nomb_est</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Profesor (</a:t>
                </a:r>
                <a:r>
                  <a:rPr lang="es-ES" sz="1800" dirty="0" err="1">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dni_prof</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 </a:t>
                </a:r>
                <a:r>
                  <a:rPr lang="es-ES" sz="1800" dirty="0" err="1">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nomb_prof</a:t>
                </a: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14:m>
                  <m:oMath xmlns:m="http://schemas.openxmlformats.org/officeDocument/2006/math">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Estudiante</m:t>
                    </m:r>
                    <m: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Profesor</m:t>
                    </m:r>
                  </m:oMath>
                </a14:m>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14:m>
                  <m:oMath xmlns:m="http://schemas.openxmlformats.org/officeDocument/2006/math">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Estudiante</m:t>
                    </m:r>
                    <m: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Profesor</m:t>
                    </m:r>
                  </m:oMath>
                </a14:m>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14:m>
                  <m:oMath xmlns:m="http://schemas.openxmlformats.org/officeDocument/2006/math">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Profesor</m:t>
                    </m:r>
                    <m:r>
                      <a:rPr lang="es-ES" smtClean="0">
                        <a:solidFill>
                          <a:srgbClr val="004A99"/>
                        </a:solidFill>
                        <a:latin typeface="Cambria Math" panose="02040503050406030204" pitchFamily="18" charset="0"/>
                        <a:ea typeface="Calibri" panose="020F0502020204030204" pitchFamily="34" charset="0"/>
                        <a:cs typeface="Times New Roman" panose="02020603050405020304" pitchFamily="18" charset="0"/>
                      </a:rPr>
                      <m:t> </m:t>
                    </m:r>
                    <m: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s-ES">
                        <a:solidFill>
                          <a:srgbClr val="004A99"/>
                        </a:solidFill>
                        <a:latin typeface="Cambria Math" panose="02040503050406030204" pitchFamily="18" charset="0"/>
                        <a:ea typeface="Calibri" panose="020F0502020204030204" pitchFamily="34" charset="0"/>
                        <a:cs typeface="Times New Roman" panose="02020603050405020304" pitchFamily="18" charset="0"/>
                      </a:rPr>
                      <m:t>Estudiante</m:t>
                    </m:r>
                  </m:oMath>
                </a14:m>
                <a:r>
                  <a:rPr lang="es-ES" dirty="0">
                    <a:solidFill>
                      <a:srgbClr val="004A99"/>
                    </a:solidFill>
                    <a:latin typeface="Calibri" panose="020F0502020204030204" pitchFamily="34" charset="0"/>
                    <a:ea typeface="Times New Roman" panose="02020603050405020304" pitchFamily="18" charset="0"/>
                    <a:cs typeface="Times New Roman" panose="02020603050405020304" pitchFamily="18" charset="0"/>
                  </a:rPr>
                  <a:t> </a:t>
                </a:r>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¿De cuántas tuplas consta cada relación resultante?</a:t>
                </a:r>
              </a:p>
              <a:p>
                <a:pPr>
                  <a:lnSpc>
                    <a:spcPct val="107000"/>
                  </a:lnSpc>
                  <a:spcAft>
                    <a:spcPts val="800"/>
                  </a:spcAft>
                </a:pPr>
                <a:r>
                  <a:rPr lang="es-ES" sz="1800" dirty="0">
                    <a:solidFill>
                      <a:srgbClr val="004A99"/>
                    </a:solidFill>
                    <a:effectLst/>
                    <a:latin typeface="Calibri" panose="020F0502020204030204" pitchFamily="34" charset="0"/>
                    <a:ea typeface="Calibri" panose="020F0502020204030204" pitchFamily="34" charset="0"/>
                    <a:cs typeface="Times New Roman" panose="02020603050405020304" pitchFamily="18" charset="0"/>
                  </a:rPr>
                  <a:t>¿Qué condición deben de cumplir ambas relaciones Estudiante y Profesor entre sí para poder realizarse las operaciones de álgebra relacional indicadas?</a:t>
                </a:r>
              </a:p>
              <a:p>
                <a:pPr lvl="0" algn="just">
                  <a:lnSpc>
                    <a:spcPct val="107000"/>
                  </a:lnSpc>
                  <a:spcAft>
                    <a:spcPts val="600"/>
                  </a:spcAft>
                  <a:tabLst>
                    <a:tab pos="5363845" algn="r"/>
                  </a:tabLst>
                </a:pPr>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8" name="Rectángulo 7"/>
              <p:cNvSpPr>
                <a:spLocks noRot="1" noChangeAspect="1" noMove="1" noResize="1" noEditPoints="1" noAdjustHandles="1" noChangeArrowheads="1" noChangeShapeType="1" noTextEdit="1"/>
              </p:cNvSpPr>
              <p:nvPr/>
            </p:nvSpPr>
            <p:spPr>
              <a:xfrm>
                <a:off x="221942" y="977523"/>
                <a:ext cx="11536653" cy="5164747"/>
              </a:xfrm>
              <a:prstGeom prst="rect">
                <a:avLst/>
              </a:prstGeom>
              <a:blipFill>
                <a:blip r:embed="rId4"/>
                <a:stretch>
                  <a:fillRect l="-423" t="-472" r="-845"/>
                </a:stretch>
              </a:blipFill>
            </p:spPr>
            <p:txBody>
              <a:bodyPr/>
              <a:lstStyle/>
              <a:p>
                <a:r>
                  <a:rPr lang="en-GB">
                    <a:noFill/>
                  </a:rPr>
                  <a:t> </a:t>
                </a:r>
              </a:p>
            </p:txBody>
          </p:sp>
        </mc:Fallback>
      </mc:AlternateContent>
      <p:graphicFrame>
        <p:nvGraphicFramePr>
          <p:cNvPr id="3" name="Tabla 2">
            <a:extLst>
              <a:ext uri="{FF2B5EF4-FFF2-40B4-BE49-F238E27FC236}">
                <a16:creationId xmlns:a16="http://schemas.microsoft.com/office/drawing/2014/main" id="{6DBB7285-7087-4F7A-AE50-D914D6107B59}"/>
              </a:ext>
            </a:extLst>
          </p:cNvPr>
          <p:cNvGraphicFramePr>
            <a:graphicFrameLocks noGrp="1"/>
          </p:cNvGraphicFramePr>
          <p:nvPr>
            <p:extLst>
              <p:ext uri="{D42A27DB-BD31-4B8C-83A1-F6EECF244321}">
                <p14:modId xmlns:p14="http://schemas.microsoft.com/office/powerpoint/2010/main" val="4258478029"/>
              </p:ext>
            </p:extLst>
          </p:nvPr>
        </p:nvGraphicFramePr>
        <p:xfrm>
          <a:off x="433405" y="2506832"/>
          <a:ext cx="1474909" cy="1033668"/>
        </p:xfrm>
        <a:graphic>
          <a:graphicData uri="http://schemas.openxmlformats.org/drawingml/2006/table">
            <a:tbl>
              <a:tblPr>
                <a:tableStyleId>{5C22544A-7EE6-4342-B048-85BDC9FD1C3A}</a:tableStyleId>
              </a:tblPr>
              <a:tblGrid>
                <a:gridCol w="641265">
                  <a:extLst>
                    <a:ext uri="{9D8B030D-6E8A-4147-A177-3AD203B41FA5}">
                      <a16:colId xmlns:a16="http://schemas.microsoft.com/office/drawing/2014/main" val="1497802532"/>
                    </a:ext>
                  </a:extLst>
                </a:gridCol>
                <a:gridCol w="833644">
                  <a:extLst>
                    <a:ext uri="{9D8B030D-6E8A-4147-A177-3AD203B41FA5}">
                      <a16:colId xmlns:a16="http://schemas.microsoft.com/office/drawing/2014/main" val="1198304906"/>
                    </a:ext>
                  </a:extLst>
                </a:gridCol>
              </a:tblGrid>
              <a:tr h="258417">
                <a:tc>
                  <a:txBody>
                    <a:bodyPr/>
                    <a:lstStyle/>
                    <a:p>
                      <a:pPr algn="ctr" fontAlgn="b"/>
                      <a:r>
                        <a:rPr lang="es-ES" sz="1100" b="1" u="none" strike="noStrike" dirty="0" err="1">
                          <a:effectLst/>
                        </a:rPr>
                        <a:t>dni_est</a:t>
                      </a:r>
                      <a:endParaRPr lang="es-E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b="1" u="none" strike="noStrike" dirty="0" err="1">
                          <a:effectLst/>
                        </a:rPr>
                        <a:t>nomb_est</a:t>
                      </a:r>
                      <a:endParaRPr lang="es-ES"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85756299"/>
                  </a:ext>
                </a:extLst>
              </a:tr>
              <a:tr h="258417">
                <a:tc>
                  <a:txBody>
                    <a:bodyPr/>
                    <a:lstStyle/>
                    <a:p>
                      <a:pPr algn="ctr" fontAlgn="b"/>
                      <a:r>
                        <a:rPr lang="es-ES" sz="1100" u="none" strike="noStrike" dirty="0">
                          <a:effectLst/>
                        </a:rPr>
                        <a:t>12345</a:t>
                      </a:r>
                      <a:endParaRPr lang="es-E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a:effectLst/>
                        </a:rPr>
                        <a:t>Perez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03303845"/>
                  </a:ext>
                </a:extLst>
              </a:tr>
              <a:tr h="258417">
                <a:tc>
                  <a:txBody>
                    <a:bodyPr/>
                    <a:lstStyle/>
                    <a:p>
                      <a:pPr algn="ctr" fontAlgn="b"/>
                      <a:r>
                        <a:rPr lang="es-ES" sz="1100" u="none" strike="noStrike">
                          <a:effectLst/>
                        </a:rPr>
                        <a:t>968574</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a:effectLst/>
                        </a:rPr>
                        <a:t>Valdez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91422582"/>
                  </a:ext>
                </a:extLst>
              </a:tr>
              <a:tr h="258417">
                <a:tc>
                  <a:txBody>
                    <a:bodyPr/>
                    <a:lstStyle/>
                    <a:p>
                      <a:pPr algn="ctr" fontAlgn="b"/>
                      <a:r>
                        <a:rPr lang="es-ES" sz="1100" u="none" strike="noStrike">
                          <a:effectLst/>
                        </a:rPr>
                        <a:t>192837</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a:effectLst/>
                        </a:rPr>
                        <a:t>Juarez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92783282"/>
                  </a:ext>
                </a:extLst>
              </a:tr>
            </a:tbl>
          </a:graphicData>
        </a:graphic>
      </p:graphicFrame>
      <p:graphicFrame>
        <p:nvGraphicFramePr>
          <p:cNvPr id="6" name="Tabla 5">
            <a:extLst>
              <a:ext uri="{FF2B5EF4-FFF2-40B4-BE49-F238E27FC236}">
                <a16:creationId xmlns:a16="http://schemas.microsoft.com/office/drawing/2014/main" id="{6FE65070-87DE-4DF1-8835-433BBE195001}"/>
              </a:ext>
            </a:extLst>
          </p:cNvPr>
          <p:cNvGraphicFramePr>
            <a:graphicFrameLocks noGrp="1"/>
          </p:cNvGraphicFramePr>
          <p:nvPr>
            <p:extLst>
              <p:ext uri="{D42A27DB-BD31-4B8C-83A1-F6EECF244321}">
                <p14:modId xmlns:p14="http://schemas.microsoft.com/office/powerpoint/2010/main" val="2996190028"/>
              </p:ext>
            </p:extLst>
          </p:nvPr>
        </p:nvGraphicFramePr>
        <p:xfrm>
          <a:off x="3366051" y="2506832"/>
          <a:ext cx="1474909" cy="1007656"/>
        </p:xfrm>
        <a:graphic>
          <a:graphicData uri="http://schemas.openxmlformats.org/drawingml/2006/table">
            <a:tbl>
              <a:tblPr>
                <a:tableStyleId>{5C22544A-7EE6-4342-B048-85BDC9FD1C3A}</a:tableStyleId>
              </a:tblPr>
              <a:tblGrid>
                <a:gridCol w="650695">
                  <a:extLst>
                    <a:ext uri="{9D8B030D-6E8A-4147-A177-3AD203B41FA5}">
                      <a16:colId xmlns:a16="http://schemas.microsoft.com/office/drawing/2014/main" val="3012801910"/>
                    </a:ext>
                  </a:extLst>
                </a:gridCol>
                <a:gridCol w="824214">
                  <a:extLst>
                    <a:ext uri="{9D8B030D-6E8A-4147-A177-3AD203B41FA5}">
                      <a16:colId xmlns:a16="http://schemas.microsoft.com/office/drawing/2014/main" val="1642592853"/>
                    </a:ext>
                  </a:extLst>
                </a:gridCol>
              </a:tblGrid>
              <a:tr h="251914">
                <a:tc>
                  <a:txBody>
                    <a:bodyPr/>
                    <a:lstStyle/>
                    <a:p>
                      <a:pPr algn="ctr" fontAlgn="b"/>
                      <a:r>
                        <a:rPr lang="es-ES" sz="1100" b="1" u="none" strike="noStrike" dirty="0" err="1">
                          <a:effectLst/>
                        </a:rPr>
                        <a:t>dni_prof</a:t>
                      </a:r>
                      <a:endParaRPr lang="es-ES" sz="11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b="1" u="none" strike="noStrike" dirty="0" err="1">
                          <a:effectLst/>
                        </a:rPr>
                        <a:t>nomb_prof</a:t>
                      </a:r>
                      <a:endParaRPr lang="es-ES" sz="11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92238106"/>
                  </a:ext>
                </a:extLst>
              </a:tr>
              <a:tr h="251914">
                <a:tc>
                  <a:txBody>
                    <a:bodyPr/>
                    <a:lstStyle/>
                    <a:p>
                      <a:pPr algn="ctr" fontAlgn="b"/>
                      <a:r>
                        <a:rPr lang="es-ES" sz="1100" u="none" strike="noStrike" dirty="0">
                          <a:effectLst/>
                        </a:rPr>
                        <a:t>654789</a:t>
                      </a:r>
                      <a:endParaRPr lang="es-ES"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err="1">
                          <a:effectLst/>
                        </a:rPr>
                        <a:t>Perez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06028274"/>
                  </a:ext>
                </a:extLst>
              </a:tr>
              <a:tr h="251914">
                <a:tc>
                  <a:txBody>
                    <a:bodyPr/>
                    <a:lstStyle/>
                    <a:p>
                      <a:pPr algn="ctr" fontAlgn="b"/>
                      <a:r>
                        <a:rPr lang="es-ES" sz="1100" u="none" strike="noStrike">
                          <a:effectLst/>
                        </a:rPr>
                        <a:t>852741</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err="1">
                          <a:effectLst/>
                        </a:rPr>
                        <a:t>Fernandez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4477794"/>
                  </a:ext>
                </a:extLst>
              </a:tr>
              <a:tr h="251914">
                <a:tc>
                  <a:txBody>
                    <a:bodyPr/>
                    <a:lstStyle/>
                    <a:p>
                      <a:pPr algn="ctr" fontAlgn="b"/>
                      <a:r>
                        <a:rPr lang="es-ES" sz="1100" u="none" strike="noStrike">
                          <a:effectLst/>
                        </a:rPr>
                        <a:t>192837</a:t>
                      </a:r>
                      <a:endParaRPr lang="es-ES" sz="11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s-ES" sz="1100" u="none" strike="noStrike" dirty="0">
                          <a:effectLst/>
                        </a:rPr>
                        <a:t>Juarez</a:t>
                      </a:r>
                      <a:endParaRPr lang="es-ES"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94298066"/>
                  </a:ext>
                </a:extLst>
              </a:tr>
            </a:tbl>
          </a:graphicData>
        </a:graphic>
      </p:graphicFrame>
      <p:sp>
        <p:nvSpPr>
          <p:cNvPr id="2" name="CuadroTexto 86">
            <a:extLst>
              <a:ext uri="{FF2B5EF4-FFF2-40B4-BE49-F238E27FC236}">
                <a16:creationId xmlns:a16="http://schemas.microsoft.com/office/drawing/2014/main" id="{05E87437-67AA-8BA9-EB1B-7CA1318A9EC7}"/>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56716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2" name="CuadroTexto 86">
            <a:extLst>
              <a:ext uri="{FF2B5EF4-FFF2-40B4-BE49-F238E27FC236}">
                <a16:creationId xmlns:a16="http://schemas.microsoft.com/office/drawing/2014/main" id="{BF2AA5CC-2E9E-74B9-CD59-1EAF5A90E826}"/>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A70A34DE-2330-84D3-9401-7DB4C7A45DD0}"/>
                  </a:ext>
                </a:extLst>
              </p:cNvPr>
              <p:cNvSpPr txBox="1"/>
              <p:nvPr/>
            </p:nvSpPr>
            <p:spPr>
              <a:xfrm>
                <a:off x="460512" y="1109366"/>
                <a:ext cx="8531087" cy="3596369"/>
              </a:xfrm>
              <a:prstGeom prst="rect">
                <a:avLst/>
              </a:prstGeom>
              <a:noFill/>
            </p:spPr>
            <p:txBody>
              <a:bodyPr wrap="square">
                <a:spAutoFit/>
              </a:bodyPr>
              <a:lstStyle/>
              <a:p>
                <a:r>
                  <a:rPr lang="es-ES" dirty="0"/>
                  <a:t>Condiciones:</a:t>
                </a:r>
              </a:p>
              <a:p>
                <a:pPr marL="285750" indent="-285750">
                  <a:buFont typeface="Arial" panose="020B0604020202020204" pitchFamily="34" charset="0"/>
                  <a:buChar char="•"/>
                </a:pPr>
                <a:r>
                  <a:rPr lang="es-ES" dirty="0"/>
                  <a:t>Ambas relaciones han de tener la misma aridad(</a:t>
                </a:r>
                <a:r>
                  <a:rPr lang="es-ES" dirty="0" err="1"/>
                  <a:t>nº</a:t>
                </a:r>
                <a:r>
                  <a:rPr lang="es-ES" dirty="0"/>
                  <a:t> atributos)</a:t>
                </a:r>
              </a:p>
              <a:p>
                <a:pPr marL="285750" indent="-285750">
                  <a:buFont typeface="Arial" panose="020B0604020202020204" pitchFamily="34" charset="0"/>
                  <a:buChar char="•"/>
                </a:pPr>
                <a:r>
                  <a:rPr lang="es-ES" dirty="0"/>
                  <a:t>El dominio de las relaciones ha de ser el mismo</a:t>
                </a:r>
              </a:p>
              <a:p>
                <a:endParaRPr lang="es-ES" dirty="0"/>
              </a:p>
              <a:p>
                <a:pPr marL="342900" indent="-342900">
                  <a:buAutoNum type="arabicPeriod"/>
                </a:pPr>
                <a14:m>
                  <m:oMath xmlns:m="http://schemas.openxmlformats.org/officeDocument/2006/math">
                    <m:r>
                      <m:rPr>
                        <m:sty m:val="p"/>
                      </m:rP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Estudiante</m:t>
                    </m:r>
                    <m: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Profesor</m:t>
                    </m:r>
                  </m:oMath>
                </a14:m>
                <a:br>
                  <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rPr>
                </a:br>
                <a:r>
                  <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rPr>
                  <a:t>Devuelve 5 tuplas ya que las tuplas repetidas son eliminadas</a:t>
                </a:r>
              </a:p>
              <a:p>
                <a:pPr marL="342900" lvl="0" indent="-342900">
                  <a:lnSpc>
                    <a:spcPct val="107000"/>
                  </a:lnSpc>
                  <a:buFont typeface="+mj-lt"/>
                  <a:buAutoNum type="arabicPeriod"/>
                </a:pPr>
                <a14:m>
                  <m:oMath xmlns:m="http://schemas.openxmlformats.org/officeDocument/2006/math">
                    <m:r>
                      <m:rPr>
                        <m:sty m:val="p"/>
                      </m:rP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Estudiante</m:t>
                    </m:r>
                    <m: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Profesor</m:t>
                    </m:r>
                  </m:oMath>
                </a14:m>
                <a:br>
                  <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rPr>
                </a:br>
                <a:r>
                  <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rPr>
                  <a:t>Devuelve </a:t>
                </a:r>
                <a:r>
                  <a:rPr lang="es-ES" dirty="0">
                    <a:latin typeface="Calibri" panose="020F0502020204030204" pitchFamily="34" charset="0"/>
                    <a:ea typeface="Calibri" panose="020F0502020204030204" pitchFamily="34" charset="0"/>
                    <a:cs typeface="Times New Roman" panose="02020603050405020304" pitchFamily="18" charset="0"/>
                  </a:rPr>
                  <a:t>1</a:t>
                </a:r>
                <a:r>
                  <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rPr>
                  <a:t> tuplas ya que solo hay una tupla en </a:t>
                </a:r>
                <a:r>
                  <a:rPr lang="es-ES" dirty="0" err="1">
                    <a:solidFill>
                      <a:schemeClr val="tx1"/>
                    </a:solidFill>
                    <a:latin typeface="Calibri" panose="020F0502020204030204" pitchFamily="34" charset="0"/>
                    <a:ea typeface="Calibri" panose="020F0502020204030204" pitchFamily="34" charset="0"/>
                    <a:cs typeface="Times New Roman" panose="02020603050405020304" pitchFamily="18" charset="0"/>
                  </a:rPr>
                  <a:t>comun</a:t>
                </a:r>
                <a:endPar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14:m>
                  <m:oMath xmlns:m="http://schemas.openxmlformats.org/officeDocument/2006/math">
                    <m:r>
                      <m:rPr>
                        <m:sty m:val="p"/>
                      </m:rP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Profesor</m:t>
                    </m:r>
                    <m:r>
                      <a:rPr lang="es-ES"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t> −</m:t>
                    </m:r>
                    <m:r>
                      <m:rPr>
                        <m:sty m:val="p"/>
                      </m:rPr>
                      <a:rPr lang="es-ES">
                        <a:solidFill>
                          <a:schemeClr val="tx1"/>
                        </a:solidFill>
                        <a:latin typeface="Cambria Math" panose="02040503050406030204" pitchFamily="18" charset="0"/>
                        <a:ea typeface="Calibri" panose="020F0502020204030204" pitchFamily="34" charset="0"/>
                        <a:cs typeface="Times New Roman" panose="02020603050405020304" pitchFamily="18" charset="0"/>
                      </a:rPr>
                      <m:t>Estudiante</m:t>
                    </m:r>
                    <m:r>
                      <m:rPr>
                        <m:nor/>
                      </m:rPr>
                      <a:rPr lang="es-ES"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m:t> </m:t>
                    </m:r>
                  </m:oMath>
                </a14:m>
                <a:br>
                  <a:rPr lang="es-ES"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br>
                <a:r>
                  <a:rPr lang="es-ES" dirty="0">
                    <a:solidFill>
                      <a:schemeClr val="tx1"/>
                    </a:solidFill>
                    <a:latin typeface="Calibri" panose="020F0502020204030204" pitchFamily="34" charset="0"/>
                    <a:ea typeface="Times New Roman" panose="02020603050405020304" pitchFamily="18" charset="0"/>
                    <a:cs typeface="Times New Roman" panose="02020603050405020304" pitchFamily="18" charset="0"/>
                  </a:rPr>
                  <a:t>Devuelve las 2 tuplas de Profesor que no están en Estudiante</a:t>
                </a:r>
                <a:endParaRPr lang="es-ES" dirty="0">
                  <a:solidFill>
                    <a:schemeClr val="tx1"/>
                  </a:solidFill>
                  <a:latin typeface="Calibri" panose="020F0502020204030204" pitchFamily="34" charset="0"/>
                  <a:ea typeface="Calibri" panose="020F0502020204030204" pitchFamily="34" charset="0"/>
                  <a:cs typeface="Times New Roman" panose="02020603050405020304" pitchFamily="18" charset="0"/>
                </a:endParaRPr>
              </a:p>
              <a:p>
                <a:endParaRPr lang="es-ES" dirty="0"/>
              </a:p>
              <a:p>
                <a:endParaRPr lang="es-ES" dirty="0"/>
              </a:p>
            </p:txBody>
          </p:sp>
        </mc:Choice>
        <mc:Fallback>
          <p:sp>
            <p:nvSpPr>
              <p:cNvPr id="5" name="CuadroTexto 4">
                <a:extLst>
                  <a:ext uri="{FF2B5EF4-FFF2-40B4-BE49-F238E27FC236}">
                    <a16:creationId xmlns:a16="http://schemas.microsoft.com/office/drawing/2014/main" id="{A70A34DE-2330-84D3-9401-7DB4C7A45DD0}"/>
                  </a:ext>
                </a:extLst>
              </p:cNvPr>
              <p:cNvSpPr txBox="1">
                <a:spLocks noRot="1" noChangeAspect="1" noMove="1" noResize="1" noEditPoints="1" noAdjustHandles="1" noChangeArrowheads="1" noChangeShapeType="1" noTextEdit="1"/>
              </p:cNvSpPr>
              <p:nvPr/>
            </p:nvSpPr>
            <p:spPr>
              <a:xfrm>
                <a:off x="460512" y="1109366"/>
                <a:ext cx="8531087" cy="3596369"/>
              </a:xfrm>
              <a:prstGeom prst="rect">
                <a:avLst/>
              </a:prstGeom>
              <a:blipFill>
                <a:blip r:embed="rId4"/>
                <a:stretch>
                  <a:fillRect l="-643" t="-1017"/>
                </a:stretch>
              </a:blipFill>
            </p:spPr>
            <p:txBody>
              <a:bodyPr/>
              <a:lstStyle/>
              <a:p>
                <a:r>
                  <a:rPr lang="es-ES">
                    <a:noFill/>
                  </a:rPr>
                  <a:t> </a:t>
                </a:r>
              </a:p>
            </p:txBody>
          </p:sp>
        </mc:Fallback>
      </mc:AlternateContent>
    </p:spTree>
    <p:extLst>
      <p:ext uri="{BB962C8B-B14F-4D97-AF65-F5344CB8AC3E}">
        <p14:creationId xmlns:p14="http://schemas.microsoft.com/office/powerpoint/2010/main" val="2900062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646331"/>
          </a:xfrm>
          <a:prstGeom prst="rect">
            <a:avLst/>
          </a:prstGeom>
          <a:solidFill>
            <a:srgbClr val="F2F2F2"/>
          </a:solidFill>
        </p:spPr>
        <p:txBody>
          <a:bodyPr wrap="square">
            <a:spAutoFit/>
          </a:bodyPr>
          <a:lstStyle/>
          <a:p>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3)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de la base de datos </a:t>
            </a:r>
            <a:r>
              <a:rPr lang="es-ES" b="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university</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s</a:t>
            </a:r>
            <a:r>
              <a:rPr lang="es-ES" sz="1800" dirty="0">
                <a:solidFill>
                  <a:srgbClr val="004A99"/>
                </a:solidFill>
                <a:effectLst/>
                <a:ea typeface="Times New Roman" panose="02020603050405020304" pitchFamily="18" charset="0"/>
              </a:rPr>
              <a:t>e quiere obtener en una sola consulta, el nombre del  departamento (</a:t>
            </a:r>
            <a:r>
              <a:rPr lang="es-ES" sz="1800" i="1" dirty="0" err="1">
                <a:solidFill>
                  <a:srgbClr val="004A99"/>
                </a:solidFill>
                <a:effectLst/>
                <a:ea typeface="Times New Roman" panose="02020603050405020304" pitchFamily="18" charset="0"/>
              </a:rPr>
              <a:t>dept_name</a:t>
            </a:r>
            <a:r>
              <a:rPr lang="es-ES" sz="1800" dirty="0">
                <a:solidFill>
                  <a:srgbClr val="004A99"/>
                </a:solidFill>
                <a:effectLst/>
                <a:ea typeface="Times New Roman" panose="02020603050405020304" pitchFamily="18" charset="0"/>
              </a:rPr>
              <a:t>) que tiene el mayor número de profesores.</a:t>
            </a:r>
          </a:p>
        </p:txBody>
      </p:sp>
      <p:sp>
        <p:nvSpPr>
          <p:cNvPr id="3" name="CuadroTexto 86">
            <a:extLst>
              <a:ext uri="{FF2B5EF4-FFF2-40B4-BE49-F238E27FC236}">
                <a16:creationId xmlns:a16="http://schemas.microsoft.com/office/drawing/2014/main" id="{9EF5CAE8-916E-5D83-55A8-743FD0239C03}"/>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
        <p:nvSpPr>
          <p:cNvPr id="5" name="CuadroTexto 4">
            <a:extLst>
              <a:ext uri="{FF2B5EF4-FFF2-40B4-BE49-F238E27FC236}">
                <a16:creationId xmlns:a16="http://schemas.microsoft.com/office/drawing/2014/main" id="{A399332C-EE0F-E9FB-2542-52DD53AE5ED5}"/>
              </a:ext>
            </a:extLst>
          </p:cNvPr>
          <p:cNvSpPr txBox="1"/>
          <p:nvPr/>
        </p:nvSpPr>
        <p:spPr>
          <a:xfrm>
            <a:off x="3004930" y="2548523"/>
            <a:ext cx="6129130" cy="1754326"/>
          </a:xfrm>
          <a:prstGeom prst="rect">
            <a:avLst/>
          </a:prstGeom>
          <a:noFill/>
        </p:spPr>
        <p:txBody>
          <a:bodyPr wrap="square">
            <a:spAutoFit/>
          </a:bodyPr>
          <a:lstStyle/>
          <a:p>
            <a:pPr marL="0" marR="0">
              <a:buNone/>
            </a:pPr>
            <a:r>
              <a:rPr lang="es-ES" sz="1800" b="1" dirty="0">
                <a:solidFill>
                  <a:srgbClr val="739ECA"/>
                </a:solidFill>
                <a:effectLst/>
                <a:latin typeface="Courier New" panose="02070309020205020404" pitchFamily="49" charset="0"/>
              </a:rPr>
              <a:t>SELECT</a:t>
            </a:r>
            <a:r>
              <a:rPr lang="es-ES" sz="1800" dirty="0">
                <a:solidFill>
                  <a:srgbClr val="CCCCCC"/>
                </a:solidFill>
                <a:effectLst/>
                <a:latin typeface="Courier New" panose="02070309020205020404" pitchFamily="49" charset="0"/>
              </a:rPr>
              <a:t> </a:t>
            </a:r>
            <a:r>
              <a:rPr lang="es-ES" sz="1800" i="1" dirty="0" err="1">
                <a:solidFill>
                  <a:srgbClr val="B788D3"/>
                </a:solidFill>
                <a:effectLst/>
                <a:latin typeface="Courier New" panose="02070309020205020404" pitchFamily="49" charset="0"/>
              </a:rPr>
              <a:t>d</a:t>
            </a:r>
            <a:r>
              <a:rPr lang="es-ES" sz="1800" dirty="0" err="1">
                <a:solidFill>
                  <a:srgbClr val="CCCCCC"/>
                </a:solidFill>
                <a:effectLst/>
                <a:latin typeface="Courier New" panose="02070309020205020404" pitchFamily="49" charset="0"/>
              </a:rPr>
              <a:t>.</a:t>
            </a:r>
            <a:r>
              <a:rPr lang="es-ES" sz="1800" dirty="0" err="1">
                <a:solidFill>
                  <a:srgbClr val="00B8B8"/>
                </a:solidFill>
                <a:effectLst/>
                <a:latin typeface="Courier New" panose="02070309020205020404" pitchFamily="49" charset="0"/>
              </a:rPr>
              <a:t>dept_name</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as</a:t>
            </a:r>
            <a:r>
              <a:rPr lang="es-ES" sz="1800" dirty="0">
                <a:solidFill>
                  <a:srgbClr val="CCCCCC"/>
                </a:solidFill>
                <a:effectLst/>
                <a:latin typeface="Courier New" panose="02070309020205020404" pitchFamily="49" charset="0"/>
              </a:rPr>
              <a:t> </a:t>
            </a:r>
            <a:r>
              <a:rPr lang="es-ES" sz="1800" i="1" dirty="0" err="1">
                <a:solidFill>
                  <a:srgbClr val="00B8B8"/>
                </a:solidFill>
                <a:effectLst/>
                <a:latin typeface="Courier New" panose="02070309020205020404" pitchFamily="49" charset="0"/>
              </a:rPr>
              <a:t>NombreDepartamento</a:t>
            </a:r>
            <a:r>
              <a:rPr lang="es-ES" sz="1800" dirty="0">
                <a:solidFill>
                  <a:srgbClr val="CCCCCC"/>
                </a:solidFill>
                <a:effectLst/>
                <a:latin typeface="Courier New" panose="02070309020205020404" pitchFamily="49" charset="0"/>
              </a:rPr>
              <a:t>, </a:t>
            </a:r>
            <a:r>
              <a:rPr lang="es-ES" sz="1800" b="1" dirty="0">
                <a:solidFill>
                  <a:srgbClr val="C1AA6C"/>
                </a:solidFill>
                <a:effectLst/>
                <a:latin typeface="Courier New" panose="02070309020205020404" pitchFamily="49" charset="0"/>
              </a:rPr>
              <a:t>COUNT</a:t>
            </a:r>
            <a:r>
              <a:rPr lang="es-ES" sz="1800" dirty="0">
                <a:solidFill>
                  <a:srgbClr val="CCCCCC"/>
                </a:solidFill>
                <a:effectLst/>
                <a:latin typeface="Courier New" panose="02070309020205020404" pitchFamily="49" charset="0"/>
              </a:rPr>
              <a:t>(</a:t>
            </a:r>
            <a:r>
              <a:rPr lang="es-ES" sz="1800" i="1" dirty="0" err="1">
                <a:solidFill>
                  <a:srgbClr val="B788D3"/>
                </a:solidFill>
                <a:effectLst/>
                <a:latin typeface="Courier New" panose="02070309020205020404" pitchFamily="49" charset="0"/>
              </a:rPr>
              <a:t>d</a:t>
            </a:r>
            <a:r>
              <a:rPr lang="es-ES" sz="1800" dirty="0" err="1">
                <a:solidFill>
                  <a:srgbClr val="CCCCCC"/>
                </a:solidFill>
                <a:effectLst/>
                <a:latin typeface="Courier New" panose="02070309020205020404" pitchFamily="49" charset="0"/>
              </a:rPr>
              <a:t>.</a:t>
            </a:r>
            <a:r>
              <a:rPr lang="es-ES" sz="1800" dirty="0" err="1">
                <a:solidFill>
                  <a:srgbClr val="00B8B8"/>
                </a:solidFill>
                <a:effectLst/>
                <a:latin typeface="Courier New" panose="02070309020205020404" pitchFamily="49" charset="0"/>
              </a:rPr>
              <a:t>dept_name</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as</a:t>
            </a:r>
            <a:r>
              <a:rPr lang="es-ES" sz="1800" dirty="0">
                <a:solidFill>
                  <a:srgbClr val="CCCCCC"/>
                </a:solidFill>
                <a:effectLst/>
                <a:latin typeface="Courier New" panose="02070309020205020404" pitchFamily="49" charset="0"/>
              </a:rPr>
              <a:t> </a:t>
            </a:r>
            <a:r>
              <a:rPr lang="es-ES" sz="1800" i="1" dirty="0" err="1">
                <a:solidFill>
                  <a:srgbClr val="00B8B8"/>
                </a:solidFill>
                <a:effectLst/>
                <a:latin typeface="Courier New" panose="02070309020205020404" pitchFamily="49" charset="0"/>
              </a:rPr>
              <a:t>numProfesores</a:t>
            </a:r>
            <a:endParaRPr lang="es-ES" sz="1800" dirty="0">
              <a:solidFill>
                <a:srgbClr val="CCCCCC"/>
              </a:solidFill>
              <a:effectLst/>
              <a:latin typeface="Courier New" panose="02070309020205020404" pitchFamily="49" charset="0"/>
            </a:endParaRPr>
          </a:p>
          <a:p>
            <a:pPr marL="0" marR="0">
              <a:buNone/>
            </a:pPr>
            <a:r>
              <a:rPr lang="es-ES" sz="1800" b="1" dirty="0">
                <a:solidFill>
                  <a:srgbClr val="739ECA"/>
                </a:solidFill>
                <a:effectLst/>
                <a:latin typeface="Courier New" panose="02070309020205020404" pitchFamily="49" charset="0"/>
              </a:rPr>
              <a:t>FROM</a:t>
            </a:r>
            <a:r>
              <a:rPr lang="es-ES" sz="1800" dirty="0">
                <a:solidFill>
                  <a:srgbClr val="CCCCCC"/>
                </a:solidFill>
                <a:effectLst/>
                <a:latin typeface="Courier New" panose="02070309020205020404" pitchFamily="49" charset="0"/>
              </a:rPr>
              <a:t> </a:t>
            </a:r>
            <a:r>
              <a:rPr lang="es-ES" sz="1800" dirty="0" err="1">
                <a:solidFill>
                  <a:srgbClr val="B788D3"/>
                </a:solidFill>
                <a:effectLst/>
                <a:latin typeface="Courier New" panose="02070309020205020404" pitchFamily="49" charset="0"/>
              </a:rPr>
              <a:t>department</a:t>
            </a:r>
            <a:r>
              <a:rPr lang="es-ES" sz="1800" dirty="0">
                <a:solidFill>
                  <a:srgbClr val="CCCCCC"/>
                </a:solidFill>
                <a:effectLst/>
                <a:latin typeface="Courier New" panose="02070309020205020404" pitchFamily="49" charset="0"/>
              </a:rPr>
              <a:t> </a:t>
            </a:r>
            <a:r>
              <a:rPr lang="es-ES" sz="1800" i="1" dirty="0">
                <a:solidFill>
                  <a:srgbClr val="B788D3"/>
                </a:solidFill>
                <a:effectLst/>
                <a:latin typeface="Courier New" panose="02070309020205020404" pitchFamily="49" charset="0"/>
              </a:rPr>
              <a:t>d</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LEFT</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JOIN</a:t>
            </a:r>
            <a:r>
              <a:rPr lang="es-ES" sz="1800" dirty="0">
                <a:solidFill>
                  <a:srgbClr val="CCCCCC"/>
                </a:solidFill>
                <a:effectLst/>
                <a:latin typeface="Courier New" panose="02070309020205020404" pitchFamily="49" charset="0"/>
              </a:rPr>
              <a:t> </a:t>
            </a:r>
            <a:r>
              <a:rPr lang="es-ES" sz="1800" dirty="0">
                <a:solidFill>
                  <a:srgbClr val="B788D3"/>
                </a:solidFill>
                <a:effectLst/>
                <a:latin typeface="Courier New" panose="02070309020205020404" pitchFamily="49" charset="0"/>
              </a:rPr>
              <a:t>instructor</a:t>
            </a:r>
            <a:r>
              <a:rPr lang="es-ES" sz="1800" dirty="0">
                <a:solidFill>
                  <a:srgbClr val="CCCCCC"/>
                </a:solidFill>
                <a:effectLst/>
                <a:latin typeface="Courier New" panose="02070309020205020404" pitchFamily="49" charset="0"/>
              </a:rPr>
              <a:t> </a:t>
            </a:r>
            <a:r>
              <a:rPr lang="es-ES" sz="1800" i="1" dirty="0">
                <a:solidFill>
                  <a:srgbClr val="B788D3"/>
                </a:solidFill>
                <a:effectLst/>
                <a:latin typeface="Courier New" panose="02070309020205020404" pitchFamily="49" charset="0"/>
              </a:rPr>
              <a:t>i</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ON</a:t>
            </a:r>
            <a:r>
              <a:rPr lang="es-ES" sz="1800" dirty="0">
                <a:solidFill>
                  <a:srgbClr val="CCCCCC"/>
                </a:solidFill>
                <a:effectLst/>
                <a:latin typeface="Courier New" panose="02070309020205020404" pitchFamily="49" charset="0"/>
              </a:rPr>
              <a:t> </a:t>
            </a:r>
            <a:r>
              <a:rPr lang="es-ES" sz="1800" i="1" dirty="0" err="1">
                <a:solidFill>
                  <a:srgbClr val="B788D3"/>
                </a:solidFill>
                <a:effectLst/>
                <a:latin typeface="Courier New" panose="02070309020205020404" pitchFamily="49" charset="0"/>
              </a:rPr>
              <a:t>d</a:t>
            </a:r>
            <a:r>
              <a:rPr lang="es-ES" sz="1800" dirty="0" err="1">
                <a:solidFill>
                  <a:srgbClr val="CCCCCC"/>
                </a:solidFill>
                <a:effectLst/>
                <a:latin typeface="Courier New" panose="02070309020205020404" pitchFamily="49" charset="0"/>
              </a:rPr>
              <a:t>.</a:t>
            </a:r>
            <a:r>
              <a:rPr lang="es-ES" sz="1800" dirty="0" err="1">
                <a:solidFill>
                  <a:srgbClr val="00B8B8"/>
                </a:solidFill>
                <a:effectLst/>
                <a:latin typeface="Courier New" panose="02070309020205020404" pitchFamily="49" charset="0"/>
              </a:rPr>
              <a:t>dept_name</a:t>
            </a:r>
            <a:r>
              <a:rPr lang="es-ES" sz="1800" dirty="0">
                <a:solidFill>
                  <a:srgbClr val="CCCCCC"/>
                </a:solidFill>
                <a:effectLst/>
                <a:latin typeface="Courier New" panose="02070309020205020404" pitchFamily="49" charset="0"/>
              </a:rPr>
              <a:t> = </a:t>
            </a:r>
            <a:r>
              <a:rPr lang="es-ES" sz="1800" i="1" dirty="0" err="1">
                <a:solidFill>
                  <a:srgbClr val="B788D3"/>
                </a:solidFill>
                <a:effectLst/>
                <a:latin typeface="Courier New" panose="02070309020205020404" pitchFamily="49" charset="0"/>
              </a:rPr>
              <a:t>i</a:t>
            </a:r>
            <a:r>
              <a:rPr lang="es-ES" sz="1800" dirty="0" err="1">
                <a:solidFill>
                  <a:srgbClr val="CCCCCC"/>
                </a:solidFill>
                <a:effectLst/>
                <a:latin typeface="Courier New" panose="02070309020205020404" pitchFamily="49" charset="0"/>
              </a:rPr>
              <a:t>.</a:t>
            </a:r>
            <a:r>
              <a:rPr lang="es-ES" sz="1800" dirty="0" err="1">
                <a:solidFill>
                  <a:srgbClr val="00B8B8"/>
                </a:solidFill>
                <a:effectLst/>
                <a:latin typeface="Courier New" panose="02070309020205020404" pitchFamily="49" charset="0"/>
              </a:rPr>
              <a:t>dept_name</a:t>
            </a:r>
            <a:endParaRPr lang="es-ES" sz="1800" dirty="0">
              <a:solidFill>
                <a:srgbClr val="CCCCCC"/>
              </a:solidFill>
              <a:effectLst/>
              <a:latin typeface="Courier New" panose="02070309020205020404" pitchFamily="49" charset="0"/>
            </a:endParaRPr>
          </a:p>
          <a:p>
            <a:pPr marL="0" marR="0">
              <a:buNone/>
            </a:pPr>
            <a:r>
              <a:rPr lang="es-ES" sz="1800" b="1" dirty="0">
                <a:solidFill>
                  <a:srgbClr val="739ECA"/>
                </a:solidFill>
                <a:effectLst/>
                <a:latin typeface="Courier New" panose="02070309020205020404" pitchFamily="49" charset="0"/>
              </a:rPr>
              <a:t>GROUP</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BY</a:t>
            </a:r>
            <a:r>
              <a:rPr lang="es-ES" sz="1800" dirty="0">
                <a:solidFill>
                  <a:srgbClr val="CCCCCC"/>
                </a:solidFill>
                <a:effectLst/>
                <a:latin typeface="Courier New" panose="02070309020205020404" pitchFamily="49" charset="0"/>
              </a:rPr>
              <a:t> </a:t>
            </a:r>
            <a:r>
              <a:rPr lang="es-ES" sz="1800" i="1" dirty="0" err="1">
                <a:solidFill>
                  <a:srgbClr val="00B8B8"/>
                </a:solidFill>
                <a:effectLst/>
                <a:latin typeface="Courier New" panose="02070309020205020404" pitchFamily="49" charset="0"/>
              </a:rPr>
              <a:t>NombreDepartamento</a:t>
            </a:r>
            <a:endParaRPr lang="es-ES" sz="1800" dirty="0">
              <a:solidFill>
                <a:srgbClr val="CCCCCC"/>
              </a:solidFill>
              <a:effectLst/>
              <a:latin typeface="Courier New" panose="02070309020205020404" pitchFamily="49" charset="0"/>
            </a:endParaRPr>
          </a:p>
          <a:p>
            <a:pPr marL="0" marR="0"/>
            <a:r>
              <a:rPr lang="es-ES" sz="1800" b="1" dirty="0">
                <a:solidFill>
                  <a:srgbClr val="739ECA"/>
                </a:solidFill>
                <a:effectLst/>
                <a:latin typeface="Courier New" panose="02070309020205020404" pitchFamily="49" charset="0"/>
              </a:rPr>
              <a:t>ORDER</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BY</a:t>
            </a:r>
            <a:r>
              <a:rPr lang="es-ES" sz="1800" dirty="0">
                <a:solidFill>
                  <a:srgbClr val="CCCCCC"/>
                </a:solidFill>
                <a:effectLst/>
                <a:latin typeface="Courier New" panose="02070309020205020404" pitchFamily="49" charset="0"/>
              </a:rPr>
              <a:t> </a:t>
            </a:r>
            <a:r>
              <a:rPr lang="es-ES" sz="1800" i="1" dirty="0" err="1">
                <a:solidFill>
                  <a:srgbClr val="00B8B8"/>
                </a:solidFill>
                <a:effectLst/>
                <a:latin typeface="Courier New" panose="02070309020205020404" pitchFamily="49" charset="0"/>
              </a:rPr>
              <a:t>numProfesores</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DESC</a:t>
            </a:r>
            <a:r>
              <a:rPr lang="es-ES" sz="1800" dirty="0">
                <a:solidFill>
                  <a:srgbClr val="CCCCCC"/>
                </a:solidFill>
                <a:effectLst/>
                <a:latin typeface="Courier New" panose="02070309020205020404" pitchFamily="49" charset="0"/>
              </a:rPr>
              <a:t> </a:t>
            </a:r>
            <a:r>
              <a:rPr lang="es-ES" sz="1800" b="1" dirty="0">
                <a:solidFill>
                  <a:srgbClr val="739ECA"/>
                </a:solidFill>
                <a:effectLst/>
                <a:latin typeface="Courier New" panose="02070309020205020404" pitchFamily="49" charset="0"/>
              </a:rPr>
              <a:t>LIMIT</a:t>
            </a:r>
            <a:r>
              <a:rPr lang="es-ES" sz="1800" dirty="0">
                <a:solidFill>
                  <a:srgbClr val="CCCCCC"/>
                </a:solidFill>
                <a:effectLst/>
                <a:latin typeface="Courier New" panose="02070309020205020404" pitchFamily="49" charset="0"/>
              </a:rPr>
              <a:t> </a:t>
            </a:r>
            <a:r>
              <a:rPr lang="es-ES" sz="1800" dirty="0">
                <a:solidFill>
                  <a:srgbClr val="C0C0C0"/>
                </a:solidFill>
                <a:effectLst/>
                <a:latin typeface="Courier New" panose="02070309020205020404" pitchFamily="49" charset="0"/>
              </a:rPr>
              <a:t>1</a:t>
            </a:r>
            <a:r>
              <a:rPr lang="es-ES" sz="1800" dirty="0">
                <a:solidFill>
                  <a:srgbClr val="EECC64"/>
                </a:solidFill>
                <a:effectLst/>
                <a:latin typeface="Courier New" panose="02070309020205020404" pitchFamily="49" charset="0"/>
              </a:rPr>
              <a:t>;</a:t>
            </a:r>
            <a:endParaRPr lang="es-ES" sz="180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2773900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1354730"/>
          </a:xfrm>
          <a:prstGeom prst="rect">
            <a:avLst/>
          </a:prstGeom>
          <a:solidFill>
            <a:srgbClr val="F2F2F2"/>
          </a:solidFill>
        </p:spPr>
        <p:txBody>
          <a:bodyPr wrap="square">
            <a:spAutoFit/>
          </a:bodyPr>
          <a:lstStyle/>
          <a:p>
            <a:pPr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4)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responda la siguiente pregunta: ¿Cuál es la clase dónde se impartieron más asignaturas en el año 2018? (BBDD </a:t>
            </a:r>
            <a:r>
              <a:rPr lang="es-ES" sz="1800" b="1" dirty="0" err="1">
                <a:solidFill>
                  <a:srgbClr val="004A99"/>
                </a:solidFill>
                <a:effectLst/>
                <a:latin typeface="Calibri" panose="020F0502020204030204" pitchFamily="34" charset="0"/>
                <a:ea typeface="Times New Roman" panose="02020603050405020304" pitchFamily="18" charset="0"/>
              </a:rPr>
              <a:t>university</a:t>
            </a:r>
            <a:r>
              <a:rPr lang="es-ES" sz="1800" dirty="0">
                <a:solidFill>
                  <a:srgbClr val="004A99"/>
                </a:solidFill>
                <a:effectLst/>
                <a:latin typeface="Calibri" panose="020F0502020204030204" pitchFamily="34" charset="0"/>
                <a:ea typeface="Times New Roman" panose="02020603050405020304" pitchFamily="18" charset="0"/>
              </a:rPr>
              <a:t>)</a:t>
            </a:r>
          </a:p>
          <a:p>
            <a:pPr algn="just">
              <a:lnSpc>
                <a:spcPct val="107000"/>
              </a:lnSpc>
              <a:spcAft>
                <a:spcPts val="600"/>
              </a:spcAft>
              <a:tabLst>
                <a:tab pos="5363845" algn="r"/>
              </a:tabLst>
            </a:pPr>
            <a:r>
              <a:rPr lang="es-ES" sz="1800" dirty="0">
                <a:solidFill>
                  <a:srgbClr val="004A99"/>
                </a:solidFill>
                <a:effectLst/>
                <a:latin typeface="Calibri" panose="020F0502020204030204" pitchFamily="34" charset="0"/>
                <a:ea typeface="Times New Roman" panose="02020603050405020304" pitchFamily="18" charset="0"/>
              </a:rPr>
              <a:t>Condiciones: para responder la pregunta debes conseguir en una sola consulta, mostrar una tabla con la información solicitada. </a:t>
            </a:r>
          </a:p>
        </p:txBody>
      </p:sp>
      <p:sp>
        <p:nvSpPr>
          <p:cNvPr id="5" name="CuadroTexto 86">
            <a:extLst>
              <a:ext uri="{FF2B5EF4-FFF2-40B4-BE49-F238E27FC236}">
                <a16:creationId xmlns:a16="http://schemas.microsoft.com/office/drawing/2014/main" id="{700CF499-B30C-3317-6A8B-E53B2EB75EF6}"/>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
        <p:nvSpPr>
          <p:cNvPr id="3" name="CuadroTexto 2">
            <a:extLst>
              <a:ext uri="{FF2B5EF4-FFF2-40B4-BE49-F238E27FC236}">
                <a16:creationId xmlns:a16="http://schemas.microsoft.com/office/drawing/2014/main" id="{50A9096C-D625-3527-AEEB-81AF5F5E9D93}"/>
              </a:ext>
            </a:extLst>
          </p:cNvPr>
          <p:cNvSpPr txBox="1"/>
          <p:nvPr/>
        </p:nvSpPr>
        <p:spPr>
          <a:xfrm>
            <a:off x="3004930" y="2548523"/>
            <a:ext cx="6129130" cy="1754326"/>
          </a:xfrm>
          <a:prstGeom prst="rect">
            <a:avLst/>
          </a:prstGeom>
          <a:noFill/>
        </p:spPr>
        <p:txBody>
          <a:bodyPr wrap="square">
            <a:spAutoFit/>
          </a:bodyPr>
          <a:lstStyle/>
          <a:p>
            <a:pPr marL="0" marR="0">
              <a:buNone/>
            </a:pPr>
            <a:r>
              <a:rPr lang="en-US" sz="1800" b="1" dirty="0">
                <a:solidFill>
                  <a:srgbClr val="739ECA"/>
                </a:solidFill>
                <a:effectLst/>
                <a:latin typeface="Courier New" panose="02070309020205020404" pitchFamily="49" charset="0"/>
              </a:rPr>
              <a:t>SELECT</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building</a:t>
            </a:r>
            <a:r>
              <a:rPr lang="en-US" sz="1800" dirty="0">
                <a:solidFill>
                  <a:srgbClr val="CCCCCC"/>
                </a:solidFill>
                <a:effectLst/>
                <a:latin typeface="Courier New" panose="02070309020205020404" pitchFamily="49" charset="0"/>
              </a:rPr>
              <a:t> ,</a:t>
            </a:r>
            <a:r>
              <a:rPr lang="en-US" sz="1800" dirty="0" err="1">
                <a:solidFill>
                  <a:srgbClr val="00B8B8"/>
                </a:solidFill>
                <a:effectLst/>
                <a:latin typeface="Courier New" panose="02070309020205020404" pitchFamily="49" charset="0"/>
              </a:rPr>
              <a:t>room_number</a:t>
            </a:r>
            <a:r>
              <a:rPr lang="en-US" sz="1800" dirty="0">
                <a:solidFill>
                  <a:srgbClr val="CCCCCC"/>
                </a:solidFill>
                <a:effectLst/>
                <a:latin typeface="Courier New" panose="02070309020205020404" pitchFamily="49" charset="0"/>
              </a:rPr>
              <a:t>, </a:t>
            </a:r>
            <a:r>
              <a:rPr lang="en-US" sz="1800" b="1" dirty="0">
                <a:solidFill>
                  <a:srgbClr val="C1AA6C"/>
                </a:solidFill>
                <a:effectLst/>
                <a:latin typeface="Courier New" panose="02070309020205020404" pitchFamily="49" charset="0"/>
              </a:rPr>
              <a:t>count</a:t>
            </a:r>
            <a:r>
              <a:rPr lang="en-US" sz="1800" dirty="0">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FROM</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`section`</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s</a:t>
            </a:r>
            <a:r>
              <a:rPr lang="en-US" sz="1800" dirty="0">
                <a:solidFill>
                  <a:srgbClr val="CCCCCC"/>
                </a:solidFill>
                <a:effectLst/>
                <a:latin typeface="Courier New" panose="02070309020205020404" pitchFamily="49" charset="0"/>
              </a:rPr>
              <a:t> </a:t>
            </a:r>
          </a:p>
          <a:p>
            <a:pPr marL="0" marR="0">
              <a:buNone/>
            </a:pPr>
            <a:r>
              <a:rPr lang="en-US" sz="1800" b="1" dirty="0">
                <a:solidFill>
                  <a:srgbClr val="739ECA"/>
                </a:solidFill>
                <a:effectLst/>
                <a:latin typeface="Courier New" panose="02070309020205020404" pitchFamily="49" charset="0"/>
              </a:rPr>
              <a:t>WHERE</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year</a:t>
            </a:r>
            <a:r>
              <a:rPr lang="en-US" sz="1800" dirty="0">
                <a:solidFill>
                  <a:srgbClr val="CCCCCC"/>
                </a:solidFill>
                <a:effectLst/>
                <a:latin typeface="Courier New" panose="02070309020205020404" pitchFamily="49" charset="0"/>
              </a:rPr>
              <a:t> = </a:t>
            </a:r>
            <a:r>
              <a:rPr lang="en-US" sz="1800" dirty="0">
                <a:solidFill>
                  <a:srgbClr val="C0C0C0"/>
                </a:solidFill>
                <a:effectLst/>
                <a:latin typeface="Courier New" panose="02070309020205020404" pitchFamily="49" charset="0"/>
              </a:rPr>
              <a:t>2018</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GROUP</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dirty="0" err="1">
                <a:solidFill>
                  <a:srgbClr val="00B8B8"/>
                </a:solidFill>
                <a:effectLst/>
                <a:latin typeface="Courier New" panose="02070309020205020404" pitchFamily="49" charset="0"/>
              </a:rPr>
              <a:t>room_number</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building</a:t>
            </a:r>
            <a:endParaRPr lang="en-US" sz="1800" dirty="0">
              <a:solidFill>
                <a:srgbClr val="CCCCCC"/>
              </a:solidFill>
              <a:effectLst/>
              <a:latin typeface="Courier New" panose="02070309020205020404" pitchFamily="49" charset="0"/>
            </a:endParaRPr>
          </a:p>
          <a:p>
            <a:pPr marL="0" marR="0"/>
            <a:r>
              <a:rPr lang="en-US" sz="1800" b="1" dirty="0">
                <a:solidFill>
                  <a:srgbClr val="739ECA"/>
                </a:solidFill>
                <a:effectLst/>
                <a:latin typeface="Courier New" panose="02070309020205020404" pitchFamily="49" charset="0"/>
              </a:rPr>
              <a:t>ORDER</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DESC</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LIMIT</a:t>
            </a:r>
            <a:r>
              <a:rPr lang="en-US" sz="1800" dirty="0">
                <a:solidFill>
                  <a:srgbClr val="CCCCCC"/>
                </a:solidFill>
                <a:effectLst/>
                <a:latin typeface="Courier New" panose="02070309020205020404" pitchFamily="49" charset="0"/>
              </a:rPr>
              <a:t> </a:t>
            </a:r>
            <a:r>
              <a:rPr lang="en-US" sz="1800" dirty="0">
                <a:solidFill>
                  <a:srgbClr val="C0C0C0"/>
                </a:solidFill>
                <a:effectLst/>
                <a:latin typeface="Courier New" panose="02070309020205020404" pitchFamily="49" charset="0"/>
              </a:rPr>
              <a:t>1</a:t>
            </a:r>
            <a:r>
              <a:rPr lang="en-US" sz="1800" dirty="0">
                <a:solidFill>
                  <a:srgbClr val="EECC64"/>
                </a:solidFill>
                <a:effectLst/>
                <a:latin typeface="Courier New" panose="02070309020205020404" pitchFamily="49" charset="0"/>
              </a:rPr>
              <a:t>;</a:t>
            </a:r>
            <a:endParaRPr lang="en-US" sz="180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1177977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1277786"/>
          </a:xfrm>
          <a:prstGeom prst="rect">
            <a:avLst/>
          </a:prstGeom>
          <a:solidFill>
            <a:srgbClr val="F2F2F2"/>
          </a:solidFill>
        </p:spPr>
        <p:txBody>
          <a:bodyPr wrap="square">
            <a:spAutoFit/>
          </a:bodyPr>
          <a:lstStyle/>
          <a:p>
            <a:pPr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5)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en la base de datos </a:t>
            </a:r>
            <a:r>
              <a:rPr lang="es-ES" sz="1800" b="1" dirty="0" err="1">
                <a:solidFill>
                  <a:srgbClr val="004A99"/>
                </a:solidFill>
                <a:effectLst/>
                <a:latin typeface="Calibri" panose="020F0502020204030204" pitchFamily="34" charset="0"/>
                <a:ea typeface="Times New Roman" panose="02020603050405020304" pitchFamily="18" charset="0"/>
              </a:rPr>
              <a:t>university</a:t>
            </a:r>
            <a:r>
              <a:rPr lang="es-ES" sz="1800" dirty="0">
                <a:solidFill>
                  <a:srgbClr val="004A99"/>
                </a:solidFill>
                <a:effectLst/>
                <a:latin typeface="Calibri" panose="020F0502020204030204" pitchFamily="34" charset="0"/>
                <a:ea typeface="Times New Roman" panose="02020603050405020304" pitchFamily="18" charset="0"/>
              </a:rPr>
              <a:t>, dentro de la tabla </a:t>
            </a:r>
            <a:r>
              <a:rPr lang="es-ES" sz="1800" i="1" dirty="0" err="1">
                <a:solidFill>
                  <a:srgbClr val="004A99"/>
                </a:solidFill>
                <a:effectLst/>
                <a:latin typeface="Calibri" panose="020F0502020204030204" pitchFamily="34" charset="0"/>
                <a:ea typeface="Times New Roman" panose="02020603050405020304" pitchFamily="18" charset="0"/>
              </a:rPr>
              <a:t>course</a:t>
            </a:r>
            <a:r>
              <a:rPr lang="es-ES" sz="1800" dirty="0">
                <a:solidFill>
                  <a:srgbClr val="004A99"/>
                </a:solidFill>
                <a:effectLst/>
                <a:latin typeface="Calibri" panose="020F0502020204030204" pitchFamily="34" charset="0"/>
                <a:ea typeface="Times New Roman" panose="02020603050405020304" pitchFamily="18" charset="0"/>
              </a:rPr>
              <a:t> hay un curso que no está vinculado a ninguna oferta o </a:t>
            </a:r>
            <a:r>
              <a:rPr lang="es-ES" sz="1800" i="1" dirty="0" err="1">
                <a:solidFill>
                  <a:srgbClr val="004A99"/>
                </a:solidFill>
                <a:effectLst/>
                <a:latin typeface="Calibri" panose="020F0502020204030204" pitchFamily="34" charset="0"/>
                <a:ea typeface="Times New Roman" panose="02020603050405020304" pitchFamily="18" charset="0"/>
              </a:rPr>
              <a:t>section</a:t>
            </a:r>
            <a:r>
              <a:rPr lang="es-ES" sz="1800" i="1" dirty="0">
                <a:solidFill>
                  <a:srgbClr val="004A99"/>
                </a:solidFill>
                <a:effectLst/>
                <a:latin typeface="Calibri" panose="020F0502020204030204" pitchFamily="34" charset="0"/>
                <a:ea typeface="Times New Roman" panose="02020603050405020304" pitchFamily="18" charset="0"/>
              </a:rPr>
              <a:t> </a:t>
            </a:r>
            <a:r>
              <a:rPr lang="es-ES" sz="1800" dirty="0">
                <a:solidFill>
                  <a:srgbClr val="004A99"/>
                </a:solidFill>
                <a:effectLst/>
                <a:latin typeface="Calibri" panose="020F0502020204030204" pitchFamily="34" charset="0"/>
                <a:ea typeface="Times New Roman" panose="02020603050405020304" pitchFamily="18" charset="0"/>
              </a:rPr>
              <a:t>y queremos asignarlo al aula menos utilizada del año 2018 para el siguiente año. En una sola </a:t>
            </a:r>
            <a:r>
              <a:rPr lang="es-ES" sz="1800" dirty="0" err="1">
                <a:solidFill>
                  <a:srgbClr val="004A99"/>
                </a:solidFill>
                <a:effectLst/>
                <a:latin typeface="Calibri" panose="020F0502020204030204" pitchFamily="34" charset="0"/>
                <a:ea typeface="Times New Roman" panose="02020603050405020304" pitchFamily="18" charset="0"/>
              </a:rPr>
              <a:t>query</a:t>
            </a:r>
            <a:r>
              <a:rPr lang="es-ES" sz="1800" dirty="0">
                <a:solidFill>
                  <a:srgbClr val="004A99"/>
                </a:solidFill>
                <a:effectLst/>
                <a:latin typeface="Calibri" panose="020F0502020204030204" pitchFamily="34" charset="0"/>
                <a:ea typeface="Times New Roman" panose="02020603050405020304" pitchFamily="18" charset="0"/>
              </a:rPr>
              <a:t> muestra una tabla donde se vea el curso que no está en ninguna </a:t>
            </a:r>
            <a:r>
              <a:rPr lang="es-ES" sz="1800" i="1" dirty="0" err="1">
                <a:solidFill>
                  <a:srgbClr val="004A99"/>
                </a:solidFill>
                <a:effectLst/>
                <a:latin typeface="Calibri" panose="020F0502020204030204" pitchFamily="34" charset="0"/>
                <a:ea typeface="Times New Roman" panose="02020603050405020304" pitchFamily="18" charset="0"/>
              </a:rPr>
              <a:t>section</a:t>
            </a:r>
            <a:r>
              <a:rPr lang="es-ES" sz="1800" dirty="0">
                <a:solidFill>
                  <a:srgbClr val="004A99"/>
                </a:solidFill>
                <a:effectLst/>
                <a:latin typeface="Calibri" panose="020F0502020204030204" pitchFamily="34" charset="0"/>
                <a:ea typeface="Times New Roman" panose="02020603050405020304" pitchFamily="18" charset="0"/>
              </a:rPr>
              <a:t>. ¿Cuál es el nombre de la asignatura? ¿A qué departamento pertenece este curso? ¿Y cuál es el aula menos utilizada del año 2018?</a:t>
            </a:r>
            <a:endParaRPr lang="es-ES" sz="1800" dirty="0">
              <a:solidFill>
                <a:srgbClr val="004A99"/>
              </a:solidFill>
              <a:effectLst/>
              <a:latin typeface="Times New Roman" panose="02020603050405020304" pitchFamily="18" charset="0"/>
              <a:ea typeface="Times New Roman" panose="02020603050405020304" pitchFamily="18" charset="0"/>
            </a:endParaRPr>
          </a:p>
        </p:txBody>
      </p:sp>
      <p:sp>
        <p:nvSpPr>
          <p:cNvPr id="3" name="CuadroTexto 86">
            <a:extLst>
              <a:ext uri="{FF2B5EF4-FFF2-40B4-BE49-F238E27FC236}">
                <a16:creationId xmlns:a16="http://schemas.microsoft.com/office/drawing/2014/main" id="{50946054-C2B8-7ACB-9773-C2DA7DCB25AA}"/>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
        <p:nvSpPr>
          <p:cNvPr id="5" name="CuadroTexto 4">
            <a:extLst>
              <a:ext uri="{FF2B5EF4-FFF2-40B4-BE49-F238E27FC236}">
                <a16:creationId xmlns:a16="http://schemas.microsoft.com/office/drawing/2014/main" id="{2D941EAF-387C-9B7F-8073-6C9330D1FC61}"/>
              </a:ext>
            </a:extLst>
          </p:cNvPr>
          <p:cNvSpPr txBox="1"/>
          <p:nvPr/>
        </p:nvSpPr>
        <p:spPr>
          <a:xfrm>
            <a:off x="2925703" y="2625949"/>
            <a:ext cx="6129130" cy="3693319"/>
          </a:xfrm>
          <a:prstGeom prst="rect">
            <a:avLst/>
          </a:prstGeom>
          <a:noFill/>
        </p:spPr>
        <p:txBody>
          <a:bodyPr wrap="square">
            <a:spAutoFit/>
          </a:bodyPr>
          <a:lstStyle/>
          <a:p>
            <a:pPr marL="0" marR="0">
              <a:buNone/>
            </a:pPr>
            <a:r>
              <a:rPr lang="en-US" sz="1800" b="1" dirty="0">
                <a:solidFill>
                  <a:srgbClr val="739ECA"/>
                </a:solidFill>
                <a:effectLst/>
                <a:latin typeface="Courier New" panose="02070309020205020404" pitchFamily="49" charset="0"/>
              </a:rPr>
              <a:t>SELECT</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c</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ID_Curso</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s</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ID_Section</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c</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title</a:t>
            </a:r>
            <a:r>
              <a:rPr lang="en-US" sz="1800" dirty="0">
                <a:solidFill>
                  <a:srgbClr val="CCCCCC"/>
                </a:solidFill>
                <a:effectLst/>
                <a:latin typeface="Courier New" panose="02070309020205020404" pitchFamily="49" charset="0"/>
              </a:rPr>
              <a:t> , </a:t>
            </a:r>
            <a:r>
              <a:rPr lang="en-US" sz="1800" i="1" dirty="0" err="1">
                <a:solidFill>
                  <a:srgbClr val="B788D3"/>
                </a:solidFill>
                <a:effectLst/>
                <a:latin typeface="Courier New" panose="02070309020205020404" pitchFamily="49" charset="0"/>
              </a:rPr>
              <a:t>c</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dept_name</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FROM</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course</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c</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LEFT</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JOIN</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section</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s</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on</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c</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 </a:t>
            </a:r>
            <a:r>
              <a:rPr lang="en-US" sz="1800" i="1" dirty="0" err="1">
                <a:solidFill>
                  <a:srgbClr val="B788D3"/>
                </a:solidFill>
                <a:effectLst/>
                <a:latin typeface="Courier New" panose="02070309020205020404" pitchFamily="49" charset="0"/>
              </a:rPr>
              <a:t>s</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WHERE</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s</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is</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null</a:t>
            </a:r>
            <a:r>
              <a:rPr lang="en-US" sz="1800" dirty="0">
                <a:solidFill>
                  <a:srgbClr val="EECC64"/>
                </a:solidFill>
                <a:effectLst/>
                <a:latin typeface="Courier New" panose="02070309020205020404" pitchFamily="49" charset="0"/>
              </a:rPr>
              <a:t>;</a:t>
            </a:r>
            <a:endParaRPr lang="en-US" sz="1800" dirty="0">
              <a:solidFill>
                <a:srgbClr val="CCCCCC"/>
              </a:solidFill>
              <a:effectLst/>
              <a:latin typeface="Courier New" panose="02070309020205020404" pitchFamily="49" charset="0"/>
            </a:endParaRPr>
          </a:p>
          <a:p>
            <a:pPr marL="0" marR="0">
              <a:buNone/>
            </a:pPr>
            <a:br>
              <a:rPr lang="en-US" sz="1800" dirty="0">
                <a:solidFill>
                  <a:srgbClr val="CCCCCC"/>
                </a:solidFill>
                <a:effectLst/>
                <a:latin typeface="Courier New" panose="02070309020205020404" pitchFamily="49" charset="0"/>
              </a:rPr>
            </a:b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SELECT</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building</a:t>
            </a:r>
            <a:r>
              <a:rPr lang="en-US" sz="1800" dirty="0">
                <a:solidFill>
                  <a:srgbClr val="CCCCCC"/>
                </a:solidFill>
                <a:effectLst/>
                <a:latin typeface="Courier New" panose="02070309020205020404" pitchFamily="49" charset="0"/>
              </a:rPr>
              <a:t> ,</a:t>
            </a:r>
            <a:r>
              <a:rPr lang="en-US" sz="1800" dirty="0" err="1">
                <a:solidFill>
                  <a:srgbClr val="00B8B8"/>
                </a:solidFill>
                <a:effectLst/>
                <a:latin typeface="Courier New" panose="02070309020205020404" pitchFamily="49" charset="0"/>
              </a:rPr>
              <a:t>room_number</a:t>
            </a:r>
            <a:r>
              <a:rPr lang="en-US" sz="1800" dirty="0">
                <a:solidFill>
                  <a:srgbClr val="CCCCCC"/>
                </a:solidFill>
                <a:effectLst/>
                <a:latin typeface="Courier New" panose="02070309020205020404" pitchFamily="49" charset="0"/>
              </a:rPr>
              <a:t>, </a:t>
            </a:r>
            <a:r>
              <a:rPr lang="en-US" sz="1800" b="1" dirty="0">
                <a:solidFill>
                  <a:srgbClr val="C1AA6C"/>
                </a:solidFill>
                <a:effectLst/>
                <a:latin typeface="Courier New" panose="02070309020205020404" pitchFamily="49" charset="0"/>
              </a:rPr>
              <a:t>count</a:t>
            </a:r>
            <a:r>
              <a:rPr lang="en-US" sz="1800" dirty="0">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FROM</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`section`</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s</a:t>
            </a:r>
            <a:r>
              <a:rPr lang="en-US" sz="1800" dirty="0">
                <a:solidFill>
                  <a:srgbClr val="CCCCCC"/>
                </a:solidFill>
                <a:effectLst/>
                <a:latin typeface="Courier New" panose="02070309020205020404" pitchFamily="49" charset="0"/>
              </a:rPr>
              <a:t> </a:t>
            </a:r>
          </a:p>
          <a:p>
            <a:pPr marL="0" marR="0">
              <a:buNone/>
            </a:pPr>
            <a:r>
              <a:rPr lang="en-US" sz="1800" b="1" dirty="0">
                <a:solidFill>
                  <a:srgbClr val="739ECA"/>
                </a:solidFill>
                <a:effectLst/>
                <a:latin typeface="Courier New" panose="02070309020205020404" pitchFamily="49" charset="0"/>
              </a:rPr>
              <a:t>WHERE</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year</a:t>
            </a:r>
            <a:r>
              <a:rPr lang="en-US" sz="1800" dirty="0">
                <a:solidFill>
                  <a:srgbClr val="CCCCCC"/>
                </a:solidFill>
                <a:effectLst/>
                <a:latin typeface="Courier New" panose="02070309020205020404" pitchFamily="49" charset="0"/>
              </a:rPr>
              <a:t> = </a:t>
            </a:r>
            <a:r>
              <a:rPr lang="en-US" sz="1800" dirty="0">
                <a:solidFill>
                  <a:srgbClr val="C0C0C0"/>
                </a:solidFill>
                <a:effectLst/>
                <a:latin typeface="Courier New" panose="02070309020205020404" pitchFamily="49" charset="0"/>
              </a:rPr>
              <a:t>2018</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GROUP</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dirty="0" err="1">
                <a:solidFill>
                  <a:srgbClr val="00B8B8"/>
                </a:solidFill>
                <a:effectLst/>
                <a:latin typeface="Courier New" panose="02070309020205020404" pitchFamily="49" charset="0"/>
              </a:rPr>
              <a:t>room_number</a:t>
            </a:r>
            <a:r>
              <a:rPr lang="en-US" sz="1800" dirty="0">
                <a:solidFill>
                  <a:srgbClr val="CCCCCC"/>
                </a:solidFill>
                <a:effectLst/>
                <a:latin typeface="Courier New" panose="02070309020205020404" pitchFamily="49" charset="0"/>
              </a:rPr>
              <a:t>, </a:t>
            </a:r>
            <a:r>
              <a:rPr lang="en-US" sz="1800" dirty="0">
                <a:solidFill>
                  <a:srgbClr val="00B8B8"/>
                </a:solidFill>
                <a:effectLst/>
                <a:latin typeface="Courier New" panose="02070309020205020404" pitchFamily="49" charset="0"/>
              </a:rPr>
              <a:t>building</a:t>
            </a:r>
            <a:endParaRPr lang="en-US" sz="1800" dirty="0">
              <a:solidFill>
                <a:srgbClr val="CCCCCC"/>
              </a:solidFill>
              <a:effectLst/>
              <a:latin typeface="Courier New" panose="02070309020205020404" pitchFamily="49" charset="0"/>
            </a:endParaRPr>
          </a:p>
          <a:p>
            <a:pPr marL="0" marR="0"/>
            <a:r>
              <a:rPr lang="en-US" sz="1800" b="1" dirty="0">
                <a:solidFill>
                  <a:srgbClr val="739ECA"/>
                </a:solidFill>
                <a:effectLst/>
                <a:latin typeface="Courier New" panose="02070309020205020404" pitchFamily="49" charset="0"/>
              </a:rPr>
              <a:t>ORDER</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ASC</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LIMIT</a:t>
            </a:r>
            <a:r>
              <a:rPr lang="en-US" sz="1800" dirty="0">
                <a:solidFill>
                  <a:srgbClr val="CCCCCC"/>
                </a:solidFill>
                <a:effectLst/>
                <a:latin typeface="Courier New" panose="02070309020205020404" pitchFamily="49" charset="0"/>
              </a:rPr>
              <a:t> </a:t>
            </a:r>
            <a:r>
              <a:rPr lang="en-US" sz="1800" dirty="0">
                <a:solidFill>
                  <a:srgbClr val="C0C0C0"/>
                </a:solidFill>
                <a:effectLst/>
                <a:latin typeface="Courier New" panose="02070309020205020404" pitchFamily="49" charset="0"/>
              </a:rPr>
              <a:t>1</a:t>
            </a:r>
            <a:r>
              <a:rPr lang="en-US" sz="1800" dirty="0">
                <a:solidFill>
                  <a:srgbClr val="EECC64"/>
                </a:solidFill>
                <a:effectLst/>
                <a:latin typeface="Courier New" panose="02070309020205020404" pitchFamily="49" charset="0"/>
              </a:rPr>
              <a:t>;</a:t>
            </a:r>
            <a:endParaRPr lang="en-US" sz="180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1703765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671915"/>
          </a:xfrm>
          <a:prstGeom prst="rect">
            <a:avLst/>
          </a:prstGeom>
          <a:solidFill>
            <a:srgbClr val="F2F2F2"/>
          </a:solidFill>
        </p:spPr>
        <p:txBody>
          <a:bodyPr wrap="square">
            <a:spAutoFit/>
          </a:bodyPr>
          <a:lstStyle/>
          <a:p>
            <a:pPr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6)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crea una consulta donde aparezcan los profesores y el número de asignaturas que imparten cada uno ordenados de mayor a menor número de asignaturas. </a:t>
            </a:r>
          </a:p>
        </p:txBody>
      </p:sp>
      <p:sp>
        <p:nvSpPr>
          <p:cNvPr id="2" name="CuadroTexto 86">
            <a:extLst>
              <a:ext uri="{FF2B5EF4-FFF2-40B4-BE49-F238E27FC236}">
                <a16:creationId xmlns:a16="http://schemas.microsoft.com/office/drawing/2014/main" id="{14E750DB-2D3C-6520-42FF-C90DC2FDFC50}"/>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
        <p:nvSpPr>
          <p:cNvPr id="5" name="CuadroTexto 4">
            <a:extLst>
              <a:ext uri="{FF2B5EF4-FFF2-40B4-BE49-F238E27FC236}">
                <a16:creationId xmlns:a16="http://schemas.microsoft.com/office/drawing/2014/main" id="{90DC07D0-41F6-0054-82DD-478A2E57DD42}"/>
              </a:ext>
            </a:extLst>
          </p:cNvPr>
          <p:cNvSpPr txBox="1"/>
          <p:nvPr/>
        </p:nvSpPr>
        <p:spPr>
          <a:xfrm>
            <a:off x="3004930" y="2548523"/>
            <a:ext cx="6129130" cy="1754326"/>
          </a:xfrm>
          <a:prstGeom prst="rect">
            <a:avLst/>
          </a:prstGeom>
          <a:noFill/>
        </p:spPr>
        <p:txBody>
          <a:bodyPr wrap="square">
            <a:spAutoFit/>
          </a:bodyPr>
          <a:lstStyle/>
          <a:p>
            <a:pPr marL="0" marR="0">
              <a:buNone/>
            </a:pPr>
            <a:r>
              <a:rPr lang="en-US" sz="1800" b="1" dirty="0">
                <a:solidFill>
                  <a:srgbClr val="739ECA"/>
                </a:solidFill>
                <a:effectLst/>
                <a:latin typeface="Courier New" panose="02070309020205020404" pitchFamily="49" charset="0"/>
              </a:rPr>
              <a:t>SELECT</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i</a:t>
            </a:r>
            <a:r>
              <a:rPr lang="en-US" sz="1800" dirty="0">
                <a:solidFill>
                  <a:srgbClr val="CCCCCC"/>
                </a:solidFill>
                <a:effectLst/>
                <a:latin typeface="Courier New" panose="02070309020205020404" pitchFamily="49" charset="0"/>
              </a:rPr>
              <a:t>.</a:t>
            </a:r>
            <a:r>
              <a:rPr lang="en-US" sz="1800" dirty="0">
                <a:solidFill>
                  <a:srgbClr val="00B8B8"/>
                </a:solidFill>
                <a:effectLst/>
                <a:latin typeface="Courier New" panose="02070309020205020404" pitchFamily="49" charset="0"/>
              </a:rPr>
              <a:t>name</a:t>
            </a:r>
            <a:r>
              <a:rPr lang="en-US" sz="1800" dirty="0">
                <a:solidFill>
                  <a:srgbClr val="CCCCCC"/>
                </a:solidFill>
                <a:effectLst/>
                <a:latin typeface="Courier New" panose="02070309020205020404" pitchFamily="49" charset="0"/>
              </a:rPr>
              <a:t>, </a:t>
            </a:r>
            <a:r>
              <a:rPr lang="en-US" sz="1800" b="1" dirty="0">
                <a:solidFill>
                  <a:srgbClr val="C1AA6C"/>
                </a:solidFill>
                <a:effectLst/>
                <a:latin typeface="Courier New" panose="02070309020205020404" pitchFamily="49" charset="0"/>
              </a:rPr>
              <a:t>COUNT</a:t>
            </a:r>
            <a:r>
              <a:rPr lang="en-US" sz="1800" dirty="0">
                <a:solidFill>
                  <a:srgbClr val="CCCCCC"/>
                </a:solidFill>
                <a:effectLst/>
                <a:latin typeface="Courier New" panose="02070309020205020404" pitchFamily="49" charset="0"/>
              </a:rPr>
              <a:t>(</a:t>
            </a:r>
            <a:r>
              <a:rPr lang="en-US" sz="1800" i="1" dirty="0" err="1">
                <a:solidFill>
                  <a:srgbClr val="B788D3"/>
                </a:solidFill>
                <a:effectLst/>
                <a:latin typeface="Courier New" panose="02070309020205020404" pitchFamily="49" charset="0"/>
              </a:rPr>
              <a:t>t</a:t>
            </a:r>
            <a:r>
              <a:rPr lang="en-US" sz="1800" dirty="0" err="1">
                <a:solidFill>
                  <a:srgbClr val="CCCCCC"/>
                </a:solidFill>
                <a:effectLst/>
                <a:latin typeface="Courier New" panose="02070309020205020404" pitchFamily="49" charset="0"/>
              </a:rPr>
              <a:t>.</a:t>
            </a:r>
            <a:r>
              <a:rPr lang="en-US" sz="1800" dirty="0" err="1">
                <a:solidFill>
                  <a:srgbClr val="00B8B8"/>
                </a:solidFill>
                <a:effectLst/>
                <a:latin typeface="Courier New" panose="02070309020205020404" pitchFamily="49" charset="0"/>
              </a:rPr>
              <a:t>course_id</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as</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FROM</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instructor</a:t>
            </a:r>
            <a:r>
              <a:rPr lang="en-US" sz="1800" dirty="0">
                <a:solidFill>
                  <a:srgbClr val="CCCCCC"/>
                </a:solidFill>
                <a:effectLst/>
                <a:latin typeface="Courier New" panose="02070309020205020404" pitchFamily="49" charset="0"/>
              </a:rPr>
              <a:t> </a:t>
            </a:r>
            <a:r>
              <a:rPr lang="en-US" sz="1800" i="1" dirty="0" err="1">
                <a:solidFill>
                  <a:srgbClr val="B788D3"/>
                </a:solidFill>
                <a:effectLst/>
                <a:latin typeface="Courier New" panose="02070309020205020404" pitchFamily="49" charset="0"/>
              </a:rPr>
              <a:t>i</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LEFT</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JOIN</a:t>
            </a:r>
            <a:r>
              <a:rPr lang="en-US" sz="1800" dirty="0">
                <a:solidFill>
                  <a:srgbClr val="CCCCCC"/>
                </a:solidFill>
                <a:effectLst/>
                <a:latin typeface="Courier New" panose="02070309020205020404" pitchFamily="49" charset="0"/>
              </a:rPr>
              <a:t> </a:t>
            </a:r>
            <a:r>
              <a:rPr lang="en-US" sz="1800" dirty="0">
                <a:solidFill>
                  <a:srgbClr val="B788D3"/>
                </a:solidFill>
                <a:effectLst/>
                <a:latin typeface="Courier New" panose="02070309020205020404" pitchFamily="49" charset="0"/>
              </a:rPr>
              <a:t>teaches</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t</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ON</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i</a:t>
            </a:r>
            <a:r>
              <a:rPr lang="en-US" sz="1800" dirty="0">
                <a:solidFill>
                  <a:srgbClr val="CCCCCC"/>
                </a:solidFill>
                <a:effectLst/>
                <a:latin typeface="Courier New" panose="02070309020205020404" pitchFamily="49" charset="0"/>
              </a:rPr>
              <a:t>.</a:t>
            </a:r>
            <a:r>
              <a:rPr lang="en-US" sz="1800" dirty="0">
                <a:solidFill>
                  <a:srgbClr val="00B8B8"/>
                </a:solidFill>
                <a:effectLst/>
                <a:latin typeface="Courier New" panose="02070309020205020404" pitchFamily="49" charset="0"/>
              </a:rPr>
              <a:t>ID</a:t>
            </a:r>
            <a:r>
              <a:rPr lang="en-US" sz="1800" dirty="0">
                <a:solidFill>
                  <a:srgbClr val="CCCCCC"/>
                </a:solidFill>
                <a:effectLst/>
                <a:latin typeface="Courier New" panose="02070309020205020404" pitchFamily="49" charset="0"/>
              </a:rPr>
              <a:t> = </a:t>
            </a:r>
            <a:r>
              <a:rPr lang="en-US" sz="1800" i="1" dirty="0">
                <a:solidFill>
                  <a:srgbClr val="B788D3"/>
                </a:solidFill>
                <a:effectLst/>
                <a:latin typeface="Courier New" panose="02070309020205020404" pitchFamily="49" charset="0"/>
              </a:rPr>
              <a:t>t</a:t>
            </a:r>
            <a:r>
              <a:rPr lang="en-US" sz="1800" dirty="0">
                <a:solidFill>
                  <a:srgbClr val="CCCCCC"/>
                </a:solidFill>
                <a:effectLst/>
                <a:latin typeface="Courier New" panose="02070309020205020404" pitchFamily="49" charset="0"/>
              </a:rPr>
              <a:t>.</a:t>
            </a:r>
            <a:r>
              <a:rPr lang="en-US" sz="1800" dirty="0">
                <a:solidFill>
                  <a:srgbClr val="00B8B8"/>
                </a:solidFill>
                <a:effectLst/>
                <a:latin typeface="Courier New" panose="02070309020205020404" pitchFamily="49" charset="0"/>
              </a:rPr>
              <a:t>ID</a:t>
            </a:r>
            <a:endParaRPr lang="en-US" sz="1800" dirty="0">
              <a:solidFill>
                <a:srgbClr val="CCCCCC"/>
              </a:solidFill>
              <a:effectLst/>
              <a:latin typeface="Courier New" panose="02070309020205020404" pitchFamily="49" charset="0"/>
            </a:endParaRPr>
          </a:p>
          <a:p>
            <a:pPr marL="0" marR="0">
              <a:buNone/>
            </a:pPr>
            <a:r>
              <a:rPr lang="en-US" sz="1800" b="1" dirty="0">
                <a:solidFill>
                  <a:srgbClr val="739ECA"/>
                </a:solidFill>
                <a:effectLst/>
                <a:latin typeface="Courier New" panose="02070309020205020404" pitchFamily="49" charset="0"/>
              </a:rPr>
              <a:t>GROUP</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i="1" dirty="0">
                <a:solidFill>
                  <a:srgbClr val="B788D3"/>
                </a:solidFill>
                <a:effectLst/>
                <a:latin typeface="Courier New" panose="02070309020205020404" pitchFamily="49" charset="0"/>
              </a:rPr>
              <a:t>i</a:t>
            </a:r>
            <a:r>
              <a:rPr lang="en-US" sz="1800" dirty="0">
                <a:solidFill>
                  <a:srgbClr val="CCCCCC"/>
                </a:solidFill>
                <a:effectLst/>
                <a:latin typeface="Courier New" panose="02070309020205020404" pitchFamily="49" charset="0"/>
              </a:rPr>
              <a:t>.</a:t>
            </a:r>
            <a:r>
              <a:rPr lang="en-US" sz="1800" dirty="0">
                <a:solidFill>
                  <a:srgbClr val="00B8B8"/>
                </a:solidFill>
                <a:effectLst/>
                <a:latin typeface="Courier New" panose="02070309020205020404" pitchFamily="49" charset="0"/>
              </a:rPr>
              <a:t>ID</a:t>
            </a:r>
            <a:endParaRPr lang="en-US" sz="1800" dirty="0">
              <a:solidFill>
                <a:srgbClr val="CCCCCC"/>
              </a:solidFill>
              <a:effectLst/>
              <a:latin typeface="Courier New" panose="02070309020205020404" pitchFamily="49" charset="0"/>
            </a:endParaRPr>
          </a:p>
          <a:p>
            <a:pPr marL="0" marR="0"/>
            <a:r>
              <a:rPr lang="en-US" sz="1800" b="1" dirty="0">
                <a:solidFill>
                  <a:srgbClr val="739ECA"/>
                </a:solidFill>
                <a:effectLst/>
                <a:latin typeface="Courier New" panose="02070309020205020404" pitchFamily="49" charset="0"/>
              </a:rPr>
              <a:t>ORDER</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BY</a:t>
            </a:r>
            <a:r>
              <a:rPr lang="en-US" sz="1800" dirty="0">
                <a:solidFill>
                  <a:srgbClr val="CCCCCC"/>
                </a:solidFill>
                <a:effectLst/>
                <a:latin typeface="Courier New" panose="02070309020205020404" pitchFamily="49" charset="0"/>
              </a:rPr>
              <a:t> </a:t>
            </a:r>
            <a:r>
              <a:rPr lang="en-US" sz="1800" i="1" dirty="0" err="1">
                <a:solidFill>
                  <a:srgbClr val="00B8B8"/>
                </a:solidFill>
                <a:effectLst/>
                <a:latin typeface="Courier New" panose="02070309020205020404" pitchFamily="49" charset="0"/>
              </a:rPr>
              <a:t>numAsignaturas</a:t>
            </a:r>
            <a:r>
              <a:rPr lang="en-US" sz="1800" dirty="0">
                <a:solidFill>
                  <a:srgbClr val="CCCCCC"/>
                </a:solidFill>
                <a:effectLst/>
                <a:latin typeface="Courier New" panose="02070309020205020404" pitchFamily="49" charset="0"/>
              </a:rPr>
              <a:t> </a:t>
            </a:r>
            <a:r>
              <a:rPr lang="en-US" sz="1800" b="1" dirty="0">
                <a:solidFill>
                  <a:srgbClr val="739ECA"/>
                </a:solidFill>
                <a:effectLst/>
                <a:latin typeface="Courier New" panose="02070309020205020404" pitchFamily="49" charset="0"/>
              </a:rPr>
              <a:t>DESC</a:t>
            </a:r>
            <a:r>
              <a:rPr lang="en-US" sz="1800" dirty="0">
                <a:solidFill>
                  <a:srgbClr val="EECC64"/>
                </a:solidFill>
                <a:effectLst/>
                <a:latin typeface="Courier New" panose="02070309020205020404" pitchFamily="49" charset="0"/>
              </a:rPr>
              <a:t>;</a:t>
            </a:r>
            <a:endParaRPr lang="en-US" sz="1800" dirty="0">
              <a:solidFill>
                <a:srgbClr val="CCCCCC"/>
              </a:solidFill>
              <a:effectLst/>
              <a:latin typeface="Courier New" panose="02070309020205020404" pitchFamily="49" charset="0"/>
            </a:endParaRPr>
          </a:p>
        </p:txBody>
      </p:sp>
    </p:spTree>
    <p:extLst>
      <p:ext uri="{BB962C8B-B14F-4D97-AF65-F5344CB8AC3E}">
        <p14:creationId xmlns:p14="http://schemas.microsoft.com/office/powerpoint/2010/main" val="74872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923330"/>
          </a:xfrm>
          <a:prstGeom prst="rect">
            <a:avLst/>
          </a:prstGeom>
          <a:solidFill>
            <a:srgbClr val="F2F2F2"/>
          </a:solidFill>
        </p:spPr>
        <p:txBody>
          <a:bodyPr wrap="square">
            <a:spAutoFit/>
          </a:bodyPr>
          <a:lstStyle/>
          <a:p>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7)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inspecciona la tabla </a:t>
            </a:r>
            <a:r>
              <a:rPr lang="es-ES" b="1" i="1" dirty="0" err="1">
                <a:solidFill>
                  <a:srgbClr val="004A99"/>
                </a:solidFill>
                <a:latin typeface="Calibri" panose="020F0502020204030204" pitchFamily="34" charset="0"/>
                <a:ea typeface="Times New Roman" panose="02020603050405020304" pitchFamily="18" charset="0"/>
              </a:rPr>
              <a:t>e</a:t>
            </a:r>
            <a:r>
              <a:rPr lang="es-ES" sz="1800" b="1" i="1" dirty="0" err="1">
                <a:solidFill>
                  <a:srgbClr val="004A99"/>
                </a:solidFill>
                <a:effectLst/>
                <a:latin typeface="Calibri" panose="020F0502020204030204" pitchFamily="34" charset="0"/>
                <a:ea typeface="Times New Roman" panose="02020603050405020304" pitchFamily="18" charset="0"/>
              </a:rPr>
              <a:t>mployees</a:t>
            </a:r>
            <a:r>
              <a:rPr lang="es-ES" sz="1800" dirty="0">
                <a:solidFill>
                  <a:srgbClr val="004A99"/>
                </a:solidFill>
                <a:effectLst/>
                <a:latin typeface="Calibri" panose="020F0502020204030204" pitchFamily="34" charset="0"/>
                <a:ea typeface="Times New Roman" panose="02020603050405020304" pitchFamily="18" charset="0"/>
              </a:rPr>
              <a:t> de la base de datos </a:t>
            </a:r>
            <a:r>
              <a:rPr lang="es-ES" sz="1800" b="1" dirty="0" err="1">
                <a:solidFill>
                  <a:srgbClr val="004A99"/>
                </a:solidFill>
                <a:effectLst/>
                <a:latin typeface="Calibri" panose="020F0502020204030204" pitchFamily="34" charset="0"/>
                <a:ea typeface="Times New Roman" panose="02020603050405020304" pitchFamily="18" charset="0"/>
              </a:rPr>
              <a:t>classicmodels</a:t>
            </a:r>
            <a:r>
              <a:rPr lang="es-ES" sz="1800" dirty="0">
                <a:solidFill>
                  <a:srgbClr val="004A99"/>
                </a:solidFill>
                <a:effectLst/>
                <a:latin typeface="Calibri" panose="020F0502020204030204" pitchFamily="34" charset="0"/>
                <a:ea typeface="Times New Roman" panose="02020603050405020304" pitchFamily="18" charset="0"/>
              </a:rPr>
              <a:t>.  Crea una consulta donde haya una columna con el nombre y apellido (concatenados) de los empleados y otra columna con el nombre y apellido (concatenada también) donde aparezca el jefe a quién reporta. </a:t>
            </a:r>
            <a:endPar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3" name="Imagen 2">
            <a:extLst>
              <a:ext uri="{FF2B5EF4-FFF2-40B4-BE49-F238E27FC236}">
                <a16:creationId xmlns:a16="http://schemas.microsoft.com/office/drawing/2014/main" id="{F09F1381-64DF-4FBC-9CED-8A6C8BFB1F04}"/>
              </a:ext>
            </a:extLst>
          </p:cNvPr>
          <p:cNvPicPr>
            <a:picLocks noChangeAspect="1"/>
          </p:cNvPicPr>
          <p:nvPr/>
        </p:nvPicPr>
        <p:blipFill>
          <a:blip r:embed="rId4"/>
          <a:stretch>
            <a:fillRect/>
          </a:stretch>
        </p:blipFill>
        <p:spPr>
          <a:xfrm>
            <a:off x="1232626" y="2538151"/>
            <a:ext cx="9281010" cy="3761201"/>
          </a:xfrm>
          <a:prstGeom prst="rect">
            <a:avLst/>
          </a:prstGeom>
        </p:spPr>
      </p:pic>
      <p:sp>
        <p:nvSpPr>
          <p:cNvPr id="2" name="CuadroTexto 86">
            <a:extLst>
              <a:ext uri="{FF2B5EF4-FFF2-40B4-BE49-F238E27FC236}">
                <a16:creationId xmlns:a16="http://schemas.microsoft.com/office/drawing/2014/main" id="{046E27D4-F35C-415D-B455-1BDD8F11ACE5}"/>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39296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3" name="CuadroTexto 86">
            <a:extLst>
              <a:ext uri="{FF2B5EF4-FFF2-40B4-BE49-F238E27FC236}">
                <a16:creationId xmlns:a16="http://schemas.microsoft.com/office/drawing/2014/main" id="{6F10A48F-EFC6-AA02-7F92-73E1DFBFC39A}"/>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3637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3970318"/>
          </a:xfrm>
          <a:prstGeom prst="rect">
            <a:avLst/>
          </a:prstGeom>
          <a:solidFill>
            <a:srgbClr val="F2F2F2"/>
          </a:solidFill>
        </p:spPr>
        <p:txBody>
          <a:bodyPr wrap="square" lIns="91440" tIns="45720" rIns="91440" bIns="45720" anchor="t">
            <a:spAutoFit/>
          </a:bodyPr>
          <a:lstStyle/>
          <a:p>
            <a:pPr marL="180340"/>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8)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ya conocemos algunas formas de importar datos en una tabla dentro de una base de datos a través de herramientas y funcionalidades del </a:t>
            </a:r>
            <a:r>
              <a:rPr lang="es-ES" sz="1800" i="1" dirty="0" err="1">
                <a:solidFill>
                  <a:srgbClr val="004A99"/>
                </a:solidFill>
                <a:effectLst/>
                <a:latin typeface="Calibri" panose="020F0502020204030204" pitchFamily="34" charset="0"/>
                <a:ea typeface="Times New Roman" panose="02020603050405020304" pitchFamily="18" charset="0"/>
              </a:rPr>
              <a:t>dump</a:t>
            </a:r>
            <a:r>
              <a:rPr lang="es-ES" dirty="0">
                <a:solidFill>
                  <a:srgbClr val="004A99"/>
                </a:solidFill>
                <a:latin typeface="Calibri" panose="020F0502020204030204" pitchFamily="34" charset="0"/>
                <a:ea typeface="Times New Roman" panose="02020603050405020304" pitchFamily="18" charset="0"/>
              </a:rPr>
              <a:t>, basadas generalmente en sentencias SQL INSERT.</a:t>
            </a:r>
            <a:r>
              <a:rPr lang="es-ES" sz="1800" dirty="0">
                <a:solidFill>
                  <a:srgbClr val="004A99"/>
                </a:solidFill>
                <a:effectLst/>
                <a:latin typeface="Calibri" panose="020F0502020204030204" pitchFamily="34" charset="0"/>
                <a:ea typeface="Times New Roman" panose="02020603050405020304" pitchFamily="18" charset="0"/>
              </a:rPr>
              <a:t> </a:t>
            </a:r>
          </a:p>
          <a:p>
            <a:pPr marL="180340"/>
            <a:r>
              <a:rPr lang="es-ES" sz="1800" dirty="0">
                <a:solidFill>
                  <a:srgbClr val="004A99"/>
                </a:solidFill>
                <a:effectLst/>
                <a:latin typeface="Calibri" panose="020F0502020204030204" pitchFamily="34" charset="0"/>
                <a:ea typeface="Times New Roman" panose="02020603050405020304" pitchFamily="18" charset="0"/>
              </a:rPr>
              <a:t>Se pide investigar una forma alternativa de realizar esta misma operación, es decir, </a:t>
            </a:r>
            <a:r>
              <a:rPr lang="es-ES" sz="1800" b="1" u="sng" dirty="0">
                <a:solidFill>
                  <a:srgbClr val="004A99"/>
                </a:solidFill>
                <a:effectLst/>
                <a:latin typeface="Calibri" panose="020F0502020204030204" pitchFamily="34" charset="0"/>
                <a:ea typeface="Times New Roman" panose="02020603050405020304" pitchFamily="18" charset="0"/>
              </a:rPr>
              <a:t>importar datos de una tabla a una base de datos</a:t>
            </a:r>
            <a:r>
              <a:rPr lang="es-ES" sz="1800" dirty="0">
                <a:solidFill>
                  <a:srgbClr val="004A99"/>
                </a:solidFill>
                <a:effectLst/>
                <a:latin typeface="Calibri" panose="020F0502020204030204" pitchFamily="34" charset="0"/>
                <a:ea typeface="Times New Roman" panose="02020603050405020304" pitchFamily="18" charset="0"/>
              </a:rPr>
              <a:t>, pero en este caso </a:t>
            </a:r>
            <a:r>
              <a:rPr lang="es-ES" sz="1800" b="1" u="sng" dirty="0">
                <a:solidFill>
                  <a:srgbClr val="004A99"/>
                </a:solidFill>
                <a:effectLst/>
                <a:latin typeface="Calibri" panose="020F0502020204030204" pitchFamily="34" charset="0"/>
                <a:ea typeface="Times New Roman" panose="02020603050405020304" pitchFamily="18" charset="0"/>
              </a:rPr>
              <a:t>siendo una tabla en formato .</a:t>
            </a:r>
            <a:r>
              <a:rPr lang="es-ES" sz="1800" b="1" u="sng" dirty="0" err="1">
                <a:solidFill>
                  <a:srgbClr val="004A99"/>
                </a:solidFill>
                <a:effectLst/>
                <a:latin typeface="Calibri" panose="020F0502020204030204" pitchFamily="34" charset="0"/>
                <a:ea typeface="Times New Roman" panose="02020603050405020304" pitchFamily="18" charset="0"/>
              </a:rPr>
              <a:t>csv</a:t>
            </a:r>
            <a:r>
              <a:rPr lang="es-ES" sz="1800" b="1" u="sng" dirty="0">
                <a:solidFill>
                  <a:srgbClr val="004A99"/>
                </a:solidFill>
                <a:effectLst/>
                <a:latin typeface="Calibri" panose="020F0502020204030204" pitchFamily="34" charset="0"/>
                <a:ea typeface="Times New Roman" panose="02020603050405020304" pitchFamily="18" charset="0"/>
              </a:rPr>
              <a:t> </a:t>
            </a:r>
            <a:r>
              <a:rPr lang="es-ES" sz="1800" u="sng" dirty="0">
                <a:solidFill>
                  <a:srgbClr val="004A99"/>
                </a:solidFill>
                <a:effectLst/>
                <a:latin typeface="Calibri" panose="020F0502020204030204" pitchFamily="34" charset="0"/>
                <a:ea typeface="Times New Roman" panose="02020603050405020304" pitchFamily="18" charset="0"/>
              </a:rPr>
              <a:t>sin utilizar código SQL INSERT</a:t>
            </a:r>
            <a:r>
              <a:rPr lang="es-ES" sz="1800" dirty="0">
                <a:solidFill>
                  <a:srgbClr val="004A99"/>
                </a:solidFill>
                <a:effectLst/>
                <a:latin typeface="Calibri" panose="020F0502020204030204" pitchFamily="34" charset="0"/>
                <a:ea typeface="Times New Roman" panose="02020603050405020304" pitchFamily="18" charset="0"/>
              </a:rPr>
              <a:t>. </a:t>
            </a:r>
          </a:p>
          <a:p>
            <a:pPr marL="180340"/>
            <a:r>
              <a:rPr lang="es-ES" sz="1800" dirty="0">
                <a:solidFill>
                  <a:srgbClr val="004A99"/>
                </a:solidFill>
                <a:effectLst/>
                <a:latin typeface="Calibri" panose="020F0502020204030204" pitchFamily="34" charset="0"/>
                <a:ea typeface="Times New Roman" panose="02020603050405020304" pitchFamily="18" charset="0"/>
              </a:rPr>
              <a:t>Dada la siguiente tabla </a:t>
            </a:r>
            <a:r>
              <a:rPr lang="es-ES" sz="1800" b="1" i="1" dirty="0">
                <a:solidFill>
                  <a:srgbClr val="004A99"/>
                </a:solidFill>
                <a:effectLst/>
                <a:latin typeface="Calibri" panose="020F0502020204030204" pitchFamily="34" charset="0"/>
                <a:ea typeface="Times New Roman" panose="02020603050405020304" pitchFamily="18" charset="0"/>
              </a:rPr>
              <a:t>asignatura</a:t>
            </a:r>
            <a:r>
              <a:rPr lang="es-ES" sz="1800" dirty="0">
                <a:solidFill>
                  <a:srgbClr val="004A99"/>
                </a:solidFill>
                <a:effectLst/>
                <a:latin typeface="Calibri" panose="020F0502020204030204" pitchFamily="34" charset="0"/>
                <a:ea typeface="Times New Roman" panose="02020603050405020304" pitchFamily="18" charset="0"/>
              </a:rPr>
              <a:t> con los datos que se especifican, transfórmala a un fichero en formato .</a:t>
            </a:r>
            <a:r>
              <a:rPr lang="es-ES" sz="1800" dirty="0" err="1">
                <a:solidFill>
                  <a:srgbClr val="004A99"/>
                </a:solidFill>
                <a:effectLst/>
                <a:latin typeface="Calibri" panose="020F0502020204030204" pitchFamily="34" charset="0"/>
                <a:ea typeface="Times New Roman" panose="02020603050405020304" pitchFamily="18" charset="0"/>
              </a:rPr>
              <a:t>csv</a:t>
            </a:r>
            <a:r>
              <a:rPr lang="es-ES" sz="1800" dirty="0">
                <a:solidFill>
                  <a:srgbClr val="004A99"/>
                </a:solidFill>
                <a:effectLst/>
                <a:latin typeface="Calibri" panose="020F0502020204030204" pitchFamily="34" charset="0"/>
                <a:ea typeface="Times New Roman" panose="02020603050405020304" pitchFamily="18" charset="0"/>
              </a:rPr>
              <a:t> (</a:t>
            </a:r>
            <a:r>
              <a:rPr lang="es-ES" sz="1800" i="1" dirty="0">
                <a:solidFill>
                  <a:srgbClr val="004A99"/>
                </a:solidFill>
                <a:effectLst/>
                <a:latin typeface="Calibri" panose="020F0502020204030204" pitchFamily="34" charset="0"/>
                <a:ea typeface="Times New Roman" panose="02020603050405020304" pitchFamily="18" charset="0"/>
              </a:rPr>
              <a:t>asignatura.csv</a:t>
            </a:r>
            <a:r>
              <a:rPr lang="es-ES" sz="1800" dirty="0">
                <a:solidFill>
                  <a:srgbClr val="004A99"/>
                </a:solidFill>
                <a:effectLst/>
                <a:latin typeface="Calibri" panose="020F0502020204030204" pitchFamily="34" charset="0"/>
                <a:ea typeface="Times New Roman" panose="02020603050405020304" pitchFamily="18" charset="0"/>
              </a:rPr>
              <a:t>) y crea una tabla (CREATE TABLE) llamada Asignatura en cualquier base de datos de tu sistema e importa los datos de la tabla </a:t>
            </a:r>
            <a:r>
              <a:rPr lang="es-ES" sz="1800" i="1" dirty="0">
                <a:solidFill>
                  <a:srgbClr val="004A99"/>
                </a:solidFill>
                <a:effectLst/>
                <a:latin typeface="Calibri" panose="020F0502020204030204" pitchFamily="34" charset="0"/>
                <a:ea typeface="Times New Roman" panose="02020603050405020304" pitchFamily="18" charset="0"/>
              </a:rPr>
              <a:t>asignatura.csv </a:t>
            </a:r>
            <a:r>
              <a:rPr lang="es-ES" sz="1800" dirty="0">
                <a:solidFill>
                  <a:srgbClr val="004A99"/>
                </a:solidFill>
                <a:effectLst/>
                <a:latin typeface="Calibri" panose="020F0502020204030204" pitchFamily="34" charset="0"/>
                <a:ea typeface="Times New Roman" panose="02020603050405020304" pitchFamily="18" charset="0"/>
              </a:rPr>
              <a:t>a la tabla Asignatura recién creada en tu SGBD.</a:t>
            </a:r>
          </a:p>
          <a:p>
            <a:pPr marL="180340"/>
            <a:endParaRPr lang="es-ES" dirty="0">
              <a:solidFill>
                <a:srgbClr val="004A99"/>
              </a:solidFill>
              <a:latin typeface="Calibri" panose="020F0502020204030204" pitchFamily="34" charset="0"/>
              <a:ea typeface="Times New Roman" panose="02020603050405020304" pitchFamily="18" charset="0"/>
            </a:endParaRPr>
          </a:p>
          <a:p>
            <a:pPr marL="180340"/>
            <a:r>
              <a:rPr lang="es-ES" dirty="0">
                <a:solidFill>
                  <a:srgbClr val="004A99"/>
                </a:solidFill>
                <a:latin typeface="Calibri" panose="020F0502020204030204" pitchFamily="34" charset="0"/>
                <a:ea typeface="Times New Roman" panose="02020603050405020304" pitchFamily="18" charset="0"/>
              </a:rPr>
              <a:t>Explica detalladamente todos los pasos seguidos para realizar este ejercicio y demostrando con ficheros, pantallazos, etc., todas las evidencias que justifiquen que has seguido el proceso de forma válida. </a:t>
            </a:r>
            <a:r>
              <a:rPr lang="es-ES" b="1" dirty="0">
                <a:solidFill>
                  <a:srgbClr val="004A99"/>
                </a:solidFill>
                <a:latin typeface="Calibri" panose="020F0502020204030204" pitchFamily="34" charset="0"/>
                <a:ea typeface="Times New Roman" panose="02020603050405020304" pitchFamily="18" charset="0"/>
              </a:rPr>
              <a:t>Prueba con una consulta SQL </a:t>
            </a:r>
            <a:r>
              <a:rPr lang="es-ES" dirty="0">
                <a:solidFill>
                  <a:srgbClr val="004A99"/>
                </a:solidFill>
                <a:latin typeface="Calibri" panose="020F0502020204030204" pitchFamily="34" charset="0"/>
                <a:ea typeface="Times New Roman" panose="02020603050405020304" pitchFamily="18" charset="0"/>
              </a:rPr>
              <a:t>que los datos de la tabla .</a:t>
            </a:r>
            <a:r>
              <a:rPr lang="es-ES" dirty="0" err="1">
                <a:solidFill>
                  <a:srgbClr val="004A99"/>
                </a:solidFill>
                <a:latin typeface="Calibri" panose="020F0502020204030204" pitchFamily="34" charset="0"/>
                <a:ea typeface="Times New Roman" panose="02020603050405020304" pitchFamily="18" charset="0"/>
              </a:rPr>
              <a:t>csv</a:t>
            </a:r>
            <a:r>
              <a:rPr lang="es-ES" dirty="0">
                <a:solidFill>
                  <a:srgbClr val="004A99"/>
                </a:solidFill>
                <a:latin typeface="Calibri" panose="020F0502020204030204" pitchFamily="34" charset="0"/>
                <a:ea typeface="Times New Roman" panose="02020603050405020304" pitchFamily="18" charset="0"/>
              </a:rPr>
              <a:t> se han importado correctamente a la correspondiente tabla de la base de datos en tu SGBD.</a:t>
            </a:r>
          </a:p>
          <a:p>
            <a:pPr marL="180340"/>
            <a:endParaRPr lang="es-ES" sz="1800" dirty="0">
              <a:solidFill>
                <a:srgbClr val="004A99"/>
              </a:solidFill>
              <a:effectLst/>
              <a:latin typeface="Calibri" panose="020F0502020204030204" pitchFamily="34" charset="0"/>
              <a:ea typeface="Times New Roman" panose="02020603050405020304" pitchFamily="18" charset="0"/>
            </a:endParaRPr>
          </a:p>
          <a:p>
            <a:pPr marL="179388"/>
            <a:r>
              <a:rPr lang="es-ES" sz="1800" b="1" dirty="0">
                <a:solidFill>
                  <a:srgbClr val="004A99"/>
                </a:solidFill>
                <a:effectLst/>
                <a:ea typeface="Times New Roman" panose="02020603050405020304" pitchFamily="18" charset="0"/>
                <a:cs typeface="Segoe UI Light" panose="020B0502040204020203" pitchFamily="34" charset="0"/>
              </a:rPr>
              <a:t>Ayuda</a:t>
            </a:r>
            <a:r>
              <a:rPr lang="es-ES" sz="1800" dirty="0">
                <a:solidFill>
                  <a:srgbClr val="004A99"/>
                </a:solidFill>
                <a:effectLst/>
                <a:ea typeface="Times New Roman" panose="02020603050405020304" pitchFamily="18" charset="0"/>
                <a:cs typeface="Segoe UI Light" panose="020B0502040204020203" pitchFamily="34" charset="0"/>
              </a:rPr>
              <a:t>: puedes utilizar el tutorial </a:t>
            </a:r>
            <a:r>
              <a:rPr lang="es-ES" dirty="0">
                <a:hlinkClick r:id="rId4"/>
              </a:rPr>
              <a:t>https://www.mysqltutorial.org/import-csv-file-mysql-table/ </a:t>
            </a:r>
            <a:r>
              <a:rPr lang="es-ES" dirty="0"/>
              <a:t> </a:t>
            </a:r>
            <a:r>
              <a:rPr lang="es-ES" sz="1800" dirty="0">
                <a:solidFill>
                  <a:srgbClr val="004A99"/>
                </a:solidFill>
                <a:effectLst/>
                <a:ea typeface="Times New Roman" panose="02020603050405020304" pitchFamily="18" charset="0"/>
                <a:cs typeface="Segoe UI Light" panose="020B0502040204020203" pitchFamily="34" charset="0"/>
              </a:rPr>
              <a:t>de MySQL para realizar la investigación.</a:t>
            </a:r>
          </a:p>
        </p:txBody>
      </p:sp>
      <p:graphicFrame>
        <p:nvGraphicFramePr>
          <p:cNvPr id="3" name="Tabla 2">
            <a:extLst>
              <a:ext uri="{FF2B5EF4-FFF2-40B4-BE49-F238E27FC236}">
                <a16:creationId xmlns:a16="http://schemas.microsoft.com/office/drawing/2014/main" id="{7214D076-E623-4198-86C6-711B383ACD4A}"/>
              </a:ext>
            </a:extLst>
          </p:cNvPr>
          <p:cNvGraphicFramePr>
            <a:graphicFrameLocks noGrp="1"/>
          </p:cNvGraphicFramePr>
          <p:nvPr>
            <p:extLst>
              <p:ext uri="{D42A27DB-BD31-4B8C-83A1-F6EECF244321}">
                <p14:modId xmlns:p14="http://schemas.microsoft.com/office/powerpoint/2010/main" val="1139518284"/>
              </p:ext>
            </p:extLst>
          </p:nvPr>
        </p:nvGraphicFramePr>
        <p:xfrm>
          <a:off x="4049247" y="5081290"/>
          <a:ext cx="4253948" cy="1498618"/>
        </p:xfrm>
        <a:graphic>
          <a:graphicData uri="http://schemas.openxmlformats.org/drawingml/2006/table">
            <a:tbl>
              <a:tblPr firstRow="1" firstCol="1" bandRow="1"/>
              <a:tblGrid>
                <a:gridCol w="374082">
                  <a:extLst>
                    <a:ext uri="{9D8B030D-6E8A-4147-A177-3AD203B41FA5}">
                      <a16:colId xmlns:a16="http://schemas.microsoft.com/office/drawing/2014/main" val="1242675551"/>
                    </a:ext>
                  </a:extLst>
                </a:gridCol>
                <a:gridCol w="1931796">
                  <a:extLst>
                    <a:ext uri="{9D8B030D-6E8A-4147-A177-3AD203B41FA5}">
                      <a16:colId xmlns:a16="http://schemas.microsoft.com/office/drawing/2014/main" val="3405942957"/>
                    </a:ext>
                  </a:extLst>
                </a:gridCol>
                <a:gridCol w="967409">
                  <a:extLst>
                    <a:ext uri="{9D8B030D-6E8A-4147-A177-3AD203B41FA5}">
                      <a16:colId xmlns:a16="http://schemas.microsoft.com/office/drawing/2014/main" val="3536884046"/>
                    </a:ext>
                  </a:extLst>
                </a:gridCol>
                <a:gridCol w="980661">
                  <a:extLst>
                    <a:ext uri="{9D8B030D-6E8A-4147-A177-3AD203B41FA5}">
                      <a16:colId xmlns:a16="http://schemas.microsoft.com/office/drawing/2014/main" val="3111552710"/>
                    </a:ext>
                  </a:extLst>
                </a:gridCol>
              </a:tblGrid>
              <a:tr h="289323">
                <a:tc>
                  <a:txBody>
                    <a:bodyPr/>
                    <a:lstStyle/>
                    <a:p>
                      <a:pPr algn="ctr" fontAlgn="ctr"/>
                      <a:r>
                        <a:rPr lang="es-ES" sz="1400" b="0" i="0" u="none" strike="noStrike" dirty="0">
                          <a:solidFill>
                            <a:srgbClr val="FFFFFF"/>
                          </a:solidFill>
                          <a:effectLst/>
                          <a:latin typeface="Calibri" panose="020F0502020204030204" pitchFamily="34" charset="0"/>
                        </a:rPr>
                        <a:t>ID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es-ES" sz="1400" b="0" i="0" u="none" strike="noStrike" dirty="0">
                          <a:solidFill>
                            <a:srgbClr val="FFFFFF"/>
                          </a:solidFill>
                          <a:effectLst/>
                          <a:latin typeface="Calibri" panose="020F0502020204030204" pitchFamily="34" charset="0"/>
                        </a:rPr>
                        <a:t>asignatura</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es-ES" sz="1400" b="0" i="0" u="none" strike="noStrike" dirty="0">
                          <a:solidFill>
                            <a:srgbClr val="FFFFFF"/>
                          </a:solidFill>
                          <a:effectLst/>
                          <a:latin typeface="Calibri" panose="020F0502020204030204" pitchFamily="34" charset="0"/>
                        </a:rPr>
                        <a:t>semestre</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fontAlgn="ctr"/>
                      <a:r>
                        <a:rPr lang="es-ES" sz="1400" b="0" i="0" u="none" strike="noStrike" dirty="0" err="1">
                          <a:solidFill>
                            <a:srgbClr val="FFFFFF"/>
                          </a:solidFill>
                          <a:effectLst/>
                          <a:latin typeface="Calibri" panose="020F0502020204030204" pitchFamily="34" charset="0"/>
                        </a:rPr>
                        <a:t>creditos</a:t>
                      </a:r>
                      <a:endParaRPr lang="es-ES" sz="1400" b="0" i="0" u="none" strike="noStrike" dirty="0">
                        <a:solidFill>
                          <a:srgbClr val="FFFFFF"/>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97451261"/>
                  </a:ext>
                </a:extLst>
              </a:tr>
              <a:tr h="326008">
                <a:tc>
                  <a:txBody>
                    <a:bodyPr/>
                    <a:lstStyle/>
                    <a:p>
                      <a:pPr algn="ctr" fontAlgn="ctr"/>
                      <a:r>
                        <a:rPr lang="es-ES" sz="14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err="1">
                          <a:solidFill>
                            <a:srgbClr val="000000"/>
                          </a:solidFill>
                          <a:effectLst/>
                          <a:latin typeface="Calibri" panose="020F0502020204030204" pitchFamily="34" charset="0"/>
                        </a:rPr>
                        <a:t>Int</a:t>
                      </a:r>
                      <a:r>
                        <a:rPr lang="es-ES" sz="1400" b="0" i="0" u="none" strike="noStrike" dirty="0">
                          <a:solidFill>
                            <a:srgbClr val="000000"/>
                          </a:solidFill>
                          <a:effectLst/>
                          <a:latin typeface="Calibri" panose="020F0502020204030204" pitchFamily="34" charset="0"/>
                        </a:rPr>
                        <a:t> BBDD</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10259"/>
                  </a:ext>
                </a:extLst>
              </a:tr>
              <a:tr h="415457">
                <a:tc>
                  <a:txBody>
                    <a:bodyPr/>
                    <a:lstStyle/>
                    <a:p>
                      <a:pPr algn="ctr" fontAlgn="ctr"/>
                      <a:r>
                        <a:rPr lang="es-ES" sz="1400" b="0" i="0" u="none" strike="noStrike">
                          <a:solidFill>
                            <a:srgbClr val="000000"/>
                          </a:solidFill>
                          <a:effectLst/>
                          <a:latin typeface="Calibri" panose="020F0502020204030204" pitchFamily="34"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err="1">
                          <a:solidFill>
                            <a:srgbClr val="000000"/>
                          </a:solidFill>
                          <a:effectLst/>
                          <a:latin typeface="Calibri" panose="020F0502020204030204" pitchFamily="34" charset="0"/>
                        </a:rPr>
                        <a:t>Sist</a:t>
                      </a:r>
                      <a:r>
                        <a:rPr lang="es-ES" sz="1400" b="0" i="0" u="none" strike="noStrike" dirty="0">
                          <a:solidFill>
                            <a:srgbClr val="000000"/>
                          </a:solidFill>
                          <a:effectLst/>
                          <a:latin typeface="Calibri" panose="020F0502020204030204" pitchFamily="34" charset="0"/>
                        </a:rPr>
                        <a:t>. </a:t>
                      </a:r>
                      <a:r>
                        <a:rPr lang="es-ES" sz="1400" b="0" i="0" u="none" strike="noStrike" dirty="0" err="1">
                          <a:solidFill>
                            <a:srgbClr val="000000"/>
                          </a:solidFill>
                          <a:effectLst/>
                          <a:latin typeface="Calibri" panose="020F0502020204030204" pitchFamily="34" charset="0"/>
                        </a:rPr>
                        <a:t>Oper</a:t>
                      </a:r>
                      <a:r>
                        <a:rPr lang="es-ES" sz="1400" b="0" i="0" u="none" strike="noStrike" dirty="0">
                          <a:solidFill>
                            <a:srgbClr val="000000"/>
                          </a:solidFill>
                          <a:effectLst/>
                          <a:latin typeface="Calibri" panose="020F0502020204030204" pitchFamily="34" charset="0"/>
                        </a:rPr>
                        <a:t>.</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1</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6</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137505"/>
                  </a:ext>
                </a:extLst>
              </a:tr>
              <a:tr h="467830">
                <a:tc>
                  <a:txBody>
                    <a:bodyPr/>
                    <a:lstStyle/>
                    <a:p>
                      <a:pPr algn="ctr" fontAlgn="ctr"/>
                      <a:r>
                        <a:rPr lang="es-ES" sz="1400" b="0" i="0" u="none" strike="noStrike" dirty="0">
                          <a:solidFill>
                            <a:srgbClr val="000000"/>
                          </a:solidFill>
                          <a:effectLst/>
                          <a:latin typeface="Calibri" panose="020F0502020204030204" pitchFamily="34" charset="0"/>
                        </a:rPr>
                        <a:t>3</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err="1">
                          <a:solidFill>
                            <a:srgbClr val="000000"/>
                          </a:solidFill>
                          <a:effectLst/>
                          <a:latin typeface="Calibri" panose="020F0502020204030204" pitchFamily="34" charset="0"/>
                        </a:rPr>
                        <a:t>Lab</a:t>
                      </a:r>
                      <a:r>
                        <a:rPr lang="es-ES" sz="1400" b="0" i="0" u="none" strike="noStrike" dirty="0">
                          <a:solidFill>
                            <a:srgbClr val="000000"/>
                          </a:solidFill>
                          <a:effectLst/>
                          <a:latin typeface="Calibri" panose="020F0502020204030204" pitchFamily="34" charset="0"/>
                        </a:rPr>
                        <a:t>. </a:t>
                      </a:r>
                      <a:r>
                        <a:rPr lang="es-ES" sz="1400" b="0" i="0" u="none" strike="noStrike" dirty="0" err="1">
                          <a:solidFill>
                            <a:srgbClr val="000000"/>
                          </a:solidFill>
                          <a:effectLst/>
                          <a:latin typeface="Calibri" panose="020F0502020204030204" pitchFamily="34" charset="0"/>
                        </a:rPr>
                        <a:t>Programacion</a:t>
                      </a:r>
                      <a:endParaRPr lang="es-ES" sz="14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2</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s-ES" sz="1400" b="0" i="0" u="none" strike="noStrike" dirty="0">
                          <a:solidFill>
                            <a:srgbClr val="000000"/>
                          </a:solidFill>
                          <a:effectLst/>
                          <a:latin typeface="Calibri" panose="020F0502020204030204" pitchFamily="34" charset="0"/>
                        </a:rPr>
                        <a:t>4,5</a:t>
                      </a:r>
                    </a:p>
                  </a:txBody>
                  <a:tcPr marL="9525" marR="9525" marT="952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572724"/>
                  </a:ext>
                </a:extLst>
              </a:tr>
            </a:tbl>
          </a:graphicData>
        </a:graphic>
      </p:graphicFrame>
      <p:sp>
        <p:nvSpPr>
          <p:cNvPr id="2" name="CuadroTexto 1">
            <a:extLst>
              <a:ext uri="{FF2B5EF4-FFF2-40B4-BE49-F238E27FC236}">
                <a16:creationId xmlns:a16="http://schemas.microsoft.com/office/drawing/2014/main" id="{B4BE879A-4D34-4A3B-BA73-0E765C14B375}"/>
              </a:ext>
            </a:extLst>
          </p:cNvPr>
          <p:cNvSpPr txBox="1"/>
          <p:nvPr/>
        </p:nvSpPr>
        <p:spPr>
          <a:xfrm>
            <a:off x="2618012" y="5250517"/>
            <a:ext cx="1431235" cy="369332"/>
          </a:xfrm>
          <a:prstGeom prst="rect">
            <a:avLst/>
          </a:prstGeom>
          <a:noFill/>
        </p:spPr>
        <p:txBody>
          <a:bodyPr wrap="square" rtlCol="0">
            <a:spAutoFit/>
          </a:bodyPr>
          <a:lstStyle/>
          <a:p>
            <a:r>
              <a:rPr lang="es-ES" b="1" i="1" dirty="0">
                <a:solidFill>
                  <a:srgbClr val="004A99"/>
                </a:solidFill>
                <a:latin typeface="Calibri" panose="020F0502020204030204" pitchFamily="34" charset="0"/>
                <a:ea typeface="Times New Roman" panose="02020603050405020304" pitchFamily="18" charset="0"/>
              </a:rPr>
              <a:t>asignatura</a:t>
            </a:r>
          </a:p>
        </p:txBody>
      </p:sp>
      <p:sp>
        <p:nvSpPr>
          <p:cNvPr id="5" name="CuadroTexto 86">
            <a:extLst>
              <a:ext uri="{FF2B5EF4-FFF2-40B4-BE49-F238E27FC236}">
                <a16:creationId xmlns:a16="http://schemas.microsoft.com/office/drawing/2014/main" id="{0E14ECF1-3803-7671-6FB8-29C6D701DA75}"/>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66142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3" name="CuadroTexto 86">
            <a:extLst>
              <a:ext uri="{FF2B5EF4-FFF2-40B4-BE49-F238E27FC236}">
                <a16:creationId xmlns:a16="http://schemas.microsoft.com/office/drawing/2014/main" id="{330EEDA7-3AB7-2917-88D8-2F5132A92394}"/>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48361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1354730"/>
          </a:xfrm>
          <a:prstGeom prst="rect">
            <a:avLst/>
          </a:prstGeom>
          <a:solidFill>
            <a:srgbClr val="F2F2F2"/>
          </a:solidFill>
        </p:spPr>
        <p:txBody>
          <a:bodyPr wrap="square" lIns="91440" tIns="45720" rIns="91440" bIns="45720" anchor="t">
            <a:spAutoFit/>
          </a:bodyPr>
          <a:lstStyle/>
          <a:p>
            <a:pPr lvl="0" algn="just">
              <a:lnSpc>
                <a:spcPct val="107000"/>
              </a:lnSpc>
              <a:spcAft>
                <a:spcPts val="600"/>
              </a:spcAft>
              <a:tabLst>
                <a:tab pos="5363845" algn="r"/>
              </a:tabLst>
            </a:pPr>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9)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Calibri" panose="020F0502020204030204" pitchFamily="34" charset="0"/>
              </a:rPr>
              <a:t>se pide mostrar en una misma tabla, y a través </a:t>
            </a:r>
            <a:r>
              <a:rPr lang="es-ES" dirty="0">
                <a:solidFill>
                  <a:srgbClr val="004A99"/>
                </a:solidFill>
                <a:latin typeface="Calibri" panose="020F0502020204030204" pitchFamily="34" charset="0"/>
                <a:ea typeface="Calibri" panose="020F0502020204030204" pitchFamily="34" charset="0"/>
              </a:rPr>
              <a:t>d</a:t>
            </a:r>
            <a:r>
              <a:rPr lang="es-ES" sz="1800" dirty="0">
                <a:solidFill>
                  <a:srgbClr val="004A99"/>
                </a:solidFill>
                <a:effectLst/>
                <a:latin typeface="Calibri" panose="020F0502020204030204" pitchFamily="34" charset="0"/>
                <a:ea typeface="Calibri" panose="020F0502020204030204" pitchFamily="34" charset="0"/>
              </a:rPr>
              <a:t>e una sola consulta, el top 5 de clientes que han realizado más pagos. En la tabla tendrán que estar el número de cliente, su nombre y el número de pagos que ha realizado cada uno (BBDD </a:t>
            </a:r>
            <a:r>
              <a:rPr lang="es-ES" sz="1800" b="1" dirty="0" err="1">
                <a:solidFill>
                  <a:srgbClr val="004A99"/>
                </a:solidFill>
                <a:effectLst/>
                <a:latin typeface="Calibri" panose="020F0502020204030204" pitchFamily="34" charset="0"/>
                <a:ea typeface="Calibri" panose="020F0502020204030204" pitchFamily="34" charset="0"/>
              </a:rPr>
              <a:t>classicmodels</a:t>
            </a:r>
            <a:r>
              <a:rPr lang="es-ES" sz="1800" dirty="0">
                <a:solidFill>
                  <a:srgbClr val="004A99"/>
                </a:solidFill>
                <a:effectLst/>
                <a:latin typeface="Calibri" panose="020F0502020204030204" pitchFamily="34" charset="0"/>
                <a:ea typeface="Calibri" panose="020F0502020204030204" pitchFamily="34" charset="0"/>
              </a:rPr>
              <a:t>)</a:t>
            </a:r>
          </a:p>
          <a:p>
            <a:pPr lvl="0" algn="just">
              <a:lnSpc>
                <a:spcPct val="107000"/>
              </a:lnSpc>
              <a:spcAft>
                <a:spcPts val="600"/>
              </a:spcAft>
              <a:tabLst>
                <a:tab pos="5363845" algn="r"/>
              </a:tabLst>
            </a:pP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Ayuda: hay que trabajar con las tablas </a:t>
            </a:r>
            <a:r>
              <a:rPr lang="es-ES" i="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payments</a:t>
            </a:r>
            <a:r>
              <a:rPr lang="es-ES" dirty="0">
                <a:solidFill>
                  <a:srgbClr val="004A99"/>
                </a:solidFill>
                <a:latin typeface="Calibri" panose="020F0502020204030204" pitchFamily="34" charset="0"/>
                <a:ea typeface="Calibri" panose="020F0502020204030204" pitchFamily="34" charset="0"/>
                <a:cs typeface="Times New Roman" panose="02020603050405020304" pitchFamily="18" charset="0"/>
              </a:rPr>
              <a:t> y </a:t>
            </a:r>
            <a:r>
              <a:rPr lang="es-ES" i="1" dirty="0" err="1">
                <a:solidFill>
                  <a:srgbClr val="004A99"/>
                </a:solidFill>
                <a:latin typeface="Calibri" panose="020F0502020204030204" pitchFamily="34" charset="0"/>
                <a:ea typeface="Calibri" panose="020F0502020204030204" pitchFamily="34" charset="0"/>
                <a:cs typeface="Times New Roman" panose="02020603050405020304" pitchFamily="18" charset="0"/>
              </a:rPr>
              <a:t>customers</a:t>
            </a:r>
            <a:r>
              <a:rPr lang="es-ES" i="1" dirty="0">
                <a:solidFill>
                  <a:srgbClr val="004A99"/>
                </a:solidFill>
                <a:latin typeface="Calibri" panose="020F0502020204030204" pitchFamily="34" charset="0"/>
                <a:ea typeface="Calibri" panose="020F0502020204030204" pitchFamily="34" charset="0"/>
                <a:cs typeface="Times New Roman" panose="02020603050405020304" pitchFamily="18" charset="0"/>
              </a:rPr>
              <a:t>.</a:t>
            </a:r>
          </a:p>
        </p:txBody>
      </p:sp>
      <p:sp>
        <p:nvSpPr>
          <p:cNvPr id="3" name="CuadroTexto 86">
            <a:extLst>
              <a:ext uri="{FF2B5EF4-FFF2-40B4-BE49-F238E27FC236}">
                <a16:creationId xmlns:a16="http://schemas.microsoft.com/office/drawing/2014/main" id="{AA62AA5C-B0C9-CB33-9758-0ADF9F303153}"/>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30123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8" name="Rectángulo 7"/>
          <p:cNvSpPr/>
          <p:nvPr/>
        </p:nvSpPr>
        <p:spPr>
          <a:xfrm>
            <a:off x="221942" y="977523"/>
            <a:ext cx="11536653" cy="3139321"/>
          </a:xfrm>
          <a:prstGeom prst="rect">
            <a:avLst/>
          </a:prstGeom>
          <a:solidFill>
            <a:srgbClr val="F2F2F2"/>
          </a:solidFill>
        </p:spPr>
        <p:txBody>
          <a:bodyPr wrap="square" lIns="91440" tIns="45720" rIns="91440" bIns="45720" anchor="t">
            <a:spAutoFit/>
          </a:bodyPr>
          <a:lstStyle/>
          <a:p>
            <a:pPr algn="just"/>
            <a:r>
              <a:rPr lang="es-ES" b="1" dirty="0">
                <a:solidFill>
                  <a:srgbClr val="004A99"/>
                </a:solidFill>
                <a:latin typeface="Calibri" panose="020F0502020204030204" pitchFamily="34" charset="0"/>
                <a:ea typeface="Calibri" panose="020F0502020204030204" pitchFamily="34" charset="0"/>
                <a:cs typeface="Times New Roman" panose="02020603050405020304" pitchFamily="18" charset="0"/>
              </a:rPr>
              <a:t>10) PREGUNTA </a:t>
            </a:r>
            <a:r>
              <a:rPr lang="es-ES"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(1 punto): </a:t>
            </a:r>
            <a:r>
              <a:rPr lang="es-ES" sz="1800" dirty="0">
                <a:solidFill>
                  <a:srgbClr val="004A99"/>
                </a:solidFill>
                <a:effectLst/>
                <a:latin typeface="Calibri" panose="020F0502020204030204" pitchFamily="34" charset="0"/>
                <a:ea typeface="Times New Roman" panose="02020603050405020304" pitchFamily="18" charset="0"/>
              </a:rPr>
              <a:t>de cara al próximo cuatrimestre, la empresa </a:t>
            </a:r>
            <a:r>
              <a:rPr lang="es-ES" sz="1800" dirty="0" err="1">
                <a:solidFill>
                  <a:srgbClr val="004A99"/>
                </a:solidFill>
                <a:effectLst/>
                <a:latin typeface="Calibri" panose="020F0502020204030204" pitchFamily="34" charset="0"/>
                <a:ea typeface="Times New Roman" panose="02020603050405020304" pitchFamily="18" charset="0"/>
              </a:rPr>
              <a:t>ClassicModels</a:t>
            </a:r>
            <a:r>
              <a:rPr lang="es-ES" sz="1800" dirty="0">
                <a:solidFill>
                  <a:srgbClr val="004A99"/>
                </a:solidFill>
                <a:effectLst/>
                <a:latin typeface="Calibri" panose="020F0502020204030204" pitchFamily="34" charset="0"/>
                <a:ea typeface="Times New Roman" panose="02020603050405020304" pitchFamily="18" charset="0"/>
              </a:rPr>
              <a:t> pretende aplicar una serie de descuentos extra para sus clientes más fieles. La cuantía de los descuentos se establece en función de las distintas líneas de producto, de manera que para cada tipo se aplicará el porcentaje de descuento siguiente: coches (</a:t>
            </a:r>
            <a:r>
              <a:rPr lang="es-ES" sz="1800" dirty="0" err="1">
                <a:solidFill>
                  <a:srgbClr val="004A99"/>
                </a:solidFill>
                <a:effectLst/>
                <a:latin typeface="Calibri" panose="020F0502020204030204" pitchFamily="34" charset="0"/>
                <a:ea typeface="Times New Roman" panose="02020603050405020304" pitchFamily="18" charset="0"/>
              </a:rPr>
              <a:t>Classic</a:t>
            </a:r>
            <a:r>
              <a:rPr lang="es-ES" sz="1800" dirty="0">
                <a:solidFill>
                  <a:srgbClr val="004A99"/>
                </a:solidFill>
                <a:effectLst/>
                <a:latin typeface="Calibri" panose="020F0502020204030204" pitchFamily="34" charset="0"/>
                <a:ea typeface="Times New Roman" panose="02020603050405020304" pitchFamily="18" charset="0"/>
              </a:rPr>
              <a:t> Cars</a:t>
            </a:r>
            <a:r>
              <a:rPr lang="es-ES" sz="1800" dirty="0">
                <a:solidFill>
                  <a:srgbClr val="004A99"/>
                </a:solidFill>
                <a:effectLst/>
                <a:latin typeface="Calibri" panose="020F0502020204030204" pitchFamily="34" charset="0"/>
                <a:ea typeface="Times New Roman" panose="02020603050405020304" pitchFamily="18" charset="0"/>
                <a:cs typeface="Calibri" panose="020F0502020204030204" pitchFamily="34" charset="0"/>
                <a:sym typeface="Wingdings" panose="05000000000000000000" pitchFamily="2" charset="2"/>
              </a:rPr>
              <a:t></a:t>
            </a:r>
            <a:r>
              <a:rPr lang="es-ES" sz="1800" dirty="0">
                <a:solidFill>
                  <a:srgbClr val="004A99"/>
                </a:solidFill>
                <a:effectLst/>
                <a:latin typeface="Calibri" panose="020F0502020204030204" pitchFamily="34" charset="0"/>
                <a:ea typeface="Times New Roman" panose="02020603050405020304" pitchFamily="18" charset="0"/>
              </a:rPr>
              <a:t> '5%'), aeroplanos(Planes </a:t>
            </a:r>
            <a:r>
              <a:rPr lang="es-ES" sz="1800" dirty="0">
                <a:solidFill>
                  <a:srgbClr val="004A99"/>
                </a:solidFill>
                <a:effectLst/>
                <a:latin typeface="Calibri" panose="020F0502020204030204" pitchFamily="34" charset="0"/>
                <a:ea typeface="Times New Roman" panose="02020603050405020304" pitchFamily="18" charset="0"/>
                <a:cs typeface="Calibri" panose="020F0502020204030204" pitchFamily="34" charset="0"/>
                <a:sym typeface="Wingdings" panose="05000000000000000000" pitchFamily="2" charset="2"/>
              </a:rPr>
              <a:t></a:t>
            </a:r>
            <a:r>
              <a:rPr lang="es-ES" sz="1800" dirty="0">
                <a:solidFill>
                  <a:srgbClr val="004A99"/>
                </a:solidFill>
                <a:effectLst/>
                <a:latin typeface="Calibri" panose="020F0502020204030204" pitchFamily="34" charset="0"/>
                <a:ea typeface="Times New Roman" panose="02020603050405020304" pitchFamily="18" charset="0"/>
              </a:rPr>
              <a:t> '2%'), motocicletas(</a:t>
            </a:r>
            <a:r>
              <a:rPr lang="es-ES" sz="1800" dirty="0" err="1">
                <a:solidFill>
                  <a:srgbClr val="004A99"/>
                </a:solidFill>
                <a:effectLst/>
                <a:latin typeface="Calibri" panose="020F0502020204030204" pitchFamily="34" charset="0"/>
                <a:ea typeface="Times New Roman" panose="02020603050405020304" pitchFamily="18" charset="0"/>
              </a:rPr>
              <a:t>Motorcycles</a:t>
            </a:r>
            <a:r>
              <a:rPr lang="es-ES" sz="1800" dirty="0">
                <a:solidFill>
                  <a:srgbClr val="004A99"/>
                </a:solidFill>
                <a:effectLst/>
                <a:latin typeface="Calibri" panose="020F0502020204030204" pitchFamily="34" charset="0"/>
                <a:ea typeface="Times New Roman" panose="02020603050405020304" pitchFamily="18" charset="0"/>
              </a:rPr>
              <a:t> </a:t>
            </a:r>
            <a:r>
              <a:rPr lang="es-ES" sz="1800" dirty="0">
                <a:solidFill>
                  <a:srgbClr val="004A99"/>
                </a:solidFill>
                <a:effectLst/>
                <a:latin typeface="Calibri" panose="020F0502020204030204" pitchFamily="34" charset="0"/>
                <a:ea typeface="Times New Roman" panose="02020603050405020304" pitchFamily="18" charset="0"/>
                <a:cs typeface="Calibri" panose="020F0502020204030204" pitchFamily="34" charset="0"/>
                <a:sym typeface="Wingdings" panose="05000000000000000000" pitchFamily="2" charset="2"/>
              </a:rPr>
              <a:t></a:t>
            </a:r>
            <a:r>
              <a:rPr lang="es-ES" sz="1800" dirty="0">
                <a:solidFill>
                  <a:srgbClr val="004A99"/>
                </a:solidFill>
                <a:effectLst/>
                <a:latin typeface="Calibri" panose="020F0502020204030204" pitchFamily="34" charset="0"/>
                <a:ea typeface="Times New Roman" panose="02020603050405020304" pitchFamily="18" charset="0"/>
              </a:rPr>
              <a:t>'4%'), embarcaciones(Ships</a:t>
            </a:r>
            <a:r>
              <a:rPr lang="es-ES" sz="1800" dirty="0">
                <a:solidFill>
                  <a:srgbClr val="004A99"/>
                </a:solidFill>
                <a:effectLst/>
                <a:latin typeface="Calibri" panose="020F0502020204030204" pitchFamily="34" charset="0"/>
                <a:ea typeface="Times New Roman" panose="02020603050405020304" pitchFamily="18" charset="0"/>
                <a:cs typeface="Calibri" panose="020F0502020204030204" pitchFamily="34" charset="0"/>
                <a:sym typeface="Wingdings" panose="05000000000000000000" pitchFamily="2" charset="2"/>
              </a:rPr>
              <a:t></a:t>
            </a:r>
            <a:r>
              <a:rPr lang="es-ES" sz="1800" dirty="0">
                <a:solidFill>
                  <a:srgbClr val="004A99"/>
                </a:solidFill>
                <a:effectLst/>
                <a:latin typeface="Calibri" panose="020F0502020204030204" pitchFamily="34" charset="0"/>
                <a:ea typeface="Times New Roman" panose="02020603050405020304" pitchFamily="18" charset="0"/>
              </a:rPr>
              <a:t>'3%') y resto un 6%.</a:t>
            </a:r>
            <a:endParaRPr lang="es-ES" sz="1800" dirty="0">
              <a:solidFill>
                <a:srgbClr val="004A99"/>
              </a:solidFill>
              <a:effectLst/>
              <a:latin typeface="Times New Roman" panose="02020603050405020304" pitchFamily="18" charset="0"/>
              <a:ea typeface="Times New Roman" panose="02020603050405020304" pitchFamily="18" charset="0"/>
            </a:endParaRPr>
          </a:p>
          <a:p>
            <a:endParaRPr lang="es-ES" sz="1800" dirty="0">
              <a:solidFill>
                <a:srgbClr val="004A99"/>
              </a:solidFill>
              <a:effectLst/>
              <a:latin typeface="Calibri" panose="020F0502020204030204" pitchFamily="34" charset="0"/>
              <a:ea typeface="Times New Roman" panose="02020603050405020304" pitchFamily="18" charset="0"/>
            </a:endParaRPr>
          </a:p>
          <a:p>
            <a:pPr algn="just"/>
            <a:r>
              <a:rPr lang="es-ES" sz="1800" dirty="0">
                <a:solidFill>
                  <a:srgbClr val="004A99"/>
                </a:solidFill>
                <a:effectLst/>
                <a:latin typeface="Calibri" panose="020F0502020204030204" pitchFamily="34" charset="0"/>
                <a:ea typeface="Times New Roman" panose="02020603050405020304" pitchFamily="18" charset="0"/>
              </a:rPr>
              <a:t>Crea </a:t>
            </a:r>
            <a:r>
              <a:rPr lang="es-ES" sz="1800" b="1" dirty="0">
                <a:solidFill>
                  <a:srgbClr val="004A99"/>
                </a:solidFill>
                <a:effectLst/>
                <a:latin typeface="Calibri" panose="020F0502020204030204" pitchFamily="34" charset="0"/>
                <a:ea typeface="Times New Roman" panose="02020603050405020304" pitchFamily="18" charset="0"/>
              </a:rPr>
              <a:t>una</a:t>
            </a:r>
            <a:r>
              <a:rPr lang="es-ES" sz="1800" dirty="0">
                <a:solidFill>
                  <a:srgbClr val="004A99"/>
                </a:solidFill>
                <a:effectLst/>
                <a:latin typeface="Calibri" panose="020F0502020204030204" pitchFamily="34" charset="0"/>
                <a:ea typeface="Times New Roman" panose="02020603050405020304" pitchFamily="18" charset="0"/>
              </a:rPr>
              <a:t> sola consulta, en la que a partir del nombre de un producto se muestre una sola tabla, su línea de producto y el descuento correspondiente, por ejemplo, como en la </a:t>
            </a:r>
            <a:r>
              <a:rPr lang="es-ES" sz="1600" b="1" i="1" dirty="0">
                <a:solidFill>
                  <a:srgbClr val="004A99"/>
                </a:solidFill>
                <a:effectLst/>
                <a:latin typeface="Calibri" panose="020F0502020204030204" pitchFamily="34" charset="0"/>
                <a:ea typeface="Times New Roman" panose="02020603050405020304" pitchFamily="18" charset="0"/>
              </a:rPr>
              <a:t>Figura10, </a:t>
            </a:r>
            <a:r>
              <a:rPr lang="es-ES" dirty="0">
                <a:solidFill>
                  <a:srgbClr val="004A99"/>
                </a:solidFill>
                <a:effectLst/>
                <a:latin typeface="Calibri" panose="020F0502020204030204" pitchFamily="34" charset="0"/>
                <a:ea typeface="Times New Roman" panose="02020603050405020304" pitchFamily="18" charset="0"/>
              </a:rPr>
              <a:t>es decir, para el </a:t>
            </a:r>
            <a:r>
              <a:rPr lang="es-ES" dirty="0" err="1">
                <a:solidFill>
                  <a:srgbClr val="004A99"/>
                </a:solidFill>
                <a:effectLst/>
                <a:latin typeface="Calibri" panose="020F0502020204030204" pitchFamily="34" charset="0"/>
                <a:ea typeface="Times New Roman" panose="02020603050405020304" pitchFamily="18" charset="0"/>
              </a:rPr>
              <a:t>productName</a:t>
            </a:r>
            <a:r>
              <a:rPr lang="es-ES" dirty="0">
                <a:solidFill>
                  <a:srgbClr val="004A99"/>
                </a:solidFill>
                <a:effectLst/>
                <a:latin typeface="Calibri" panose="020F0502020204030204" pitchFamily="34" charset="0"/>
                <a:ea typeface="Times New Roman" panose="02020603050405020304" pitchFamily="18" charset="0"/>
              </a:rPr>
              <a:t> HMS </a:t>
            </a:r>
            <a:r>
              <a:rPr lang="es-ES" dirty="0" err="1">
                <a:solidFill>
                  <a:srgbClr val="004A99"/>
                </a:solidFill>
                <a:effectLst/>
                <a:latin typeface="Calibri" panose="020F0502020204030204" pitchFamily="34" charset="0"/>
                <a:ea typeface="Times New Roman" panose="02020603050405020304" pitchFamily="18" charset="0"/>
              </a:rPr>
              <a:t>Bounty</a:t>
            </a:r>
            <a:r>
              <a:rPr lang="es-ES" dirty="0">
                <a:solidFill>
                  <a:srgbClr val="004A99"/>
                </a:solidFill>
                <a:effectLst/>
                <a:latin typeface="Calibri" panose="020F0502020204030204" pitchFamily="34" charset="0"/>
                <a:ea typeface="Times New Roman" panose="02020603050405020304" pitchFamily="18" charset="0"/>
              </a:rPr>
              <a:t> (BBDD </a:t>
            </a:r>
            <a:r>
              <a:rPr lang="es-ES" b="1" dirty="0" err="1">
                <a:solidFill>
                  <a:srgbClr val="004A99"/>
                </a:solidFill>
                <a:effectLst/>
                <a:latin typeface="Calibri" panose="020F0502020204030204" pitchFamily="34" charset="0"/>
                <a:ea typeface="Times New Roman" panose="02020603050405020304" pitchFamily="18" charset="0"/>
              </a:rPr>
              <a:t>clasicmodels</a:t>
            </a:r>
            <a:r>
              <a:rPr lang="es-ES" dirty="0">
                <a:solidFill>
                  <a:srgbClr val="004A99"/>
                </a:solidFill>
                <a:effectLst/>
                <a:latin typeface="Calibri" panose="020F0502020204030204" pitchFamily="34" charset="0"/>
                <a:ea typeface="Times New Roman" panose="02020603050405020304" pitchFamily="18" charset="0"/>
              </a:rPr>
              <a:t>)</a:t>
            </a:r>
            <a:r>
              <a:rPr lang="es-ES" sz="1800" dirty="0">
                <a:solidFill>
                  <a:srgbClr val="004A99"/>
                </a:solidFill>
                <a:effectLst/>
                <a:latin typeface="Calibri" panose="020F0502020204030204" pitchFamily="34" charset="0"/>
                <a:ea typeface="Times New Roman" panose="02020603050405020304" pitchFamily="18" charset="0"/>
              </a:rPr>
              <a:t>.</a:t>
            </a:r>
          </a:p>
          <a:p>
            <a:pPr algn="just"/>
            <a:endParaRPr lang="es-ES" dirty="0">
              <a:solidFill>
                <a:srgbClr val="004A99"/>
              </a:solidFill>
              <a:ea typeface="Times New Roman" panose="02020603050405020304" pitchFamily="18" charset="0"/>
            </a:endParaRPr>
          </a:p>
          <a:p>
            <a:pPr algn="just"/>
            <a:r>
              <a:rPr lang="es-ES" dirty="0">
                <a:solidFill>
                  <a:srgbClr val="004A99"/>
                </a:solidFill>
                <a:ea typeface="Times New Roman" panose="02020603050405020304" pitchFamily="18" charset="0"/>
              </a:rPr>
              <a:t>Ayuda: tienes que trabajar con la tabla </a:t>
            </a:r>
            <a:r>
              <a:rPr lang="es-ES" b="1" i="1" dirty="0" err="1">
                <a:solidFill>
                  <a:srgbClr val="004A99"/>
                </a:solidFill>
                <a:ea typeface="Times New Roman" panose="02020603050405020304" pitchFamily="18" charset="0"/>
              </a:rPr>
              <a:t>products</a:t>
            </a:r>
            <a:r>
              <a:rPr lang="es-ES" b="1" i="1" dirty="0">
                <a:solidFill>
                  <a:srgbClr val="004A99"/>
                </a:solidFill>
                <a:ea typeface="Times New Roman" panose="02020603050405020304" pitchFamily="18" charset="0"/>
              </a:rPr>
              <a:t>.</a:t>
            </a:r>
            <a:endParaRPr lang="es-ES" sz="1800" b="1" i="1" dirty="0">
              <a:solidFill>
                <a:srgbClr val="004A99"/>
              </a:solidFill>
              <a:effectLst/>
              <a:ea typeface="Times New Roman" panose="02020603050405020304" pitchFamily="18" charset="0"/>
            </a:endParaRPr>
          </a:p>
          <a:p>
            <a:endParaRPr lang="es-ES" sz="1800" dirty="0">
              <a:solidFill>
                <a:srgbClr val="004A99"/>
              </a:solidFill>
              <a:effectLst/>
              <a:latin typeface="Times New Roman" panose="02020603050405020304" pitchFamily="18" charset="0"/>
              <a:ea typeface="Times New Roman" panose="02020603050405020304" pitchFamily="18" charset="0"/>
            </a:endParaRPr>
          </a:p>
        </p:txBody>
      </p:sp>
      <p:sp>
        <p:nvSpPr>
          <p:cNvPr id="2" name="CuadroTexto 1">
            <a:extLst>
              <a:ext uri="{FF2B5EF4-FFF2-40B4-BE49-F238E27FC236}">
                <a16:creationId xmlns:a16="http://schemas.microsoft.com/office/drawing/2014/main" id="{E9464296-570D-487A-AC1B-D26B90AB7AF8}"/>
              </a:ext>
            </a:extLst>
          </p:cNvPr>
          <p:cNvSpPr txBox="1"/>
          <p:nvPr/>
        </p:nvSpPr>
        <p:spPr>
          <a:xfrm>
            <a:off x="4812755" y="5874534"/>
            <a:ext cx="1580354" cy="338554"/>
          </a:xfrm>
          <a:prstGeom prst="rect">
            <a:avLst/>
          </a:prstGeom>
          <a:noFill/>
        </p:spPr>
        <p:txBody>
          <a:bodyPr wrap="square" rtlCol="0">
            <a:spAutoFit/>
          </a:bodyPr>
          <a:lstStyle/>
          <a:p>
            <a:pPr algn="ctr"/>
            <a:r>
              <a:rPr lang="es-ES" sz="1600" b="1" i="1" dirty="0"/>
              <a:t>Figura10</a:t>
            </a:r>
          </a:p>
        </p:txBody>
      </p:sp>
      <p:pic>
        <p:nvPicPr>
          <p:cNvPr id="3" name="Picture 2"/>
          <p:cNvPicPr>
            <a:picLocks noChangeAspect="1"/>
          </p:cNvPicPr>
          <p:nvPr/>
        </p:nvPicPr>
        <p:blipFill>
          <a:blip r:embed="rId4"/>
          <a:stretch>
            <a:fillRect/>
          </a:stretch>
        </p:blipFill>
        <p:spPr>
          <a:xfrm>
            <a:off x="2956019" y="4532981"/>
            <a:ext cx="5510343" cy="1263970"/>
          </a:xfrm>
          <a:prstGeom prst="rect">
            <a:avLst/>
          </a:prstGeom>
        </p:spPr>
      </p:pic>
      <p:sp>
        <p:nvSpPr>
          <p:cNvPr id="5" name="CuadroTexto 86">
            <a:extLst>
              <a:ext uri="{FF2B5EF4-FFF2-40B4-BE49-F238E27FC236}">
                <a16:creationId xmlns:a16="http://schemas.microsoft.com/office/drawing/2014/main" id="{8E3B87C7-1F40-D82A-ECF4-8092B299F28E}"/>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1280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85"/>
          <p:cNvSpPr/>
          <p:nvPr/>
        </p:nvSpPr>
        <p:spPr>
          <a:xfrm rot="10799991">
            <a:off x="-458" y="-476"/>
            <a:ext cx="12191996" cy="751627"/>
          </a:xfrm>
          <a:prstGeom prst="rect">
            <a:avLst/>
          </a:prstGeom>
          <a:gradFill>
            <a:gsLst>
              <a:gs pos="0">
                <a:srgbClr val="003E7B"/>
              </a:gs>
              <a:gs pos="100000">
                <a:srgbClr val="005DB2"/>
              </a:gs>
            </a:gsLst>
            <a:lin ang="5400000"/>
          </a:gra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s-ES" sz="1800" b="0" i="0" u="none" strike="noStrike" kern="1200" cap="none" spc="0" baseline="0" dirty="0">
              <a:solidFill>
                <a:srgbClr val="10CF9B"/>
              </a:solidFill>
              <a:uFillTx/>
              <a:ea typeface="Tahoma" panose="020B0604030504040204" pitchFamily="34" charset="0"/>
              <a:cs typeface="Tahoma" panose="020B0604030504040204" pitchFamily="34" charset="0"/>
            </a:endParaRPr>
          </a:p>
        </p:txBody>
      </p:sp>
      <p:pic>
        <p:nvPicPr>
          <p:cNvPr id="27" name="Imagen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73556" y="141564"/>
            <a:ext cx="1639887" cy="428287"/>
          </a:xfrm>
          <a:prstGeom prst="rect">
            <a:avLst/>
          </a:prstGeom>
        </p:spPr>
      </p:pic>
      <p:sp>
        <p:nvSpPr>
          <p:cNvPr id="3" name="CuadroTexto 86">
            <a:extLst>
              <a:ext uri="{FF2B5EF4-FFF2-40B4-BE49-F238E27FC236}">
                <a16:creationId xmlns:a16="http://schemas.microsoft.com/office/drawing/2014/main" id="{8E918DBB-9156-3E2C-6B96-D54E8378A67B}"/>
              </a:ext>
            </a:extLst>
          </p:cNvPr>
          <p:cNvSpPr txBox="1"/>
          <p:nvPr/>
        </p:nvSpPr>
        <p:spPr>
          <a:xfrm>
            <a:off x="98206" y="60328"/>
            <a:ext cx="11549850" cy="584775"/>
          </a:xfrm>
          <a:prstGeom prst="rect">
            <a:avLst/>
          </a:prstGeom>
          <a:noFill/>
          <a:ln cap="flat">
            <a:noFill/>
          </a:ln>
          <a:effectLst/>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s-ES" sz="3200" kern="0" dirty="0">
                <a:solidFill>
                  <a:srgbClr val="FFFFFF"/>
                </a:solidFill>
                <a:ea typeface="Tahoma" panose="020B0604030504040204" pitchFamily="34" charset="0"/>
                <a:cs typeface="Tahoma" panose="020B0604030504040204" pitchFamily="34" charset="0"/>
              </a:rPr>
              <a:t>Práctica 1: Modelo Relacional y Lenguaje SQL Avanzado</a:t>
            </a:r>
            <a:endParaRPr lang="es-ES" sz="3200" b="0" i="0" u="none" strike="noStrike" kern="1200" cap="none" spc="0" baseline="0" dirty="0">
              <a:solidFill>
                <a:srgbClr val="FFFFFF"/>
              </a:solidFill>
              <a:uFillTx/>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794181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3"/>
          <p:cNvSpPr/>
          <p:nvPr/>
        </p:nvSpPr>
        <p:spPr>
          <a:xfrm rot="5400013">
            <a:off x="2667003" y="-2667004"/>
            <a:ext cx="6858000" cy="12191987"/>
          </a:xfrm>
          <a:prstGeom prst="rect">
            <a:avLst/>
          </a:prstGeom>
          <a:solidFill>
            <a:srgbClr val="004A99"/>
          </a:solidFill>
          <a:ln w="12701" cap="flat">
            <a:solidFill>
              <a:srgbClr val="085091"/>
            </a:solidFill>
            <a:prstDash val="solid"/>
            <a:miter/>
          </a:ln>
          <a:effectLst>
            <a:outerShdw dist="38096" dir="2700000" algn="tl">
              <a:srgbClr val="000000">
                <a:alpha val="40000"/>
              </a:srgbClr>
            </a:outerShdw>
          </a:effectLst>
        </p:spPr>
        <p:txBody>
          <a:bodyPr vert="horz" wrap="square" lIns="91440" tIns="45720" rIns="91440" bIns="45720" anchor="ctr" anchorCtr="1" compatLnSpc="1">
            <a:noAutofit/>
          </a:bodyPr>
          <a:lstStyle/>
          <a:p>
            <a:pPr algn="ctr">
              <a:defRPr sz="1800" b="0" i="0" u="none" strike="noStrike" kern="0" cap="none" spc="0" baseline="0">
                <a:solidFill>
                  <a:srgbClr val="000000"/>
                </a:solidFill>
                <a:uFillTx/>
              </a:defRPr>
            </a:pPr>
            <a:endParaRPr lang="es-ES" dirty="0">
              <a:solidFill>
                <a:srgbClr val="10CF9B"/>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8286" y="2135948"/>
            <a:ext cx="4575433" cy="1194958"/>
          </a:xfrm>
          <a:prstGeom prst="rect">
            <a:avLst/>
          </a:prstGeom>
        </p:spPr>
      </p:pic>
      <p:pic>
        <p:nvPicPr>
          <p:cNvPr id="5" name="Imagen 4"/>
          <p:cNvPicPr>
            <a:picLocks noChangeAspect="1"/>
          </p:cNvPicPr>
          <p:nvPr/>
        </p:nvPicPr>
        <p:blipFill>
          <a:blip r:embed="rId3"/>
          <a:stretch>
            <a:fillRect/>
          </a:stretch>
        </p:blipFill>
        <p:spPr>
          <a:xfrm>
            <a:off x="449639" y="4070759"/>
            <a:ext cx="3600450" cy="2600325"/>
          </a:xfrm>
          <a:prstGeom prst="rect">
            <a:avLst/>
          </a:prstGeom>
        </p:spPr>
      </p:pic>
      <p:pic>
        <p:nvPicPr>
          <p:cNvPr id="6" name="Imagen 5"/>
          <p:cNvPicPr>
            <a:picLocks noChangeAspect="1"/>
          </p:cNvPicPr>
          <p:nvPr/>
        </p:nvPicPr>
        <p:blipFill>
          <a:blip r:embed="rId4"/>
          <a:stretch>
            <a:fillRect/>
          </a:stretch>
        </p:blipFill>
        <p:spPr>
          <a:xfrm>
            <a:off x="8141321" y="5099459"/>
            <a:ext cx="3714750" cy="1571625"/>
          </a:xfrm>
          <a:prstGeom prst="rect">
            <a:avLst/>
          </a:prstGeom>
        </p:spPr>
      </p:pic>
    </p:spTree>
    <p:extLst>
      <p:ext uri="{BB962C8B-B14F-4D97-AF65-F5344CB8AC3E}">
        <p14:creationId xmlns:p14="http://schemas.microsoft.com/office/powerpoint/2010/main" val="3628724285"/>
      </p:ext>
    </p:extLst>
  </p:cSld>
  <p:clrMapOvr>
    <a:masterClrMapping/>
  </p:clrMapOvr>
</p:sld>
</file>

<file path=ppt/theme/theme1.xml><?xml version="1.0" encoding="utf-8"?>
<a:theme xmlns:a="http://schemas.openxmlformats.org/drawingml/2006/main" name="Tema_Color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_Color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16323</TotalTime>
  <Words>1858</Words>
  <Application>Microsoft Office PowerPoint</Application>
  <PresentationFormat>Panorámica</PresentationFormat>
  <Paragraphs>205</Paragraphs>
  <Slides>19</Slides>
  <Notes>18</Notes>
  <HiddenSlides>0</HiddenSlides>
  <MMClips>0</MMClips>
  <ScaleCrop>false</ScaleCrop>
  <HeadingPairs>
    <vt:vector size="6" baseType="variant">
      <vt:variant>
        <vt:lpstr>Fuentes usadas</vt:lpstr>
      </vt:variant>
      <vt:variant>
        <vt:i4>8</vt:i4>
      </vt:variant>
      <vt:variant>
        <vt:lpstr>Tema</vt:lpstr>
      </vt:variant>
      <vt:variant>
        <vt:i4>3</vt:i4>
      </vt:variant>
      <vt:variant>
        <vt:lpstr>Títulos de diapositiva</vt:lpstr>
      </vt:variant>
      <vt:variant>
        <vt:i4>19</vt:i4>
      </vt:variant>
    </vt:vector>
  </HeadingPairs>
  <TitlesOfParts>
    <vt:vector size="30" baseType="lpstr">
      <vt:lpstr>Arial</vt:lpstr>
      <vt:lpstr>Calibri</vt:lpstr>
      <vt:lpstr>Cambria Math</vt:lpstr>
      <vt:lpstr>Courier New</vt:lpstr>
      <vt:lpstr>Rockwell Nova</vt:lpstr>
      <vt:lpstr>Tahoma</vt:lpstr>
      <vt:lpstr>Times New Roman</vt:lpstr>
      <vt:lpstr>Wingdings</vt:lpstr>
      <vt:lpstr>Tema_Colores</vt:lpstr>
      <vt:lpstr>1_Tema_Colores</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dc:creator>
  <cp:lastModifiedBy>Víctor Manuel Peiró Martínez</cp:lastModifiedBy>
  <cp:revision>540</cp:revision>
  <cp:lastPrinted>2019-05-11T11:16:09Z</cp:lastPrinted>
  <dcterms:created xsi:type="dcterms:W3CDTF">2019-01-27T21:38:12Z</dcterms:created>
  <dcterms:modified xsi:type="dcterms:W3CDTF">2025-05-22T10:23:16Z</dcterms:modified>
</cp:coreProperties>
</file>