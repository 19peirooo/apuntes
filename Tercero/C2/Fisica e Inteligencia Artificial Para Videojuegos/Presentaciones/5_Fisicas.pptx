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8229600" cx="14630400"/>
  <p:notesSz cx="8229600" cy="14630400"/>
  <p:embeddedFontLs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ao09mNJ/GVxCnQrjilnPE55jZ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Inter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customschemas.google.com/relationships/presentationmetadata" Target="metadata"/><Relationship Id="rId27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8dea931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7c8dea931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7c8dea931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8dbddff91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48dbddff91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48dbddff91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8dbddff91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48dbddff91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48dbddff91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8dbddff91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48dbddff91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48dbddff91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8dbddff91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48dbddff91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48dbddff91_1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651a86d1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8651a86d1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8651a86d1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8dbddff91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48dbddff91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48dbddff91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8dbddff91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48dbddff91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48dbddff91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48dbddff91_1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48dbddff91_1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48dbddff91_1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651a86d16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8651a86d16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8651a86d16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8dbddff91_1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48dbddff91_1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48dbddff91_1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8dbddff91_1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48dbddff91_1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48dbddff91_1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651a86d1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8651a86d16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8651a86d1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651a86d16_0_32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8651a86d16_0_32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651a86d16_0_117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8651a86d16_0_117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651a86d16_0_125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8651a86d16_0_125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651a86d16_0_4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8651a86d16_0_4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651a86d16_0_48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8651a86d16_0_48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8651a86d16_0_100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8651a86d16_0_100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8651a86d16_0_10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652e392184_0_50"/>
          <p:cNvSpPr txBox="1"/>
          <p:nvPr>
            <p:ph type="ctrTitle"/>
          </p:nvPr>
        </p:nvSpPr>
        <p:spPr>
          <a:xfrm>
            <a:off x="1463040" y="2300198"/>
            <a:ext cx="117042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300"/>
              <a:buFont typeface="Arial"/>
              <a:buChar char="●"/>
              <a:defRPr b="0" i="0" sz="5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652e392184_0_50"/>
          <p:cNvSpPr txBox="1"/>
          <p:nvPr>
            <p:ph idx="1" type="subTitle"/>
          </p:nvPr>
        </p:nvSpPr>
        <p:spPr>
          <a:xfrm>
            <a:off x="4377274" y="6015811"/>
            <a:ext cx="58758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652e392184_0_50"/>
          <p:cNvSpPr txBox="1"/>
          <p:nvPr>
            <p:ph idx="2" type="body"/>
          </p:nvPr>
        </p:nvSpPr>
        <p:spPr>
          <a:xfrm>
            <a:off x="1463040" y="4892486"/>
            <a:ext cx="117042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C:\Users\eva.perandones\Downloads\Logo azul.png" id="26" name="Google Shape;26;g3652e392184_0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95731" y="485597"/>
            <a:ext cx="3971749" cy="149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" name="Google Shape;30;p3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" name="Google Shape;34;p3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" name="Google Shape;42;p3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" name="Google Shape;46;p3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" name="Google Shape;50;p3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4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4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p4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4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4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p4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4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4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4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4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" name="Google Shape;94;p5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5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2" name="Google Shape;102;p5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5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p3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3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8" name="Google Shape;118;p3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" name="Google Shape;122;p3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8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0.gif"/><Relationship Id="rId6" Type="http://schemas.openxmlformats.org/officeDocument/2006/relationships/image" Target="../media/image5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0.gif"/><Relationship Id="rId6" Type="http://schemas.openxmlformats.org/officeDocument/2006/relationships/image" Target="../media/image26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gif"/><Relationship Id="rId4" Type="http://schemas.openxmlformats.org/officeDocument/2006/relationships/image" Target="../media/image19.png"/><Relationship Id="rId5" Type="http://schemas.openxmlformats.org/officeDocument/2006/relationships/image" Target="../media/image21.gif"/><Relationship Id="rId6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8dea931b_0_0"/>
          <p:cNvSpPr/>
          <p:nvPr/>
        </p:nvSpPr>
        <p:spPr>
          <a:xfrm>
            <a:off x="852964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0" name="Google Shape;130;g37c8dea931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1918" y="944285"/>
            <a:ext cx="4901566" cy="222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7c8dea931b_0_0"/>
          <p:cNvSpPr/>
          <p:nvPr/>
        </p:nvSpPr>
        <p:spPr>
          <a:xfrm>
            <a:off x="10466665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7c8dea931b_0_0"/>
          <p:cNvSpPr/>
          <p:nvPr/>
        </p:nvSpPr>
        <p:spPr>
          <a:xfrm>
            <a:off x="1812443" y="3521336"/>
            <a:ext cx="110205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i="0" lang="en-US" sz="4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5. Físicas</a:t>
            </a:r>
            <a:endParaRPr b="0" i="0" sz="4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7c8dea931b_0_0"/>
          <p:cNvSpPr/>
          <p:nvPr/>
        </p:nvSpPr>
        <p:spPr>
          <a:xfrm>
            <a:off x="2723025" y="5644375"/>
            <a:ext cx="9184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2850"/>
              <a:buFont typeface="Inter"/>
              <a:buNone/>
            </a:pPr>
            <a:r>
              <a:rPr b="1" lang="en-US" sz="28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Física e Inteligencia Artificial para Videojuegos</a:t>
            </a:r>
            <a:endParaRPr b="1" sz="2850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2850"/>
              <a:buFont typeface="Inter"/>
              <a:buNone/>
            </a:pPr>
            <a:r>
              <a:t/>
            </a:r>
            <a:endParaRPr b="1" sz="2850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g37c8dea931b_0_0"/>
          <p:cNvSpPr/>
          <p:nvPr/>
        </p:nvSpPr>
        <p:spPr>
          <a:xfrm>
            <a:off x="3263400" y="6180775"/>
            <a:ext cx="8118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2350"/>
              <a:buFont typeface="Inter"/>
              <a:buNone/>
            </a:pPr>
            <a:r>
              <a:rPr b="1" lang="en-US" sz="2350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Doble Grado en Física e Inteligencia Artificial</a:t>
            </a:r>
            <a:endParaRPr b="1" sz="2350">
              <a:solidFill>
                <a:srgbClr val="76869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2350"/>
              <a:buFont typeface="Inter"/>
              <a:buNone/>
            </a:pPr>
            <a:r>
              <a:t/>
            </a:r>
            <a:endParaRPr b="1" sz="2350">
              <a:solidFill>
                <a:srgbClr val="76869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g37c8dea931b_0_0"/>
          <p:cNvSpPr/>
          <p:nvPr/>
        </p:nvSpPr>
        <p:spPr>
          <a:xfrm>
            <a:off x="852814" y="6964143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Curso 2025 – 2026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7c8dea931b_0_0"/>
          <p:cNvSpPr/>
          <p:nvPr/>
        </p:nvSpPr>
        <p:spPr>
          <a:xfrm>
            <a:off x="852814" y="7628155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Fernando Madrid Recio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7c8dea931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96725" y="6991346"/>
            <a:ext cx="27336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/>
          <p:nvPr/>
        </p:nvSpPr>
        <p:spPr>
          <a:xfrm>
            <a:off x="939522" y="975836"/>
            <a:ext cx="8548211" cy="838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Kinematic VS Dynamic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movimientos que hemos visto hasta ahora son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cinemáticos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(es decir, sin físicas)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queremos generar comportamientos realistas, entonces implementaremos movimientos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dinámicos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939522" y="6824067"/>
            <a:ext cx="12751356" cy="42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2700" y="4516080"/>
            <a:ext cx="6117100" cy="28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8dbddff91_1_1"/>
          <p:cNvSpPr/>
          <p:nvPr/>
        </p:nvSpPr>
        <p:spPr>
          <a:xfrm>
            <a:off x="939522" y="975836"/>
            <a:ext cx="8548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Kinematic VS Dynamic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48dbddff91_1_1"/>
          <p:cNvSpPr/>
          <p:nvPr/>
        </p:nvSpPr>
        <p:spPr>
          <a:xfrm>
            <a:off x="939450" y="2392325"/>
            <a:ext cx="12843000" cy="52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Rigidbody dinámico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debe utilizar comportamientos cinemáticos como Translate o Rotate.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Hacer esto derivará en comportamientos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extraños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erráticos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otro lado,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nunca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podremos mover un objeto cinemático con fuerzas, porque no entiende de estas.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g348dbddff91_1_1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48dbddff91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g348dbddff91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48dbddff91_1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8325" y="3960825"/>
            <a:ext cx="4273733" cy="28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48dbddff91_1_1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8dbddff91_1_12"/>
          <p:cNvSpPr/>
          <p:nvPr/>
        </p:nvSpPr>
        <p:spPr>
          <a:xfrm>
            <a:off x="939522" y="975836"/>
            <a:ext cx="8548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Movimientos dinámicos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48dbddff91_1_12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Todo movimiento dinámico surge debido a la aplicación de una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aplicar una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un Rigidbody dinámico en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utilizamos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AddForce()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g348dbddff91_1_12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48dbddff91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g348dbddff91_1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48dbddff91_1_12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8dbddff91_1_22"/>
          <p:cNvSpPr/>
          <p:nvPr/>
        </p:nvSpPr>
        <p:spPr>
          <a:xfrm>
            <a:off x="939522" y="975836"/>
            <a:ext cx="8548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Método AddForce()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48dbddff91_1_22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g348dbddff91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g348dbddff91_1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48dbddff91_1_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3538" y="2262600"/>
            <a:ext cx="11094825" cy="12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48dbddff91_1_22"/>
          <p:cNvSpPr/>
          <p:nvPr/>
        </p:nvSpPr>
        <p:spPr>
          <a:xfrm>
            <a:off x="848025" y="4132500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rb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Rigidbody al cual se le aplica la fuerza.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direccionF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Dirección global en la que se aplica la fuerza con Vector3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Fuerza a aplicar medida en unidades. (1 u =  1 N)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TipoF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Tipo de fuerza a aplicar.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Fuerzas instantáneas: Impulse , VelocityChange (ignora masa).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Fuerzas continuas: Force, Acceleration (ignora masa).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IMPORTANTE: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lleva deltaTime, ya que la fuerza se mide en Newtons (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g348dbddff91_1_22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8dbddff91_1_33"/>
          <p:cNvSpPr/>
          <p:nvPr/>
        </p:nvSpPr>
        <p:spPr>
          <a:xfrm>
            <a:off x="939526" y="975825"/>
            <a:ext cx="12349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Tipos de fuerza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48dbddff91_1_33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2" name="Google Shape;192;g348dbddff91_1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g348dbddff91_1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48dbddff91_1_33"/>
          <p:cNvSpPr/>
          <p:nvPr/>
        </p:nvSpPr>
        <p:spPr>
          <a:xfrm>
            <a:off x="939450" y="19935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ForceMode.Force: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 constante, de arrastre/empuje.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Requiere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actualización.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Adquiere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aceleración.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ForceMode.Impulse: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Fuerza instantánea, de golpe. Cambio instantáneo de velocidad.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5" name="Google Shape;195;g348dbddff91_1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8076" y="3476389"/>
            <a:ext cx="4965250" cy="15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48dbddff91_1_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9588" y="5896075"/>
            <a:ext cx="3749375" cy="20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48dbddff91_1_33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651a86d16_0_0"/>
          <p:cNvSpPr/>
          <p:nvPr/>
        </p:nvSpPr>
        <p:spPr>
          <a:xfrm>
            <a:off x="939522" y="975836"/>
            <a:ext cx="8548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Tipos de fuerza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8651a86d16_0_0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5" name="Google Shape;205;g38651a86d1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g38651a86d1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8651a86d16_0_0"/>
          <p:cNvSpPr/>
          <p:nvPr/>
        </p:nvSpPr>
        <p:spPr>
          <a:xfrm>
            <a:off x="939450" y="19935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dos tipos anteriores son los más comunes, pero también existen sus versiones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tener en cuenta la masa del objeto.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Útiles para aplicar fuerzas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útiles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cuerpos de masa muy elevada.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ForceMode.Acceleration: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 constante, de arrastre/empuje, pero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tener en cuenta la masa.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Requiere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actualización.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Adquiere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aceleración.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ForceMode.VelocityChange: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Fuerza instantánea, de golpe,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tener en cuenta la masa.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g38651a86d16_0_0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8dbddff91_1_45"/>
          <p:cNvSpPr/>
          <p:nvPr/>
        </p:nvSpPr>
        <p:spPr>
          <a:xfrm>
            <a:off x="939525" y="975825"/>
            <a:ext cx="12262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Problema con fuerzas continuas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48dbddff91_1_45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6" name="Google Shape;216;g348dbddff91_1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g348dbddff91_1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48dbddff91_1_45"/>
          <p:cNvSpPr/>
          <p:nvPr/>
        </p:nvSpPr>
        <p:spPr>
          <a:xfrm>
            <a:off x="939450" y="19935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Dado que una fuerza continua requiere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actualización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pudiéramos pensar en ejecutarla en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Update()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pero esto sería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incorrecto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Todo cálculo físico en Unity se resuelve en un ciclo de físicas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independiente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Update()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Este ciclo de físicas se denomina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FixedUpdate()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se reproduce cada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0.02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segundos por defecto.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independiente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los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FPS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por lo tanto, también del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Update()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g348dbddff91_1_45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8dbddff91_1_56"/>
          <p:cNvSpPr/>
          <p:nvPr/>
        </p:nvSpPr>
        <p:spPr>
          <a:xfrm>
            <a:off x="939525" y="975825"/>
            <a:ext cx="12262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Problema con fuerzas continuas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48dbddff91_1_56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7" name="Google Shape;227;g348dbddff91_1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g348dbddff91_1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48dbddff91_1_56"/>
          <p:cNvSpPr/>
          <p:nvPr/>
        </p:nvSpPr>
        <p:spPr>
          <a:xfrm>
            <a:off x="939450" y="1993525"/>
            <a:ext cx="128430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aplicamos una fuerza continua en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Update():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0" name="Google Shape;230;g348dbddff91_1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0088" y="2832350"/>
            <a:ext cx="5061682" cy="2359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48dbddff91_1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0088" y="5302199"/>
            <a:ext cx="5061678" cy="235999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48dbddff91_1_56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8dbddff91_1_67"/>
          <p:cNvSpPr/>
          <p:nvPr/>
        </p:nvSpPr>
        <p:spPr>
          <a:xfrm>
            <a:off x="939525" y="975825"/>
            <a:ext cx="12262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Problema con fuerzas continuas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48dbddff91_1_67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0" name="Google Shape;240;g348dbddff91_1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g348dbddff91_1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48dbddff91_1_67"/>
          <p:cNvSpPr/>
          <p:nvPr/>
        </p:nvSpPr>
        <p:spPr>
          <a:xfrm>
            <a:off x="939450" y="1993525"/>
            <a:ext cx="128430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Este problema surge porque la actualización de dicha física es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variable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debido a las fluctuaciones del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Update()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Este problema se soluciona con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FixedUpdate()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dado su ratio de ejecución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fijo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la mayoría de casos,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necesario trasladar la lógica de una fuerza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instantánea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FixedUpdate()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ya que este tipo de fuerzas no están pensadas para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actualizarse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g348dbddff91_1_67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651a86d16_0_11"/>
          <p:cNvSpPr/>
          <p:nvPr/>
        </p:nvSpPr>
        <p:spPr>
          <a:xfrm>
            <a:off x="939525" y="975825"/>
            <a:ext cx="12262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AddTorque. Rotación física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8651a86d16_0_11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1" name="Google Shape;251;g38651a86d16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g38651a86d16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8651a86d16_0_11"/>
          <p:cNvSpPr/>
          <p:nvPr/>
        </p:nvSpPr>
        <p:spPr>
          <a:xfrm>
            <a:off x="939450" y="1993525"/>
            <a:ext cx="128430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queremos rotar un objeto de forma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física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realista, no podemos confíar en el método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transform.Rotate()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estos casos, es preferible utilizar </a:t>
            </a:r>
            <a:r>
              <a:rPr b="1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AddTorque()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rb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Rigidbody al cual se le aplica el torque.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direccionTorque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Dirección global en la que se aplica el torque con Vector3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fuerzaTorque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Fuerza a aplicar medida en unidades. (1 u =  1 N)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ModoFuerza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Tipo de fuerza a aplicar.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○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Fuerzas instantáneas: Impulse , VelocityChange (ignora masa).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○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Fuerzas continuas: Force, Acceleration (ignora masa).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4" name="Google Shape;254;g38651a86d16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6625" y="3490475"/>
            <a:ext cx="10428662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8651a86d16_0_11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8dbddff91_1_76"/>
          <p:cNvSpPr/>
          <p:nvPr/>
        </p:nvSpPr>
        <p:spPr>
          <a:xfrm>
            <a:off x="359325" y="975825"/>
            <a:ext cx="140424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49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Propiedad rb.linearVelocity</a:t>
            </a:r>
            <a:endParaRPr b="0" i="0" sz="4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48dbddff91_1_76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3" name="Google Shape;263;g348dbddff91_1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g348dbddff91_1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48dbddff91_1_76"/>
          <p:cNvSpPr/>
          <p:nvPr/>
        </p:nvSpPr>
        <p:spPr>
          <a:xfrm>
            <a:off x="939450" y="1993525"/>
            <a:ext cx="128430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Podemos conocer la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velocidad lineal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(medida en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m/s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que lleva un Rigidbody dinámico con su propiedad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linearVelocity.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Esta propiedad es un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por lo que podemos conocer tanto su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dirección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movimiento como su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velocidad total: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6" name="Google Shape;266;g348dbddff91_1_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8162" y="4836525"/>
            <a:ext cx="10834076" cy="12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48dbddff91_1_76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8dbddff91_1_86"/>
          <p:cNvSpPr/>
          <p:nvPr/>
        </p:nvSpPr>
        <p:spPr>
          <a:xfrm>
            <a:off x="359325" y="975825"/>
            <a:ext cx="140424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49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Propiedad rb.linearVelocity</a:t>
            </a:r>
            <a:endParaRPr b="0" i="0" sz="4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48dbddff91_1_86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5" name="Google Shape;275;g348dbddff91_1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g348dbddff91_1_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48dbddff91_1_86"/>
          <p:cNvSpPr/>
          <p:nvPr/>
        </p:nvSpPr>
        <p:spPr>
          <a:xfrm>
            <a:off x="939450" y="1993525"/>
            <a:ext cx="128430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1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linearVelocity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no es sólo de lectura, también podemos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sobreescribirla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Si lo hacemos, estaremos otorgando una velocidad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uniforme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 un Rigidbody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dinámico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Muy útil cuando queramos una velocidad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uniforme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pero pudiendo colisionar e interaccionar físicamente con otros objetos. Por ejemplo, plataforma móvil.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-"/>
            </a:pP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hace falta actualizarla. Una vez establecida, se mantiene así para todo el resto de su ejecución.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8" name="Google Shape;278;g348dbddff91_1_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5088" y="4816850"/>
            <a:ext cx="8810876" cy="284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48dbddff91_1_86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651a86d16_0_21"/>
          <p:cNvSpPr/>
          <p:nvPr/>
        </p:nvSpPr>
        <p:spPr>
          <a:xfrm>
            <a:off x="359325" y="975825"/>
            <a:ext cx="140424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49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Propiedad rb.isKinematic</a:t>
            </a:r>
            <a:endParaRPr b="0" i="0" sz="4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8651a86d16_0_21"/>
          <p:cNvSpPr/>
          <p:nvPr/>
        </p:nvSpPr>
        <p:spPr>
          <a:xfrm>
            <a:off x="939450" y="2392325"/>
            <a:ext cx="128430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7" name="Google Shape;287;g38651a86d16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g38651a86d16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8651a86d16_0_21"/>
          <p:cNvSpPr/>
          <p:nvPr/>
        </p:nvSpPr>
        <p:spPr>
          <a:xfrm>
            <a:off x="939450" y="1993525"/>
            <a:ext cx="128430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Podemos cambiar el estado de un Rigidbody en </a:t>
            </a:r>
            <a:r>
              <a:rPr b="0" i="1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RunTime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(durante la ejecución) a través de la propiedad </a:t>
            </a:r>
            <a:r>
              <a:rPr b="1" i="1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isKinematic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la ponemos a </a:t>
            </a:r>
            <a:r>
              <a:rPr b="1" i="1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el rigidbody deja de tener comportamiento físico.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la ponemos a </a:t>
            </a:r>
            <a:r>
              <a:rPr b="1" i="1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el rigidbody vuelve a tener comportamiento físico.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Útil para plataformas que se caen al tocarlas, activación de físicas, etc.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0" name="Google Shape;290;g38651a86d16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9537" y="5427425"/>
            <a:ext cx="5371325" cy="12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8651a86d16_0_21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651a86d16_0_32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8651a86d16_0_32"/>
          <p:cNvSpPr txBox="1"/>
          <p:nvPr>
            <p:ph type="title"/>
          </p:nvPr>
        </p:nvSpPr>
        <p:spPr>
          <a:xfrm>
            <a:off x="498730" y="557315"/>
            <a:ext cx="118872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lang="en-US" sz="49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Materiales físicos</a:t>
            </a:r>
            <a:endParaRPr sz="4500"/>
          </a:p>
        </p:txBody>
      </p:sp>
      <p:sp>
        <p:nvSpPr>
          <p:cNvPr id="298" name="Google Shape;298;g38651a86d16_0_32"/>
          <p:cNvSpPr txBox="1"/>
          <p:nvPr/>
        </p:nvSpPr>
        <p:spPr>
          <a:xfrm>
            <a:off x="498718" y="1871281"/>
            <a:ext cx="13632900" cy="52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475">
            <a:spAutoFit/>
          </a:bodyPr>
          <a:lstStyle/>
          <a:p>
            <a:pPr indent="-603250" lvl="0" marL="749300" marR="12700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aplicar ciertas reglas físicas cuando dos gameObjects interactúan entre sí.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325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que una superficie sea 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deslizante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el hielo o tan 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rebotante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una pelota de goma.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325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Estas reglas pueden ser configuradas a partir de un 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 Material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325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uno:  Click derecho en “Assets” &gt; Crate &gt; Physic Material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325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Estos materiales podrán ser añadidos a cualquier </a:t>
            </a:r>
            <a:r>
              <a:rPr b="1" i="0" lang="en-US" sz="29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collider</a:t>
            </a:r>
            <a:r>
              <a:rPr b="0" i="0" lang="en-US" sz="29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cualquier gameObject en su propiedad 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g38651a86d16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5353" y="6220559"/>
            <a:ext cx="1400567" cy="168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651a86d16_0_117"/>
          <p:cNvSpPr txBox="1"/>
          <p:nvPr>
            <p:ph type="title"/>
          </p:nvPr>
        </p:nvSpPr>
        <p:spPr>
          <a:xfrm>
            <a:off x="498774" y="60745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0"/>
              <a:buFont typeface="Arial"/>
              <a:buNone/>
            </a:pPr>
            <a:r>
              <a:rPr b="1" lang="en-US" sz="49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Tipos de interacciones</a:t>
            </a:r>
            <a:endParaRPr sz="4500"/>
          </a:p>
        </p:txBody>
      </p:sp>
      <p:sp>
        <p:nvSpPr>
          <p:cNvPr id="305" name="Google Shape;305;g38651a86d16_0_117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8651a86d16_0_117"/>
          <p:cNvSpPr txBox="1"/>
          <p:nvPr>
            <p:ph idx="1" type="body"/>
          </p:nvPr>
        </p:nvSpPr>
        <p:spPr>
          <a:xfrm>
            <a:off x="729640" y="1914240"/>
            <a:ext cx="13602300" cy="57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4200"/>
          </a:p>
          <a:p>
            <a:pPr indent="0" lvl="0" marL="736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4200"/>
          </a:p>
        </p:txBody>
      </p:sp>
      <p:sp>
        <p:nvSpPr>
          <p:cNvPr id="307" name="Google Shape;307;g38651a86d16_0_117"/>
          <p:cNvSpPr txBox="1"/>
          <p:nvPr>
            <p:ph idx="1" type="body"/>
          </p:nvPr>
        </p:nvSpPr>
        <p:spPr>
          <a:xfrm>
            <a:off x="498770" y="888760"/>
            <a:ext cx="13632900" cy="6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52450" lvl="0" marL="736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Recuerda que existen dos tipos de interacciones.</a:t>
            </a:r>
            <a:endParaRPr sz="2900"/>
          </a:p>
          <a:p>
            <a:pPr indent="0" lvl="0" marL="736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900"/>
          </a:p>
          <a:p>
            <a:pPr indent="-552450" lvl="0" marL="736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Interacción por </a:t>
            </a:r>
            <a:r>
              <a:rPr b="1" lang="en-US" sz="2900">
                <a:solidFill>
                  <a:srgbClr val="00FF00"/>
                </a:solidFill>
              </a:rPr>
              <a:t>Trigger</a:t>
            </a:r>
            <a:r>
              <a:rPr lang="en-US" sz="2900"/>
              <a:t>:</a:t>
            </a:r>
            <a:endParaRPr sz="2900"/>
          </a:p>
          <a:p>
            <a:pPr indent="-552450" lvl="1" marL="146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Interacción al atravesar otro gameObject.</a:t>
            </a:r>
            <a:endParaRPr sz="2900"/>
          </a:p>
          <a:p>
            <a:pPr indent="0" lvl="0" marL="146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900"/>
          </a:p>
          <a:p>
            <a:pPr indent="-552450" lvl="0" marL="736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Interacción por </a:t>
            </a:r>
            <a:r>
              <a:rPr b="1" lang="en-US" sz="2900">
                <a:solidFill>
                  <a:srgbClr val="FF0000"/>
                </a:solidFill>
              </a:rPr>
              <a:t>Collision</a:t>
            </a:r>
            <a:r>
              <a:rPr b="1" lang="en-US" sz="2900"/>
              <a:t>:</a:t>
            </a:r>
            <a:endParaRPr b="1" sz="2900"/>
          </a:p>
          <a:p>
            <a:pPr indent="-552450" lvl="1" marL="146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Interacción al </a:t>
            </a:r>
            <a:r>
              <a:rPr b="1" lang="en-US" sz="2900"/>
              <a:t>golpear</a:t>
            </a:r>
            <a:r>
              <a:rPr lang="en-US" sz="2900"/>
              <a:t> otro gameObject.</a:t>
            </a:r>
            <a:endParaRPr sz="2900"/>
          </a:p>
          <a:p>
            <a:pPr indent="-552450" lvl="1" marL="146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Sólo posible si </a:t>
            </a:r>
            <a:r>
              <a:rPr b="1" lang="en-US" sz="2900"/>
              <a:t>al menos uno</a:t>
            </a:r>
            <a:r>
              <a:rPr lang="en-US" sz="2900"/>
              <a:t> de los gameObjects es </a:t>
            </a:r>
            <a:r>
              <a:rPr b="1" lang="en-US" sz="2900"/>
              <a:t>dynamic</a:t>
            </a:r>
            <a:r>
              <a:rPr lang="en-US" sz="2900"/>
              <a:t>.</a:t>
            </a:r>
            <a:endParaRPr sz="2900"/>
          </a:p>
          <a:p>
            <a:pPr indent="0" lvl="0" marL="736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4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651a86d16_0_125"/>
          <p:cNvSpPr txBox="1"/>
          <p:nvPr>
            <p:ph type="title"/>
          </p:nvPr>
        </p:nvSpPr>
        <p:spPr>
          <a:xfrm>
            <a:off x="498724" y="60745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0"/>
              <a:buFont typeface="Arial"/>
              <a:buNone/>
            </a:pPr>
            <a:r>
              <a:rPr b="1" lang="en-US" sz="49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Tipos de interacciones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4500"/>
          </a:p>
        </p:txBody>
      </p:sp>
      <p:sp>
        <p:nvSpPr>
          <p:cNvPr id="313" name="Google Shape;313;g38651a86d16_0_125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8651a86d16_0_125"/>
          <p:cNvSpPr txBox="1"/>
          <p:nvPr>
            <p:ph idx="1" type="body"/>
          </p:nvPr>
        </p:nvSpPr>
        <p:spPr>
          <a:xfrm>
            <a:off x="498720" y="1523760"/>
            <a:ext cx="63654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635000" lvl="0" marL="736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-US" sz="4200"/>
              <a:t>Interacción </a:t>
            </a:r>
            <a:r>
              <a:rPr b="1" lang="en-US" sz="4200">
                <a:solidFill>
                  <a:srgbClr val="00FF00"/>
                </a:solidFill>
              </a:rPr>
              <a:t>Trigger</a:t>
            </a:r>
            <a:endParaRPr sz="4200"/>
          </a:p>
          <a:p>
            <a:pPr indent="0" lvl="0" marL="736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4200"/>
          </a:p>
        </p:txBody>
      </p:sp>
      <p:pic>
        <p:nvPicPr>
          <p:cNvPr id="315" name="Google Shape;315;g38651a86d16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21" y="2482320"/>
            <a:ext cx="6154479" cy="2504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8651a86d16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80" y="5545183"/>
            <a:ext cx="6545922" cy="2266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8651a86d16_0_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4200" y="2072920"/>
            <a:ext cx="2107920" cy="3124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8651a86d16_0_125"/>
          <p:cNvSpPr txBox="1"/>
          <p:nvPr>
            <p:ph idx="1" type="body"/>
          </p:nvPr>
        </p:nvSpPr>
        <p:spPr>
          <a:xfrm>
            <a:off x="6864000" y="1399600"/>
            <a:ext cx="63654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635000" lvl="0" marL="736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-US" sz="4200"/>
              <a:t>Interacción </a:t>
            </a:r>
            <a:r>
              <a:rPr b="1" lang="en-US" sz="4200">
                <a:solidFill>
                  <a:srgbClr val="FF0000"/>
                </a:solidFill>
              </a:rPr>
              <a:t>Collision</a:t>
            </a:r>
            <a:endParaRPr sz="4200">
              <a:solidFill>
                <a:srgbClr val="FF0000"/>
              </a:solidFill>
            </a:endParaRPr>
          </a:p>
          <a:p>
            <a:pPr indent="0" lvl="0" marL="736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4200"/>
          </a:p>
        </p:txBody>
      </p:sp>
      <p:pic>
        <p:nvPicPr>
          <p:cNvPr id="319" name="Google Shape;319;g38651a86d16_0_1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400" y="5252920"/>
            <a:ext cx="7528681" cy="237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8651a86d16_0_40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8651a86d16_0_40"/>
          <p:cNvSpPr txBox="1"/>
          <p:nvPr>
            <p:ph type="title"/>
          </p:nvPr>
        </p:nvSpPr>
        <p:spPr>
          <a:xfrm>
            <a:off x="613274" y="607450"/>
            <a:ext cx="135183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0"/>
              <a:buFont typeface="Arial"/>
              <a:buNone/>
            </a:pPr>
            <a:r>
              <a:rPr b="1" lang="en-US" sz="49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Propiedades de un material físico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4500"/>
          </a:p>
        </p:txBody>
      </p:sp>
      <p:sp>
        <p:nvSpPr>
          <p:cNvPr id="326" name="Google Shape;326;g38651a86d16_0_40"/>
          <p:cNvSpPr txBox="1"/>
          <p:nvPr/>
        </p:nvSpPr>
        <p:spPr>
          <a:xfrm>
            <a:off x="225916" y="1729239"/>
            <a:ext cx="13905600" cy="3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475">
            <a:spAutoFit/>
          </a:bodyPr>
          <a:lstStyle/>
          <a:p>
            <a:pPr indent="-603250" lvl="0" marL="749300" marR="12700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Friction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Fricción a aplicar en contacto con otra superficie cuando el objeto</a:t>
            </a: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9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ya está en movimiento</a:t>
            </a:r>
            <a:r>
              <a:rPr b="0" i="0" lang="en-US" sz="29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325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Friction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Fricción a aplicar en contacto con otra superficie cuando el objeto </a:t>
            </a:r>
            <a:r>
              <a:rPr b="1" i="0" lang="en-US" sz="2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todavía está estático.</a:t>
            </a:r>
            <a:endParaRPr b="0" i="0" sz="2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325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Bounciness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Rebote a aplicar cuando el objeto contacta con una superficie.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38651a86d16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5430" y="4211450"/>
            <a:ext cx="7086601" cy="3185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651a86d16_0_48"/>
          <p:cNvSpPr txBox="1"/>
          <p:nvPr/>
        </p:nvSpPr>
        <p:spPr>
          <a:xfrm>
            <a:off x="10726080" y="7630400"/>
            <a:ext cx="390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8651a86d16_0_48"/>
          <p:cNvSpPr txBox="1"/>
          <p:nvPr>
            <p:ph type="title"/>
          </p:nvPr>
        </p:nvSpPr>
        <p:spPr>
          <a:xfrm>
            <a:off x="387674" y="607450"/>
            <a:ext cx="13743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0"/>
              <a:buFont typeface="Arial"/>
              <a:buNone/>
            </a:pPr>
            <a:r>
              <a:rPr b="1" lang="en-US" sz="49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Propiedades de un material físico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4500"/>
          </a:p>
        </p:txBody>
      </p:sp>
      <p:sp>
        <p:nvSpPr>
          <p:cNvPr id="334" name="Google Shape;334;g38651a86d16_0_48"/>
          <p:cNvSpPr txBox="1"/>
          <p:nvPr/>
        </p:nvSpPr>
        <p:spPr>
          <a:xfrm>
            <a:off x="225916" y="1729238"/>
            <a:ext cx="13905600" cy="77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475">
            <a:spAutoFit/>
          </a:bodyPr>
          <a:lstStyle/>
          <a:p>
            <a:pPr indent="-603250" lvl="0" marL="749300" marR="12700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5950" lvl="1" marL="14859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escoge la 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propiedad de ambos materiales en contacto.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5950" lvl="1" marL="14859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Minimum/Maximum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escoge el valor 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minimo/máximo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propiedad de ambos materiales en contacto.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5950" lvl="1" marL="14859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multiplican los valores de las propiedades de ambos materiales en contacto.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14859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5950" lvl="1" marL="14859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¡Cuidado!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3250" lvl="2" marL="22098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gameObject 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material físico tiene: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5950" lvl="3" marL="29464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Rebote 0.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5950" lvl="3" marL="29464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Fricción ∞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3" marL="29464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1" i="0" sz="2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14859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7493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2025-09-04T07:17:41Z</dcterms:created>
</cp:coreProperties>
</file>