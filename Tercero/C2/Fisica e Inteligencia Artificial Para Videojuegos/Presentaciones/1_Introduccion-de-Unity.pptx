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8229600" cx="14630400"/>
  <p:notesSz cx="8229600" cy="14630400"/>
  <p:embeddedFontLst>
    <p:embeddedFont>
      <p:font typeface="Inter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hPlGm/NlZUS+gB5SlX7pCBLV+0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2a0b6fdbc6_0_10:notes"/>
          <p:cNvSpPr txBox="1"/>
          <p:nvPr>
            <p:ph idx="1" type="body"/>
          </p:nvPr>
        </p:nvSpPr>
        <p:spPr>
          <a:xfrm>
            <a:off x="822960" y="6949440"/>
            <a:ext cx="6583800" cy="658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2a0b6fdbc6_0_10:notes"/>
          <p:cNvSpPr/>
          <p:nvPr>
            <p:ph idx="2" type="sldImg"/>
          </p:nvPr>
        </p:nvSpPr>
        <p:spPr>
          <a:xfrm>
            <a:off x="457200" y="1097280"/>
            <a:ext cx="731520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>
  <p:cSld name="Diapositiva de título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2a0b6fdbc6_0_58"/>
          <p:cNvSpPr txBox="1"/>
          <p:nvPr>
            <p:ph type="ctrTitle"/>
          </p:nvPr>
        </p:nvSpPr>
        <p:spPr>
          <a:xfrm>
            <a:off x="1463040" y="2300198"/>
            <a:ext cx="117042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300"/>
              <a:buFont typeface="Arial"/>
              <a:buChar char="●"/>
              <a:defRPr sz="5300">
                <a:solidFill>
                  <a:srgbClr val="26457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g32a0b6fdbc6_0_58"/>
          <p:cNvSpPr txBox="1"/>
          <p:nvPr>
            <p:ph idx="1" type="subTitle"/>
          </p:nvPr>
        </p:nvSpPr>
        <p:spPr>
          <a:xfrm>
            <a:off x="4377274" y="6015811"/>
            <a:ext cx="5875800" cy="8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7025" lIns="134100" spcFirstLastPara="1" rIns="134100" wrap="square" tIns="6702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SzPts val="2300"/>
              <a:buNone/>
              <a:defRPr sz="2300">
                <a:solidFill>
                  <a:srgbClr val="264571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SzPts val="2600"/>
              <a:buNone/>
              <a:defRPr sz="2100">
                <a:solidFill>
                  <a:srgbClr val="888888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SzPts val="2300"/>
              <a:buNone/>
              <a:defRPr sz="2100"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0" name="Google Shape;50;g32a0b6fdbc6_0_58"/>
          <p:cNvSpPr txBox="1"/>
          <p:nvPr>
            <p:ph idx="2" type="body"/>
          </p:nvPr>
        </p:nvSpPr>
        <p:spPr>
          <a:xfrm>
            <a:off x="1463040" y="4892486"/>
            <a:ext cx="11704200" cy="63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>
            <a:lvl1pPr indent="-228600" lvl="0" marL="457200" algn="ctr">
              <a:spcBef>
                <a:spcPts val="600"/>
              </a:spcBef>
              <a:spcAft>
                <a:spcPts val="0"/>
              </a:spcAft>
              <a:buSzPts val="2900"/>
              <a:buNone/>
              <a:defRPr sz="29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500"/>
              </a:spcBef>
              <a:spcAft>
                <a:spcPts val="0"/>
              </a:spcAft>
              <a:buSzPts val="2600"/>
              <a:buNone/>
              <a:defRPr sz="26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500"/>
              </a:spcBef>
              <a:spcAft>
                <a:spcPts val="0"/>
              </a:spcAft>
              <a:buSzPts val="2300"/>
              <a:buNone/>
              <a:defRPr sz="23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400"/>
              </a:spcBef>
              <a:spcAft>
                <a:spcPts val="0"/>
              </a:spcAft>
              <a:buSzPts val="2100"/>
              <a:buNone/>
              <a:defRPr sz="21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descr="C:\Users\eva.perandones\Downloads\Logo azul.png" id="51" name="Google Shape;51;g32a0b6fdbc6_0_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895731" y="485597"/>
            <a:ext cx="3971749" cy="1491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a0b6fdbc6_0_10"/>
          <p:cNvSpPr txBox="1"/>
          <p:nvPr>
            <p:ph type="ctrTitle"/>
          </p:nvPr>
        </p:nvSpPr>
        <p:spPr>
          <a:xfrm>
            <a:off x="1463040" y="2300198"/>
            <a:ext cx="11704200" cy="23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5300"/>
              <a:buFont typeface="Arial"/>
              <a:buNone/>
            </a:pPr>
            <a:r>
              <a:rPr lang="en-US"/>
              <a:t>Tema 1. Introducción a Unity</a:t>
            </a:r>
            <a:endParaRPr/>
          </a:p>
        </p:txBody>
      </p:sp>
      <p:sp>
        <p:nvSpPr>
          <p:cNvPr id="57" name="Google Shape;57;g32a0b6fdbc6_0_10"/>
          <p:cNvSpPr txBox="1"/>
          <p:nvPr>
            <p:ph idx="2" type="body"/>
          </p:nvPr>
        </p:nvSpPr>
        <p:spPr>
          <a:xfrm>
            <a:off x="932697" y="4871311"/>
            <a:ext cx="12765000" cy="20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025" lIns="134100" spcFirstLastPara="1" rIns="134100" wrap="square" tIns="67025">
            <a:normAutofit fontScale="5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/>
              <a:t>Fundamentos de Unity para física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rPr lang="en-US">
                <a:solidFill>
                  <a:srgbClr val="A5A5A5"/>
                </a:solidFill>
              </a:rPr>
              <a:t>Doble Grado en Física e Inteligencia </a:t>
            </a:r>
            <a:r>
              <a:rPr lang="en-US">
                <a:solidFill>
                  <a:srgbClr val="A5A5A5"/>
                </a:solidFill>
              </a:rPr>
              <a:t>Artificial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i="1" lang="en-US" sz="2600">
                <a:solidFill>
                  <a:srgbClr val="A5A5A5"/>
                </a:solidFill>
              </a:rPr>
              <a:t>Curso 2024 – 2025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i="1" lang="en-US" sz="2600">
                <a:solidFill>
                  <a:srgbClr val="192E4B"/>
                </a:solidFill>
              </a:rPr>
              <a:t>Fernando Madrid Recio</a:t>
            </a:r>
            <a:endParaRPr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5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/>
          <p:nvPr/>
        </p:nvSpPr>
        <p:spPr>
          <a:xfrm>
            <a:off x="864037" y="2476143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Instalación de Unity</a:t>
            </a:r>
            <a:endParaRPr b="0" i="0" sz="4850" u="none" cap="none" strike="noStrike"/>
          </a:p>
        </p:txBody>
      </p:sp>
      <p:sp>
        <p:nvSpPr>
          <p:cNvPr id="64" name="Google Shape;64;p1"/>
          <p:cNvSpPr/>
          <p:nvPr/>
        </p:nvSpPr>
        <p:spPr>
          <a:xfrm>
            <a:off x="864037" y="3617952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Primero, debes visitar el sitio web oficial de Unity (unity.com) y descargar el Unity Hub. </a:t>
            </a:r>
            <a:endParaRPr b="0" i="0" sz="1900" u="none" cap="none" strike="noStrike"/>
          </a:p>
        </p:txBody>
      </p:sp>
      <p:sp>
        <p:nvSpPr>
          <p:cNvPr id="65" name="Google Shape;65;p1"/>
          <p:cNvSpPr/>
          <p:nvPr/>
        </p:nvSpPr>
        <p:spPr>
          <a:xfrm>
            <a:off x="864037" y="4290655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Una vez instalado el Unity Hub, puedes proceder a instalar la versión del editor que desees. </a:t>
            </a:r>
            <a:endParaRPr b="0" i="0" sz="1900" u="none" cap="none" strike="noStrike"/>
          </a:p>
        </p:txBody>
      </p:sp>
      <p:sp>
        <p:nvSpPr>
          <p:cNvPr id="66" name="Google Shape;66;p1"/>
          <p:cNvSpPr/>
          <p:nvPr/>
        </p:nvSpPr>
        <p:spPr>
          <a:xfrm>
            <a:off x="864037" y="4963358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Durante la instalación, tendrás la opción de seleccionar </a:t>
            </a: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módulos adicionales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como soporte para diferentes plataformas (Android, iOS, WebGL, etc.) o herramientas de desarrollo específicas.</a:t>
            </a:r>
            <a:endParaRPr b="0" i="0" sz="1900" u="none" cap="none" strike="noStrike"/>
          </a:p>
        </p:txBody>
      </p:sp>
      <p:pic>
        <p:nvPicPr>
          <p:cNvPr descr="preencoded.png" id="67" name="Google Shape;6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/>
          <p:nvPr/>
        </p:nvSpPr>
        <p:spPr>
          <a:xfrm>
            <a:off x="864037" y="1340406"/>
            <a:ext cx="8692396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Versiones del Editor de Unity</a:t>
            </a:r>
            <a:endParaRPr b="0" i="0" sz="485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864037" y="2605683"/>
            <a:ext cx="12189143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 utiliza un sistema de versiones que puede parecer complejo a primera vista, pero que en realidad sigue una lógica clara. La nomenclatura de las versiones de Unity se compone de tres partes principales: año, versión y revisión.</a:t>
            </a:r>
            <a:endParaRPr b="0" i="0" sz="19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864037" y="4068485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Por ejemplo, en una versión como "2021.3.1f1":</a:t>
            </a:r>
            <a:endParaRPr b="0" i="0" sz="19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864037" y="4741188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2021: Indica el año de lanzamiento de la versión principal.</a:t>
            </a:r>
            <a:endParaRPr b="0" i="0" sz="1900" u="none" cap="none" strike="noStrike"/>
          </a:p>
        </p:txBody>
      </p:sp>
      <p:sp>
        <p:nvSpPr>
          <p:cNvPr id="77" name="Google Shape;77;p2"/>
          <p:cNvSpPr/>
          <p:nvPr/>
        </p:nvSpPr>
        <p:spPr>
          <a:xfrm>
            <a:off x="864037" y="5222558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3: Representa la versión dentro de ese año. Las versiones .0 y .1 suelen ser las primeras versiones estables del año, mientras que las versiones .3 y .4 son las versiones LTS (Long Term Support).</a:t>
            </a:r>
            <a:endParaRPr b="0" i="0" sz="1900" u="none" cap="none" strike="noStrike"/>
          </a:p>
        </p:txBody>
      </p:sp>
      <p:sp>
        <p:nvSpPr>
          <p:cNvPr id="78" name="Google Shape;78;p2"/>
          <p:cNvSpPr/>
          <p:nvPr/>
        </p:nvSpPr>
        <p:spPr>
          <a:xfrm>
            <a:off x="864037" y="6098977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1f1: La última parte indica la revisión específica. La "f" significa "final", mientras que el número que le sigue es el número de revisión.</a:t>
            </a:r>
            <a:endParaRPr b="0" i="0" sz="1900" u="none" cap="none" strike="noStrike"/>
          </a:p>
        </p:txBody>
      </p:sp>
      <p:pic>
        <p:nvPicPr>
          <p:cNvPr descr="preencoded.png" id="79" name="Google Shape;7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"/>
          <p:cNvSpPr/>
          <p:nvPr/>
        </p:nvSpPr>
        <p:spPr>
          <a:xfrm>
            <a:off x="864037" y="1692354"/>
            <a:ext cx="6356152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Ventanas principales</a:t>
            </a:r>
            <a:endParaRPr b="0" i="0" sz="4850" u="none" cap="none" strike="noStrike"/>
          </a:p>
        </p:txBody>
      </p:sp>
      <p:sp>
        <p:nvSpPr>
          <p:cNvPr id="86" name="Google Shape;86;p3"/>
          <p:cNvSpPr/>
          <p:nvPr/>
        </p:nvSpPr>
        <p:spPr>
          <a:xfrm>
            <a:off x="864037" y="2957632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Estas ventanas son altamente personalizables y pueden reorganizarse según las preferencias del desarrollador.</a:t>
            </a:r>
            <a:endParaRPr b="0" i="0" sz="1900" u="none" cap="none" strike="noStrike"/>
          </a:p>
        </p:txBody>
      </p:sp>
      <p:sp>
        <p:nvSpPr>
          <p:cNvPr id="87" name="Google Shape;87;p3"/>
          <p:cNvSpPr/>
          <p:nvPr/>
        </p:nvSpPr>
        <p:spPr>
          <a:xfrm>
            <a:off x="864037" y="4025384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cuatro ventanas principales son:</a:t>
            </a:r>
            <a:endParaRPr b="0" i="0" sz="1900" u="none" cap="none" strike="noStrike"/>
          </a:p>
        </p:txBody>
      </p:sp>
      <p:sp>
        <p:nvSpPr>
          <p:cNvPr id="88" name="Google Shape;88;p3"/>
          <p:cNvSpPr/>
          <p:nvPr/>
        </p:nvSpPr>
        <p:spPr>
          <a:xfrm>
            <a:off x="864037" y="4698087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Ventana de Scene/Game</a:t>
            </a:r>
            <a:endParaRPr b="0" i="0" sz="1900" u="none" cap="none" strike="noStrike"/>
          </a:p>
        </p:txBody>
      </p:sp>
      <p:sp>
        <p:nvSpPr>
          <p:cNvPr id="89" name="Google Shape;89;p3"/>
          <p:cNvSpPr/>
          <p:nvPr/>
        </p:nvSpPr>
        <p:spPr>
          <a:xfrm>
            <a:off x="864037" y="5179457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Ventana de Hierarchy</a:t>
            </a:r>
            <a:endParaRPr b="0" i="0" sz="1900" u="none" cap="none" strike="noStrike"/>
          </a:p>
        </p:txBody>
      </p:sp>
      <p:sp>
        <p:nvSpPr>
          <p:cNvPr id="90" name="Google Shape;90;p3"/>
          <p:cNvSpPr/>
          <p:nvPr/>
        </p:nvSpPr>
        <p:spPr>
          <a:xfrm>
            <a:off x="864037" y="5660827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Ventana de Project/Console</a:t>
            </a:r>
            <a:endParaRPr b="0" i="0" sz="190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864037" y="6142196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Ventana de Inspector</a:t>
            </a:r>
            <a:endParaRPr b="0" i="0" sz="1900" u="none" cap="none" strike="noStrike"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796171" y="627578"/>
            <a:ext cx="68481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450"/>
              <a:buFont typeface="Inter"/>
              <a:buNone/>
            </a:pPr>
            <a:r>
              <a:rPr b="1" i="0" lang="en-US" sz="44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Ventana de Scene/Game</a:t>
            </a:r>
            <a:endParaRPr b="0" i="0" sz="4450" u="none" cap="none" strike="noStrike"/>
          </a:p>
        </p:txBody>
      </p:sp>
      <p:pic>
        <p:nvPicPr>
          <p:cNvPr descr="preencoded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6171" y="1935599"/>
            <a:ext cx="1959054" cy="38338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4775478" y="1884402"/>
            <a:ext cx="8285202" cy="363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01" name="Google Shape;101;p4"/>
          <p:cNvSpPr/>
          <p:nvPr/>
        </p:nvSpPr>
        <p:spPr>
          <a:xfrm>
            <a:off x="796171" y="2830711"/>
            <a:ext cx="12257008" cy="7279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ventana de Scene/Game es quizás la más importante del Editor de Unity, ya que es donde construyes y visualizas tus escenas. Esta ventana tiene dos modos principales:</a:t>
            </a:r>
            <a:endParaRPr b="0" i="0" sz="1750" u="none" cap="none" strike="noStrike"/>
          </a:p>
        </p:txBody>
      </p:sp>
      <p:sp>
        <p:nvSpPr>
          <p:cNvPr id="102" name="Google Shape;102;p4"/>
          <p:cNvSpPr/>
          <p:nvPr/>
        </p:nvSpPr>
        <p:spPr>
          <a:xfrm>
            <a:off x="796171" y="3814524"/>
            <a:ext cx="12257008" cy="109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Modo Scene: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este modo, puedes manipular directamente los objetos en tu escena. Puedes mover, rotar y escalar GameObjects, así como añadir nuevos elementos. Es tu espacio de trabajo principal para el diseño y construcción de niveles.</a:t>
            </a:r>
            <a:endParaRPr b="0" i="0" sz="1750" u="none" cap="none" strike="noStrike"/>
          </a:p>
        </p:txBody>
      </p:sp>
      <p:sp>
        <p:nvSpPr>
          <p:cNvPr id="103" name="Google Shape;103;p4"/>
          <p:cNvSpPr/>
          <p:nvPr/>
        </p:nvSpPr>
        <p:spPr>
          <a:xfrm>
            <a:off x="796171" y="5162312"/>
            <a:ext cx="12257008" cy="109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Modo Game: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Este modo muestra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cómo se verá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tu juego cuando se ejecute. Puedes entrar en este modo haciendo clic en el botón Play en la parte superior del Editor. Es crucial para probar y depurar tu juego en tiempo real.</a:t>
            </a:r>
            <a:endParaRPr b="0" i="0" sz="175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796171" y="6510099"/>
            <a:ext cx="12257008" cy="10919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ventana de Scene también ofrece varias herramientas de navegación y visualización, como la capacidad de cambiar entre vistas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2D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3D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ajustar la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perspectiva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la cámara, y utilizar herramientas de transformación para manipular objetos con precisión.</a:t>
            </a:r>
            <a:endParaRPr b="0" i="0" sz="1750" u="none" cap="none" strike="noStrike"/>
          </a:p>
        </p:txBody>
      </p:sp>
      <p:pic>
        <p:nvPicPr>
          <p:cNvPr descr="preencoded.png"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842248" y="661749"/>
            <a:ext cx="6330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531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700"/>
              <a:buFont typeface="Inter"/>
              <a:buNone/>
            </a:pPr>
            <a:r>
              <a:rPr b="1" i="0" lang="en-US" sz="47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Ventana de Hierarchy</a:t>
            </a:r>
            <a:endParaRPr b="0" i="0" sz="4700" u="none" cap="none" strike="noStrike"/>
          </a:p>
        </p:txBody>
      </p:sp>
      <p:pic>
        <p:nvPicPr>
          <p:cNvPr descr="preencoded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248" y="1894999"/>
            <a:ext cx="2090618" cy="646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842248" y="2812256"/>
            <a:ext cx="12210931" cy="769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ventana de Hierarchy es una representación jerárquica de todos los GameObjects en tu escena actual. Proporciona una vista estructurada de cómo están organizados los elementos en tu juego.</a:t>
            </a:r>
            <a:endParaRPr b="0" i="0" sz="1850" u="none" cap="none" strike="noStrike"/>
          </a:p>
        </p:txBody>
      </p:sp>
      <p:sp>
        <p:nvSpPr>
          <p:cNvPr id="114" name="Google Shape;114;p5"/>
          <p:cNvSpPr/>
          <p:nvPr/>
        </p:nvSpPr>
        <p:spPr>
          <a:xfrm>
            <a:off x="842248" y="3852743"/>
            <a:ext cx="12210931" cy="1154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Organización jerárquica: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Los objetos pueden ser </a:t>
            </a: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padres 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</a:t>
            </a: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hijos 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otros objetos, creando una estructura de árbol. Esto es útil para agrupar objetos relacionados y aplicar transformaciones en cascada.</a:t>
            </a:r>
            <a:endParaRPr b="0" i="0" sz="1850" u="none" cap="none" strike="noStrike"/>
          </a:p>
        </p:txBody>
      </p:sp>
      <p:sp>
        <p:nvSpPr>
          <p:cNvPr id="115" name="Google Shape;115;p5"/>
          <p:cNvSpPr/>
          <p:nvPr/>
        </p:nvSpPr>
        <p:spPr>
          <a:xfrm>
            <a:off x="842248" y="5091708"/>
            <a:ext cx="12210931" cy="769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Creación y eliminación de objetos: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Puedes crear nuevos GameObjects directamente desde esta ventana, así como eliminar los existentes.</a:t>
            </a:r>
            <a:endParaRPr b="0" i="0" sz="1850" u="none" cap="none" strike="noStrike"/>
          </a:p>
        </p:txBody>
      </p:sp>
      <p:sp>
        <p:nvSpPr>
          <p:cNvPr id="116" name="Google Shape;116;p5"/>
          <p:cNvSpPr/>
          <p:nvPr/>
        </p:nvSpPr>
        <p:spPr>
          <a:xfrm>
            <a:off x="842248" y="5945743"/>
            <a:ext cx="12210931" cy="769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Búsqueda rápida: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Incluye una barra de búsqueda para encontrar rápidamente objetos específicos en escenas complejas.</a:t>
            </a:r>
            <a:endParaRPr b="0" i="0" sz="1850" u="none" cap="none" strike="noStrike"/>
          </a:p>
        </p:txBody>
      </p:sp>
      <p:sp>
        <p:nvSpPr>
          <p:cNvPr id="117" name="Google Shape;117;p5"/>
          <p:cNvSpPr/>
          <p:nvPr/>
        </p:nvSpPr>
        <p:spPr>
          <a:xfrm>
            <a:off x="842248" y="6799778"/>
            <a:ext cx="12210931" cy="769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Inter"/>
              <a:buNone/>
            </a:pPr>
            <a:r>
              <a:rPr b="1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Visibilidad y activación:</a:t>
            </a:r>
            <a:r>
              <a:rPr b="0" i="0" lang="en-US" sz="18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Puedes activar o desactivar la visibilidad de los objetos directamente desde esta ventana.</a:t>
            </a:r>
            <a:endParaRPr b="0" i="0" sz="1850" u="none" cap="none" strike="noStrike"/>
          </a:p>
        </p:txBody>
      </p:sp>
      <p:pic>
        <p:nvPicPr>
          <p:cNvPr descr="preencoded.png" id="118" name="Google Shape;11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716280" y="564475"/>
            <a:ext cx="6972000" cy="6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Ventana de Project/Console</a:t>
            </a:r>
            <a:endParaRPr b="0" i="0" sz="4000" u="none" cap="none" strike="noStrike"/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6280" y="1613416"/>
            <a:ext cx="3236357" cy="61400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716280" y="2457569"/>
            <a:ext cx="123369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716280" y="3015139"/>
            <a:ext cx="12336899" cy="65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Ventana de Project: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Esta ventana muestra todos los assets de tu proyecto, incluyendo scripts, modelos 3D, texturas, prefabs, escenas, y más. Es esencialmente un explorador de archivos para tu proyecto de Unity. Características clave:</a:t>
            </a:r>
            <a:endParaRPr b="0" i="0" sz="160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716280" y="3900130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Organización de assets en carpetas</a:t>
            </a:r>
            <a:endParaRPr b="0" i="0" sz="1600" u="none" cap="none" strike="noStrike"/>
          </a:p>
        </p:txBody>
      </p:sp>
      <p:sp>
        <p:nvSpPr>
          <p:cNvPr id="129" name="Google Shape;129;p6"/>
          <p:cNvSpPr/>
          <p:nvPr/>
        </p:nvSpPr>
        <p:spPr>
          <a:xfrm>
            <a:off x="716280" y="4299109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Búsqueda rápida de assets</a:t>
            </a:r>
            <a:endParaRPr b="0" i="0" sz="16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716280" y="4698087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Creación de nuevos assets</a:t>
            </a:r>
            <a:endParaRPr b="0" i="0" sz="160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716280" y="5097066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Importación de assets externos</a:t>
            </a:r>
            <a:endParaRPr b="0" i="0" sz="1600" u="none" cap="none" strike="noStrike"/>
          </a:p>
        </p:txBody>
      </p:sp>
      <p:sp>
        <p:nvSpPr>
          <p:cNvPr id="132" name="Google Shape;132;p6"/>
          <p:cNvSpPr/>
          <p:nvPr/>
        </p:nvSpPr>
        <p:spPr>
          <a:xfrm>
            <a:off x="716280" y="5654635"/>
            <a:ext cx="12336899" cy="654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Ventana de Console:</a:t>
            </a: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Esta ventana muestra mensajes de debug, advertencias y errores generados por tu juego o el Editor. Es crucial para el proceso de depuración. Características principales:</a:t>
            </a:r>
            <a:endParaRPr b="0" i="0" sz="16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716280" y="6539627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Visualización de logs, warnings y errores</a:t>
            </a:r>
            <a:endParaRPr b="0" i="0" sz="1600" u="none" cap="none" strike="noStrike"/>
          </a:p>
        </p:txBody>
      </p:sp>
      <p:sp>
        <p:nvSpPr>
          <p:cNvPr id="134" name="Google Shape;134;p6"/>
          <p:cNvSpPr/>
          <p:nvPr/>
        </p:nvSpPr>
        <p:spPr>
          <a:xfrm>
            <a:off x="716280" y="6938605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Filtrado de mensajes por tipo</a:t>
            </a:r>
            <a:endParaRPr b="0" i="0" sz="1600" u="none" cap="none" strike="noStrike"/>
          </a:p>
        </p:txBody>
      </p:sp>
      <p:sp>
        <p:nvSpPr>
          <p:cNvPr id="135" name="Google Shape;135;p6"/>
          <p:cNvSpPr/>
          <p:nvPr/>
        </p:nvSpPr>
        <p:spPr>
          <a:xfrm>
            <a:off x="716280" y="7337584"/>
            <a:ext cx="12336899" cy="327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Capacidad de hacer clic en los errores para ir directamente al código fuente</a:t>
            </a:r>
            <a:endParaRPr b="0" i="0" sz="1600" u="none" cap="none" strike="noStrike"/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781526" y="970359"/>
            <a:ext cx="58122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7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350"/>
              <a:buFont typeface="Inter"/>
              <a:buNone/>
            </a:pPr>
            <a:r>
              <a:rPr b="1" i="0" lang="en-US" sz="43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Ventana de Inspector</a:t>
            </a:r>
            <a:endParaRPr b="0" i="0" sz="4350" u="none" cap="none" strike="noStrike"/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526" y="2114788"/>
            <a:ext cx="1981914" cy="76759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781526" y="3133606"/>
            <a:ext cx="12271653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781526" y="3742134"/>
            <a:ext cx="12271653" cy="714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ventana de Inspector es donde puedes ver y modificar todas las propiedades y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componentes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 un GameObject seleccionado. Es una herramienta crucial para la configuración detallada de los elementos de tu juego.</a:t>
            </a:r>
            <a:endParaRPr b="0" i="0" sz="1750" u="none" cap="none" strike="noStrike"/>
          </a:p>
        </p:txBody>
      </p:sp>
      <p:sp>
        <p:nvSpPr>
          <p:cNvPr id="146" name="Google Shape;146;p7"/>
          <p:cNvSpPr/>
          <p:nvPr/>
        </p:nvSpPr>
        <p:spPr>
          <a:xfrm>
            <a:off x="781526" y="4707969"/>
            <a:ext cx="12271653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Características principales de la ventana de Inspector:</a:t>
            </a:r>
            <a:endParaRPr b="0" i="0" sz="1750" u="none" cap="none" strike="noStrike"/>
          </a:p>
        </p:txBody>
      </p:sp>
      <p:sp>
        <p:nvSpPr>
          <p:cNvPr id="147" name="Google Shape;147;p7"/>
          <p:cNvSpPr/>
          <p:nvPr/>
        </p:nvSpPr>
        <p:spPr>
          <a:xfrm>
            <a:off x="781526" y="5316498"/>
            <a:ext cx="12271653" cy="714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Visualización de componentes: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Muestra todos los componentes adjuntos al GameObject seleccionado, como Transform, Renderer, Collider, etc.</a:t>
            </a:r>
            <a:endParaRPr b="0" i="0" sz="175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781526" y="6109216"/>
            <a:ext cx="12271653" cy="357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Edición de propiedades: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Permite modificar los valores de las propiedades de cada componente en tiempo real.</a:t>
            </a:r>
            <a:endParaRPr b="0" i="0" sz="175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781526" y="6544628"/>
            <a:ext cx="12271653" cy="7146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Adición y eliminación de componentes: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Puedes añadir nuevos componentes o eliminar los existentes directamente desde esta ventana.</a:t>
            </a:r>
            <a:endParaRPr b="0" i="0" sz="1750" u="none" cap="none" strike="noStrike"/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783788" y="616387"/>
            <a:ext cx="8685900" cy="6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400"/>
              <a:buFont typeface="Inter"/>
              <a:buNone/>
            </a:pPr>
            <a:r>
              <a:rPr b="1" i="0" lang="en-US" sz="440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Coordenadas globales y locales</a:t>
            </a:r>
            <a:endParaRPr b="0" i="0" sz="4400" u="none" cap="none" strike="noStrike"/>
          </a:p>
        </p:txBody>
      </p:sp>
      <p:sp>
        <p:nvSpPr>
          <p:cNvPr id="157" name="Google Shape;157;p8"/>
          <p:cNvSpPr/>
          <p:nvPr/>
        </p:nvSpPr>
        <p:spPr>
          <a:xfrm>
            <a:off x="783788" y="1764149"/>
            <a:ext cx="12269400" cy="10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Coordenadas globales: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También conocidas como coordenadas del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mundo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estas se refieren a la posición, rotación y escala de un objeto en relación con el origen del mundo (0,0,0). Las coordenadas globales son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absolutas 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y no cambian independientemente de la jerarquía de objetos.</a:t>
            </a:r>
            <a:endParaRPr b="0" i="0" sz="1750" u="none" cap="none" strike="noStrike"/>
          </a:p>
        </p:txBody>
      </p:sp>
      <p:pic>
        <p:nvPicPr>
          <p:cNvPr descr="preencoded.png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788" y="3090863"/>
            <a:ext cx="1045131" cy="37623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783788" y="3719036"/>
            <a:ext cx="122694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Coordenadas locales: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Estas se refieren a la posición, rotación y escala de un objeto en relación con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 objeto padre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 la jerarquía. Si un objeto no tiene padre, sus coordenadas locales serán iguales a las globales.</a:t>
            </a:r>
            <a:endParaRPr b="0" i="0" sz="1750" u="none" cap="none" strike="noStrike"/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3788" y="4687491"/>
            <a:ext cx="1020247" cy="378619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783788" y="5318046"/>
            <a:ext cx="122694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162" name="Google Shape;162;p8"/>
          <p:cNvSpPr/>
          <p:nvPr/>
        </p:nvSpPr>
        <p:spPr>
          <a:xfrm>
            <a:off x="783788" y="5928241"/>
            <a:ext cx="12269391" cy="716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 distinción entre coordenadas globales y locales es particularmente importante cuando trabajas con objetos anidados o cuando necesitas posicionar objetos de manera precisa en relación con otros. </a:t>
            </a:r>
            <a:endParaRPr b="0" i="0" sz="1750" u="none" cap="none" strike="noStrike"/>
          </a:p>
        </p:txBody>
      </p:sp>
      <p:sp>
        <p:nvSpPr>
          <p:cNvPr id="163" name="Google Shape;163;p8"/>
          <p:cNvSpPr/>
          <p:nvPr/>
        </p:nvSpPr>
        <p:spPr>
          <a:xfrm>
            <a:off x="783788" y="6896695"/>
            <a:ext cx="12269391" cy="7165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 te </a:t>
            </a:r>
            <a:r>
              <a:rPr b="1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permite cambiar</a:t>
            </a:r>
            <a:r>
              <a:rPr b="0" i="0" lang="en-US" sz="175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entre modos de transformación global y local, lo que afecta cómo las herramientas de transformación (mover, rotar, escalar) interactúan con los objetos seleccionados.</a:t>
            </a:r>
            <a:endParaRPr b="0" i="0" sz="1750" u="none" cap="none" strike="noStrike"/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"/>
          <p:cNvSpPr/>
          <p:nvPr/>
        </p:nvSpPr>
        <p:spPr>
          <a:xfrm>
            <a:off x="672227" y="528161"/>
            <a:ext cx="7162443" cy="600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3750"/>
              <a:buFont typeface="Inter"/>
              <a:buNone/>
            </a:pPr>
            <a:r>
              <a:rPr b="1" i="0" lang="en-US" sz="37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Diferencia entre Center y Pivot</a:t>
            </a:r>
            <a:endParaRPr b="0" i="0" sz="3750" u="none" cap="none" strike="noStrike"/>
          </a:p>
        </p:txBody>
      </p:sp>
      <p:sp>
        <p:nvSpPr>
          <p:cNvPr id="171" name="Google Shape;171;p9"/>
          <p:cNvSpPr/>
          <p:nvPr/>
        </p:nvSpPr>
        <p:spPr>
          <a:xfrm>
            <a:off x="672227" y="1512451"/>
            <a:ext cx="12380952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Center: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 centro geométrico del objeto. Este punto se calcula automáticamente basándose en la geometría del objeto y representa el punto medio de su volumen. Cuando transformas un objeto usando su centro:</a:t>
            </a:r>
            <a:endParaRPr b="0" i="0" sz="1500" u="none" cap="none" strike="noStrike"/>
          </a:p>
        </p:txBody>
      </p:sp>
      <p:sp>
        <p:nvSpPr>
          <p:cNvPr id="172" name="Google Shape;172;p9"/>
          <p:cNvSpPr/>
          <p:nvPr/>
        </p:nvSpPr>
        <p:spPr>
          <a:xfrm>
            <a:off x="672227" y="2342912"/>
            <a:ext cx="12380952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rotaciones se realizan alrededor del centro geométrico del objeto.</a:t>
            </a:r>
            <a:endParaRPr b="0" i="0" sz="1500" u="none" cap="none" strike="noStrike"/>
          </a:p>
        </p:txBody>
      </p:sp>
      <p:sp>
        <p:nvSpPr>
          <p:cNvPr id="173" name="Google Shape;173;p9"/>
          <p:cNvSpPr/>
          <p:nvPr/>
        </p:nvSpPr>
        <p:spPr>
          <a:xfrm>
            <a:off x="672227" y="2717244"/>
            <a:ext cx="12380952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escalas se aplican uniformemente desde el centro hacia afuera.</a:t>
            </a:r>
            <a:endParaRPr b="0" i="0" sz="1500" u="none" cap="none" strike="noStrike"/>
          </a:p>
        </p:txBody>
      </p:sp>
      <p:pic>
        <p:nvPicPr>
          <p:cNvPr descr="preencoded.png" id="174" name="Google Shape;17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227" y="3240524"/>
            <a:ext cx="949762" cy="32194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9"/>
          <p:cNvSpPr/>
          <p:nvPr/>
        </p:nvSpPr>
        <p:spPr>
          <a:xfrm>
            <a:off x="672227" y="3778568"/>
            <a:ext cx="12380952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176" name="Google Shape;176;p9"/>
          <p:cNvSpPr/>
          <p:nvPr/>
        </p:nvSpPr>
        <p:spPr>
          <a:xfrm>
            <a:off x="672227" y="4301847"/>
            <a:ext cx="12380952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Pivot:</a:t>
            </a: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 punto de pivote del objeto, que puede o no coincidir con su centro geométrico. El pivot es el punto de referencia para las transformaciones del objeto. Cuando transformas un objeto usando su pivot:</a:t>
            </a:r>
            <a:endParaRPr b="0" i="0" sz="1500" u="none" cap="none" strike="noStrike"/>
          </a:p>
        </p:txBody>
      </p:sp>
      <p:sp>
        <p:nvSpPr>
          <p:cNvPr id="177" name="Google Shape;177;p9"/>
          <p:cNvSpPr/>
          <p:nvPr/>
        </p:nvSpPr>
        <p:spPr>
          <a:xfrm>
            <a:off x="672227" y="5132308"/>
            <a:ext cx="12380952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rotaciones se realizan alrededor del punto de pivote.</a:t>
            </a:r>
            <a:endParaRPr b="0" i="0" sz="1500" u="none" cap="none" strike="noStrike"/>
          </a:p>
        </p:txBody>
      </p:sp>
      <p:sp>
        <p:nvSpPr>
          <p:cNvPr id="178" name="Google Shape;178;p9"/>
          <p:cNvSpPr/>
          <p:nvPr/>
        </p:nvSpPr>
        <p:spPr>
          <a:xfrm>
            <a:off x="672227" y="5506641"/>
            <a:ext cx="12380952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Las escalas se aplican desde el punto de pivote.</a:t>
            </a:r>
            <a:endParaRPr b="0" i="0" sz="1500" u="none" cap="none" strike="noStrike"/>
          </a:p>
        </p:txBody>
      </p:sp>
      <p:pic>
        <p:nvPicPr>
          <p:cNvPr descr="preencoded.png" id="179" name="Google Shape;1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227" y="6029920"/>
            <a:ext cx="800338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9"/>
          <p:cNvSpPr/>
          <p:nvPr/>
        </p:nvSpPr>
        <p:spPr>
          <a:xfrm>
            <a:off x="672227" y="6566059"/>
            <a:ext cx="12380952" cy="30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500"/>
              <a:buFont typeface="Arial"/>
              <a:buNone/>
            </a:pPr>
            <a:r>
              <a:t/>
            </a:r>
            <a:endParaRPr b="0" i="0" sz="1500" u="none" cap="none" strike="noStrike"/>
          </a:p>
        </p:txBody>
      </p:sp>
      <p:sp>
        <p:nvSpPr>
          <p:cNvPr id="181" name="Google Shape;181;p9"/>
          <p:cNvSpPr/>
          <p:nvPr/>
        </p:nvSpPr>
        <p:spPr>
          <a:xfrm>
            <a:off x="672227" y="7089338"/>
            <a:ext cx="12380952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Unity te permite cambiar entre los modos Center y Pivot en la barra de herramientas de la ventana de Scene, permitiéndote elegir el punto de referencia más adecuado para cada situación de manipulación de objetos.</a:t>
            </a:r>
            <a:endParaRPr b="0" i="0" sz="1500" u="none" cap="none" strike="noStrike"/>
          </a:p>
        </p:txBody>
      </p:sp>
      <p:pic>
        <p:nvPicPr>
          <p:cNvPr descr="preencoded.png" id="182" name="Google Shape;18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/>
          <p:nvPr/>
        </p:nvSpPr>
        <p:spPr>
          <a:xfrm>
            <a:off x="864037" y="1042630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Gizmo </a:t>
            </a:r>
            <a:endParaRPr b="0" i="0" sz="4850" u="none" cap="none" strike="noStrike"/>
          </a:p>
        </p:txBody>
      </p:sp>
      <p:pic>
        <p:nvPicPr>
          <p:cNvPr descr="preencoded.png" id="189" name="Google Shape;1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4037" y="2307908"/>
            <a:ext cx="699492" cy="88558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0"/>
          <p:cNvSpPr/>
          <p:nvPr/>
        </p:nvSpPr>
        <p:spPr>
          <a:xfrm>
            <a:off x="864037" y="3471148"/>
            <a:ext cx="12189143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El Gizmo en Unity es una herramienta visual crucial en la ventana de Scene que te ayuda a navegar, visualizar y manipular objetos en tu escena 3D. Ofrece varias vistas y funcionalidades que mejoran significativamente tu capacidad para trabajar en entornos tridimensionales.</a:t>
            </a:r>
            <a:endParaRPr b="0" i="0" sz="1900" u="none" cap="none" strike="noStrike"/>
          </a:p>
        </p:txBody>
      </p:sp>
      <p:sp>
        <p:nvSpPr>
          <p:cNvPr id="191" name="Google Shape;191;p10"/>
          <p:cNvSpPr/>
          <p:nvPr/>
        </p:nvSpPr>
        <p:spPr>
          <a:xfrm>
            <a:off x="864037" y="4933950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Vistas laterales: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El Gizmo te permite cambiar rápidamente a vistas ortográficas alineadas con los ejes X, Y, y Z. Estas vistas son útiles para </a:t>
            </a: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alinear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objetos con </a:t>
            </a: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precisión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 trabajar en planos específicos.</a:t>
            </a:r>
            <a:endParaRPr b="0" i="0" sz="1900" u="none" cap="none" strike="noStrike"/>
          </a:p>
        </p:txBody>
      </p:sp>
      <p:sp>
        <p:nvSpPr>
          <p:cNvPr id="192" name="Google Shape;192;p10"/>
          <p:cNvSpPr/>
          <p:nvPr/>
        </p:nvSpPr>
        <p:spPr>
          <a:xfrm>
            <a:off x="864037" y="6001703"/>
            <a:ext cx="12189143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Vista en perspectiva: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Esta es la vista predeterminada que proporciona una representación tridimensional realista de tu escena. Es ideal para visualizar cómo se verá tu juego desde el punto de vista del jugador.</a:t>
            </a:r>
            <a:endParaRPr b="0" i="0" sz="1900" u="none" cap="none" strike="noStrike"/>
          </a:p>
        </p:txBody>
      </p:sp>
      <p:pic>
        <p:nvPicPr>
          <p:cNvPr descr="preencoded.png" id="193" name="Google Shape;1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864037" y="1013460"/>
            <a:ext cx="7988975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Transformaciones básicas</a:t>
            </a:r>
            <a:endParaRPr b="0" i="0" sz="4850" u="none" cap="none" strike="noStrike"/>
          </a:p>
        </p:txBody>
      </p:sp>
      <p:sp>
        <p:nvSpPr>
          <p:cNvPr id="200" name="Google Shape;200;p11"/>
          <p:cNvSpPr/>
          <p:nvPr/>
        </p:nvSpPr>
        <p:spPr>
          <a:xfrm>
            <a:off x="864037" y="2278737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 - Mover (Translate):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Activa la herramienta de movimiento, permitiéndote desplazar objetos en el espacio 3D.</a:t>
            </a:r>
            <a:endParaRPr b="0" i="0" sz="1900" u="none" cap="none" strike="noStrike"/>
          </a:p>
        </p:txBody>
      </p:sp>
      <p:sp>
        <p:nvSpPr>
          <p:cNvPr id="201" name="Google Shape;201;p11"/>
          <p:cNvSpPr/>
          <p:nvPr/>
        </p:nvSpPr>
        <p:spPr>
          <a:xfrm>
            <a:off x="864037" y="3155156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 - Rotar: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Activa la herramienta de rotación para girar objetos alrededor de sus ejes.</a:t>
            </a:r>
            <a:endParaRPr b="0" i="0" sz="1900" u="none" cap="none" strike="noStrike"/>
          </a:p>
        </p:txBody>
      </p:sp>
      <p:sp>
        <p:nvSpPr>
          <p:cNvPr id="202" name="Google Shape;202;p11"/>
          <p:cNvSpPr/>
          <p:nvPr/>
        </p:nvSpPr>
        <p:spPr>
          <a:xfrm>
            <a:off x="864037" y="3636526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 - Escalar: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Activa la herramienta de escala para cambiar el tamaño de los objetos.</a:t>
            </a:r>
            <a:endParaRPr b="0" i="0" sz="1900" u="none" cap="none" strike="noStrike"/>
          </a:p>
        </p:txBody>
      </p:sp>
      <p:sp>
        <p:nvSpPr>
          <p:cNvPr id="203" name="Google Shape;203;p11"/>
          <p:cNvSpPr/>
          <p:nvPr/>
        </p:nvSpPr>
        <p:spPr>
          <a:xfrm>
            <a:off x="864037" y="4117896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 - Transformar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Escala un objeto hacía una dirección.</a:t>
            </a:r>
            <a:endParaRPr b="0" i="0" sz="1900" u="none" cap="none" strike="noStrike"/>
          </a:p>
        </p:txBody>
      </p:sp>
      <p:sp>
        <p:nvSpPr>
          <p:cNvPr id="204" name="Google Shape;204;p11"/>
          <p:cNvSpPr/>
          <p:nvPr/>
        </p:nvSpPr>
        <p:spPr>
          <a:xfrm>
            <a:off x="864037" y="4790599"/>
            <a:ext cx="12189143" cy="7900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Estos atajos son fundamentales para la manipulación rápida y precisa de objetos en tu escena. Además, puedes combinarlos con otras teclas para obtener funcionalidades adicionales:</a:t>
            </a:r>
            <a:endParaRPr b="0" i="0" sz="1900" u="none" cap="none" strike="noStrike"/>
          </a:p>
        </p:txBody>
      </p:sp>
      <p:sp>
        <p:nvSpPr>
          <p:cNvPr id="205" name="Google Shape;205;p11"/>
          <p:cNvSpPr/>
          <p:nvPr/>
        </p:nvSpPr>
        <p:spPr>
          <a:xfrm>
            <a:off x="864037" y="5858351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Ctrl + D: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Duplica el GameObject seleccionado.</a:t>
            </a:r>
            <a:endParaRPr b="0" i="0" sz="1900" u="none" cap="none" strike="noStrike"/>
          </a:p>
        </p:txBody>
      </p:sp>
      <p:sp>
        <p:nvSpPr>
          <p:cNvPr id="206" name="Google Shape;206;p11"/>
          <p:cNvSpPr/>
          <p:nvPr/>
        </p:nvSpPr>
        <p:spPr>
          <a:xfrm>
            <a:off x="864037" y="6339721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Enfoca la vista de la cámara en el objeto seleccionado.</a:t>
            </a:r>
            <a:endParaRPr b="0" i="0" sz="1900" u="none" cap="none" strike="noStrike"/>
          </a:p>
        </p:txBody>
      </p:sp>
      <p:sp>
        <p:nvSpPr>
          <p:cNvPr id="207" name="Google Shape;207;p11"/>
          <p:cNvSpPr/>
          <p:nvPr/>
        </p:nvSpPr>
        <p:spPr>
          <a:xfrm>
            <a:off x="864037" y="6821091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Ctrl + Shift: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Maximiza la ventana activa, útil para trabajar en detalle en la ventana de Scene.</a:t>
            </a:r>
            <a:endParaRPr b="0" i="0" sz="1900" u="none" cap="none" strike="noStrike"/>
          </a:p>
        </p:txBody>
      </p:sp>
      <p:pic>
        <p:nvPicPr>
          <p:cNvPr descr="preencoded.png"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864037" y="1340406"/>
            <a:ext cx="61722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42"/>
              </a:lnSpc>
              <a:spcBef>
                <a:spcPts val="0"/>
              </a:spcBef>
              <a:spcAft>
                <a:spcPts val="0"/>
              </a:spcAft>
              <a:buClr>
                <a:srgbClr val="264571"/>
              </a:buClr>
              <a:buSzPts val="4850"/>
              <a:buFont typeface="Inter"/>
              <a:buNone/>
            </a:pPr>
            <a:r>
              <a:rPr b="1" i="0" lang="en-US" sz="4850" u="none" cap="none" strike="noStrike">
                <a:solidFill>
                  <a:srgbClr val="264571"/>
                </a:solidFill>
                <a:latin typeface="Inter"/>
                <a:ea typeface="Inter"/>
                <a:cs typeface="Inter"/>
                <a:sym typeface="Inter"/>
              </a:rPr>
              <a:t>Otros atajos</a:t>
            </a:r>
            <a:endParaRPr b="0" i="0" sz="4850" u="none" cap="none" strike="noStrike"/>
          </a:p>
        </p:txBody>
      </p:sp>
      <p:sp>
        <p:nvSpPr>
          <p:cNvPr id="215" name="Google Shape;215;p12"/>
          <p:cNvSpPr/>
          <p:nvPr/>
        </p:nvSpPr>
        <p:spPr>
          <a:xfrm>
            <a:off x="864037" y="2605683"/>
            <a:ext cx="12189143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Vertex Snapping (V):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Esta función te permite alinear vértices de diferentes objetos con precisión. Mantén presionada la tecla V mientras mueves el ratón para activar el snapping de vértices. Es especialmente útil para alinear modelos 3D o construir escenarios complejos.</a:t>
            </a:r>
            <a:endParaRPr b="0" i="0" sz="1900" u="none" cap="none" strike="noStrike"/>
          </a:p>
        </p:txBody>
      </p:sp>
      <p:sp>
        <p:nvSpPr>
          <p:cNvPr id="216" name="Google Shape;216;p12"/>
          <p:cNvSpPr/>
          <p:nvPr/>
        </p:nvSpPr>
        <p:spPr>
          <a:xfrm>
            <a:off x="864037" y="4068485"/>
            <a:ext cx="12189143" cy="1185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Transformación discreta (Ctrl + Mover/Rotar/Escalar):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Al mantener presionada la tecla Ctrl mientras realizas una transformación, Unity aplicará la transformación en </a:t>
            </a:r>
            <a:r>
              <a:rPr b="1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incrementos discretos</a:t>
            </a: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 Esto es útil para movimientos, rotaciones o escalados precisos.</a:t>
            </a:r>
            <a:endParaRPr b="0" i="0" sz="1900" u="none" cap="none" strike="noStrike"/>
          </a:p>
        </p:txBody>
      </p:sp>
      <p:sp>
        <p:nvSpPr>
          <p:cNvPr id="217" name="Google Shape;217;p12"/>
          <p:cNvSpPr/>
          <p:nvPr/>
        </p:nvSpPr>
        <p:spPr>
          <a:xfrm>
            <a:off x="864037" y="5531287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 la herramienta de movimiento, los objetos se moverán en incrementos de unidad.</a:t>
            </a:r>
            <a:endParaRPr b="0" i="0" sz="1900" u="none" cap="none" strike="noStrike"/>
          </a:p>
        </p:txBody>
      </p:sp>
      <p:sp>
        <p:nvSpPr>
          <p:cNvPr id="218" name="Google Shape;218;p12"/>
          <p:cNvSpPr/>
          <p:nvPr/>
        </p:nvSpPr>
        <p:spPr>
          <a:xfrm>
            <a:off x="864037" y="6012656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 la herramienta de rotación, los objetos rotarán en incrementos de 15 grados.</a:t>
            </a:r>
            <a:endParaRPr b="0" i="0" sz="1900" u="none" cap="none" strike="noStrike"/>
          </a:p>
        </p:txBody>
      </p:sp>
      <p:sp>
        <p:nvSpPr>
          <p:cNvPr id="219" name="Google Shape;219;p12"/>
          <p:cNvSpPr/>
          <p:nvPr/>
        </p:nvSpPr>
        <p:spPr>
          <a:xfrm>
            <a:off x="864037" y="6494026"/>
            <a:ext cx="12189143" cy="39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31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Inter"/>
              <a:buChar char="•"/>
            </a:pPr>
            <a:r>
              <a:rPr b="0" i="0" lang="en-US" sz="1900" u="none" cap="none" strike="noStrik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 la herramienta de escala, los objetos se escalarán en incrementos de 0.1.</a:t>
            </a:r>
            <a:endParaRPr b="0" i="0" sz="1900" u="none" cap="none" strike="noStrike"/>
          </a:p>
        </p:txBody>
      </p:sp>
      <p:pic>
        <p:nvPicPr>
          <p:cNvPr descr="preencoded.png" id="220" name="Google Shape;2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89161" y="228600"/>
            <a:ext cx="1112639" cy="41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2025-01-28T15:49:58Z</dcterms:created>
  <dc:creator>PptxGenJS</dc:creator>
</cp:coreProperties>
</file>