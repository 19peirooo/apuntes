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yKr9C6dswD+eqoLYcNwNFKV3K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1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regular.fntdata"/><Relationship Id="rId16" Type="http://schemas.openxmlformats.org/officeDocument/2006/relationships/slide" Target="slides/slide12.xml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c8dea931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7c8dea931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7c8dea931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8dbddff91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48dbddff91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48dbddff91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8dbddff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48dbddff9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48dbddff9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8dbddff91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48dbddff91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48dbddff91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c8dea931b_0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7c8dea931b_0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7c8dea931b_0_1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c8dea931b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7c8dea931b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7c8dea931b_0_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c8dea931b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7c8dea931b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7c8dea931b_0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c8dea931b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7c8dea931b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7c8dea931b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c8dea931b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7c8dea931b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7c8dea931b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c8dea931b_0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7c8dea931b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7c8dea931b_0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8dea931b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7c8dea931b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7c8dea931b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8dbddff91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48dbddff91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48dbddff91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2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52e392184_0_50"/>
          <p:cNvSpPr txBox="1"/>
          <p:nvPr>
            <p:ph type="ctrTitle"/>
          </p:nvPr>
        </p:nvSpPr>
        <p:spPr>
          <a:xfrm>
            <a:off x="1463040" y="2300198"/>
            <a:ext cx="11704200" cy="23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300"/>
              <a:buFont typeface="Arial"/>
              <a:buChar char="●"/>
              <a:defRPr b="0" i="0" sz="5300" u="none" cap="none" strike="noStrike">
                <a:solidFill>
                  <a:srgbClr val="2645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652e392184_0_50"/>
          <p:cNvSpPr txBox="1"/>
          <p:nvPr>
            <p:ph idx="1" type="subTitle"/>
          </p:nvPr>
        </p:nvSpPr>
        <p:spPr>
          <a:xfrm>
            <a:off x="4377274" y="6015811"/>
            <a:ext cx="58758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2645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652e392184_0_50"/>
          <p:cNvSpPr txBox="1"/>
          <p:nvPr>
            <p:ph idx="2" type="body"/>
          </p:nvPr>
        </p:nvSpPr>
        <p:spPr>
          <a:xfrm>
            <a:off x="1463040" y="4892486"/>
            <a:ext cx="117042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C:\Users\eva.perandones\Downloads\Logo azul.png" id="22" name="Google Shape;22;g3652e392184_0_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95731" y="485597"/>
            <a:ext cx="3971749" cy="149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" name="Google Shape;26;p3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" name="Google Shape;30;p3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" name="Google Shape;34;p3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" name="Google Shape;38;p3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" name="Google Shape;42;p3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" name="Google Shape;46;p3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" name="Google Shape;50;p4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4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4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2" name="Google Shape;62;p4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4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4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" name="Google Shape;74;p4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p4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4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4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" name="Google Shape;90;p5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4" name="Google Shape;94;p5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" name="Google Shape;98;p5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2" name="Google Shape;102;p5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6" name="Google Shape;106;p3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0" name="Google Shape;110;p3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" name="Google Shape;114;p3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8" name="Google Shape;118;p3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unity3d.com/es/530/Manual/ExecutionOrder.html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hyperlink" Target="https://docs.unity3d.com/es/530/Manual/ExecutionOrd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8dea931b_0_0"/>
          <p:cNvSpPr/>
          <p:nvPr/>
        </p:nvSpPr>
        <p:spPr>
          <a:xfrm>
            <a:off x="852964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6" name="Google Shape;126;g37c8dea931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1918" y="944285"/>
            <a:ext cx="4901566" cy="222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7c8dea931b_0_0"/>
          <p:cNvSpPr/>
          <p:nvPr/>
        </p:nvSpPr>
        <p:spPr>
          <a:xfrm>
            <a:off x="10466665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7c8dea931b_0_0"/>
          <p:cNvSpPr/>
          <p:nvPr/>
        </p:nvSpPr>
        <p:spPr>
          <a:xfrm>
            <a:off x="1812443" y="3521336"/>
            <a:ext cx="110205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50"/>
              <a:buFont typeface="Inter"/>
              <a:buNone/>
            </a:pPr>
            <a:r>
              <a:rPr b="1" i="0" lang="en-US" sz="47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7. Ciclo de vida de un gameObject</a:t>
            </a:r>
            <a:endParaRPr b="0" i="0" sz="4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c8dea931b_0_0"/>
          <p:cNvSpPr/>
          <p:nvPr/>
        </p:nvSpPr>
        <p:spPr>
          <a:xfrm>
            <a:off x="2723025" y="5644375"/>
            <a:ext cx="9184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2850"/>
              <a:buFont typeface="Inter"/>
              <a:buNone/>
            </a:pPr>
            <a:r>
              <a:rPr b="1" lang="en-US" sz="28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Física e Inteligencia Artificial para Videojuegos</a:t>
            </a:r>
            <a:endParaRPr b="1" sz="2850">
              <a:solidFill>
                <a:srgbClr val="2645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2850"/>
              <a:buFont typeface="Inter"/>
              <a:buNone/>
            </a:pPr>
            <a:r>
              <a:t/>
            </a:r>
            <a:endParaRPr b="1" sz="2850">
              <a:solidFill>
                <a:srgbClr val="2645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2850"/>
              <a:buFont typeface="Inter"/>
              <a:buNone/>
            </a:pPr>
            <a:r>
              <a:t/>
            </a:r>
            <a:endParaRPr b="1" i="0" sz="2850" u="none" cap="none" strike="noStrike">
              <a:solidFill>
                <a:srgbClr val="2645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g37c8dea931b_0_0"/>
          <p:cNvSpPr/>
          <p:nvPr/>
        </p:nvSpPr>
        <p:spPr>
          <a:xfrm>
            <a:off x="3263400" y="6180775"/>
            <a:ext cx="81183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2350"/>
              <a:buFont typeface="Inter"/>
              <a:buNone/>
            </a:pPr>
            <a:r>
              <a:rPr b="1" lang="en-US" sz="2350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Doble Grado en Física e Inteligencia Artificial</a:t>
            </a:r>
            <a:endParaRPr b="1" sz="2350">
              <a:solidFill>
                <a:srgbClr val="76869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2350"/>
              <a:buFont typeface="Inter"/>
              <a:buNone/>
            </a:pPr>
            <a:r>
              <a:t/>
            </a:r>
            <a:endParaRPr b="1" sz="2350">
              <a:solidFill>
                <a:srgbClr val="76869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2350"/>
              <a:buFont typeface="Inter"/>
              <a:buNone/>
            </a:pPr>
            <a:r>
              <a:t/>
            </a:r>
            <a:endParaRPr b="1" i="0" sz="2350" u="none" cap="none" strike="noStrike">
              <a:solidFill>
                <a:srgbClr val="76869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g37c8dea931b_0_0"/>
          <p:cNvSpPr/>
          <p:nvPr/>
        </p:nvSpPr>
        <p:spPr>
          <a:xfrm>
            <a:off x="852814" y="6964143"/>
            <a:ext cx="12924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1900"/>
              <a:buFont typeface="Inter"/>
              <a:buNone/>
            </a:pPr>
            <a:r>
              <a:rPr b="0" i="1" lang="en-US" sz="1900" u="none" cap="none" strike="noStrike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Curso 2025 – 2026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7c8dea931b_0_0"/>
          <p:cNvSpPr/>
          <p:nvPr/>
        </p:nvSpPr>
        <p:spPr>
          <a:xfrm>
            <a:off x="852814" y="7628155"/>
            <a:ext cx="12924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1900"/>
              <a:buFont typeface="Inter"/>
              <a:buNone/>
            </a:pPr>
            <a:r>
              <a:rPr b="0" i="1" lang="en-US" sz="1900" u="none" cap="none" strike="noStrike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Fernando Madrid Recio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7c8dea931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96725" y="6991346"/>
            <a:ext cx="273367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8dbddff91_0_17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Inicialización de un gameObject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48dbddff91_0_17"/>
          <p:cNvSpPr/>
          <p:nvPr/>
        </p:nvSpPr>
        <p:spPr>
          <a:xfrm>
            <a:off x="939450" y="2392325"/>
            <a:ext cx="12438300" cy="4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empieza su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inicialización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si está depositado en escena.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ese momento es cuando sus componentes empiezan a funcionar, y, por lo tanto, sus scripts ejecutan sus métodos de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inicialización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son: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Awake()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OnEnable()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Start()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Vamos a centrarnos en remarcar las diferencias entre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Awake()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Start()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1" name="Google Shape;141;g348dbddff91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g348dbddff91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8dbddff91_0_0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Awake() vs Start()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48dbddff91_0_0"/>
          <p:cNvSpPr/>
          <p:nvPr/>
        </p:nvSpPr>
        <p:spPr>
          <a:xfrm>
            <a:off x="939450" y="2392325"/>
            <a:ext cx="12438300" cy="4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método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Awake()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siempre</a:t>
            </a:r>
            <a:r>
              <a:rPr b="1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 va a ejecutar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antes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cualquier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Start()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 ejecuta aunque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script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desactivado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 el gameObject que lo contiene.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Usos típicos de ambos: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Awake()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Para inicializaciones de referencias y datos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internos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Start()</a:t>
            </a:r>
            <a:r>
              <a:rPr b="0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inicializaciones de referencias que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dependan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otros objetos ya preparados.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https://docs.unity3d.com/es/530/Manual/ExecutionOrder.html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0" name="Google Shape;150;g348dbddff9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g348dbddff9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8dbddff91_0_9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Inicialización de un gameObject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48dbddff91_0_9"/>
          <p:cNvSpPr/>
          <p:nvPr/>
        </p:nvSpPr>
        <p:spPr>
          <a:xfrm>
            <a:off x="939525" y="2709063"/>
            <a:ext cx="12438300" cy="4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Ahora bien, no necesariamente un gameObject se inicializa al inicializar la escena.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También puede inicializarse o instanciarse en tiempo de ejecución a partir de un prefab existente y del método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Instantiate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9" name="Google Shape;159;g348dbddff91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g348dbddff91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c8dea931b_0_134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Método Instantiate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7c8dea931b_0_134"/>
          <p:cNvSpPr/>
          <p:nvPr/>
        </p:nvSpPr>
        <p:spPr>
          <a:xfrm>
            <a:off x="939525" y="3996750"/>
            <a:ext cx="124383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prefab: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Referencia al prefab del cual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instanciaremos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una copia.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posición: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Vector3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indica la posición en la que se instancia la copia.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rotación: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Quaternion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que indica la rotación con la que se instancia la copia.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rotación (0, 0, 0):   </a:t>
            </a:r>
            <a:r>
              <a:rPr b="1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Quaternion.identity</a:t>
            </a:r>
            <a:endParaRPr b="1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otras rotaciones: </a:t>
            </a:r>
            <a:r>
              <a:rPr b="1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Quaternion.Euler(xº, yº, zº)</a:t>
            </a:r>
            <a:endParaRPr b="1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g37c8dea931b_0_134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7c8dea931b_0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g37c8dea931b_0_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7c8dea931b_0_1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7600" y="2395800"/>
            <a:ext cx="938212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c8dea931b_0_144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43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Activación y desactivación del gameObject</a:t>
            </a:r>
            <a:endParaRPr b="0" i="0" sz="4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7c8dea931b_0_144"/>
          <p:cNvSpPr/>
          <p:nvPr/>
        </p:nvSpPr>
        <p:spPr>
          <a:xfrm>
            <a:off x="939525" y="2218275"/>
            <a:ext cx="12438300" cy="4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vez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inicializado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un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puede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activarse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desactivarse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cuando sea necesario a través de su método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SetActive()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Utilizaremos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SetActive(false)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desactivar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Utilizaremos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SetActive(true)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para volverlo a activar.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tener en cuenta: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	Un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desactivado hace desactivar también sus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componentes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lo que: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 renderiza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interacciona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actualiza sus scripts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g37c8dea931b_0_144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37c8dea931b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g37c8dea931b_0_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c8dea931b_0_172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Componentes de un gameObject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7c8dea931b_0_172"/>
          <p:cNvSpPr/>
          <p:nvPr/>
        </p:nvSpPr>
        <p:spPr>
          <a:xfrm>
            <a:off x="939450" y="2392325"/>
            <a:ext cx="124383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Junto con la inicialización de un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surge también la inicialización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cada uno de sus componentes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ello, es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vital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saber cómo acceder a ellos para poder manejarlos. Esto lo haremos a través del método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GetComponent&lt;T&gt;()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9" name="Google Shape;189;g37c8dea931b_0_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g37c8dea931b_0_1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7c8dea931b_0_1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2900" y="4888250"/>
            <a:ext cx="7191375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c8dea931b_0_181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Componentes de un gameObject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7c8dea931b_0_181"/>
          <p:cNvSpPr/>
          <p:nvPr/>
        </p:nvSpPr>
        <p:spPr>
          <a:xfrm>
            <a:off x="939450" y="2392325"/>
            <a:ext cx="124383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Ejemplos: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9" name="Google Shape;199;g37c8dea931b_0_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g37c8dea931b_0_1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7c8dea931b_0_1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0062" y="3090200"/>
            <a:ext cx="7397068" cy="24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c8dea931b_0_191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Componentes de un gameObject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7c8dea931b_0_191"/>
          <p:cNvSpPr/>
          <p:nvPr/>
        </p:nvSpPr>
        <p:spPr>
          <a:xfrm>
            <a:off x="939450" y="2392325"/>
            <a:ext cx="124383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vez obtenido un componente, podemos trabajar con sus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propiedades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través del punto, ‘.’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esta forma accedemos a partes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más específicas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nuestros componentes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9" name="Google Shape;209;g37c8dea931b_0_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g37c8dea931b_0_1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7c8dea931b_0_1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250" y="4393175"/>
            <a:ext cx="13439850" cy="2649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c8dea931b_0_163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43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Activación y desactivación de componentes</a:t>
            </a:r>
            <a:endParaRPr b="0" i="0" sz="4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7c8dea931b_0_163"/>
          <p:cNvSpPr/>
          <p:nvPr/>
        </p:nvSpPr>
        <p:spPr>
          <a:xfrm>
            <a:off x="939525" y="2218275"/>
            <a:ext cx="12438300" cy="52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 igual que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al completo, también podemos activar/desactivar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sólo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ciertas partes, es decir, sus componentes.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Utilizaremos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enabled =false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desactivar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un componente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Utilizaremos </a:t>
            </a:r>
            <a:r>
              <a:rPr b="0" i="1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enabled =true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volverlo a activar.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tener en cuenta: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	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todos los componentes pueden activarse/desactivarse. Sólo aquellos que tengan un checkbox en el Inspector. Por ejemplo, no se puede desactivar un Rigidbody.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Los scripts son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componentes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por lo tanto, se pueden activar/desactivar de la misma forma. De esta forma, deja de ejecutarse su actualización (salvo interacciones)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g37c8dea931b_0_163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g37c8dea931b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g37c8dea931b_0_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c8dea931b_0_154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Destrucción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7c8dea931b_0_154"/>
          <p:cNvSpPr/>
          <p:nvPr/>
        </p:nvSpPr>
        <p:spPr>
          <a:xfrm>
            <a:off x="939525" y="2218275"/>
            <a:ext cx="12438300" cy="4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Tanto un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como un componente pueden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destruirse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cuando sea necesario a través del método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Destroy()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metemos por parámetro de entrada un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float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componente se destruirá con cierto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retardo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delay.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tener en cuenta: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	No se destruyen de forma inmediata: Se destruyen en el siguiente ciclo de físicas. Esto lo veremos más adelante.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g37c8dea931b_0_154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37c8dea931b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g37c8dea931b_0_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8dbddff91_0_25"/>
          <p:cNvSpPr/>
          <p:nvPr/>
        </p:nvSpPr>
        <p:spPr>
          <a:xfrm>
            <a:off x="939527" y="975825"/>
            <a:ext cx="13005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OnDestroy()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48dbddff91_0_25"/>
          <p:cNvSpPr/>
          <p:nvPr/>
        </p:nvSpPr>
        <p:spPr>
          <a:xfrm>
            <a:off x="939525" y="2218275"/>
            <a:ext cx="12438300" cy="4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Justo antes de que un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sea destruido, se ejecutan varios métodos de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finalización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ejecución: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OnDisable()</a:t>
            </a:r>
            <a:endParaRPr b="1" i="0" sz="2100" u="sng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OnDestroy()</a:t>
            </a:r>
            <a:endParaRPr b="1" i="0" sz="2100" u="sng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sng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Útiles para implementar lógica necesaria antes de que  el objeto finalmente se destruya.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g348dbddff91_0_25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g348dbddff91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g348dbddff91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48dbddff91_0_25"/>
          <p:cNvSpPr txBox="1"/>
          <p:nvPr/>
        </p:nvSpPr>
        <p:spPr>
          <a:xfrm>
            <a:off x="939525" y="6525675"/>
            <a:ext cx="8525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https://docs.unity3d.com/es/530/Manual/ExecutionOrder.html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2025-09-04T07:17:41Z</dcterms:created>
</cp:coreProperties>
</file>