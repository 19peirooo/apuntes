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8229600" cx="14630400"/>
  <p:notesSz cx="8229600" cy="14630400"/>
  <p:embeddedFontLs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Uxh6PTG8u5Nh+tjTlaMd6oQgz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Inter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customschemas.google.com/relationships/presentationmetadata" Target="metadata"/><Relationship Id="rId27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8dea931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7c8dea931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7c8dea931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b9fa66423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7b9fa6642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7b9fa66423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b9fa664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7b9fa664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7b9fa66423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b9fa66423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7b9fa66423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7b9fa66423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b9fa66423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7b9fa66423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7b9fa66423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b9fa66423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37b9fa66423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7b9fa66423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b9fa66423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7b9fa66423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37b9fa66423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b9fa66423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7b9fa66423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7b9fa66423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68de4048a_0_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868de4048a_0_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68de4048a_0_7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868de4048a_0_7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68de4048a_0_14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868de4048a_0_14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68de4048a_0_20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868de4048a_0_2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868de4048a_0_27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868de4048a_0_27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68de4048a_0_34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g3868de4048a_0_34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868de4048a_0_41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868de4048a_0_41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68de4048a_0_48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868de4048a_0_48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68de4048a_0_55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868de4048a_0_55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68de4048a_0_62:notes"/>
          <p:cNvSpPr/>
          <p:nvPr>
            <p:ph idx="2" type="sldImg"/>
          </p:nvPr>
        </p:nvSpPr>
        <p:spPr>
          <a:xfrm>
            <a:off x="45756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868de4048a_0_62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2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2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652e392184_0_50"/>
          <p:cNvSpPr txBox="1"/>
          <p:nvPr>
            <p:ph type="ctrTitle"/>
          </p:nvPr>
        </p:nvSpPr>
        <p:spPr>
          <a:xfrm>
            <a:off x="1463040" y="2300198"/>
            <a:ext cx="117042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300"/>
              <a:buFont typeface="Arial"/>
              <a:buChar char="●"/>
              <a:defRPr b="0" i="0" sz="5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652e392184_0_50"/>
          <p:cNvSpPr txBox="1"/>
          <p:nvPr>
            <p:ph idx="1" type="subTitle"/>
          </p:nvPr>
        </p:nvSpPr>
        <p:spPr>
          <a:xfrm>
            <a:off x="4377274" y="6015811"/>
            <a:ext cx="58758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26457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652e392184_0_50"/>
          <p:cNvSpPr txBox="1"/>
          <p:nvPr>
            <p:ph idx="2" type="body"/>
          </p:nvPr>
        </p:nvSpPr>
        <p:spPr>
          <a:xfrm>
            <a:off x="1463040" y="4892486"/>
            <a:ext cx="117042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  <a:defRPr b="0" i="0" sz="29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b="0" i="0" sz="2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2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C:\Users\eva.perandones\Downloads\Logo azul.png" id="22" name="Google Shape;22;g3652e392184_0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95731" y="485597"/>
            <a:ext cx="3971749" cy="149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6" name="Google Shape;26;p3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" name="Google Shape;30;p3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4" name="Google Shape;34;p3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p3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" name="Google Shape;42;p3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" name="Google Shape;46;p3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" name="Google Shape;50;p4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4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4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2" name="Google Shape;62;p4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4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8 master">
  <p:cSld name="Slide 18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4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9 master">
  <p:cSld name="Slide 19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4" name="Google Shape;74;p4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0 master">
  <p:cSld name="Slide 20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" name="Google Shape;78;p4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1 master">
  <p:cSld name="Slide 21 master"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2" name="Google Shape;82;p4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2 master">
  <p:cSld name="Slide 22 master"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4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3 master">
  <p:cSld name="Slide 23 master"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5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4 master">
  <p:cSld name="Slide 24 master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4" name="Google Shape;94;p5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5 master">
  <p:cSld name="Slide 25 master"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8" name="Google Shape;98;p5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6 master">
  <p:cSld name="Slide 26 master"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2" name="Google Shape;102;p5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3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0" name="Google Shape;110;p3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4" name="Google Shape;114;p3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18" name="Google Shape;118;p3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868de4048a_0_189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g3868de4048a_0_189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indent="-3683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83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83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83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83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83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83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■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g3868de4048a_0_18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10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gif"/><Relationship Id="rId6" Type="http://schemas.openxmlformats.org/officeDocument/2006/relationships/image" Target="../media/image20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4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9.gif"/><Relationship Id="rId6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8dea931b_0_0"/>
          <p:cNvSpPr/>
          <p:nvPr/>
        </p:nvSpPr>
        <p:spPr>
          <a:xfrm>
            <a:off x="852964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0" name="Google Shape;130;g37c8dea931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1943" y="548535"/>
            <a:ext cx="4901566" cy="2227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7c8dea931b_0_0"/>
          <p:cNvSpPr/>
          <p:nvPr/>
        </p:nvSpPr>
        <p:spPr>
          <a:xfrm>
            <a:off x="10466665" y="889516"/>
            <a:ext cx="3325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7c8dea931b_0_0"/>
          <p:cNvSpPr/>
          <p:nvPr/>
        </p:nvSpPr>
        <p:spPr>
          <a:xfrm>
            <a:off x="1812450" y="2830212"/>
            <a:ext cx="11020500" cy="26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i="0" lang="en-US" sz="4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3. Interacciones tipo Trigger</a:t>
            </a:r>
            <a:endParaRPr b="1" sz="4750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lang="en-US" sz="47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endParaRPr b="1" sz="4750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2526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50"/>
              <a:buFont typeface="Inter"/>
              <a:buNone/>
            </a:pPr>
            <a:r>
              <a:rPr b="1" lang="en-US" sz="47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UI básico</a:t>
            </a:r>
            <a:endParaRPr b="1" sz="4750">
              <a:solidFill>
                <a:srgbClr val="26457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" name="Google Shape;133;g37c8dea931b_0_0"/>
          <p:cNvSpPr/>
          <p:nvPr/>
        </p:nvSpPr>
        <p:spPr>
          <a:xfrm>
            <a:off x="2723025" y="5644375"/>
            <a:ext cx="91842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56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2850"/>
              <a:buFont typeface="Inter"/>
              <a:buNone/>
            </a:pPr>
            <a:r>
              <a:rPr b="1" lang="en-US" sz="28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Física e Inteligencia Artificial para Videojuegos</a:t>
            </a:r>
            <a:endParaRPr b="0" i="0" sz="2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7c8dea931b_0_0"/>
          <p:cNvSpPr/>
          <p:nvPr/>
        </p:nvSpPr>
        <p:spPr>
          <a:xfrm>
            <a:off x="3263400" y="6180775"/>
            <a:ext cx="8118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2350"/>
              <a:buFont typeface="Inter"/>
              <a:buNone/>
            </a:pPr>
            <a:r>
              <a:rPr b="1" lang="en-US" sz="2350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Doble Grado en Física e Inteligencia Artificial</a:t>
            </a:r>
            <a:endParaRPr b="0" i="0" sz="2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7c8dea931b_0_0"/>
          <p:cNvSpPr/>
          <p:nvPr/>
        </p:nvSpPr>
        <p:spPr>
          <a:xfrm>
            <a:off x="852814" y="6964143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Curso 2025 – 2026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7c8dea931b_0_0"/>
          <p:cNvSpPr/>
          <p:nvPr/>
        </p:nvSpPr>
        <p:spPr>
          <a:xfrm>
            <a:off x="852814" y="7628155"/>
            <a:ext cx="12924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526"/>
              </a:lnSpc>
              <a:spcBef>
                <a:spcPts val="0"/>
              </a:spcBef>
              <a:spcAft>
                <a:spcPts val="0"/>
              </a:spcAft>
              <a:buClr>
                <a:srgbClr val="768698"/>
              </a:buClr>
              <a:buSzPts val="1900"/>
              <a:buFont typeface="Inter"/>
              <a:buNone/>
            </a:pPr>
            <a:r>
              <a:rPr b="0" i="1" lang="en-US" sz="1900" u="none" cap="none" strike="noStrike">
                <a:solidFill>
                  <a:srgbClr val="768698"/>
                </a:solidFill>
                <a:latin typeface="Inter"/>
                <a:ea typeface="Inter"/>
                <a:cs typeface="Inter"/>
                <a:sym typeface="Inter"/>
              </a:rPr>
              <a:t>Fernando Madrid Recio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g37c8dea931b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96725" y="6991346"/>
            <a:ext cx="27336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"/>
          <p:cNvSpPr/>
          <p:nvPr/>
        </p:nvSpPr>
        <p:spPr>
          <a:xfrm>
            <a:off x="939522" y="975836"/>
            <a:ext cx="8548211" cy="838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Componente Rigidbody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939450" y="2392325"/>
            <a:ext cx="6684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Siempre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movamos un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este debe llevar un componente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Rigidbody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Esto hará que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esté “pendiente” de ese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porque puede generar interacciones con otros: golpes, choques o atravesarse.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IMPORTANTE: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ahora, sólo sabemos mover objetos de forma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cinemática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(es decir,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 físicas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). Por ello,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debes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marcar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Rigidbody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como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kinematic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939522" y="6824067"/>
            <a:ext cx="12751356" cy="42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7" name="Google Shape;1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4150" y="1895138"/>
            <a:ext cx="5085050" cy="56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b9fa66423_0_1"/>
          <p:cNvSpPr/>
          <p:nvPr/>
        </p:nvSpPr>
        <p:spPr>
          <a:xfrm>
            <a:off x="939522" y="975836"/>
            <a:ext cx="8548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Componente Collider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7b9fa66423_0_1"/>
          <p:cNvSpPr/>
          <p:nvPr/>
        </p:nvSpPr>
        <p:spPr>
          <a:xfrm>
            <a:off x="939450" y="2392325"/>
            <a:ext cx="61863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vamos a hablar de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interacciones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entre objetos, otro componente muy importante es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Collider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 Collider simplemente define el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área de interacción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del objeto en cuestión (Como una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HitBox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Existen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Colliders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 diferentes formas, desde primitivas como el cuadrado o la cápsula a otras más complejas como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PolygonCollider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7" name="Google Shape;157;g37b9fa66423_0_1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g37b9fa66423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9" name="Google Shape;159;g37b9fa66423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37b9fa66423_0_1"/>
          <p:cNvPicPr preferRelativeResize="0"/>
          <p:nvPr/>
        </p:nvPicPr>
        <p:blipFill rotWithShape="1">
          <a:blip r:embed="rId5">
            <a:alphaModFix/>
          </a:blip>
          <a:srcRect b="0" l="-3550" r="3550" t="0"/>
          <a:stretch/>
        </p:blipFill>
        <p:spPr>
          <a:xfrm>
            <a:off x="7388650" y="2872787"/>
            <a:ext cx="2444875" cy="341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7b9fa66423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14300" y="1814625"/>
            <a:ext cx="4187500" cy="553129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7b9fa66423_0_1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b9fa66423_0_13"/>
          <p:cNvSpPr/>
          <p:nvPr/>
        </p:nvSpPr>
        <p:spPr>
          <a:xfrm>
            <a:off x="939522" y="975836"/>
            <a:ext cx="85482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Tipos de interacciones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7b9fa66423_0_13"/>
          <p:cNvSpPr/>
          <p:nvPr/>
        </p:nvSpPr>
        <p:spPr>
          <a:xfrm>
            <a:off x="939450" y="2392325"/>
            <a:ext cx="12465900" cy="30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Existen dos tipos de interacciones principalmente en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Unity: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Interacciones tipo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Trigger: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Dos objetos se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atraviesan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Interacciones tipo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Collision: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Dos objetos se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chocan/golpean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g37b9fa66423_0_13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7b9fa66423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2" name="Google Shape;172;g37b9fa66423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37b9fa66423_0_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8450" y="3270600"/>
            <a:ext cx="3685200" cy="149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7b9fa66423_0_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1450" y="4641025"/>
            <a:ext cx="1945975" cy="288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7b9fa66423_0_13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b9fa66423_0_28"/>
          <p:cNvSpPr/>
          <p:nvPr/>
        </p:nvSpPr>
        <p:spPr>
          <a:xfrm>
            <a:off x="939525" y="975825"/>
            <a:ext cx="12751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Interacción tipo Trigger. Condiciones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7b9fa66423_0_28"/>
          <p:cNvSpPr/>
          <p:nvPr/>
        </p:nvSpPr>
        <p:spPr>
          <a:xfrm>
            <a:off x="939450" y="2392325"/>
            <a:ext cx="7348200" cy="3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menos un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lleve Rigidbody. 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Comúnmente en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movimiento.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ambos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gameObjects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lleven collider.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menos uno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los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lleve su collider como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Trigger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(“atravesable”)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45720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  Comúnmente en el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permanece estático, ya que es la zona a atravesar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g37b9fa66423_0_28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g37b9fa66423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5" name="Google Shape;185;g37b9fa66423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7b9fa66423_0_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62250" y="2317925"/>
            <a:ext cx="5339550" cy="51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7b9fa66423_0_28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b9fa66423_0_41"/>
          <p:cNvSpPr/>
          <p:nvPr/>
        </p:nvSpPr>
        <p:spPr>
          <a:xfrm>
            <a:off x="939525" y="975825"/>
            <a:ext cx="12751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Interacción tipo Trigger. Fases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7b9fa66423_0_41"/>
          <p:cNvSpPr/>
          <p:nvPr/>
        </p:nvSpPr>
        <p:spPr>
          <a:xfrm>
            <a:off x="939450" y="2392325"/>
            <a:ext cx="12064800" cy="3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Esta interacción se da en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tres fases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temporales: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Entrada al Trigger: 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OnTriggerEnter2D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Sólo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vez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por cada interacción.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Permanencia en el Trigger: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OnTriggerStay2D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1950" lvl="0" marL="45720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Char char="-"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Salida del Trigger: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OnTriggerExit2D. 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Sólo </a:t>
            </a:r>
            <a:r>
              <a:rPr b="1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una vez</a:t>
            </a:r>
            <a:r>
              <a:rPr b="0" i="0" lang="en-US" sz="2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por cada interacción.</a:t>
            </a:r>
            <a:endParaRPr b="0" i="1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Cada una de ellas tiene un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método asociado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el cual se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ejecuta automáticamente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 llegar a dicha fase de interacción.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g37b9fa66423_0_41"/>
          <p:cNvSpPr/>
          <p:nvPr/>
        </p:nvSpPr>
        <p:spPr>
          <a:xfrm>
            <a:off x="939522" y="6824067"/>
            <a:ext cx="127515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7b9fa66423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97" name="Google Shape;197;g37b9fa66423_0_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7b9fa66423_0_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1450" y="4977050"/>
            <a:ext cx="6360850" cy="306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7b9fa66423_0_41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b9fa66423_0_52"/>
          <p:cNvSpPr/>
          <p:nvPr/>
        </p:nvSpPr>
        <p:spPr>
          <a:xfrm>
            <a:off x="939525" y="975825"/>
            <a:ext cx="12751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Métodos de interacción tipo Trigger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7b9fa66423_0_52"/>
          <p:cNvSpPr/>
          <p:nvPr/>
        </p:nvSpPr>
        <p:spPr>
          <a:xfrm>
            <a:off x="939525" y="1923788"/>
            <a:ext cx="12064800" cy="3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Como hemos comentado, cada una de estas fases provoca la ejecución automática de ciertos métodos.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Implementar estos métodos es útil para desempeñar un comportamiento lógico cuando surge la interacción.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Pueden ser implementados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 cualquiera de los dos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(o los dos)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gameObjects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que interactuan, dependiendo de las necesidades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1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7" name="Google Shape;207;g37b9fa66423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8" name="Google Shape;208;g37b9fa66423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7b9fa66423_0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750" y="5001700"/>
            <a:ext cx="60198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7b9fa66423_0_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09438" y="6582075"/>
            <a:ext cx="5411679" cy="14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7b9fa66423_0_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2013" y="5044563"/>
            <a:ext cx="581977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7b9fa66423_0_52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b9fa66423_0_65"/>
          <p:cNvSpPr/>
          <p:nvPr/>
        </p:nvSpPr>
        <p:spPr>
          <a:xfrm>
            <a:off x="939525" y="975825"/>
            <a:ext cx="12751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Referencias a otros gameObjects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7b9fa66423_0_65"/>
          <p:cNvSpPr/>
          <p:nvPr/>
        </p:nvSpPr>
        <p:spPr>
          <a:xfrm>
            <a:off x="939525" y="1923788"/>
            <a:ext cx="12064800" cy="3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Fíjate cómo estos métodos reciben por parámetro de entrada el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otro collider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con el que interactuamos.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lo tanto, podríamos acceder fácilmente al otro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gameObject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dicho collider con: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incluso destruirlo con el método </a:t>
            </a:r>
            <a:r>
              <a:rPr b="0" i="1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Destroy()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0" name="Google Shape;220;g37b9fa66423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g37b9fa66423_0_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g37b9fa66423_0_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4532" y="4149399"/>
            <a:ext cx="4461322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7b9fa66423_0_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2988" y="6175650"/>
            <a:ext cx="5004401" cy="56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7b9fa66423_0_65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b9fa66423_0_78"/>
          <p:cNvSpPr/>
          <p:nvPr/>
        </p:nvSpPr>
        <p:spPr>
          <a:xfrm>
            <a:off x="939525" y="975825"/>
            <a:ext cx="127515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i="0" lang="en-US" sz="52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Uso de tags</a:t>
            </a:r>
            <a:endParaRPr b="0" i="0" sz="5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7b9fa66423_0_78"/>
          <p:cNvSpPr/>
          <p:nvPr/>
        </p:nvSpPr>
        <p:spPr>
          <a:xfrm>
            <a:off x="939525" y="1730138"/>
            <a:ext cx="12064800" cy="35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Ahora bien, necesitamos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diferenciar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 qué hacemos trigger en estos métodos.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 diferenciamos, dependiendo con qué gameObject hacemos trigger, actuaremos de una forma u otra.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Solución → Utilizando etiquetas/tags.</a:t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95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Inter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2" name="Google Shape;232;g37b9fa66423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025" y="7662200"/>
            <a:ext cx="1756375" cy="56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g37b9fa66423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7b9fa66423_0_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23778" y="4322100"/>
            <a:ext cx="4756750" cy="334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7b9fa66423_0_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400" y="5014250"/>
            <a:ext cx="761047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7b9fa66423_0_78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68de4048a_0_0"/>
          <p:cNvSpPr txBox="1"/>
          <p:nvPr>
            <p:ph type="title"/>
          </p:nvPr>
        </p:nvSpPr>
        <p:spPr>
          <a:xfrm>
            <a:off x="452755" y="632140"/>
            <a:ext cx="118872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250"/>
              <a:buFont typeface="Inter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Creación de UI (Canvas)</a:t>
            </a:r>
            <a:endParaRPr sz="4500"/>
          </a:p>
        </p:txBody>
      </p:sp>
      <p:sp>
        <p:nvSpPr>
          <p:cNvPr id="242" name="Google Shape;242;g3868de4048a_0_0"/>
          <p:cNvSpPr txBox="1"/>
          <p:nvPr>
            <p:ph idx="1" type="body"/>
          </p:nvPr>
        </p:nvSpPr>
        <p:spPr>
          <a:xfrm>
            <a:off x="284560" y="1785280"/>
            <a:ext cx="8549700" cy="6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UI (Interfaz de usuario)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Canvas → </a:t>
            </a:r>
            <a:r>
              <a:rPr b="1" lang="en-US" sz="2100">
                <a:solidFill>
                  <a:schemeClr val="dk1"/>
                </a:solidFill>
              </a:rPr>
              <a:t>“Lienzo”</a:t>
            </a:r>
            <a:r>
              <a:rPr lang="en-US" sz="2100">
                <a:solidFill>
                  <a:schemeClr val="dk1"/>
                </a:solidFill>
              </a:rPr>
              <a:t> que se renderiza en la cámara de nuestro juego.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Elementos básicos:</a:t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Textos</a:t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Imágenes</a:t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Botones 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43" name="Google Shape;243;g3868de4048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6579" y="1622200"/>
            <a:ext cx="4478022" cy="619392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868de4048a_0_0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68de4048a_0_7"/>
          <p:cNvSpPr txBox="1"/>
          <p:nvPr>
            <p:ph idx="1" type="body"/>
          </p:nvPr>
        </p:nvSpPr>
        <p:spPr>
          <a:xfrm>
            <a:off x="284560" y="1785280"/>
            <a:ext cx="13379400" cy="16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Todo elemento de UI vendrá con un </a:t>
            </a:r>
            <a:r>
              <a:rPr b="1" lang="en-US" sz="2100">
                <a:solidFill>
                  <a:schemeClr val="dk1"/>
                </a:solidFill>
              </a:rPr>
              <a:t>RectTransform</a:t>
            </a:r>
            <a:endParaRPr b="1"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b="1" lang="en-US" sz="2100">
                <a:solidFill>
                  <a:schemeClr val="dk1"/>
                </a:solidFill>
              </a:rPr>
              <a:t>Siempre</a:t>
            </a:r>
            <a:r>
              <a:rPr lang="en-US" sz="2100">
                <a:solidFill>
                  <a:schemeClr val="dk1"/>
                </a:solidFill>
              </a:rPr>
              <a:t> manejar con la tool → ‘T’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50" name="Google Shape;250;g3868de4048a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0860" y="3664760"/>
            <a:ext cx="84886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g3868de4048a_0_7"/>
          <p:cNvSpPr txBox="1"/>
          <p:nvPr>
            <p:ph type="title"/>
          </p:nvPr>
        </p:nvSpPr>
        <p:spPr>
          <a:xfrm>
            <a:off x="452755" y="632140"/>
            <a:ext cx="118872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Creación de UI (Canvas)</a:t>
            </a:r>
            <a:endParaRPr sz="4500"/>
          </a:p>
        </p:txBody>
      </p:sp>
      <p:sp>
        <p:nvSpPr>
          <p:cNvPr id="252" name="Google Shape;252;g3868de4048a_0_7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68de4048a_0_14"/>
          <p:cNvSpPr txBox="1"/>
          <p:nvPr>
            <p:ph idx="1" type="body"/>
          </p:nvPr>
        </p:nvSpPr>
        <p:spPr>
          <a:xfrm>
            <a:off x="284560" y="1785280"/>
            <a:ext cx="13990500" cy="3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Diferentes pantallas: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Diferentes </a:t>
            </a:r>
            <a:r>
              <a:rPr b="1" lang="en-US" sz="2100">
                <a:solidFill>
                  <a:schemeClr val="dk1"/>
                </a:solidFill>
              </a:rPr>
              <a:t>resoluciones</a:t>
            </a:r>
            <a:endParaRPr b="1" sz="2100">
              <a:solidFill>
                <a:schemeClr val="dk1"/>
              </a:solidFill>
            </a:endParaRPr>
          </a:p>
          <a:p>
            <a:pPr indent="0" lvl="0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Diferentes </a:t>
            </a:r>
            <a:r>
              <a:rPr b="1" lang="en-US" sz="2100">
                <a:solidFill>
                  <a:schemeClr val="dk1"/>
                </a:solidFill>
              </a:rPr>
              <a:t>relaciones de aspecto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58" name="Google Shape;258;g3868de4048a_0_14"/>
          <p:cNvSpPr txBox="1"/>
          <p:nvPr>
            <p:ph type="title"/>
          </p:nvPr>
        </p:nvSpPr>
        <p:spPr>
          <a:xfrm>
            <a:off x="452755" y="632140"/>
            <a:ext cx="118872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Problemas con UI</a:t>
            </a:r>
            <a:endParaRPr sz="4500"/>
          </a:p>
        </p:txBody>
      </p:sp>
      <p:sp>
        <p:nvSpPr>
          <p:cNvPr id="259" name="Google Shape;259;g3868de4048a_0_14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68de4048a_0_20"/>
          <p:cNvSpPr txBox="1"/>
          <p:nvPr>
            <p:ph idx="1" type="body"/>
          </p:nvPr>
        </p:nvSpPr>
        <p:spPr>
          <a:xfrm>
            <a:off x="284560" y="1785280"/>
            <a:ext cx="13990500" cy="34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Elementos </a:t>
            </a:r>
            <a:r>
              <a:rPr b="1" lang="en-US" sz="2100">
                <a:solidFill>
                  <a:schemeClr val="dk1"/>
                </a:solidFill>
              </a:rPr>
              <a:t>proporcionales</a:t>
            </a:r>
            <a:r>
              <a:rPr lang="en-US" sz="2100">
                <a:solidFill>
                  <a:schemeClr val="dk1"/>
                </a:solidFill>
              </a:rPr>
              <a:t> a la cantidad de píxeles en pantalla.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65" name="Google Shape;265;g3868de4048a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966" y="3858958"/>
            <a:ext cx="12245753" cy="342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868de4048a_0_20"/>
          <p:cNvSpPr txBox="1"/>
          <p:nvPr>
            <p:ph type="title"/>
          </p:nvPr>
        </p:nvSpPr>
        <p:spPr>
          <a:xfrm>
            <a:off x="452755" y="632140"/>
            <a:ext cx="118872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Solución a diferentes resoluciones</a:t>
            </a:r>
            <a:endParaRPr sz="4500"/>
          </a:p>
        </p:txBody>
      </p:sp>
      <p:sp>
        <p:nvSpPr>
          <p:cNvPr id="267" name="Google Shape;267;g3868de4048a_0_20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68de4048a_0_27"/>
          <p:cNvSpPr txBox="1"/>
          <p:nvPr>
            <p:ph idx="1" type="body"/>
          </p:nvPr>
        </p:nvSpPr>
        <p:spPr>
          <a:xfrm>
            <a:off x="284560" y="1785280"/>
            <a:ext cx="13194600" cy="51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La posición de cada elemento es </a:t>
            </a:r>
            <a:r>
              <a:rPr b="1" lang="en-US" sz="2100">
                <a:solidFill>
                  <a:schemeClr val="dk1"/>
                </a:solidFill>
              </a:rPr>
              <a:t>relativa</a:t>
            </a:r>
            <a:r>
              <a:rPr lang="en-US" sz="2100">
                <a:solidFill>
                  <a:schemeClr val="dk1"/>
                </a:solidFill>
              </a:rPr>
              <a:t> a otro elemento (padre)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Dicho punto se define a través de las </a:t>
            </a:r>
            <a:r>
              <a:rPr b="1" lang="en-US" sz="2100">
                <a:solidFill>
                  <a:schemeClr val="dk1"/>
                </a:solidFill>
              </a:rPr>
              <a:t>anclas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Son 4 pestañas que actúan de forma independiente.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73" name="Google Shape;273;g3868de4048a_0_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6780" y="5519560"/>
            <a:ext cx="1850280" cy="1513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868de4048a_0_27"/>
          <p:cNvSpPr txBox="1"/>
          <p:nvPr>
            <p:ph type="title"/>
          </p:nvPr>
        </p:nvSpPr>
        <p:spPr>
          <a:xfrm>
            <a:off x="452749" y="632150"/>
            <a:ext cx="13944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Solución a diferentes tamaños: anclas</a:t>
            </a:r>
            <a:endParaRPr sz="4500"/>
          </a:p>
        </p:txBody>
      </p:sp>
      <p:sp>
        <p:nvSpPr>
          <p:cNvPr id="275" name="Google Shape;275;g3868de4048a_0_27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868de4048a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2099" y="1465824"/>
            <a:ext cx="4371775" cy="6239974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868de4048a_0_34"/>
          <p:cNvSpPr txBox="1"/>
          <p:nvPr>
            <p:ph idx="1" type="body"/>
          </p:nvPr>
        </p:nvSpPr>
        <p:spPr>
          <a:xfrm>
            <a:off x="284560" y="1785280"/>
            <a:ext cx="9228900" cy="51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Anclas juntas: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El tamaño del elemento es </a:t>
            </a:r>
            <a:r>
              <a:rPr b="1" lang="en-US" sz="2100">
                <a:solidFill>
                  <a:schemeClr val="dk1"/>
                </a:solidFill>
              </a:rPr>
              <a:t>fijo</a:t>
            </a:r>
            <a:r>
              <a:rPr lang="en-US" sz="21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  <a:p>
            <a:pPr indent="0" lvl="0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Las anclas “atraen” al elemento</a:t>
            </a:r>
            <a:endParaRPr sz="2100">
              <a:solidFill>
                <a:schemeClr val="dk1"/>
              </a:solidFill>
            </a:endParaRPr>
          </a:p>
          <a:p>
            <a:pPr indent="0" lvl="0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Configuración más común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282" name="Google Shape;282;g3868de4048a_0_34"/>
          <p:cNvSpPr txBox="1"/>
          <p:nvPr>
            <p:ph type="title"/>
          </p:nvPr>
        </p:nvSpPr>
        <p:spPr>
          <a:xfrm>
            <a:off x="452749" y="632150"/>
            <a:ext cx="13944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Solución a diferentes tamaños: anclas</a:t>
            </a:r>
            <a:endParaRPr sz="4500"/>
          </a:p>
        </p:txBody>
      </p:sp>
      <p:sp>
        <p:nvSpPr>
          <p:cNvPr id="283" name="Google Shape;283;g3868de4048a_0_34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68de4048a_0_41"/>
          <p:cNvSpPr txBox="1"/>
          <p:nvPr>
            <p:ph idx="1" type="body"/>
          </p:nvPr>
        </p:nvSpPr>
        <p:spPr>
          <a:xfrm>
            <a:off x="284560" y="1785280"/>
            <a:ext cx="9228900" cy="51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Anclas separadas: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El tamaño se </a:t>
            </a:r>
            <a:r>
              <a:rPr b="1" lang="en-US" sz="2100">
                <a:solidFill>
                  <a:schemeClr val="dk1"/>
                </a:solidFill>
              </a:rPr>
              <a:t>reescala</a:t>
            </a:r>
            <a:r>
              <a:rPr lang="en-US" sz="2100">
                <a:solidFill>
                  <a:schemeClr val="dk1"/>
                </a:solidFill>
              </a:rPr>
              <a:t> en proporción a la pantalla.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89" name="Google Shape;289;g3868de4048a_0_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7799" y="2016725"/>
            <a:ext cx="5570750" cy="400607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868de4048a_0_41"/>
          <p:cNvSpPr txBox="1"/>
          <p:nvPr>
            <p:ph type="title"/>
          </p:nvPr>
        </p:nvSpPr>
        <p:spPr>
          <a:xfrm>
            <a:off x="452749" y="632150"/>
            <a:ext cx="13944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Anclas</a:t>
            </a:r>
            <a:endParaRPr sz="4500"/>
          </a:p>
        </p:txBody>
      </p:sp>
      <p:sp>
        <p:nvSpPr>
          <p:cNvPr id="291" name="Google Shape;291;g3868de4048a_0_41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68de4048a_0_48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868de4048a_0_48"/>
          <p:cNvSpPr txBox="1"/>
          <p:nvPr>
            <p:ph idx="1" type="body"/>
          </p:nvPr>
        </p:nvSpPr>
        <p:spPr>
          <a:xfrm>
            <a:off x="284550" y="1785275"/>
            <a:ext cx="6834300" cy="51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Anclas separadas:</a:t>
            </a:r>
            <a:endParaRPr sz="2100">
              <a:solidFill>
                <a:schemeClr val="dk1"/>
              </a:solidFill>
            </a:endParaRPr>
          </a:p>
          <a:p>
            <a:pPr indent="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También permiten distribuir los elementos por porcentajes.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298" name="Google Shape;298;g3868de4048a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9201" y="2450326"/>
            <a:ext cx="5553525" cy="39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3868de4048a_0_48"/>
          <p:cNvSpPr txBox="1"/>
          <p:nvPr>
            <p:ph type="title"/>
          </p:nvPr>
        </p:nvSpPr>
        <p:spPr>
          <a:xfrm>
            <a:off x="452749" y="632150"/>
            <a:ext cx="13944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Anclas: Otras configuraciones</a:t>
            </a:r>
            <a:endParaRPr sz="4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68de4048a_0_55"/>
          <p:cNvSpPr txBox="1"/>
          <p:nvPr>
            <p:ph idx="1" type="body"/>
          </p:nvPr>
        </p:nvSpPr>
        <p:spPr>
          <a:xfrm>
            <a:off x="284560" y="1785280"/>
            <a:ext cx="10024800" cy="514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501650" lvl="0" marL="736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Presets:</a:t>
            </a:r>
            <a:endParaRPr sz="2100">
              <a:solidFill>
                <a:schemeClr val="dk1"/>
              </a:solidFill>
            </a:endParaRPr>
          </a:p>
          <a:p>
            <a:pPr indent="-501650" lvl="1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Configuraciones más comunes.</a:t>
            </a:r>
            <a:endParaRPr sz="2100">
              <a:solidFill>
                <a:schemeClr val="dk1"/>
              </a:solidFill>
            </a:endParaRPr>
          </a:p>
          <a:p>
            <a:pPr indent="0" lvl="0" marL="14605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2" marL="21971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Anclaje en laterales</a:t>
            </a:r>
            <a:endParaRPr sz="2100">
              <a:solidFill>
                <a:schemeClr val="dk1"/>
              </a:solidFill>
            </a:endParaRPr>
          </a:p>
          <a:p>
            <a:pPr indent="0" lvl="0" marL="21971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501650" lvl="2" marL="21971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Extender respecto al padre.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305" name="Google Shape;305;g3868de4048a_0_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199" y="1548361"/>
            <a:ext cx="4620975" cy="534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3868de4048a_0_55"/>
          <p:cNvSpPr txBox="1"/>
          <p:nvPr>
            <p:ph type="title"/>
          </p:nvPr>
        </p:nvSpPr>
        <p:spPr>
          <a:xfrm>
            <a:off x="452749" y="632150"/>
            <a:ext cx="13944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Anclas. Presets</a:t>
            </a:r>
            <a:endParaRPr sz="4500"/>
          </a:p>
        </p:txBody>
      </p:sp>
      <p:sp>
        <p:nvSpPr>
          <p:cNvPr id="307" name="Google Shape;307;g3868de4048a_0_55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3868de4048a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721" y="2070400"/>
            <a:ext cx="5632080" cy="555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868de4048a_0_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0075" y="5622000"/>
            <a:ext cx="7116841" cy="195712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868de4048a_0_62"/>
          <p:cNvSpPr txBox="1"/>
          <p:nvPr>
            <p:ph type="title"/>
          </p:nvPr>
        </p:nvSpPr>
        <p:spPr>
          <a:xfrm>
            <a:off x="452749" y="632150"/>
            <a:ext cx="139440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5250"/>
              <a:buNone/>
            </a:pPr>
            <a:r>
              <a:rPr b="1" lang="en-US" sz="5250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UI básica. Botones, textos, imágenes</a:t>
            </a:r>
            <a:endParaRPr sz="4500"/>
          </a:p>
        </p:txBody>
      </p:sp>
      <p:sp>
        <p:nvSpPr>
          <p:cNvPr id="315" name="Google Shape;315;g3868de4048a_0_62"/>
          <p:cNvSpPr txBox="1"/>
          <p:nvPr/>
        </p:nvSpPr>
        <p:spPr>
          <a:xfrm>
            <a:off x="10726205" y="7764900"/>
            <a:ext cx="39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Autor: Fernando Madrid Recio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868de4048a_0_62"/>
          <p:cNvSpPr txBox="1"/>
          <p:nvPr>
            <p:ph idx="1" type="body"/>
          </p:nvPr>
        </p:nvSpPr>
        <p:spPr>
          <a:xfrm>
            <a:off x="6130800" y="1931400"/>
            <a:ext cx="88731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-361950" lvl="0" marL="4572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La forma más común de editar textos e imagenes en </a:t>
            </a:r>
            <a:r>
              <a:rPr i="1" lang="en-US" sz="2100">
                <a:solidFill>
                  <a:schemeClr val="dk1"/>
                </a:solidFill>
              </a:rPr>
              <a:t>Runtime</a:t>
            </a:r>
            <a:r>
              <a:rPr lang="en-US" sz="2100">
                <a:solidFill>
                  <a:schemeClr val="dk1"/>
                </a:solidFill>
              </a:rPr>
              <a:t> (durante el juego):</a:t>
            </a:r>
            <a:endParaRPr sz="2100">
              <a:solidFill>
                <a:schemeClr val="dk1"/>
              </a:solidFill>
            </a:endParaRPr>
          </a:p>
          <a:p>
            <a:pPr indent="0" lvl="0" marL="4572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1" marL="9144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Referenciándolos por su tipo.</a:t>
            </a:r>
            <a:endParaRPr sz="2100">
              <a:solidFill>
                <a:schemeClr val="dk1"/>
              </a:solidFill>
            </a:endParaRPr>
          </a:p>
          <a:p>
            <a:pPr indent="0" lvl="0" marL="9144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2" marL="1371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b="1" lang="en-US" sz="2100">
                <a:solidFill>
                  <a:schemeClr val="dk1"/>
                </a:solidFill>
              </a:rPr>
              <a:t>TMP_Text</a:t>
            </a:r>
            <a:r>
              <a:rPr lang="en-US" sz="2100">
                <a:solidFill>
                  <a:schemeClr val="dk1"/>
                </a:solidFill>
              </a:rPr>
              <a:t> para los textos.</a:t>
            </a:r>
            <a:endParaRPr sz="2100">
              <a:solidFill>
                <a:schemeClr val="dk1"/>
              </a:solidFill>
            </a:endParaRPr>
          </a:p>
          <a:p>
            <a:pPr indent="0" lvl="0" marL="1371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2" marL="1371600" marR="12700" rtl="0" algn="l">
              <a:lnSpc>
                <a:spcPct val="896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b="1" lang="en-US" sz="2100">
                <a:solidFill>
                  <a:schemeClr val="dk1"/>
                </a:solidFill>
              </a:rPr>
              <a:t>Image</a:t>
            </a:r>
            <a:r>
              <a:rPr lang="en-US" sz="2100">
                <a:solidFill>
                  <a:schemeClr val="dk1"/>
                </a:solidFill>
              </a:rPr>
              <a:t> para las imágenes.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2025-09-04T07:17:41Z</dcterms:created>
</cp:coreProperties>
</file>