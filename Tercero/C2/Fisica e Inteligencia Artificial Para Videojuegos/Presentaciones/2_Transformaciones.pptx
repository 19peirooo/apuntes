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8229600" cx="14630400"/>
  <p:notesSz cx="8229600" cy="14630400"/>
  <p:embeddedFontLst>
    <p:embeddedFont>
      <p:font typeface="Inter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XQ4kW2ik0R5BopV/huOP70lMZ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22" Type="http://schemas.openxmlformats.org/officeDocument/2006/relationships/slide" Target="slides/slide18.xml"/><Relationship Id="rId44" Type="http://schemas.openxmlformats.org/officeDocument/2006/relationships/font" Target="fonts/Inter-boldItalic.fntdata"/><Relationship Id="rId21" Type="http://schemas.openxmlformats.org/officeDocument/2006/relationships/slide" Target="slides/slide17.xml"/><Relationship Id="rId43" Type="http://schemas.openxmlformats.org/officeDocument/2006/relationships/font" Target="fonts/Inter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c8c3677dc_3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7c8c3677dc_3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7c8c3677dc_3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cfee889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7cfee889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7cfee8895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fee8895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7cfee8895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7cfee8895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cfee88957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7cfee8895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7cfee88957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cfee8895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7cfee8895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7cfee88957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fee8895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7cfee8895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7cfee88957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cfee88957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7cfee88957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7cfee88957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cfee88957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7cfee88957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7cfee88957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cfee88957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7cfee88957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7cfee88957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fee88957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7cfee88957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7cfee88957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cfee88957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7cfee88957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7cfee88957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cfee88957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7cfee88957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7cfee88957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cfee88957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7cfee88957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7cfee88957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c8c3677dc_3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7c8c3677dc_3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7c8c3677dc_3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52e392184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652e392184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652e392184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52e392184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652e392184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652e392184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52e392184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652e392184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652e392184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52e392184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652e392184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652e392184_0_3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c8c3677dc_3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7c8c3677dc_3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7c8c3677dc_3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652e392184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652e392184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g3652e392184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52e392184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652e392184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652e392184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cfee88957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7cfee88957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7cfee88957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52e39218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652e39218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652e392184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52e392184_0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652e392184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g3652e392184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52e392184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652e392184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652e392184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52e392184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652e392184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3652e392184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652e392184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652e392184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652e392184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52e392184_0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652e392184_0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g3652e392184_0_3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52e392184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652e392184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g3652e392184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652e392184_0_50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Char char="●"/>
              <a:defRPr b="0" i="0" sz="5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652e392184_0_50"/>
          <p:cNvSpPr txBox="1"/>
          <p:nvPr>
            <p:ph idx="1" type="subTitle"/>
          </p:nvPr>
        </p:nvSpPr>
        <p:spPr>
          <a:xfrm>
            <a:off x="4377274" y="6015811"/>
            <a:ext cx="5875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3652e392184_0_50"/>
          <p:cNvSpPr txBox="1"/>
          <p:nvPr>
            <p:ph idx="2" type="body"/>
          </p:nvPr>
        </p:nvSpPr>
        <p:spPr>
          <a:xfrm>
            <a:off x="1463040" y="4892486"/>
            <a:ext cx="1170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C:\Users\eva.perandones\Downloads\Logo azul.png" id="46" name="Google Shape;46;g3652e392184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95731" y="485597"/>
            <a:ext cx="3971749" cy="14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" name="Google Shape;50;p4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4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4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4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4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4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4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4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4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5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3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3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3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0.gif"/><Relationship Id="rId5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image" Target="../media/image42.gif"/><Relationship Id="rId7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8c3677dc_3_179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" name="Google Shape;126;g37c8c3677dc_3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1918" y="944285"/>
            <a:ext cx="4901566" cy="222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c8c3677dc_3_179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7c8c3677dc_3_179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2. Transformaciones</a:t>
            </a:r>
            <a:endParaRPr b="0" i="0" sz="4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c8c3677dc_3_179"/>
          <p:cNvSpPr/>
          <p:nvPr/>
        </p:nvSpPr>
        <p:spPr>
          <a:xfrm>
            <a:off x="2723025" y="5644375"/>
            <a:ext cx="9184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Física e Inteligencia </a:t>
            </a: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Artificial</a:t>
            </a: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 para Videojuegos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7c8c3677dc_3_179"/>
          <p:cNvSpPr/>
          <p:nvPr/>
        </p:nvSpPr>
        <p:spPr>
          <a:xfrm>
            <a:off x="3263400" y="6180775"/>
            <a:ext cx="811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rPr b="1" lang="en-US" sz="2350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Doble Grado en Física e Inteligencia Artificial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7c8c3677dc_3_179"/>
          <p:cNvSpPr/>
          <p:nvPr/>
        </p:nvSpPr>
        <p:spPr>
          <a:xfrm>
            <a:off x="852814" y="6964143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Curso 2025 – 2026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7c8c3677dc_3_179"/>
          <p:cNvSpPr/>
          <p:nvPr/>
        </p:nvSpPr>
        <p:spPr>
          <a:xfrm>
            <a:off x="852814" y="7628155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Fernando Madrid Recio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7c8c3677dc_3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cfee88957_0_0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cfee88957_0_0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7cfee88957_0_0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2.1 Vectores</a:t>
            </a:r>
            <a:endParaRPr b="1" i="0" sz="4750" u="none" cap="none" strike="noStrike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t/>
            </a:r>
            <a:endParaRPr b="1" i="0" sz="4750" u="none" cap="none" strike="noStrike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g37cfee8895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g37cfee8895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cfee88957_0_9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Concepto de vector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7cfee88957_0_9"/>
          <p:cNvSpPr/>
          <p:nvPr/>
        </p:nvSpPr>
        <p:spPr>
          <a:xfrm>
            <a:off x="939525" y="2066400"/>
            <a:ext cx="12751500" cy="5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vector (conjunto de números ordenados en fila o columna), se puede utilizar para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múltiples propósitos: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punto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dirección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rotación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distancia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Tenemos que tener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muy claro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todo momento como interpretamos nuestros vectores.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1" name="Google Shape;151;g37cfee88957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g37cfee88957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cfee88957_0_21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Vector como punto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7cfee88957_0_21"/>
          <p:cNvSpPr/>
          <p:nvPr/>
        </p:nvSpPr>
        <p:spPr>
          <a:xfrm>
            <a:off x="939525" y="2351584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interpretar un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valor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tipo vector utilizamos la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Vector2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por ejemplo: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queremos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almacenar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ese dato para trabajar con él, podemos crear una variable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 mismo tipo: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g37cfee8895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g37cfee8895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7cfee88957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1713" y="3047475"/>
            <a:ext cx="4927128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7cfee88957_0_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0425" y="5807225"/>
            <a:ext cx="9469724" cy="7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7cfee88957_0_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450" y="3205925"/>
            <a:ext cx="295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7cfee88957_0_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57900" y="6138400"/>
            <a:ext cx="2952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cfee88957_0_31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Vector como dirección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7cfee88957_0_31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interpretamos el vector como una dirección, nuestro entendimiento del mismo cambia bastante.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3" name="Google Shape;173;g37cfee88957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g37cfee88957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7cfee88957_0_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1713" y="3047475"/>
            <a:ext cx="4927128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7cfee88957_0_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7675" y="4637974"/>
            <a:ext cx="5915026" cy="273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7cfee88957_0_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450" y="3205925"/>
            <a:ext cx="2952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cfee88957_0_42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Vector como dirección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cfee88957_0_42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caso de que lo interpretemos como una dirección, un vector queda conformado por dos conceptos esenciales: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magnitud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Cuanto mide.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sentido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Hacía donde apunta.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g37cfee88957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g37cfee88957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7cfee88957_0_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8675" y="4348575"/>
            <a:ext cx="6373050" cy="30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cfee88957_0_53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Normalización de un vector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7cfee88957_0_53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Cuando trabajemos con un vector tratado como dirección, en la gran mayoría de ocasiones debemos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normalizar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Consejo: Normalizar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siempre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normalizar un vector 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.normalized.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5" name="Google Shape;195;g37cfee88957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g37cfee88957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7cfee88957_0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6575" y="3667775"/>
            <a:ext cx="5297251" cy="414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cfee88957_0_67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Operaciones con vectores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7cfee88957_0_67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Existen una serie de operaciones con vectores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muy recurrentes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el desarrollo de videojuegos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ejemplo, se tiene un jugador y un enemigo con las siguientes posiciones: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5" name="Google Shape;205;g37cfee88957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g37cfee88957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7cfee88957_0_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2177" y="3587825"/>
            <a:ext cx="5386050" cy="34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cfee88957_0_77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Operaciones con vectores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cfee88957_0_77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restamos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los vectores que representan las posiciones de ambos: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Magnitud →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Distancia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entre ambos puntos.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 normalizado →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un punto a otro.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 de un punto A a un punto B:  B   -   A.                                       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Destino menos Origen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5" name="Google Shape;215;g37cfee88957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g37cfee88957_0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7cfee88957_0_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2350" y="3727894"/>
            <a:ext cx="6790450" cy="31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fee88957_0_87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Operaciones con vectores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7cfee88957_0_87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Dos vectores sólo se pueden sumar/restar entre sí: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ser multiplicados por un número (escalar):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pueden multiplicar entre sí.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5" name="Google Shape;225;g37cfee88957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g37cfee88957_0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7cfee88957_0_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1482" y="2249000"/>
            <a:ext cx="3959950" cy="16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7cfee88957_0_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0513" y="4569503"/>
            <a:ext cx="3222475" cy="14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cfee88957_0_98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Multiplicación por escalar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7cfee88957_0_98"/>
          <p:cNvSpPr/>
          <p:nvPr/>
        </p:nvSpPr>
        <p:spPr>
          <a:xfrm>
            <a:off x="939450" y="2249009"/>
            <a:ext cx="12751500" cy="54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multiplicar →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Mayor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magnitud,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misma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ejemplo, dado A(1, 1), al multiplicarlo por 2: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6" name="Google Shape;236;g37cfee88957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g37cfee88957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7cfee88957_0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9300" y="4170700"/>
            <a:ext cx="8031799" cy="34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cfee88957_0_109"/>
          <p:cNvSpPr/>
          <p:nvPr/>
        </p:nvSpPr>
        <p:spPr>
          <a:xfrm>
            <a:off x="939525" y="975825"/>
            <a:ext cx="12377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Suma de vectores. Punto + Dirección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7cfee88957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g37cfee88957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7cfee88957_0_109"/>
          <p:cNvSpPr/>
          <p:nvPr/>
        </p:nvSpPr>
        <p:spPr>
          <a:xfrm>
            <a:off x="939450" y="2248983"/>
            <a:ext cx="127515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tomamos un vector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como punto, y un vector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como dirección: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sumamos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+ 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se obtiene un nuevo punto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queda separado 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tanto como indique la dirección y magnitud 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8" name="Google Shape;248;g37cfee88957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600" y="4786750"/>
            <a:ext cx="12377201" cy="7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cfee88957_0_120"/>
          <p:cNvSpPr/>
          <p:nvPr/>
        </p:nvSpPr>
        <p:spPr>
          <a:xfrm>
            <a:off x="528350" y="975825"/>
            <a:ext cx="13997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Suma de vectores. Dirección + Dirección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7cfee88957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g37cfee88957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7cfee88957_0_120"/>
          <p:cNvSpPr/>
          <p:nvPr/>
        </p:nvSpPr>
        <p:spPr>
          <a:xfrm>
            <a:off x="939450" y="2248983"/>
            <a:ext cx="127515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tomamos dos vectores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ambos tomados como dirección: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sumamos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+ B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se obtiene una nueva dirección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C.</a:t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describe una nueva trayectoria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8" name="Google Shape;258;g37cfee88957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5525" y="3799075"/>
            <a:ext cx="3939350" cy="40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c8c3677dc_3_261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7c8c3677dc_3_261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7c8c3677dc_3_261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2.2 Componente Transform</a:t>
            </a:r>
            <a:endParaRPr b="0" i="0" sz="4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7c8c3677dc_3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g37c8c3677dc_3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/>
          <p:nvPr/>
        </p:nvSpPr>
        <p:spPr>
          <a:xfrm>
            <a:off x="939526" y="975825"/>
            <a:ext cx="11276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El Componente Transform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/>
          <p:nvPr/>
        </p:nvSpPr>
        <p:spPr>
          <a:xfrm>
            <a:off x="939522" y="2351603"/>
            <a:ext cx="12751356" cy="8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componente Transform es fundamental, ya que define la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rotación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escala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cada objeto en la escena.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939522" y="3512701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Transform no solo determina dónde se encuentra un objeto en el mundo del juego, sino que también establece su orientación y tamaño.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7" name="Google Shape;2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600" y="6252500"/>
            <a:ext cx="11883499" cy="17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"/>
          <p:cNvSpPr/>
          <p:nvPr/>
        </p:nvSpPr>
        <p:spPr>
          <a:xfrm>
            <a:off x="939522" y="6824067"/>
            <a:ext cx="12751356" cy="42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"/>
          <p:cNvSpPr/>
          <p:nvPr/>
        </p:nvSpPr>
        <p:spPr>
          <a:xfrm>
            <a:off x="939525" y="4673849"/>
            <a:ext cx="12751500" cy="14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unidades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 las que trabaja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son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unidades de Unity</a:t>
            </a:r>
            <a:r>
              <a:rPr b="1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unidad = 1 metro para posición y escala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unidad = 1º para rotación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1" name="Google Shape;28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2e392184_0_108"/>
          <p:cNvSpPr/>
          <p:nvPr/>
        </p:nvSpPr>
        <p:spPr>
          <a:xfrm>
            <a:off x="939526" y="975825"/>
            <a:ext cx="11055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El Componente Transform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652e392184_0_108"/>
          <p:cNvSpPr/>
          <p:nvPr/>
        </p:nvSpPr>
        <p:spPr>
          <a:xfrm>
            <a:off x="939522" y="2351603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acceder fácilmente al transform con: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652e392184_0_108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3652e392184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652e392184_0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2487" y="3353372"/>
            <a:ext cx="7345425" cy="71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652e392184_0_108"/>
          <p:cNvSpPr/>
          <p:nvPr/>
        </p:nvSpPr>
        <p:spPr>
          <a:xfrm>
            <a:off x="939447" y="4805853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omitir también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this.gameObject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escribir simplemente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Esto siempre hará referencia al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lleva el script.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293" name="Google Shape;293;g3652e392184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52e392184_0_120"/>
          <p:cNvSpPr/>
          <p:nvPr/>
        </p:nvSpPr>
        <p:spPr>
          <a:xfrm>
            <a:off x="939527" y="975825"/>
            <a:ext cx="13757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Ejercicio. El Componente Transform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652e392184_0_120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3652e392184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652e392184_0_120"/>
          <p:cNvSpPr txBox="1"/>
          <p:nvPr/>
        </p:nvSpPr>
        <p:spPr>
          <a:xfrm>
            <a:off x="342288" y="2160800"/>
            <a:ext cx="136317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marR="5083" rtl="0" algn="l">
              <a:lnSpc>
                <a:spcPct val="896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mostrarías por consola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coordenada Y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posición de tu gameObject?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652e392184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88" y="3466863"/>
            <a:ext cx="806767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g3652e392184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52e392184_0_132"/>
          <p:cNvSpPr/>
          <p:nvPr/>
        </p:nvSpPr>
        <p:spPr>
          <a:xfrm>
            <a:off x="939527" y="975825"/>
            <a:ext cx="13757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Ejercicio. Solución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652e392184_0_132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g3652e392184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652e392184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5975" y="3005150"/>
            <a:ext cx="11718450" cy="64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652e392184_0_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5145" y="4902038"/>
            <a:ext cx="7860111" cy="731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g3652e392184_0_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"/>
          <p:cNvSpPr/>
          <p:nvPr/>
        </p:nvSpPr>
        <p:spPr>
          <a:xfrm>
            <a:off x="939528" y="807725"/>
            <a:ext cx="114660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Modificando posición: transform.position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"/>
          <p:cNvSpPr/>
          <p:nvPr/>
        </p:nvSpPr>
        <p:spPr>
          <a:xfrm>
            <a:off x="837672" y="2085840"/>
            <a:ext cx="127515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propiedad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transform.position es un Vector3 que representa la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posición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 objeto en el espacio 3D del mundo. 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837675" y="3014647"/>
            <a:ext cx="12751500" cy="1165800"/>
          </a:xfrm>
          <a:prstGeom prst="roundRect">
            <a:avLst>
              <a:gd fmla="val 264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826950" y="3014650"/>
            <a:ext cx="12772800" cy="1614000"/>
          </a:xfrm>
          <a:prstGeom prst="roundRect">
            <a:avLst>
              <a:gd fmla="val 9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1041619" y="3148092"/>
            <a:ext cx="12343500" cy="25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transform.position = new Vector3(5f, 2f, 3f);// Modificar componentes de forma individual</a:t>
            </a:r>
            <a:endParaRPr b="0" i="0" sz="16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transform.position = new Vector3(transform.position.x, 10f, transform.position.z);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"/>
          <p:cNvSpPr/>
          <p:nvPr/>
        </p:nvSpPr>
        <p:spPr>
          <a:xfrm>
            <a:off x="939597" y="5368111"/>
            <a:ext cx="127515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Cabe destacar que transform.position utiliza coordenadas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globales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no coordenadas locales relativas al padre del objeto. 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939597" y="5953304"/>
            <a:ext cx="127515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trabajar con coordenadas locales, se utilizaría transform.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localPosition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"/>
          <p:cNvSpPr/>
          <p:nvPr/>
        </p:nvSpPr>
        <p:spPr>
          <a:xfrm>
            <a:off x="939600" y="6538496"/>
            <a:ext cx="127515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Importante: No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podemos editar una única coordenada de forma independiente, siempre debemos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editar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las tres coordenadas a la vez con un </a:t>
            </a:r>
            <a:r>
              <a:rPr b="0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Vector3</a:t>
            </a:r>
            <a:endParaRPr b="0" i="1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330" name="Google Shape;3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"/>
          <p:cNvSpPr/>
          <p:nvPr/>
        </p:nvSpPr>
        <p:spPr>
          <a:xfrm>
            <a:off x="939525" y="869525"/>
            <a:ext cx="130467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Transform.eulerAngles y Transform.rotation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939522" y="1970008"/>
            <a:ext cx="12751356" cy="68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 ofrece dos formas principales de manejar la rotación de objetos: </a:t>
            </a:r>
            <a:r>
              <a:rPr b="1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eulerAngles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rotation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Ambas propiedades controlan la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orientación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 objeto, pero de maneras diferentes.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939522" y="2898815"/>
            <a:ext cx="12751356" cy="343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transform.eulerAngles es un Vector3 que representa la rotación en grados alrededor de los ejes X, Y y Z. 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939522" y="3484007"/>
            <a:ext cx="12751356" cy="1352788"/>
          </a:xfrm>
          <a:prstGeom prst="roundRect">
            <a:avLst>
              <a:gd fmla="val 666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928807" y="3484007"/>
            <a:ext cx="12772787" cy="1352788"/>
          </a:xfrm>
          <a:prstGeom prst="roundRect">
            <a:avLst>
              <a:gd fmla="val 23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"/>
          <p:cNvSpPr/>
          <p:nvPr/>
        </p:nvSpPr>
        <p:spPr>
          <a:xfrm>
            <a:off x="1143476" y="3644979"/>
            <a:ext cx="12343448" cy="103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// Establece rotación de 45 grados en el eje Y.</a:t>
            </a:r>
            <a:endParaRPr b="0" i="0" sz="16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transform.eulerAngles = new Vector3(0f, 45f, 0f);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"/>
          <p:cNvSpPr/>
          <p:nvPr/>
        </p:nvSpPr>
        <p:spPr>
          <a:xfrm>
            <a:off x="939522" y="5078373"/>
            <a:ext cx="12751356" cy="68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otro lado, transform.rotation es un Quaternion, que es matemáticamente más complejo pero evita problemas como el "gimbal lock". Aunque los Quaternions son menos intuitivos, son más eficientes y precisos para cálculos de rotación.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"/>
          <p:cNvSpPr/>
          <p:nvPr/>
        </p:nvSpPr>
        <p:spPr>
          <a:xfrm>
            <a:off x="939522" y="6007179"/>
            <a:ext cx="12751356" cy="1352788"/>
          </a:xfrm>
          <a:prstGeom prst="roundRect">
            <a:avLst>
              <a:gd fmla="val 666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"/>
          <p:cNvSpPr/>
          <p:nvPr/>
        </p:nvSpPr>
        <p:spPr>
          <a:xfrm>
            <a:off x="928807" y="6007179"/>
            <a:ext cx="12772787" cy="1352788"/>
          </a:xfrm>
          <a:prstGeom prst="roundRect">
            <a:avLst>
              <a:gd fmla="val 23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"/>
          <p:cNvSpPr/>
          <p:nvPr/>
        </p:nvSpPr>
        <p:spPr>
          <a:xfrm>
            <a:off x="1143476" y="6168152"/>
            <a:ext cx="12343448" cy="103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// Rotar 90 grados alrededor del eje Y usando Quaternion</a:t>
            </a:r>
            <a:endParaRPr b="0" i="0" sz="16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transform.rotation = Quaternion.Euler(0f, 90f, 0f);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"/>
          <p:cNvSpPr/>
          <p:nvPr/>
        </p:nvSpPr>
        <p:spPr>
          <a:xfrm>
            <a:off x="936069" y="735806"/>
            <a:ext cx="6289834" cy="752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00"/>
              <a:buFont typeface="Inter"/>
              <a:buNone/>
            </a:pPr>
            <a:r>
              <a:rPr b="1" i="0" lang="en-US" sz="47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Transform.localScale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936069" y="1969294"/>
            <a:ext cx="12758261" cy="770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propiedad transform.localScale es un Vector3 que controla el tamaño del objeto en relación con su escala original. 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936069" y="3010376"/>
            <a:ext cx="12758261" cy="3827502"/>
          </a:xfrm>
          <a:prstGeom prst="roundRect">
            <a:avLst>
              <a:gd fmla="val 264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924044" y="3010376"/>
            <a:ext cx="12782312" cy="3827502"/>
          </a:xfrm>
          <a:prstGeom prst="roundRect">
            <a:avLst>
              <a:gd fmla="val 9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1164669" y="3190875"/>
            <a:ext cx="12301061" cy="3466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// Duplicar el tamaño del objeto en todas las direcciones</a:t>
            </a:r>
            <a:endParaRPr b="0" i="0" sz="18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transform.localScale = new Vector3(2f, 2f, 2f);</a:t>
            </a:r>
            <a:endParaRPr b="0" i="0" sz="18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transform.localScale = new Vector3(1f, 0f, 1f);</a:t>
            </a:r>
            <a:endParaRPr b="0" i="0" sz="1850" u="none" cap="none" strike="noStrike">
              <a:solidFill>
                <a:srgbClr val="000000"/>
              </a:solidFill>
              <a:highlight>
                <a:srgbClr val="F2F2F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Consolas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transform.localScale = new Vector3(-1f, 1f, 1f); </a:t>
            </a:r>
            <a:r>
              <a:rPr b="0" i="0" lang="en-US" sz="1850" u="none" cap="none" strike="noStrike">
                <a:solidFill>
                  <a:schemeClr val="dk1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// Invertir la escala en el eje X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936069" y="7108627"/>
            <a:ext cx="12758261" cy="385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importante tener en cuenta que cambiar la escala de un objeto afectará </a:t>
            </a: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todos sus hijos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52e392184_0_315"/>
          <p:cNvSpPr/>
          <p:nvPr/>
        </p:nvSpPr>
        <p:spPr>
          <a:xfrm>
            <a:off x="939528" y="807725"/>
            <a:ext cx="114660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Leyendo del transform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g3652e392184_0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652e392184_0_315"/>
          <p:cNvSpPr/>
          <p:nvPr/>
        </p:nvSpPr>
        <p:spPr>
          <a:xfrm>
            <a:off x="939450" y="1812204"/>
            <a:ext cx="127515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Importante: No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podemos editar una única coordenada del </a:t>
            </a:r>
            <a:r>
              <a:rPr b="0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position, eulerAngles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0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localScale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forma independiente, siempre debemos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editar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las tres coordenadas a la vez con un </a:t>
            </a:r>
            <a:r>
              <a:rPr b="0" i="1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Vector3</a:t>
            </a:r>
            <a:endParaRPr b="0" i="1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cambio,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sí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podemos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leer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coordenadas de forma independiente para establecer condiciones: 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9" name="Google Shape;369;g3652e392184_0_3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826" y="3106475"/>
            <a:ext cx="6315400" cy="16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652e392184_0_315"/>
          <p:cNvSpPr/>
          <p:nvPr/>
        </p:nvSpPr>
        <p:spPr>
          <a:xfrm>
            <a:off x="939450" y="5091454"/>
            <a:ext cx="127515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otro lado, dado que se manejan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vectores matemáticos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evidentemente no podemos hacer comparaciones del tipo: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t/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1" name="Google Shape;371;g3652e392184_0_3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2175" y="5397304"/>
            <a:ext cx="56007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652e392184_0_315"/>
          <p:cNvSpPr/>
          <p:nvPr/>
        </p:nvSpPr>
        <p:spPr>
          <a:xfrm>
            <a:off x="939450" y="6221629"/>
            <a:ext cx="127515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Tendríamos que utilizar la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magnitud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vector: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t/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3" name="Google Shape;373;g3652e392184_0_3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3038" y="6535850"/>
            <a:ext cx="5172075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4" name="Google Shape;374;g3652e392184_0_3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7c8c3677dc_3_248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7c8c3677dc_3_248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7c8c3677dc_3_248"/>
          <p:cNvSpPr/>
          <p:nvPr/>
        </p:nvSpPr>
        <p:spPr>
          <a:xfrm>
            <a:off x="1812443" y="3521336"/>
            <a:ext cx="1102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2.2 Movimientos cinemáticos</a:t>
            </a:r>
            <a:endParaRPr b="0" i="0" sz="4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g37c8c3677dc_3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g37c8c3677dc_3_2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Movimientos Cinemáticos en Unity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939522" y="2386949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movimientos cinemáticos en Unity se refieren a las técnicas utilizadas para mover o rotar objetos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 utilizar simulaciones físicas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939447" y="3619347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Tres de los métodos más comunes para generar movimientos cinemáticos son: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transform.Translate()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transform.Rotate()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y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Vector3.MoveTowards()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939522" y="5534144"/>
            <a:ext cx="12751356" cy="85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Cabe destacar que estos métodos han de ejecutarse en un contexto donde se refresque la lógica, para que pueda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actualizarse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movimiento, por ejemplo en 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Update()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52e392184_0_148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transform.Translate()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652e392184_0_148"/>
          <p:cNvSpPr/>
          <p:nvPr/>
        </p:nvSpPr>
        <p:spPr>
          <a:xfrm>
            <a:off x="939522" y="2386949"/>
            <a:ext cx="12751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Forma común: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g3652e392184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652e392184_0_148"/>
          <p:cNvSpPr txBox="1"/>
          <p:nvPr/>
        </p:nvSpPr>
        <p:spPr>
          <a:xfrm>
            <a:off x="375625" y="3313900"/>
            <a:ext cx="8478000" cy="1164600"/>
          </a:xfrm>
          <a:prstGeom prst="rect">
            <a:avLst/>
          </a:prstGeom>
          <a:solidFill>
            <a:srgbClr val="17161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6990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69901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transform.</a:t>
            </a:r>
            <a:r>
              <a:rPr b="1" i="0" lang="en-US" sz="2000" u="none" cap="none" strike="noStrik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Translate</a:t>
            </a:r>
            <a:r>
              <a:rPr b="1" i="0" lang="en-US" sz="20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( dirección * velocidad *  </a:t>
            </a:r>
            <a:r>
              <a:rPr b="1" i="0" lang="en-US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b="1" i="0" lang="en-US" sz="20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.deltaTime );</a:t>
            </a:r>
            <a:endParaRPr b="1" i="0" sz="6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69901" marR="0" rtl="0" algn="ctr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52e392184_0_148"/>
          <p:cNvSpPr txBox="1"/>
          <p:nvPr/>
        </p:nvSpPr>
        <p:spPr>
          <a:xfrm>
            <a:off x="375625" y="4634575"/>
            <a:ext cx="96669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5773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5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Vector3 que indica la dirección del movimiento.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5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velocidad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Velocidad del movimiento en unidades.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55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Time.deltaTime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obligatorio 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el movimiento sea </a:t>
            </a:r>
            <a:r>
              <a:rPr b="1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segundo</a:t>
            </a:r>
            <a:r>
              <a:rPr b="0" i="0" lang="en-US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g3652e392184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025" y="2762725"/>
            <a:ext cx="3923998" cy="22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7" name="Google Shape;407;g3652e392184_0_1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52e392184_0_159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Direcciones unitarias globales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g3652e392184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652e392184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7475" y="1911075"/>
            <a:ext cx="3955450" cy="36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652e392184_0_159"/>
          <p:cNvSpPr txBox="1"/>
          <p:nvPr/>
        </p:nvSpPr>
        <p:spPr>
          <a:xfrm>
            <a:off x="3780600" y="5497150"/>
            <a:ext cx="70692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3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5773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7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caso de las direcciones con </a:t>
            </a:r>
            <a:r>
              <a:rPr b="1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también existen:</a:t>
            </a:r>
            <a:endParaRPr b="0" i="0" sz="31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1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293" lvl="1" marL="9144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FFFFFF"/>
              </a:buClr>
              <a:buSzPct val="99936"/>
              <a:buFont typeface="Arial"/>
              <a:buChar char="○"/>
            </a:pP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Vector3.</a:t>
            </a:r>
            <a:r>
              <a:rPr b="1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</a:t>
            </a: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</a:t>
            </a:r>
            <a:r>
              <a:rPr b="0" i="0" lang="en-US" sz="317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(0, 0, 1)</a:t>
            </a:r>
            <a:endParaRPr b="0" i="0" sz="31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1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Vector3.</a:t>
            </a:r>
            <a:r>
              <a:rPr b="1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r>
              <a:rPr b="0" i="0" lang="en-US" sz="31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(0, 0, -1)</a:t>
            </a:r>
            <a:endParaRPr b="0" i="0" sz="317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7" name="Google Shape;417;g3652e392184_0_1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cfee88957_0_143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Direcciones unitarias locales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g37cfee88957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g37cfee88957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7cfee88957_0_143"/>
          <p:cNvSpPr/>
          <p:nvPr/>
        </p:nvSpPr>
        <p:spPr>
          <a:xfrm>
            <a:off x="939525" y="2386949"/>
            <a:ext cx="12751500" cy="3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También podemos sacar la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 unitaria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la que apuntan los ejes del Transform: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transform.up: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 en la que apunta el eje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verde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‘Y’ local del transform</a:t>
            </a:r>
            <a:endParaRPr b="0" baseline="3000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transform.right: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Dirección en la que apunta el eje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rojo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 ‘X’ local del transform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transform.forward: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Dirección en la que apunta el eje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azul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 ‘Z’ local del transform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52e392184_0_170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Multiplicación por velocidad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652e392184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652e392184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5850" y="2314850"/>
            <a:ext cx="3268184" cy="4533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652e392184_0_170"/>
          <p:cNvSpPr txBox="1"/>
          <p:nvPr/>
        </p:nvSpPr>
        <p:spPr>
          <a:xfrm>
            <a:off x="1583675" y="2289338"/>
            <a:ext cx="6004200" cy="4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5773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6442" lvl="0" marL="457200" marR="5083" rtl="0" algn="l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37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vez el vector marque una dirección, lo podemos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multiplicar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lo que queramos.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1" marR="5083" rtl="0" algn="l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1" marR="5083" rtl="0" algn="l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6442" lvl="0" marL="457200" marR="5083" rtl="0" algn="l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ct val="99937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Conservará la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misma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dirección, pero hará que el desplazamiento sea más </a:t>
            </a:r>
            <a:r>
              <a:rPr b="1" i="0" lang="en-US" sz="32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rápido</a:t>
            </a:r>
            <a:r>
              <a:rPr b="0" i="0" lang="en-US" sz="32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lento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6" name="Google Shape;436;g3652e392184_0_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52e392184_0_180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Time.deltaTime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g3652e392184_0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652e392184_0_180"/>
          <p:cNvSpPr txBox="1"/>
          <p:nvPr/>
        </p:nvSpPr>
        <p:spPr>
          <a:xfrm>
            <a:off x="1038025" y="2644100"/>
            <a:ext cx="6967500" cy="3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5773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 no fuera por el deltaTime, el movimiento dependería de los frames.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Dependiendo de la máquina, el movimiento sería diferente.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1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27101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Utilizar Time.deltaTime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g3652e392184_0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571" y="4399373"/>
            <a:ext cx="3609525" cy="2506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6" name="Google Shape;446;g3652e392184_0_1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52e392184_0_190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Time.deltaTime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g3652e392184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652e392184_0_190"/>
          <p:cNvSpPr txBox="1"/>
          <p:nvPr/>
        </p:nvSpPr>
        <p:spPr>
          <a:xfrm>
            <a:off x="1038875" y="1823625"/>
            <a:ext cx="12497100" cy="22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Time.deltaTime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da el tiempo en segundos entre dos frames consecutivos.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esta forma, en una máquina potente, el Time.deltaTime será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 en una con menos recursos, </a:t>
            </a: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g3652e392184_0_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6325" y="3895825"/>
            <a:ext cx="7357749" cy="320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6" name="Google Shape;456;g3652e392184_0_1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52e392184_0_200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Time.deltaTime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g3652e392184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652e392184_0_200"/>
          <p:cNvSpPr txBox="1"/>
          <p:nvPr/>
        </p:nvSpPr>
        <p:spPr>
          <a:xfrm>
            <a:off x="493050" y="2017500"/>
            <a:ext cx="13644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6442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ct val="99937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esta forma, los movimientos se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compensan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quitando la dependencia con los frames y haciendo que los movimientos sean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segundo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g3652e392184_0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292" y="3816550"/>
            <a:ext cx="4567824" cy="247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6" name="Google Shape;466;g3652e392184_0_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652e392184_0_338"/>
          <p:cNvSpPr/>
          <p:nvPr/>
        </p:nvSpPr>
        <p:spPr>
          <a:xfrm>
            <a:off x="939530" y="991550"/>
            <a:ext cx="118224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Movimientos diagonales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652e392184_0_338"/>
          <p:cNvSpPr/>
          <p:nvPr/>
        </p:nvSpPr>
        <p:spPr>
          <a:xfrm>
            <a:off x="939447" y="2204094"/>
            <a:ext cx="12751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652e392184_0_338"/>
          <p:cNvSpPr/>
          <p:nvPr/>
        </p:nvSpPr>
        <p:spPr>
          <a:xfrm>
            <a:off x="939522" y="2518172"/>
            <a:ext cx="6821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652e392184_0_338"/>
          <p:cNvSpPr/>
          <p:nvPr/>
        </p:nvSpPr>
        <p:spPr>
          <a:xfrm>
            <a:off x="997950" y="2029172"/>
            <a:ext cx="127515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¿A cuántas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unidades/s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 mueve el siguiente objeto?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652e392184_0_3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652e392184_0_3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8913" y="3150525"/>
            <a:ext cx="9423624" cy="13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8" name="Google Shape;478;g3652e392184_0_3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52e392184_0_350"/>
          <p:cNvSpPr/>
          <p:nvPr/>
        </p:nvSpPr>
        <p:spPr>
          <a:xfrm>
            <a:off x="939530" y="991550"/>
            <a:ext cx="118224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Normalización de vectores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652e392184_0_350"/>
          <p:cNvSpPr/>
          <p:nvPr/>
        </p:nvSpPr>
        <p:spPr>
          <a:xfrm>
            <a:off x="939447" y="2204094"/>
            <a:ext cx="12751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652e392184_0_350"/>
          <p:cNvSpPr/>
          <p:nvPr/>
        </p:nvSpPr>
        <p:spPr>
          <a:xfrm>
            <a:off x="939522" y="2518172"/>
            <a:ext cx="6821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652e392184_0_350"/>
          <p:cNvSpPr/>
          <p:nvPr/>
        </p:nvSpPr>
        <p:spPr>
          <a:xfrm>
            <a:off x="997950" y="2029173"/>
            <a:ext cx="127515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prevenir este tipo de problemas, siempre que trabajes con un vector que marque una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dirección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normalízalo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esta forma, trabajas con un vector de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magnitud 1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se puede escalar a posteriori (velocidad)</a:t>
            </a:r>
            <a:endParaRPr b="0" i="0" sz="17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normalizar un vector en Unity utilizamos </a:t>
            </a:r>
            <a:r>
              <a:rPr b="0" i="1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.normalized</a:t>
            </a:r>
            <a:endParaRPr b="0" i="0" sz="17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8" name="Google Shape;488;g3652e392184_0_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652e392184_0_3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354" y="4200476"/>
            <a:ext cx="12216751" cy="205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0" name="Google Shape;490;g3652e392184_0_3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"/>
          <p:cNvSpPr/>
          <p:nvPr/>
        </p:nvSpPr>
        <p:spPr>
          <a:xfrm>
            <a:off x="939530" y="991550"/>
            <a:ext cx="118224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Espacio global VS local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"/>
          <p:cNvSpPr/>
          <p:nvPr/>
        </p:nvSpPr>
        <p:spPr>
          <a:xfrm>
            <a:off x="939522" y="1885831"/>
            <a:ext cx="12751356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7"/>
          <p:cNvSpPr/>
          <p:nvPr/>
        </p:nvSpPr>
        <p:spPr>
          <a:xfrm>
            <a:off x="939522" y="2518172"/>
            <a:ext cx="6821686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7"/>
          <p:cNvSpPr/>
          <p:nvPr/>
        </p:nvSpPr>
        <p:spPr>
          <a:xfrm>
            <a:off x="997950" y="2029172"/>
            <a:ext cx="127515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defecto, </a:t>
            </a:r>
            <a:r>
              <a:rPr b="0" i="1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Translate()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mueve el objeto en relación a su propia orientación (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espacio local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"/>
          <p:cNvSpPr/>
          <p:nvPr/>
        </p:nvSpPr>
        <p:spPr>
          <a:xfrm>
            <a:off x="997950" y="2797375"/>
            <a:ext cx="12874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cambiar este comportamiento incluyendo un segundo parámetro,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Space.World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875" y="3877238"/>
            <a:ext cx="1147762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3" name="Google Shape;5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52e392184_0_257"/>
          <p:cNvSpPr/>
          <p:nvPr/>
        </p:nvSpPr>
        <p:spPr>
          <a:xfrm>
            <a:off x="939522" y="910107"/>
            <a:ext cx="11403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transform.Rotate()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g3652e392184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652e392184_0_257"/>
          <p:cNvSpPr txBox="1"/>
          <p:nvPr/>
        </p:nvSpPr>
        <p:spPr>
          <a:xfrm>
            <a:off x="433050" y="2002325"/>
            <a:ext cx="13764300" cy="48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72" lvl="0" marL="457200" marR="5083" rtl="0" algn="just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8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establecer una velocidad común a todos los ejes…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5083" rtl="0" algn="just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1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72" lvl="0" marL="457200" marR="5083" rtl="0" algn="just">
              <a:lnSpc>
                <a:spcPct val="99700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3198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velocidades diferentes e independientes para cada uno.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g3652e392184_0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50" y="3482925"/>
            <a:ext cx="9547422" cy="9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g3652e392184_0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650" y="5611575"/>
            <a:ext cx="10549749" cy="9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652e392184_0_2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7725" y="5302825"/>
            <a:ext cx="3411275" cy="25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5" name="Google Shape;515;g3652e392184_0_2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"/>
          <p:cNvSpPr/>
          <p:nvPr/>
        </p:nvSpPr>
        <p:spPr>
          <a:xfrm>
            <a:off x="939522" y="1096328"/>
            <a:ext cx="4362212" cy="545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transform.Rotate()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8721447" y="2060258"/>
            <a:ext cx="4976932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939525" y="5235175"/>
            <a:ext cx="128004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5"/>
              <a:buFont typeface="Inter"/>
              <a:buNone/>
            </a:pPr>
            <a:r>
              <a:rPr b="0" i="0" lang="en-US" sz="221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igual que con Translate(), Rotate() opera por defecto en el espacio local del objeto, </a:t>
            </a:r>
            <a:r>
              <a:rPr b="1" i="0" lang="en-US" sz="221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Space.Self</a:t>
            </a:r>
            <a:r>
              <a:rPr b="0" i="0" lang="en-US" sz="221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2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939528" y="6514750"/>
            <a:ext cx="10827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15"/>
              <a:buFont typeface="Inter"/>
              <a:buNone/>
            </a:pPr>
            <a:r>
              <a:rPr b="0" i="0" lang="en-US" sz="221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Podemos pasar a coordenadas globales con </a:t>
            </a:r>
            <a:r>
              <a:rPr b="1" i="0" lang="en-US" sz="221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Space.World</a:t>
            </a:r>
            <a:endParaRPr b="0" i="0" sz="22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939522" y="6854071"/>
            <a:ext cx="12751356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200" y="2060260"/>
            <a:ext cx="11291980" cy="2862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8" name="Google Shape;5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2025-09-04T07:17:41Z</dcterms:created>
</cp:coreProperties>
</file>